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6213"/>
  </p:normalViewPr>
  <p:slideViewPr>
    <p:cSldViewPr snapToGrid="0">
      <p:cViewPr>
        <p:scale>
          <a:sx n="103" d="100"/>
          <a:sy n="103" d="100"/>
        </p:scale>
        <p:origin x="14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C18096-99E1-4615-B84C-59EE7B4EAB3B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4F661AE-762C-4C01-AF58-4985A48EE8D6}">
      <dgm:prSet/>
      <dgm:spPr/>
      <dgm:t>
        <a:bodyPr/>
        <a:lstStyle/>
        <a:p>
          <a:pPr>
            <a:defRPr cap="all"/>
          </a:pPr>
          <a:r>
            <a:rPr lang="en-US"/>
            <a:t>Announcements/ Discussion of Final Exam Questions</a:t>
          </a:r>
        </a:p>
      </dgm:t>
    </dgm:pt>
    <dgm:pt modelId="{8F07D971-3FC2-4FCE-B83E-4D6C6B261E56}" type="parTrans" cxnId="{EFD9A0B4-9AE6-44F3-AD92-89002D49C43F}">
      <dgm:prSet/>
      <dgm:spPr/>
      <dgm:t>
        <a:bodyPr/>
        <a:lstStyle/>
        <a:p>
          <a:endParaRPr lang="en-US"/>
        </a:p>
      </dgm:t>
    </dgm:pt>
    <dgm:pt modelId="{FFFFDBA5-CE3A-43C1-9615-8BF7F2C82EF3}" type="sibTrans" cxnId="{EFD9A0B4-9AE6-44F3-AD92-89002D49C43F}">
      <dgm:prSet/>
      <dgm:spPr/>
      <dgm:t>
        <a:bodyPr/>
        <a:lstStyle/>
        <a:p>
          <a:endParaRPr lang="en-US"/>
        </a:p>
      </dgm:t>
    </dgm:pt>
    <dgm:pt modelId="{D4107173-792C-4284-9689-00005D1C2826}">
      <dgm:prSet/>
      <dgm:spPr/>
      <dgm:t>
        <a:bodyPr/>
        <a:lstStyle/>
        <a:p>
          <a:pPr>
            <a:defRPr cap="all"/>
          </a:pPr>
          <a:r>
            <a:rPr lang="en-US"/>
            <a:t>Overview</a:t>
          </a:r>
        </a:p>
      </dgm:t>
    </dgm:pt>
    <dgm:pt modelId="{9D1FBD50-975B-4886-890E-ED828A9D1EC0}" type="parTrans" cxnId="{429B8BD6-0D61-4682-9883-04BC2F6273FA}">
      <dgm:prSet/>
      <dgm:spPr/>
      <dgm:t>
        <a:bodyPr/>
        <a:lstStyle/>
        <a:p>
          <a:endParaRPr lang="en-US"/>
        </a:p>
      </dgm:t>
    </dgm:pt>
    <dgm:pt modelId="{184BEFA3-FE67-4C04-97B7-AAF1D12E5A32}" type="sibTrans" cxnId="{429B8BD6-0D61-4682-9883-04BC2F6273FA}">
      <dgm:prSet/>
      <dgm:spPr/>
      <dgm:t>
        <a:bodyPr/>
        <a:lstStyle/>
        <a:p>
          <a:endParaRPr lang="en-US"/>
        </a:p>
      </dgm:t>
    </dgm:pt>
    <dgm:pt modelId="{474EA607-EDA6-4B6B-9C1D-9DA643B72354}">
      <dgm:prSet/>
      <dgm:spPr/>
      <dgm:t>
        <a:bodyPr/>
        <a:lstStyle/>
        <a:p>
          <a:pPr>
            <a:defRPr cap="all"/>
          </a:pPr>
          <a:r>
            <a:rPr lang="en-US"/>
            <a:t>Student Presentations with Mike and Cory</a:t>
          </a:r>
        </a:p>
      </dgm:t>
    </dgm:pt>
    <dgm:pt modelId="{BE333787-F41B-4B09-814B-AFD33306F4C9}" type="parTrans" cxnId="{FC4F2D49-6FA4-4CF7-B01E-7F55BFA600E2}">
      <dgm:prSet/>
      <dgm:spPr/>
      <dgm:t>
        <a:bodyPr/>
        <a:lstStyle/>
        <a:p>
          <a:endParaRPr lang="en-US"/>
        </a:p>
      </dgm:t>
    </dgm:pt>
    <dgm:pt modelId="{DBA0FF07-0685-4A33-8571-370575F044F4}" type="sibTrans" cxnId="{FC4F2D49-6FA4-4CF7-B01E-7F55BFA600E2}">
      <dgm:prSet/>
      <dgm:spPr/>
      <dgm:t>
        <a:bodyPr/>
        <a:lstStyle/>
        <a:p>
          <a:endParaRPr lang="en-US"/>
        </a:p>
      </dgm:t>
    </dgm:pt>
    <dgm:pt modelId="{17912EB1-DB2D-425F-A116-7D1F260DFE5D}">
      <dgm:prSet/>
      <dgm:spPr/>
      <dgm:t>
        <a:bodyPr/>
        <a:lstStyle/>
        <a:p>
          <a:pPr>
            <a:defRPr cap="all"/>
          </a:pPr>
          <a:r>
            <a:rPr lang="en-US"/>
            <a:t>Debate/Discussion</a:t>
          </a:r>
        </a:p>
      </dgm:t>
    </dgm:pt>
    <dgm:pt modelId="{94CCD4CC-B952-4819-8D95-42F8A8D7601C}" type="parTrans" cxnId="{82BE2339-3FF7-42D9-86FC-D1C2A68AB0A3}">
      <dgm:prSet/>
      <dgm:spPr/>
      <dgm:t>
        <a:bodyPr/>
        <a:lstStyle/>
        <a:p>
          <a:endParaRPr lang="en-US"/>
        </a:p>
      </dgm:t>
    </dgm:pt>
    <dgm:pt modelId="{9DB45D79-AAE6-4570-ABBA-12D4288C997D}" type="sibTrans" cxnId="{82BE2339-3FF7-42D9-86FC-D1C2A68AB0A3}">
      <dgm:prSet/>
      <dgm:spPr/>
      <dgm:t>
        <a:bodyPr/>
        <a:lstStyle/>
        <a:p>
          <a:endParaRPr lang="en-US"/>
        </a:p>
      </dgm:t>
    </dgm:pt>
    <dgm:pt modelId="{8B32431D-E3D1-B64C-9032-C898D7726787}" type="pres">
      <dgm:prSet presAssocID="{F9C18096-99E1-4615-B84C-59EE7B4EAB3B}" presName="linear" presStyleCnt="0">
        <dgm:presLayoutVars>
          <dgm:animLvl val="lvl"/>
          <dgm:resizeHandles val="exact"/>
        </dgm:presLayoutVars>
      </dgm:prSet>
      <dgm:spPr/>
    </dgm:pt>
    <dgm:pt modelId="{131430E1-1C77-1345-A29D-F1D70D642A4A}" type="pres">
      <dgm:prSet presAssocID="{A4F661AE-762C-4C01-AF58-4985A48EE8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AC676B6-D3F4-0943-9F4C-8D8D135930B2}" type="pres">
      <dgm:prSet presAssocID="{FFFFDBA5-CE3A-43C1-9615-8BF7F2C82EF3}" presName="spacer" presStyleCnt="0"/>
      <dgm:spPr/>
    </dgm:pt>
    <dgm:pt modelId="{304F384F-1104-5C46-BD37-BF3B6A0C2DAC}" type="pres">
      <dgm:prSet presAssocID="{D4107173-792C-4284-9689-00005D1C282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9F9C0DB-475F-B645-AFD8-F2E156998887}" type="pres">
      <dgm:prSet presAssocID="{184BEFA3-FE67-4C04-97B7-AAF1D12E5A32}" presName="spacer" presStyleCnt="0"/>
      <dgm:spPr/>
    </dgm:pt>
    <dgm:pt modelId="{34D77555-1872-2F48-B7BD-7FB9C27D400B}" type="pres">
      <dgm:prSet presAssocID="{474EA607-EDA6-4B6B-9C1D-9DA643B7235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208E5B7-629E-5F49-BEDC-BA98AF81575E}" type="pres">
      <dgm:prSet presAssocID="{DBA0FF07-0685-4A33-8571-370575F044F4}" presName="spacer" presStyleCnt="0"/>
      <dgm:spPr/>
    </dgm:pt>
    <dgm:pt modelId="{6EB813AF-6FDE-B547-BBCF-3855504679CC}" type="pres">
      <dgm:prSet presAssocID="{17912EB1-DB2D-425F-A116-7D1F260DFE5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2BE2339-3FF7-42D9-86FC-D1C2A68AB0A3}" srcId="{F9C18096-99E1-4615-B84C-59EE7B4EAB3B}" destId="{17912EB1-DB2D-425F-A116-7D1F260DFE5D}" srcOrd="3" destOrd="0" parTransId="{94CCD4CC-B952-4819-8D95-42F8A8D7601C}" sibTransId="{9DB45D79-AAE6-4570-ABBA-12D4288C997D}"/>
    <dgm:cxn modelId="{47EF8F45-EDC6-794F-B0A0-A0482755FE35}" type="presOf" srcId="{D4107173-792C-4284-9689-00005D1C2826}" destId="{304F384F-1104-5C46-BD37-BF3B6A0C2DAC}" srcOrd="0" destOrd="0" presId="urn:microsoft.com/office/officeart/2005/8/layout/vList2"/>
    <dgm:cxn modelId="{FC4F2D49-6FA4-4CF7-B01E-7F55BFA600E2}" srcId="{F9C18096-99E1-4615-B84C-59EE7B4EAB3B}" destId="{474EA607-EDA6-4B6B-9C1D-9DA643B72354}" srcOrd="2" destOrd="0" parTransId="{BE333787-F41B-4B09-814B-AFD33306F4C9}" sibTransId="{DBA0FF07-0685-4A33-8571-370575F044F4}"/>
    <dgm:cxn modelId="{73C72C50-0129-8048-A372-80206AA86035}" type="presOf" srcId="{F9C18096-99E1-4615-B84C-59EE7B4EAB3B}" destId="{8B32431D-E3D1-B64C-9032-C898D7726787}" srcOrd="0" destOrd="0" presId="urn:microsoft.com/office/officeart/2005/8/layout/vList2"/>
    <dgm:cxn modelId="{8067D750-8DAB-854E-B2FA-5CBD774AD903}" type="presOf" srcId="{A4F661AE-762C-4C01-AF58-4985A48EE8D6}" destId="{131430E1-1C77-1345-A29D-F1D70D642A4A}" srcOrd="0" destOrd="0" presId="urn:microsoft.com/office/officeart/2005/8/layout/vList2"/>
    <dgm:cxn modelId="{EFD9A0B4-9AE6-44F3-AD92-89002D49C43F}" srcId="{F9C18096-99E1-4615-B84C-59EE7B4EAB3B}" destId="{A4F661AE-762C-4C01-AF58-4985A48EE8D6}" srcOrd="0" destOrd="0" parTransId="{8F07D971-3FC2-4FCE-B83E-4D6C6B261E56}" sibTransId="{FFFFDBA5-CE3A-43C1-9615-8BF7F2C82EF3}"/>
    <dgm:cxn modelId="{014364BC-4057-F742-9BD2-67E41B2E1E58}" type="presOf" srcId="{17912EB1-DB2D-425F-A116-7D1F260DFE5D}" destId="{6EB813AF-6FDE-B547-BBCF-3855504679CC}" srcOrd="0" destOrd="0" presId="urn:microsoft.com/office/officeart/2005/8/layout/vList2"/>
    <dgm:cxn modelId="{429B8BD6-0D61-4682-9883-04BC2F6273FA}" srcId="{F9C18096-99E1-4615-B84C-59EE7B4EAB3B}" destId="{D4107173-792C-4284-9689-00005D1C2826}" srcOrd="1" destOrd="0" parTransId="{9D1FBD50-975B-4886-890E-ED828A9D1EC0}" sibTransId="{184BEFA3-FE67-4C04-97B7-AAF1D12E5A32}"/>
    <dgm:cxn modelId="{5368B2DD-E228-7547-9980-5CC17A58311F}" type="presOf" srcId="{474EA607-EDA6-4B6B-9C1D-9DA643B72354}" destId="{34D77555-1872-2F48-B7BD-7FB9C27D400B}" srcOrd="0" destOrd="0" presId="urn:microsoft.com/office/officeart/2005/8/layout/vList2"/>
    <dgm:cxn modelId="{C94B8B11-E924-314B-B109-731BE16EF883}" type="presParOf" srcId="{8B32431D-E3D1-B64C-9032-C898D7726787}" destId="{131430E1-1C77-1345-A29D-F1D70D642A4A}" srcOrd="0" destOrd="0" presId="urn:microsoft.com/office/officeart/2005/8/layout/vList2"/>
    <dgm:cxn modelId="{F67A9D89-83C3-DA41-B2C9-2F251DAA8FE4}" type="presParOf" srcId="{8B32431D-E3D1-B64C-9032-C898D7726787}" destId="{DAC676B6-D3F4-0943-9F4C-8D8D135930B2}" srcOrd="1" destOrd="0" presId="urn:microsoft.com/office/officeart/2005/8/layout/vList2"/>
    <dgm:cxn modelId="{FB0A503F-1B9E-FE4E-B658-9DF04361935C}" type="presParOf" srcId="{8B32431D-E3D1-B64C-9032-C898D7726787}" destId="{304F384F-1104-5C46-BD37-BF3B6A0C2DAC}" srcOrd="2" destOrd="0" presId="urn:microsoft.com/office/officeart/2005/8/layout/vList2"/>
    <dgm:cxn modelId="{68F02825-56C6-C443-B4FE-E79F04370CB0}" type="presParOf" srcId="{8B32431D-E3D1-B64C-9032-C898D7726787}" destId="{09F9C0DB-475F-B645-AFD8-F2E156998887}" srcOrd="3" destOrd="0" presId="urn:microsoft.com/office/officeart/2005/8/layout/vList2"/>
    <dgm:cxn modelId="{12FBB3CE-3628-4147-986E-56D01547B700}" type="presParOf" srcId="{8B32431D-E3D1-B64C-9032-C898D7726787}" destId="{34D77555-1872-2F48-B7BD-7FB9C27D400B}" srcOrd="4" destOrd="0" presId="urn:microsoft.com/office/officeart/2005/8/layout/vList2"/>
    <dgm:cxn modelId="{027D8E82-F826-3445-B7B8-C52F515A75BB}" type="presParOf" srcId="{8B32431D-E3D1-B64C-9032-C898D7726787}" destId="{2208E5B7-629E-5F49-BEDC-BA98AF81575E}" srcOrd="5" destOrd="0" presId="urn:microsoft.com/office/officeart/2005/8/layout/vList2"/>
    <dgm:cxn modelId="{11A6A2D4-659E-5E49-A99D-C92681ACD716}" type="presParOf" srcId="{8B32431D-E3D1-B64C-9032-C898D7726787}" destId="{6EB813AF-6FDE-B547-BBCF-3855504679C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1430E1-1C77-1345-A29D-F1D70D642A4A}">
      <dsp:nvSpPr>
        <dsp:cNvPr id="0" name=""/>
        <dsp:cNvSpPr/>
      </dsp:nvSpPr>
      <dsp:spPr>
        <a:xfrm>
          <a:off x="0" y="279396"/>
          <a:ext cx="3429000" cy="6762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Announcements/ Discussion of Final Exam Questions</a:t>
          </a:r>
        </a:p>
      </dsp:txBody>
      <dsp:txXfrm>
        <a:off x="33012" y="312408"/>
        <a:ext cx="3362976" cy="610236"/>
      </dsp:txXfrm>
    </dsp:sp>
    <dsp:sp modelId="{304F384F-1104-5C46-BD37-BF3B6A0C2DAC}">
      <dsp:nvSpPr>
        <dsp:cNvPr id="0" name=""/>
        <dsp:cNvSpPr/>
      </dsp:nvSpPr>
      <dsp:spPr>
        <a:xfrm>
          <a:off x="0" y="1004616"/>
          <a:ext cx="3429000" cy="6762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Overview</a:t>
          </a:r>
        </a:p>
      </dsp:txBody>
      <dsp:txXfrm>
        <a:off x="33012" y="1037628"/>
        <a:ext cx="3362976" cy="610236"/>
      </dsp:txXfrm>
    </dsp:sp>
    <dsp:sp modelId="{34D77555-1872-2F48-B7BD-7FB9C27D400B}">
      <dsp:nvSpPr>
        <dsp:cNvPr id="0" name=""/>
        <dsp:cNvSpPr/>
      </dsp:nvSpPr>
      <dsp:spPr>
        <a:xfrm>
          <a:off x="0" y="1729836"/>
          <a:ext cx="3429000" cy="6762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Student Presentations with Mike and Cory</a:t>
          </a:r>
        </a:p>
      </dsp:txBody>
      <dsp:txXfrm>
        <a:off x="33012" y="1762848"/>
        <a:ext cx="3362976" cy="610236"/>
      </dsp:txXfrm>
    </dsp:sp>
    <dsp:sp modelId="{6EB813AF-6FDE-B547-BBCF-3855504679CC}">
      <dsp:nvSpPr>
        <dsp:cNvPr id="0" name=""/>
        <dsp:cNvSpPr/>
      </dsp:nvSpPr>
      <dsp:spPr>
        <a:xfrm>
          <a:off x="0" y="2455056"/>
          <a:ext cx="3429000" cy="6762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Debate/Discussion</a:t>
          </a:r>
        </a:p>
      </dsp:txBody>
      <dsp:txXfrm>
        <a:off x="33012" y="2488068"/>
        <a:ext cx="3362976" cy="610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3D084-E9E8-A44A-8E48-B089CBF0D9F9}" type="datetimeFigureOut">
              <a:rPr lang="en-US" smtClean="0"/>
              <a:t>2/21/24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36577B-A0A4-4C44-BA1A-5A68A4418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834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next week’s reading—Read Parts I –III for Tuesday, and part IV for Thursday. Content warning—SA and violence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6577B-A0A4-4C44-BA1A-5A68A44187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88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6094-2DA0-E510-C6E4-9B4D2FCA2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7A0FF-81A9-E25C-4274-5E532174A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182D9-F332-8912-2F46-18663CD55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E386B-57EF-998A-CAFE-2BC1D72C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9081B-68C8-A3D3-646D-1629FA2C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44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4676-95F8-EE98-BAEC-2BC046A6A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146BA-0133-598D-797A-5BE315DDF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99FFC-E119-B715-77E9-F9D3BA8DB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8820D-410A-67A1-57AB-C79C061F3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636F1-4AFF-7811-970C-21DBF9CD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53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FEAD-89B3-9C3B-EB36-B3463DDB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84C17-B77A-7CC3-B161-78FB47E04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851FF-1E55-7463-816E-0D5224774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0160D-57D0-B2B7-9BFB-7253A8B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F61-FBEE-C095-E1A3-5A5A4C26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8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4E372-DDF5-F2A7-A847-01D4FB31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72A05-FDCB-3CF8-5786-E22C65CBF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75269-3225-610F-A8F0-F416E788A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D3B5A-406A-A221-72F2-F865C155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B1FC3-9E7F-BF14-661A-EDEB98854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7878E-E6A4-A6F5-FBC2-F4462124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1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1827-7C2C-26AF-A362-0B4D959A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B5210-B15C-548D-8578-A3D298C07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C6FCA-F81E-3E5F-7AD6-E7FA03B03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B1E83-035B-2C1B-689E-32D6E4628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E46E63-7FF8-9E4B-B989-ADE45CF2F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AD579-A35B-B819-A27F-773C04FF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045AD9-4EA5-57E8-2880-6267EF2F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A897CD-E1BB-BDCD-8396-6B137268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70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0C1A-4900-4117-4DD2-F75504DF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970C2-8863-608B-6B4D-A58F9239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56DA2-552A-2588-7CEC-6F4DA41E5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06B72-5DD0-539E-7D01-2A29D8A65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5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4119B8-168E-CA9A-EA61-BB582901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C39E2-B044-D748-9F01-D35CFF27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2C0DA-B925-8A3B-6DAD-11A7DD1B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57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7EFE1-5B37-3C25-201A-1BF0F0502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6072D-F6A7-3D1F-2959-D32A0A73D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59512-1205-36A1-062A-0864461D6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D68D1-F6BF-43A7-B73C-8F32AFCE3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227B8-593A-9039-B139-AA5F8298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358AB-9998-72A1-D4F7-5E23496A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3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4A97-4D7B-551E-5A4B-E5A70D904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9C78E-93D8-6738-DFD7-E5EBD9849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0C637-4398-000E-7E35-266AA31C5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6A6D9-5E4C-946B-B520-CC9864CF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5B3E7-6C08-1F9D-4145-FF7FDACF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93A7D-3547-1111-7CBB-D7B8342BD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9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39A3-2FC8-BEDF-FD61-08DDC690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246151-D2A0-600E-653B-F4498A243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A343E-409C-BFF6-41EE-A452F320B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4B9BA-6B21-76BA-F53B-45E4405DE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C21E9-562A-F508-6E36-491AD2D9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3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E696E-C4A4-CDCE-60AD-CAEAB4A1A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80ADD-B703-D322-65DA-35932BF52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A54EF-8476-3AED-00B9-38530E27D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B8925-0E28-90AA-1D49-9CC61F5D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377F0-7976-196D-7AC2-846E1AED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51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BFC23A-C323-1D0F-379B-A763C3A4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547A7-9844-AA67-2C1F-E3BF1D502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CA7BF-6537-ECF4-3C63-AA54DCD2E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00D65-28E9-5848-B242-6D1CBF1E27A3}" type="datetimeFigureOut">
              <a:rPr lang="en-US" smtClean="0"/>
              <a:t>2/21/24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5A696-D7E8-E751-1491-354F2B557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5017D-2222-7881-FB65-DAA7DA513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6A6B2-1E59-AF4B-A4CC-66B103C83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1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01E8C-0E84-E2E7-7569-A44E8F359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422400"/>
            <a:ext cx="4505552" cy="2387600"/>
          </a:xfrm>
        </p:spPr>
        <p:txBody>
          <a:bodyPr>
            <a:normAutofit/>
          </a:bodyPr>
          <a:lstStyle/>
          <a:p>
            <a:pPr algn="l"/>
            <a:r>
              <a:rPr lang="en-US" sz="5000">
                <a:solidFill>
                  <a:schemeClr val="bg1"/>
                </a:solidFill>
              </a:rPr>
              <a:t>Week 8: Repro Futures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2D4F8-378D-F3C6-D2FC-D8F07DD91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4505552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</a:rPr>
              <a:t>Lee Edelman’s </a:t>
            </a:r>
            <a:r>
              <a:rPr lang="en-US" sz="2000" i="1">
                <a:solidFill>
                  <a:schemeClr val="bg1"/>
                </a:solidFill>
              </a:rPr>
              <a:t>No Future</a:t>
            </a:r>
            <a:r>
              <a:rPr lang="en-US" sz="2000">
                <a:solidFill>
                  <a:schemeClr val="bg1"/>
                </a:solidFill>
              </a:rPr>
              <a:t> (2004) * Jose Munoz’s </a:t>
            </a:r>
            <a:r>
              <a:rPr lang="en-US" sz="2000" i="1">
                <a:solidFill>
                  <a:schemeClr val="bg1"/>
                </a:solidFill>
              </a:rPr>
              <a:t>Cruising Utopia</a:t>
            </a:r>
            <a:r>
              <a:rPr lang="en-US" sz="2000">
                <a:solidFill>
                  <a:schemeClr val="bg1"/>
                </a:solidFill>
              </a:rPr>
              <a:t> (2009)</a:t>
            </a:r>
          </a:p>
        </p:txBody>
      </p:sp>
      <p:sp>
        <p:nvSpPr>
          <p:cNvPr id="30" name="Freeform: Shape 12">
            <a:extLst>
              <a:ext uri="{FF2B5EF4-FFF2-40B4-BE49-F238E27FC236}">
                <a16:creationId xmlns:a16="http://schemas.microsoft.com/office/drawing/2014/main" id="{0277405F-0B4F-4418-B773-1B3881412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0421" y="226893"/>
            <a:ext cx="5968658" cy="6085007"/>
          </a:xfrm>
          <a:custGeom>
            <a:avLst/>
            <a:gdLst>
              <a:gd name="connsiteX0" fmla="*/ 0 w 5968658"/>
              <a:gd name="connsiteY0" fmla="*/ 0 h 6085007"/>
              <a:gd name="connsiteX1" fmla="*/ 3557919 w 5968658"/>
              <a:gd name="connsiteY1" fmla="*/ 0 h 6085007"/>
              <a:gd name="connsiteX2" fmla="*/ 3557919 w 5968658"/>
              <a:gd name="connsiteY2" fmla="*/ 2195749 h 6085007"/>
              <a:gd name="connsiteX3" fmla="*/ 5968658 w 5968658"/>
              <a:gd name="connsiteY3" fmla="*/ 2195749 h 6085007"/>
              <a:gd name="connsiteX4" fmla="*/ 5968658 w 5968658"/>
              <a:gd name="connsiteY4" fmla="*/ 6085007 h 6085007"/>
              <a:gd name="connsiteX5" fmla="*/ 2058230 w 5968658"/>
              <a:gd name="connsiteY5" fmla="*/ 6085007 h 6085007"/>
              <a:gd name="connsiteX6" fmla="*/ 2058230 w 5968658"/>
              <a:gd name="connsiteY6" fmla="*/ 3538657 h 6085007"/>
              <a:gd name="connsiteX7" fmla="*/ 0 w 5968658"/>
              <a:gd name="connsiteY7" fmla="*/ 3538657 h 6085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8658" h="6085007">
                <a:moveTo>
                  <a:pt x="0" y="0"/>
                </a:moveTo>
                <a:lnTo>
                  <a:pt x="3557919" y="0"/>
                </a:lnTo>
                <a:lnTo>
                  <a:pt x="3557919" y="2195749"/>
                </a:lnTo>
                <a:lnTo>
                  <a:pt x="5968658" y="2195749"/>
                </a:lnTo>
                <a:lnTo>
                  <a:pt x="5968658" y="6085007"/>
                </a:lnTo>
                <a:lnTo>
                  <a:pt x="2058230" y="6085007"/>
                </a:lnTo>
                <a:lnTo>
                  <a:pt x="2058230" y="3538657"/>
                </a:lnTo>
                <a:lnTo>
                  <a:pt x="0" y="3538657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04E5CC-B4FE-38D7-149F-7D396F0A8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347" y="2663211"/>
            <a:ext cx="2113037" cy="34081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A592B6-F14E-1961-F4A4-7F6E95139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499" y="496673"/>
            <a:ext cx="1995762" cy="299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64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A1454-D6DC-4BC3-8603-D5387CE9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225175D-6E53-B07D-1EC2-85825D72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859" y="640080"/>
            <a:ext cx="6740593" cy="5577840"/>
          </a:xfrm>
          <a:prstGeom prst="rect">
            <a:avLst/>
          </a:pr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2CE0067-AFF2-A18E-3213-FFCFCA0487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5766168"/>
              </p:ext>
            </p:extLst>
          </p:nvPr>
        </p:nvGraphicFramePr>
        <p:xfrm>
          <a:off x="630936" y="2807208"/>
          <a:ext cx="3429000" cy="3410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0309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6FBE0-3D41-C9CB-B537-6001EC36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Stakes of Edelman’s Argument…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85F69-CDD3-2E2F-967F-B23A5D263BD8}"/>
              </a:ext>
            </a:extLst>
          </p:cNvPr>
          <p:cNvSpPr txBox="1"/>
          <p:nvPr/>
        </p:nvSpPr>
        <p:spPr>
          <a:xfrm>
            <a:off x="229272" y="1837474"/>
            <a:ext cx="11962728" cy="1232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Edelman: </a:t>
            </a:r>
            <a:r>
              <a:rPr lang="en-US" sz="1728" kern="120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“The fantasy subtending the image of the Child invariably shapes the logic within which the political itself must be thought” (2)….</a:t>
            </a:r>
            <a:r>
              <a:rPr lang="en-US" sz="1728" b="1" kern="10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 “queerness names the side of those not ‘fighting for the children’, the side outside the consensus by which all politics confirms the absolute value of reproductive futurism” (3).</a:t>
            </a:r>
            <a:endParaRPr lang="en-US" sz="1728" kern="100" dirty="0">
              <a:solidFill>
                <a:schemeClr val="tx1"/>
              </a:solidFill>
              <a:latin typeface="Aptos" panose="020B0004020202020204" pitchFamily="34" charset="0"/>
              <a:ea typeface="+mn-ea"/>
              <a:cs typeface="Times New Roman" panose="02020603050405020304" pitchFamily="18" charset="0"/>
            </a:endParaRPr>
          </a:p>
          <a:p>
            <a:pPr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500BB-7492-51E1-5F15-18D42040511F}"/>
              </a:ext>
            </a:extLst>
          </p:cNvPr>
          <p:cNvSpPr txBox="1"/>
          <p:nvPr/>
        </p:nvSpPr>
        <p:spPr>
          <a:xfrm>
            <a:off x="7957345" y="2924387"/>
            <a:ext cx="3846728" cy="2426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Conceptual Questions:</a:t>
            </a:r>
          </a:p>
          <a:p>
            <a:pPr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Who is the Child?</a:t>
            </a:r>
          </a:p>
          <a:p>
            <a:pPr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What is reproductive futurity?</a:t>
            </a:r>
          </a:p>
          <a:p>
            <a:pPr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Queer negativity?</a:t>
            </a:r>
          </a:p>
          <a:p>
            <a:pPr defTabSz="877824">
              <a:spcAft>
                <a:spcPts val="600"/>
              </a:spcAft>
            </a:pPr>
            <a:r>
              <a:rPr lang="en-US" sz="172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Anti-relationality?</a:t>
            </a:r>
          </a:p>
          <a:p>
            <a:pPr defTabSz="877824">
              <a:spcAft>
                <a:spcPts val="600"/>
              </a:spcAft>
            </a:pPr>
            <a:endParaRPr lang="en-US" sz="172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BE253-3278-72A7-6CE4-73E5E3B4DFE6}"/>
              </a:ext>
            </a:extLst>
          </p:cNvPr>
          <p:cNvSpPr txBox="1"/>
          <p:nvPr/>
        </p:nvSpPr>
        <p:spPr>
          <a:xfrm>
            <a:off x="0" y="5614005"/>
            <a:ext cx="12192000" cy="124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77824">
              <a:spcAft>
                <a:spcPts val="600"/>
              </a:spcAft>
            </a:pPr>
            <a:r>
              <a:rPr lang="en-US" sz="1728" kern="10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“Fuck the social order and the Child in whose name we’re collectively terrorized; fuck Annie; fuck the waif from </a:t>
            </a:r>
            <a:r>
              <a:rPr lang="en-US" sz="1728" i="1" kern="10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Les Mis</a:t>
            </a:r>
            <a:r>
              <a:rPr lang="en-US" sz="1728" kern="10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; fuck the poor, innocent kid on the net; fuck Laws both with capital ls and with small; fuck the whole network of Symbolic relations and the future that serves as its prop” (29).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530C06-5532-6A77-0B3D-B733F6372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02" y="3070376"/>
            <a:ext cx="4281702" cy="225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50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A54A36-F670-6EAA-79C5-A75EE3309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Munoz’s “Response”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AB335-0F03-2437-3A16-086BD2DDCAB9}"/>
              </a:ext>
            </a:extLst>
          </p:cNvPr>
          <p:cNvSpPr txBox="1"/>
          <p:nvPr/>
        </p:nvSpPr>
        <p:spPr>
          <a:xfrm>
            <a:off x="1421278" y="2112579"/>
            <a:ext cx="9373384" cy="86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1368" kern="1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In contrast (and in critical debate with Edelman), Munoz offers a vision of queer futurity and utopia that emphasizes the importance of critical idealism—what is at stake in saying “fuck the future”?</a:t>
            </a:r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F3B62-B380-B31F-C3C0-B7BACB9B25CE}"/>
              </a:ext>
            </a:extLst>
          </p:cNvPr>
          <p:cNvSpPr txBox="1"/>
          <p:nvPr/>
        </p:nvSpPr>
        <p:spPr>
          <a:xfrm>
            <a:off x="1421278" y="5808475"/>
            <a:ext cx="9298823" cy="51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1368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While not in your Munoz writes “the future is only the stuff of some kids” (95) a ref. to the Edelman’s chapter title “The Future is Kid Stuff”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1F81D-2C33-F679-E7BB-C9A7EDF2D4B9}"/>
              </a:ext>
            </a:extLst>
          </p:cNvPr>
          <p:cNvSpPr txBox="1"/>
          <p:nvPr/>
        </p:nvSpPr>
        <p:spPr>
          <a:xfrm>
            <a:off x="6672503" y="3163235"/>
            <a:ext cx="3863414" cy="1298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136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queerness?</a:t>
            </a:r>
          </a:p>
          <a:p>
            <a:pPr defTabSz="694944">
              <a:spcAft>
                <a:spcPts val="600"/>
              </a:spcAft>
            </a:pPr>
            <a:r>
              <a:rPr lang="en-US" sz="136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are some of the methods Munoz discusses?</a:t>
            </a:r>
          </a:p>
          <a:p>
            <a:pPr defTabSz="694944">
              <a:spcAft>
                <a:spcPts val="600"/>
              </a:spcAft>
            </a:pPr>
            <a:r>
              <a:rPr lang="en-US" sz="136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functions do concrete and abstract forms of utopia serve?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8D6042-B2EA-7659-90C4-90AC0D189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023" y="2916111"/>
            <a:ext cx="4574813" cy="216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0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3370D-0319-64E5-1652-1793864B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234" y="2073715"/>
            <a:ext cx="6935759" cy="29930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Student Presentations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1883640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5066757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634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609D4-6ED9-6692-8034-04D2F9D6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3059"/>
            <a:ext cx="11392930" cy="9253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Debating Queer Futures: Staging the Encounter between Edelman and Munoz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909D0-AA5E-0FEB-08AA-B8B224C15681}"/>
              </a:ext>
            </a:extLst>
          </p:cNvPr>
          <p:cNvSpPr txBox="1"/>
          <p:nvPr/>
        </p:nvSpPr>
        <p:spPr>
          <a:xfrm>
            <a:off x="160638" y="2078875"/>
            <a:ext cx="11071654" cy="466930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b="1" dirty="0">
              <a:effectLst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600" b="1" dirty="0">
                <a:effectLst/>
              </a:rPr>
              <a:t>Debate format: Three rounds of structured debate (3 minutes per team each round)</a:t>
            </a:r>
            <a:endParaRPr lang="en-US" sz="2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60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i="1" dirty="0">
                <a:effectLst/>
              </a:rPr>
              <a:t>Round One</a:t>
            </a:r>
            <a:r>
              <a:rPr lang="en-US" sz="2600" dirty="0">
                <a:effectLst/>
              </a:rPr>
              <a:t>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dirty="0">
                <a:effectLst/>
              </a:rPr>
              <a:t>(1a) Team One presents the affirmative position		(1b) Team Two presents the negative position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dirty="0">
                <a:effectLst/>
              </a:rPr>
              <a:t>• The </a:t>
            </a:r>
            <a:r>
              <a:rPr lang="en-US" sz="2600" b="1" dirty="0">
                <a:effectLst/>
              </a:rPr>
              <a:t>argument </a:t>
            </a:r>
            <a:r>
              <a:rPr lang="en-US" sz="2600" dirty="0">
                <a:effectLst/>
              </a:rPr>
              <a:t>(s) is introduced		 	• The </a:t>
            </a:r>
            <a:r>
              <a:rPr lang="en-US" sz="2600" b="1" dirty="0">
                <a:effectLst/>
              </a:rPr>
              <a:t>argument </a:t>
            </a:r>
            <a:r>
              <a:rPr lang="en-US" sz="2600" dirty="0">
                <a:effectLst/>
              </a:rPr>
              <a:t>(s) is introduced</a:t>
            </a:r>
            <a:br>
              <a:rPr lang="en-US" sz="2600" dirty="0">
                <a:effectLst/>
              </a:rPr>
            </a:br>
            <a:r>
              <a:rPr lang="en-US" sz="2600" dirty="0">
                <a:effectLst/>
              </a:rPr>
              <a:t>• </a:t>
            </a:r>
            <a:r>
              <a:rPr lang="en-US" sz="2600" b="1" dirty="0">
                <a:effectLst/>
              </a:rPr>
              <a:t>Evidence </a:t>
            </a:r>
            <a:r>
              <a:rPr lang="en-US" sz="2600" dirty="0">
                <a:effectLst/>
              </a:rPr>
              <a:t>is submitted to support the argument 		• </a:t>
            </a:r>
            <a:r>
              <a:rPr lang="en-US" sz="2600" b="1" dirty="0">
                <a:effectLst/>
              </a:rPr>
              <a:t>Evidence </a:t>
            </a:r>
            <a:r>
              <a:rPr lang="en-US" sz="2600" dirty="0">
                <a:effectLst/>
              </a:rPr>
              <a:t>is submitted to support the argument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dirty="0"/>
              <a:t>				 		</a:t>
            </a:r>
            <a:r>
              <a:rPr lang="en-US" sz="2600" dirty="0">
                <a:effectLst/>
              </a:rPr>
              <a:t>• No direct response is made to Team One </a:t>
            </a:r>
            <a:endParaRPr lang="en-US" sz="2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60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i="1" dirty="0">
                <a:effectLst/>
              </a:rPr>
              <a:t>Round Two: The other team’s evidence and arguments may be </a:t>
            </a:r>
            <a:r>
              <a:rPr lang="en-US" sz="2600" b="1" i="1" dirty="0">
                <a:effectLst/>
              </a:rPr>
              <a:t>rebutted. </a:t>
            </a:r>
            <a:r>
              <a:rPr lang="en-US" sz="2600" i="1" dirty="0">
                <a:effectLst/>
              </a:rPr>
              <a:t>You will need to anticipate the other teams’ response. </a:t>
            </a:r>
            <a:endParaRPr lang="en-US" sz="260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dirty="0">
                <a:effectLst/>
              </a:rPr>
              <a:t>(2a) Team One reintroduces the affirmative position	 	(2b) Team Two reintroduces the negative position</a:t>
            </a:r>
            <a:br>
              <a:rPr lang="en-US" sz="2600" dirty="0">
                <a:effectLst/>
              </a:rPr>
            </a:br>
            <a:r>
              <a:rPr lang="en-US" sz="2600" dirty="0">
                <a:effectLst/>
              </a:rPr>
              <a:t>• </a:t>
            </a:r>
            <a:r>
              <a:rPr lang="en-US" sz="2600" b="1" dirty="0">
                <a:effectLst/>
              </a:rPr>
              <a:t>Secondary arguments </a:t>
            </a:r>
            <a:r>
              <a:rPr lang="en-US" sz="2600" dirty="0">
                <a:effectLst/>
              </a:rPr>
              <a:t>are introduced		 	• </a:t>
            </a:r>
            <a:r>
              <a:rPr lang="en-US" sz="2600" b="1" dirty="0">
                <a:effectLst/>
              </a:rPr>
              <a:t>Secondary arguments </a:t>
            </a:r>
            <a:r>
              <a:rPr lang="en-US" sz="2600" dirty="0">
                <a:effectLst/>
              </a:rPr>
              <a:t>are introduced</a:t>
            </a:r>
            <a:br>
              <a:rPr lang="en-US" sz="2600" dirty="0">
                <a:effectLst/>
              </a:rPr>
            </a:br>
            <a:r>
              <a:rPr lang="en-US" sz="2600" dirty="0">
                <a:effectLst/>
              </a:rPr>
              <a:t>• </a:t>
            </a:r>
            <a:r>
              <a:rPr lang="en-US" sz="2600" b="1" dirty="0">
                <a:effectLst/>
              </a:rPr>
              <a:t>More evidence </a:t>
            </a:r>
            <a:r>
              <a:rPr lang="en-US" sz="2600" dirty="0">
                <a:effectLst/>
              </a:rPr>
              <a:t>is submitted			 	• </a:t>
            </a:r>
            <a:r>
              <a:rPr lang="en-US" sz="2600" b="1" dirty="0">
                <a:effectLst/>
              </a:rPr>
              <a:t>More evidence </a:t>
            </a:r>
            <a:r>
              <a:rPr lang="en-US" sz="2600" dirty="0">
                <a:effectLst/>
              </a:rPr>
              <a:t>is submitted		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i="1" dirty="0"/>
              <a:t>Round Three: </a:t>
            </a:r>
            <a:r>
              <a:rPr lang="en-US" sz="2600" b="1" i="1" dirty="0"/>
              <a:t>Respond directly</a:t>
            </a:r>
            <a:r>
              <a:rPr lang="en-US" sz="2600" i="1" dirty="0"/>
              <a:t> to the other team’s arguments and </a:t>
            </a:r>
            <a:r>
              <a:rPr lang="en-US" sz="2600" b="1" i="1" dirty="0"/>
              <a:t>sum up key points of your team’s position.</a:t>
            </a:r>
            <a:r>
              <a:rPr lang="en-US" sz="2600" dirty="0"/>
              <a:t>	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dirty="0">
                <a:effectLst/>
              </a:rPr>
              <a:t>(3a) Team One rebuttal</a:t>
            </a:r>
            <a:r>
              <a:rPr lang="en-US" sz="2600" dirty="0"/>
              <a:t>				</a:t>
            </a:r>
            <a:r>
              <a:rPr lang="en-US" sz="2600" dirty="0">
                <a:effectLst/>
              </a:rPr>
              <a:t>(3b) Team Two rebuttal</a:t>
            </a:r>
            <a:br>
              <a:rPr lang="en-US" sz="2000" dirty="0">
                <a:effectLst/>
              </a:rPr>
            </a:br>
            <a:endParaRPr lang="en-US" sz="200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/>
              </a:rPr>
              <a:t>								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19453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551</Words>
  <Application>Microsoft Macintosh PowerPoint</Application>
  <PresentationFormat>Widescreen</PresentationFormat>
  <Paragraphs>40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Week 8: Repro Futures</vt:lpstr>
      <vt:lpstr>Agenda</vt:lpstr>
      <vt:lpstr>The Stakes of Edelman’s Argument…</vt:lpstr>
      <vt:lpstr>Munoz’s “Response”</vt:lpstr>
      <vt:lpstr>Student Presentations</vt:lpstr>
      <vt:lpstr>Debating Queer Futures: Staging the Encounter between Edelman and Munoz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8: Repro Futures</dc:title>
  <dc:creator>Snorton, C. Riley</dc:creator>
  <cp:lastModifiedBy>Snorton, C. Riley</cp:lastModifiedBy>
  <cp:revision>1</cp:revision>
  <dcterms:created xsi:type="dcterms:W3CDTF">2024-02-21T22:09:57Z</dcterms:created>
  <dcterms:modified xsi:type="dcterms:W3CDTF">2024-02-22T00:26:34Z</dcterms:modified>
</cp:coreProperties>
</file>