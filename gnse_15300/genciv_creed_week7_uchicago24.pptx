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1"/>
    <p:restoredTop sz="95940"/>
  </p:normalViewPr>
  <p:slideViewPr>
    <p:cSldViewPr snapToGrid="0">
      <p:cViewPr varScale="1">
        <p:scale>
          <a:sx n="90" d="100"/>
          <a:sy n="90" d="100"/>
        </p:scale>
        <p:origin x="22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1D31-C282-844D-9BDA-869AFE09AF95}" type="datetimeFigureOut">
              <a:rPr lang="en-US" smtClean="0"/>
              <a:t>2/13/24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208DA-523A-9942-BF54-8499B8EED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73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week marks a transition from the first part of the quarter which explored how sex/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uality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regulated by hegemonic forces (biopower, national heterosexuality, structural racism, capitalism, and neo-liberalism), while also showing the destabilizing power of queer desire, sociality, and collation-building. In our lead up to discussions of reproductive futurity and queer worldbuilding, this week’s materials introduce the conceptual language of monstrous, cyborg, and glitch feminism.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Day 1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extends Creed’s analysis of the monstrous feminine in American horror films to consider the subversive potential of the trope in relation to the Iranian vampire movie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Girl Walks Home Alone at Night.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 together, the pairing demonstrates how this monstrosity is symptomatic of patriarchal anxieties about women and their sexuality.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AGWHAAN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models how monstrosity can be mobilized against patriarchal systems of oppression while also disrupting the vampire archetype (white, male, hypersexualized, preying on women).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208DA-523A-9942-BF54-8499B8EED3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87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Kristeva, the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semiotic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resembles the pre-oedipal and pre-mirror infantile stage of Freud, Lacan, and Melanie Klein. It is a pre-discursive space associated with instincts, emotions, and non-verbal expression that Kristeva aligns with the “feminine.” She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resignifies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Plato’s concept of the </a:t>
            </a:r>
            <a:r>
              <a:rPr lang="en-US" sz="1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chora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“a nourishing maternal space”</a:t>
            </a:r>
            <a:r>
              <a:rPr lang="en-US" sz="1800" dirty="0">
                <a:solidFill>
                  <a:srgbClr val="4D5156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(Schippers, 2011) that recalls the uterus but also signifies the bond between mother and child before the mirror stage. For Lacan, the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mirror stage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occurs around 6 -18 months when the infant sees themselves in the mirror and individuates by developing a sense of self/I distinct from the (m)other. This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ideal ego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—a narcissistic fantasy image of the self as stable, coherent, and unburdened by the chaos of our bodily drives—becomes internalized as an ideal self that exists within the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imaginary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the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mirror stage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child enters into the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symbolic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of language and shared cultural meaning.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Kristeva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frames the transition from the maternal/feminine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semiotic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the paternal/masculine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symbolic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a process of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abjection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which the child is violently thrust into the realm of language and law. She further departs from Lacan by positing that the subject continues to move between the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semiotic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symbolic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through processes of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abjection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threaten the stability of meaning and subjective coherence by blurring the distinction between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self/other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subject/object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Abjection is also closely aligned with the concept of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jouissance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“excessive” forms of pleasure that transgress a subject’s regulation between bodily pleasure and pain/death that can exist within sexual and spiritual spaces.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208DA-523A-9942-BF54-8499B8EED3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00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Creed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explores how key archetypes of the horror genre such as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vampires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(“bodies without souls”),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zombies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(“the living corpse”),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ghouls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(“the corpse-eater”),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witches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(accused of using corpses for magic rites), and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werewolves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(hybrid human-animal) operate as abject figures that threaten the distinction between life/death or human/non-human (41).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208DA-523A-9942-BF54-8499B8EED3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44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8D497-354B-6E2F-2258-21920C92D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0A4FD-B48D-EBCF-E589-4011AC806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5C9E9-5C51-D083-A45E-61E7702FB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307E2-2501-6B71-AE53-99570BD7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773E-0273-0B38-7A6B-2F383903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6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9B5C-A94A-5876-3786-7578E484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ECBAA-B76A-05A2-14C3-396782AE2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6F279-BC3C-422C-9FAA-0FA264BE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131AD-08E1-9FF7-2ECB-D3855AAC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9BFD0-B621-BD01-B94F-1D4FB715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4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E959A-93BA-C301-2C69-250F2708F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DA88F-14C2-6D9D-9DFC-DEEB54DCA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052AE-5C55-3082-A614-5D0EDD64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78D47-0E84-6963-E258-4340D302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B1E58-5731-3952-029F-46E5E80D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9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F6464-FA29-43EC-8DD9-E2ED8F31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435EA-7727-8F81-BD5B-254D4CA36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80F6E-5BD8-1215-D379-A5827073E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6AC58-1ECC-A1B9-C63A-D2D6580C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4485D-A88B-61AC-3AA0-49CF70E3B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833CC-94EB-2F45-A6A1-6D33890A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D1E2-3101-03DF-D626-91BAF654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F4652-7445-1DDC-952C-472921509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38C52-EBCF-8443-52F8-AF2F506D9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4C106-2B28-CD4A-4F38-BE9349233E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08FD2C-06C7-4FD4-BAB7-F378758566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AB5C0-4154-9545-0C78-C090FBE4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0CE9C4-AE75-322C-7FF2-4A70B6EC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694D57-412A-8077-5BA8-25A17426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7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EF93-D0FD-52FE-A75E-B1467BFD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514B0-DE43-5D8A-494E-48806342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5F0D2-6547-9FA4-30DF-335E6729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7C80B-D337-F6C9-3C55-8C6B177B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38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3A428-4CB5-BFFB-3C53-A62175AD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E18BD-7ABE-FD62-6C67-0798F985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A8D32-DBB9-0790-0086-69CF89CA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6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E60C-82C9-E11F-C49D-E08007FA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51932-FF02-9A50-B0F4-F9993C440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86ED1-BF8B-1920-B235-7E879F89D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56A4B-0979-0570-0A09-3D1D962F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B9D71-AF94-798B-44A0-6938BEF7E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36FEF-7E30-9BB3-0948-D0F32DB6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7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041A-EBF7-F822-2B1B-426D209E2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7883A-7835-2C11-5250-E8B11DD83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917A4-76DE-A647-0014-506C55B5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204A2-1209-728F-06A9-F0032BAE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CD516-72F2-78EF-DB88-8B8DBFD38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C9568-780A-ED25-AF7F-4BFCB9DE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4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907E3-A2BF-7DB0-49EE-255D4E181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1C3D7-01EA-A70E-C859-62666925D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7657B-5277-7F03-6BCB-B1B30089D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38D4F-3F11-2235-86B3-5D77A3EF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4B460-1347-0B55-66C2-9BD2FAD4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4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DA1D1-03B8-7D4E-9FA9-53FFACFB3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69423-5C7C-A8A0-0EBC-18AC0DD88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148FB-AADF-91DE-A4E0-B7FC10D1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35943-D2BF-DDDB-6F9A-91A7A5A0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FBC66-69A3-48D7-5973-3F336432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3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56D86-9540-F609-5ECF-FF606970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DF045-D07B-8FD4-8383-CB8D11C47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9AB9E-DF5F-5642-CBAD-2CB42BEB3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AF83B-FCA0-824F-A857-04F4DEA00E46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FDE1A-8042-8A89-7365-59BEBA942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C5C00-034A-210B-EC44-7F29BCB64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88952-90C4-EB48-A3B0-C504C785B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7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248CCD-6F89-3E02-AE8F-042C42AF3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en-US" sz="4400"/>
              <a:t>Worldbuilding and Unbuilding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FBA4C-2939-78F2-A1B2-512DA38C9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408" y="4214627"/>
            <a:ext cx="3616912" cy="1129441"/>
          </a:xfrm>
        </p:spPr>
        <p:txBody>
          <a:bodyPr>
            <a:normAutofit/>
          </a:bodyPr>
          <a:lstStyle/>
          <a:p>
            <a:r>
              <a:rPr lang="en-US" sz="1800" dirty="0"/>
              <a:t>Creed (1993) * </a:t>
            </a:r>
            <a:r>
              <a:rPr lang="en-US" sz="1800" dirty="0" err="1"/>
              <a:t>Armipour</a:t>
            </a:r>
            <a:r>
              <a:rPr lang="en-US" sz="1800" dirty="0"/>
              <a:t> (2014)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F41272-AE7F-5A7B-F4C6-615AE932D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152" y="578738"/>
            <a:ext cx="3977847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2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D0018-16E7-A23B-310C-57F39F9D2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609600"/>
            <a:ext cx="5310116" cy="13228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F5716-66B1-E79F-B3F7-5822146BA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57" y="675564"/>
            <a:ext cx="3103292" cy="5516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30AF30-6D4A-9D49-30B7-C6BAA134887F}"/>
              </a:ext>
            </a:extLst>
          </p:cNvPr>
          <p:cNvSpPr txBox="1"/>
          <p:nvPr/>
        </p:nvSpPr>
        <p:spPr>
          <a:xfrm>
            <a:off x="5867400" y="2194102"/>
            <a:ext cx="6324600" cy="3908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Announcements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Overview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Keywords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Student Presentations with Kaitlyn and Taylor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428423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8969DA-E869-40AF-94FC-E40F96D7D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75C49-069E-3050-35AC-88A9C9C5A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4" y="1472609"/>
            <a:ext cx="4457701" cy="21356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Adding to Our Conceptual Vocabulary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776B1EE-A7D1-46A3-81E9-19E58E41D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89928" y="1"/>
            <a:ext cx="7602071" cy="484093"/>
          </a:xfrm>
          <a:custGeom>
            <a:avLst/>
            <a:gdLst>
              <a:gd name="connsiteX0" fmla="*/ 9683888 w 9683888"/>
              <a:gd name="connsiteY0" fmla="*/ 0 h 743457"/>
              <a:gd name="connsiteX1" fmla="*/ 0 w 9683888"/>
              <a:gd name="connsiteY1" fmla="*/ 0 h 743457"/>
              <a:gd name="connsiteX2" fmla="*/ 0 w 9683888"/>
              <a:gd name="connsiteY2" fmla="*/ 365878 h 743457"/>
              <a:gd name="connsiteX3" fmla="*/ 11844 w 9683888"/>
              <a:gd name="connsiteY3" fmla="*/ 367909 h 743457"/>
              <a:gd name="connsiteX4" fmla="*/ 106208 w 9683888"/>
              <a:gd name="connsiteY4" fmla="*/ 385974 h 743457"/>
              <a:gd name="connsiteX5" fmla="*/ 183667 w 9683888"/>
              <a:gd name="connsiteY5" fmla="*/ 399162 h 743457"/>
              <a:gd name="connsiteX6" fmla="*/ 292430 w 9683888"/>
              <a:gd name="connsiteY6" fmla="*/ 390408 h 743457"/>
              <a:gd name="connsiteX7" fmla="*/ 386942 w 9683888"/>
              <a:gd name="connsiteY7" fmla="*/ 395582 h 743457"/>
              <a:gd name="connsiteX8" fmla="*/ 485751 w 9683888"/>
              <a:gd name="connsiteY8" fmla="*/ 408404 h 743457"/>
              <a:gd name="connsiteX9" fmla="*/ 604107 w 9683888"/>
              <a:gd name="connsiteY9" fmla="*/ 418647 h 743457"/>
              <a:gd name="connsiteX10" fmla="*/ 694081 w 9683888"/>
              <a:gd name="connsiteY10" fmla="*/ 449524 h 743457"/>
              <a:gd name="connsiteX11" fmla="*/ 762452 w 9683888"/>
              <a:gd name="connsiteY11" fmla="*/ 456090 h 743457"/>
              <a:gd name="connsiteX12" fmla="*/ 987872 w 9683888"/>
              <a:gd name="connsiteY12" fmla="*/ 481862 h 743457"/>
              <a:gd name="connsiteX13" fmla="*/ 1077163 w 9683888"/>
              <a:gd name="connsiteY13" fmla="*/ 524467 h 743457"/>
              <a:gd name="connsiteX14" fmla="*/ 1258716 w 9683888"/>
              <a:gd name="connsiteY14" fmla="*/ 587975 h 743457"/>
              <a:gd name="connsiteX15" fmla="*/ 1298056 w 9683888"/>
              <a:gd name="connsiteY15" fmla="*/ 595413 h 743457"/>
              <a:gd name="connsiteX16" fmla="*/ 1327017 w 9683888"/>
              <a:gd name="connsiteY16" fmla="*/ 617412 h 743457"/>
              <a:gd name="connsiteX17" fmla="*/ 1347909 w 9683888"/>
              <a:gd name="connsiteY17" fmla="*/ 620209 h 743457"/>
              <a:gd name="connsiteX18" fmla="*/ 1421792 w 9683888"/>
              <a:gd name="connsiteY18" fmla="*/ 626139 h 743457"/>
              <a:gd name="connsiteX19" fmla="*/ 1519789 w 9683888"/>
              <a:gd name="connsiteY19" fmla="*/ 645011 h 743457"/>
              <a:gd name="connsiteX20" fmla="*/ 1620886 w 9683888"/>
              <a:gd name="connsiteY20" fmla="*/ 687715 h 743457"/>
              <a:gd name="connsiteX21" fmla="*/ 1676745 w 9683888"/>
              <a:gd name="connsiteY21" fmla="*/ 690130 h 743457"/>
              <a:gd name="connsiteX22" fmla="*/ 1832228 w 9683888"/>
              <a:gd name="connsiteY22" fmla="*/ 690860 h 743457"/>
              <a:gd name="connsiteX23" fmla="*/ 1980464 w 9683888"/>
              <a:gd name="connsiteY23" fmla="*/ 704858 h 743457"/>
              <a:gd name="connsiteX24" fmla="*/ 2051150 w 9683888"/>
              <a:gd name="connsiteY24" fmla="*/ 711187 h 743457"/>
              <a:gd name="connsiteX25" fmla="*/ 2162824 w 9683888"/>
              <a:gd name="connsiteY25" fmla="*/ 709178 h 743457"/>
              <a:gd name="connsiteX26" fmla="*/ 2259859 w 9683888"/>
              <a:gd name="connsiteY26" fmla="*/ 718188 h 743457"/>
              <a:gd name="connsiteX27" fmla="*/ 2378290 w 9683888"/>
              <a:gd name="connsiteY27" fmla="*/ 738748 h 743457"/>
              <a:gd name="connsiteX28" fmla="*/ 2407828 w 9683888"/>
              <a:gd name="connsiteY28" fmla="*/ 743457 h 743457"/>
              <a:gd name="connsiteX29" fmla="*/ 2428936 w 9683888"/>
              <a:gd name="connsiteY29" fmla="*/ 734697 h 743457"/>
              <a:gd name="connsiteX30" fmla="*/ 2646106 w 9683888"/>
              <a:gd name="connsiteY30" fmla="*/ 660204 h 743457"/>
              <a:gd name="connsiteX31" fmla="*/ 2799920 w 9683888"/>
              <a:gd name="connsiteY31" fmla="*/ 630451 h 743457"/>
              <a:gd name="connsiteX32" fmla="*/ 2953556 w 9683888"/>
              <a:gd name="connsiteY32" fmla="*/ 607173 h 743457"/>
              <a:gd name="connsiteX33" fmla="*/ 3009839 w 9683888"/>
              <a:gd name="connsiteY33" fmla="*/ 601743 h 743457"/>
              <a:gd name="connsiteX34" fmla="*/ 3115016 w 9683888"/>
              <a:gd name="connsiteY34" fmla="*/ 584982 h 743457"/>
              <a:gd name="connsiteX35" fmla="*/ 3185844 w 9683888"/>
              <a:gd name="connsiteY35" fmla="*/ 595356 h 743457"/>
              <a:gd name="connsiteX36" fmla="*/ 3246013 w 9683888"/>
              <a:gd name="connsiteY36" fmla="*/ 592418 h 743457"/>
              <a:gd name="connsiteX37" fmla="*/ 3313565 w 9683888"/>
              <a:gd name="connsiteY37" fmla="*/ 574138 h 743457"/>
              <a:gd name="connsiteX38" fmla="*/ 3414143 w 9683888"/>
              <a:gd name="connsiteY38" fmla="*/ 553730 h 743457"/>
              <a:gd name="connsiteX39" fmla="*/ 3552895 w 9683888"/>
              <a:gd name="connsiteY39" fmla="*/ 548563 h 743457"/>
              <a:gd name="connsiteX40" fmla="*/ 3753012 w 9683888"/>
              <a:gd name="connsiteY40" fmla="*/ 599520 h 743457"/>
              <a:gd name="connsiteX41" fmla="*/ 3804392 w 9683888"/>
              <a:gd name="connsiteY41" fmla="*/ 604131 h 743457"/>
              <a:gd name="connsiteX42" fmla="*/ 3916696 w 9683888"/>
              <a:gd name="connsiteY42" fmla="*/ 606540 h 743457"/>
              <a:gd name="connsiteX43" fmla="*/ 4063849 w 9683888"/>
              <a:gd name="connsiteY43" fmla="*/ 604058 h 743457"/>
              <a:gd name="connsiteX44" fmla="*/ 4172179 w 9683888"/>
              <a:gd name="connsiteY44" fmla="*/ 592355 h 743457"/>
              <a:gd name="connsiteX45" fmla="*/ 4276294 w 9683888"/>
              <a:gd name="connsiteY45" fmla="*/ 587119 h 743457"/>
              <a:gd name="connsiteX46" fmla="*/ 4411090 w 9683888"/>
              <a:gd name="connsiteY46" fmla="*/ 575600 h 743457"/>
              <a:gd name="connsiteX47" fmla="*/ 4540465 w 9683888"/>
              <a:gd name="connsiteY47" fmla="*/ 567464 h 743457"/>
              <a:gd name="connsiteX48" fmla="*/ 4545352 w 9683888"/>
              <a:gd name="connsiteY48" fmla="*/ 555554 h 743457"/>
              <a:gd name="connsiteX49" fmla="*/ 4564014 w 9683888"/>
              <a:gd name="connsiteY49" fmla="*/ 553660 h 743457"/>
              <a:gd name="connsiteX50" fmla="*/ 4568602 w 9683888"/>
              <a:gd name="connsiteY50" fmla="*/ 550913 h 743457"/>
              <a:gd name="connsiteX51" fmla="*/ 4595289 w 9683888"/>
              <a:gd name="connsiteY51" fmla="*/ 537407 h 743457"/>
              <a:gd name="connsiteX52" fmla="*/ 4739026 w 9683888"/>
              <a:gd name="connsiteY52" fmla="*/ 532483 h 743457"/>
              <a:gd name="connsiteX53" fmla="*/ 5061335 w 9683888"/>
              <a:gd name="connsiteY53" fmla="*/ 545635 h 743457"/>
              <a:gd name="connsiteX54" fmla="*/ 5338634 w 9683888"/>
              <a:gd name="connsiteY54" fmla="*/ 595754 h 743457"/>
              <a:gd name="connsiteX55" fmla="*/ 5529430 w 9683888"/>
              <a:gd name="connsiteY55" fmla="*/ 606335 h 743457"/>
              <a:gd name="connsiteX56" fmla="*/ 5604039 w 9683888"/>
              <a:gd name="connsiteY56" fmla="*/ 607676 h 743457"/>
              <a:gd name="connsiteX57" fmla="*/ 5625281 w 9683888"/>
              <a:gd name="connsiteY57" fmla="*/ 617253 h 743457"/>
              <a:gd name="connsiteX58" fmla="*/ 5628138 w 9683888"/>
              <a:gd name="connsiteY58" fmla="*/ 615483 h 743457"/>
              <a:gd name="connsiteX59" fmla="*/ 5653593 w 9683888"/>
              <a:gd name="connsiteY59" fmla="*/ 617873 h 743457"/>
              <a:gd name="connsiteX60" fmla="*/ 5658658 w 9683888"/>
              <a:gd name="connsiteY60" fmla="*/ 624279 h 743457"/>
              <a:gd name="connsiteX61" fmla="*/ 5675963 w 9683888"/>
              <a:gd name="connsiteY61" fmla="*/ 627762 h 743457"/>
              <a:gd name="connsiteX62" fmla="*/ 5709625 w 9683888"/>
              <a:gd name="connsiteY62" fmla="*/ 639593 h 743457"/>
              <a:gd name="connsiteX63" fmla="*/ 5716324 w 9683888"/>
              <a:gd name="connsiteY63" fmla="*/ 637148 h 743457"/>
              <a:gd name="connsiteX64" fmla="*/ 5767720 w 9683888"/>
              <a:gd name="connsiteY64" fmla="*/ 647737 h 743457"/>
              <a:gd name="connsiteX65" fmla="*/ 5768619 w 9683888"/>
              <a:gd name="connsiteY65" fmla="*/ 645671 h 743457"/>
              <a:gd name="connsiteX66" fmla="*/ 5858696 w 9683888"/>
              <a:gd name="connsiteY66" fmla="*/ 628099 h 743457"/>
              <a:gd name="connsiteX67" fmla="*/ 5935260 w 9683888"/>
              <a:gd name="connsiteY67" fmla="*/ 596904 h 743457"/>
              <a:gd name="connsiteX68" fmla="*/ 5946176 w 9683888"/>
              <a:gd name="connsiteY68" fmla="*/ 597874 h 743457"/>
              <a:gd name="connsiteX69" fmla="*/ 5946447 w 9683888"/>
              <a:gd name="connsiteY69" fmla="*/ 597396 h 743457"/>
              <a:gd name="connsiteX70" fmla="*/ 5958069 w 9683888"/>
              <a:gd name="connsiteY70" fmla="*/ 597432 h 743457"/>
              <a:gd name="connsiteX71" fmla="*/ 5966081 w 9683888"/>
              <a:gd name="connsiteY71" fmla="*/ 599643 h 743457"/>
              <a:gd name="connsiteX72" fmla="*/ 5987259 w 9683888"/>
              <a:gd name="connsiteY72" fmla="*/ 601523 h 743457"/>
              <a:gd name="connsiteX73" fmla="*/ 5994905 w 9683888"/>
              <a:gd name="connsiteY73" fmla="*/ 598873 h 743457"/>
              <a:gd name="connsiteX74" fmla="*/ 6054803 w 9683888"/>
              <a:gd name="connsiteY74" fmla="*/ 541202 h 743457"/>
              <a:gd name="connsiteX75" fmla="*/ 6188672 w 9683888"/>
              <a:gd name="connsiteY75" fmla="*/ 496389 h 743457"/>
              <a:gd name="connsiteX76" fmla="*/ 6323280 w 9683888"/>
              <a:gd name="connsiteY76" fmla="*/ 458013 h 743457"/>
              <a:gd name="connsiteX77" fmla="*/ 6457257 w 9683888"/>
              <a:gd name="connsiteY77" fmla="*/ 414621 h 743457"/>
              <a:gd name="connsiteX78" fmla="*/ 6530019 w 9683888"/>
              <a:gd name="connsiteY78" fmla="*/ 423168 h 743457"/>
              <a:gd name="connsiteX79" fmla="*/ 6626800 w 9683888"/>
              <a:gd name="connsiteY79" fmla="*/ 375078 h 743457"/>
              <a:gd name="connsiteX80" fmla="*/ 6689231 w 9683888"/>
              <a:gd name="connsiteY80" fmla="*/ 353501 h 743457"/>
              <a:gd name="connsiteX81" fmla="*/ 6726440 w 9683888"/>
              <a:gd name="connsiteY81" fmla="*/ 340276 h 743457"/>
              <a:gd name="connsiteX82" fmla="*/ 6835228 w 9683888"/>
              <a:gd name="connsiteY82" fmla="*/ 329393 h 743457"/>
              <a:gd name="connsiteX83" fmla="*/ 7039363 w 9683888"/>
              <a:gd name="connsiteY83" fmla="*/ 370823 h 743457"/>
              <a:gd name="connsiteX84" fmla="*/ 7095156 w 9683888"/>
              <a:gd name="connsiteY84" fmla="*/ 366075 h 743457"/>
              <a:gd name="connsiteX85" fmla="*/ 7187061 w 9683888"/>
              <a:gd name="connsiteY85" fmla="*/ 383876 h 743457"/>
              <a:gd name="connsiteX86" fmla="*/ 7295039 w 9683888"/>
              <a:gd name="connsiteY86" fmla="*/ 355046 h 743457"/>
              <a:gd name="connsiteX87" fmla="*/ 7373651 w 9683888"/>
              <a:gd name="connsiteY87" fmla="*/ 322299 h 743457"/>
              <a:gd name="connsiteX88" fmla="*/ 7418964 w 9683888"/>
              <a:gd name="connsiteY88" fmla="*/ 308685 h 743457"/>
              <a:gd name="connsiteX89" fmla="*/ 7450568 w 9683888"/>
              <a:gd name="connsiteY89" fmla="*/ 293511 h 743457"/>
              <a:gd name="connsiteX90" fmla="*/ 7538380 w 9683888"/>
              <a:gd name="connsiteY90" fmla="*/ 283235 h 743457"/>
              <a:gd name="connsiteX91" fmla="*/ 7786348 w 9683888"/>
              <a:gd name="connsiteY91" fmla="*/ 225377 h 743457"/>
              <a:gd name="connsiteX92" fmla="*/ 7849534 w 9683888"/>
              <a:gd name="connsiteY92" fmla="*/ 245434 h 743457"/>
              <a:gd name="connsiteX93" fmla="*/ 7981165 w 9683888"/>
              <a:gd name="connsiteY93" fmla="*/ 222252 h 743457"/>
              <a:gd name="connsiteX94" fmla="*/ 8171882 w 9683888"/>
              <a:gd name="connsiteY94" fmla="*/ 222497 h 743457"/>
              <a:gd name="connsiteX95" fmla="*/ 8242270 w 9683888"/>
              <a:gd name="connsiteY95" fmla="*/ 180535 h 743457"/>
              <a:gd name="connsiteX96" fmla="*/ 8490152 w 9683888"/>
              <a:gd name="connsiteY96" fmla="*/ 209193 h 743457"/>
              <a:gd name="connsiteX97" fmla="*/ 8622272 w 9683888"/>
              <a:gd name="connsiteY97" fmla="*/ 188859 h 743457"/>
              <a:gd name="connsiteX98" fmla="*/ 8738606 w 9683888"/>
              <a:gd name="connsiteY98" fmla="*/ 208945 h 743457"/>
              <a:gd name="connsiteX99" fmla="*/ 8831307 w 9683888"/>
              <a:gd name="connsiteY99" fmla="*/ 207738 h 743457"/>
              <a:gd name="connsiteX100" fmla="*/ 8891432 w 9683888"/>
              <a:gd name="connsiteY100" fmla="*/ 184510 h 743457"/>
              <a:gd name="connsiteX101" fmla="*/ 8946980 w 9683888"/>
              <a:gd name="connsiteY101" fmla="*/ 145578 h 743457"/>
              <a:gd name="connsiteX102" fmla="*/ 9107760 w 9683888"/>
              <a:gd name="connsiteY102" fmla="*/ 128052 h 743457"/>
              <a:gd name="connsiteX103" fmla="*/ 9195623 w 9683888"/>
              <a:gd name="connsiteY103" fmla="*/ 100212 h 743457"/>
              <a:gd name="connsiteX104" fmla="*/ 9256898 w 9683888"/>
              <a:gd name="connsiteY104" fmla="*/ 73900 h 743457"/>
              <a:gd name="connsiteX105" fmla="*/ 9351740 w 9683888"/>
              <a:gd name="connsiteY105" fmla="*/ 80439 h 743457"/>
              <a:gd name="connsiteX106" fmla="*/ 9539796 w 9683888"/>
              <a:gd name="connsiteY106" fmla="*/ 87069 h 743457"/>
              <a:gd name="connsiteX107" fmla="*/ 9619109 w 9683888"/>
              <a:gd name="connsiteY107" fmla="*/ 39994 h 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9683888" h="743457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EFDEF-82FF-8950-FAD1-E7817C14D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16" y="1760620"/>
            <a:ext cx="5184212" cy="2903159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A40C28-B748-4B4A-BF04-30E783CE7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04329"/>
            <a:ext cx="10680562" cy="1353672"/>
          </a:xfrm>
          <a:custGeom>
            <a:avLst/>
            <a:gdLst>
              <a:gd name="connsiteX0" fmla="*/ 3617689 w 10680562"/>
              <a:gd name="connsiteY0" fmla="*/ 0 h 1605023"/>
              <a:gd name="connsiteX1" fmla="*/ 3635901 w 10680562"/>
              <a:gd name="connsiteY1" fmla="*/ 7738 h 1605023"/>
              <a:gd name="connsiteX2" fmla="*/ 3690891 w 10680562"/>
              <a:gd name="connsiteY2" fmla="*/ 7049 h 1605023"/>
              <a:gd name="connsiteX3" fmla="*/ 3832247 w 10680562"/>
              <a:gd name="connsiteY3" fmla="*/ 13937 h 1605023"/>
              <a:gd name="connsiteX4" fmla="*/ 3999111 w 10680562"/>
              <a:gd name="connsiteY4" fmla="*/ 44624 h 1605023"/>
              <a:gd name="connsiteX5" fmla="*/ 4034676 w 10680562"/>
              <a:gd name="connsiteY5" fmla="*/ 48775 h 1605023"/>
              <a:gd name="connsiteX6" fmla="*/ 4065394 w 10680562"/>
              <a:gd name="connsiteY6" fmla="*/ 42879 h 1605023"/>
              <a:gd name="connsiteX7" fmla="*/ 4072648 w 10680562"/>
              <a:gd name="connsiteY7" fmla="*/ 33262 h 1605023"/>
              <a:gd name="connsiteX8" fmla="*/ 4092232 w 10680562"/>
              <a:gd name="connsiteY8" fmla="*/ 34026 h 1605023"/>
              <a:gd name="connsiteX9" fmla="*/ 4097470 w 10680562"/>
              <a:gd name="connsiteY9" fmla="*/ 32252 h 1605023"/>
              <a:gd name="connsiteX10" fmla="*/ 4127488 w 10680562"/>
              <a:gd name="connsiteY10" fmla="*/ 24056 h 1605023"/>
              <a:gd name="connsiteX11" fmla="*/ 4190803 w 10680562"/>
              <a:gd name="connsiteY11" fmla="*/ 55685 h 1605023"/>
              <a:gd name="connsiteX12" fmla="*/ 4269333 w 10680562"/>
              <a:gd name="connsiteY12" fmla="*/ 54186 h 1605023"/>
              <a:gd name="connsiteX13" fmla="*/ 4481486 w 10680562"/>
              <a:gd name="connsiteY13" fmla="*/ 116915 h 1605023"/>
              <a:gd name="connsiteX14" fmla="*/ 4651418 w 10680562"/>
              <a:gd name="connsiteY14" fmla="*/ 150071 h 1605023"/>
              <a:gd name="connsiteX15" fmla="*/ 4863575 w 10680562"/>
              <a:gd name="connsiteY15" fmla="*/ 175458 h 1605023"/>
              <a:gd name="connsiteX16" fmla="*/ 5013635 w 10680562"/>
              <a:gd name="connsiteY16" fmla="*/ 213928 h 1605023"/>
              <a:gd name="connsiteX17" fmla="*/ 5203044 w 10680562"/>
              <a:gd name="connsiteY17" fmla="*/ 228946 h 1605023"/>
              <a:gd name="connsiteX18" fmla="*/ 5207070 w 10680562"/>
              <a:gd name="connsiteY18" fmla="*/ 235105 h 1605023"/>
              <a:gd name="connsiteX19" fmla="*/ 5224253 w 10680562"/>
              <a:gd name="connsiteY19" fmla="*/ 240320 h 1605023"/>
              <a:gd name="connsiteX20" fmla="*/ 5256736 w 10680562"/>
              <a:gd name="connsiteY20" fmla="*/ 254811 h 1605023"/>
              <a:gd name="connsiteX21" fmla="*/ 5264095 w 10680562"/>
              <a:gd name="connsiteY21" fmla="*/ 253567 h 1605023"/>
              <a:gd name="connsiteX22" fmla="*/ 5315084 w 10680562"/>
              <a:gd name="connsiteY22" fmla="*/ 269264 h 1605023"/>
              <a:gd name="connsiteX23" fmla="*/ 5316393 w 10680562"/>
              <a:gd name="connsiteY23" fmla="*/ 267603 h 1605023"/>
              <a:gd name="connsiteX24" fmla="*/ 5333427 w 10680562"/>
              <a:gd name="connsiteY24" fmla="*/ 263823 h 1605023"/>
              <a:gd name="connsiteX25" fmla="*/ 5364589 w 10680562"/>
              <a:gd name="connsiteY25" fmla="*/ 260882 h 1605023"/>
              <a:gd name="connsiteX26" fmla="*/ 5443973 w 10680562"/>
              <a:gd name="connsiteY26" fmla="*/ 230866 h 1605023"/>
              <a:gd name="connsiteX27" fmla="*/ 5497201 w 10680562"/>
              <a:gd name="connsiteY27" fmla="*/ 247023 h 1605023"/>
              <a:gd name="connsiteX28" fmla="*/ 5508269 w 10680562"/>
              <a:gd name="connsiteY28" fmla="*/ 249256 h 1605023"/>
              <a:gd name="connsiteX29" fmla="*/ 5508636 w 10680562"/>
              <a:gd name="connsiteY29" fmla="*/ 248880 h 1605023"/>
              <a:gd name="connsiteX30" fmla="*/ 5520606 w 10680562"/>
              <a:gd name="connsiteY30" fmla="*/ 250400 h 1605023"/>
              <a:gd name="connsiteX31" fmla="*/ 5528451 w 10680562"/>
              <a:gd name="connsiteY31" fmla="*/ 253330 h 1605023"/>
              <a:gd name="connsiteX32" fmla="*/ 5549923 w 10680562"/>
              <a:gd name="connsiteY32" fmla="*/ 257662 h 1605023"/>
              <a:gd name="connsiteX33" fmla="*/ 5558295 w 10680562"/>
              <a:gd name="connsiteY33" fmla="*/ 256364 h 1605023"/>
              <a:gd name="connsiteX34" fmla="*/ 5664799 w 10680562"/>
              <a:gd name="connsiteY34" fmla="*/ 278924 h 1605023"/>
              <a:gd name="connsiteX35" fmla="*/ 5796160 w 10680562"/>
              <a:gd name="connsiteY35" fmla="*/ 307979 h 1605023"/>
              <a:gd name="connsiteX36" fmla="*/ 5897647 w 10680562"/>
              <a:gd name="connsiteY36" fmla="*/ 339431 h 1605023"/>
              <a:gd name="connsiteX37" fmla="*/ 5978838 w 10680562"/>
              <a:gd name="connsiteY37" fmla="*/ 367970 h 1605023"/>
              <a:gd name="connsiteX38" fmla="*/ 6050367 w 10680562"/>
              <a:gd name="connsiteY38" fmla="*/ 386341 h 1605023"/>
              <a:gd name="connsiteX39" fmla="*/ 6140609 w 10680562"/>
              <a:gd name="connsiteY39" fmla="*/ 385135 h 1605023"/>
              <a:gd name="connsiteX40" fmla="*/ 6302950 w 10680562"/>
              <a:gd name="connsiteY40" fmla="*/ 448183 h 1605023"/>
              <a:gd name="connsiteX41" fmla="*/ 6308533 w 10680562"/>
              <a:gd name="connsiteY41" fmla="*/ 448551 h 1605023"/>
              <a:gd name="connsiteX42" fmla="*/ 6340278 w 10680562"/>
              <a:gd name="connsiteY42" fmla="*/ 468555 h 1605023"/>
              <a:gd name="connsiteX43" fmla="*/ 6341685 w 10680562"/>
              <a:gd name="connsiteY43" fmla="*/ 467587 h 1605023"/>
              <a:gd name="connsiteX44" fmla="*/ 6354862 w 10680562"/>
              <a:gd name="connsiteY44" fmla="*/ 467794 h 1605023"/>
              <a:gd name="connsiteX45" fmla="*/ 6377840 w 10680562"/>
              <a:gd name="connsiteY45" fmla="*/ 471024 h 1605023"/>
              <a:gd name="connsiteX46" fmla="*/ 6442804 w 10680562"/>
              <a:gd name="connsiteY46" fmla="*/ 463091 h 1605023"/>
              <a:gd name="connsiteX47" fmla="*/ 6476009 w 10680562"/>
              <a:gd name="connsiteY47" fmla="*/ 483807 h 1605023"/>
              <a:gd name="connsiteX48" fmla="*/ 6483237 w 10680562"/>
              <a:gd name="connsiteY48" fmla="*/ 487308 h 1605023"/>
              <a:gd name="connsiteX49" fmla="*/ 6483605 w 10680562"/>
              <a:gd name="connsiteY49" fmla="*/ 487102 h 1605023"/>
              <a:gd name="connsiteX50" fmla="*/ 6491673 w 10680562"/>
              <a:gd name="connsiteY50" fmla="*/ 490243 h 1605023"/>
              <a:gd name="connsiteX51" fmla="*/ 6496411 w 10680562"/>
              <a:gd name="connsiteY51" fmla="*/ 493689 h 1605023"/>
              <a:gd name="connsiteX52" fmla="*/ 6510429 w 10680562"/>
              <a:gd name="connsiteY52" fmla="*/ 500479 h 1605023"/>
              <a:gd name="connsiteX53" fmla="*/ 6516750 w 10680562"/>
              <a:gd name="connsiteY53" fmla="*/ 500983 h 1605023"/>
              <a:gd name="connsiteX54" fmla="*/ 6580199 w 10680562"/>
              <a:gd name="connsiteY54" fmla="*/ 483318 h 1605023"/>
              <a:gd name="connsiteX55" fmla="*/ 6690237 w 10680562"/>
              <a:gd name="connsiteY55" fmla="*/ 493051 h 1605023"/>
              <a:gd name="connsiteX56" fmla="*/ 6798356 w 10680562"/>
              <a:gd name="connsiteY56" fmla="*/ 506748 h 1605023"/>
              <a:gd name="connsiteX57" fmla="*/ 6837102 w 10680562"/>
              <a:gd name="connsiteY57" fmla="*/ 513677 h 1605023"/>
              <a:gd name="connsiteX58" fmla="*/ 6907934 w 10680562"/>
              <a:gd name="connsiteY58" fmla="*/ 517339 h 1605023"/>
              <a:gd name="connsiteX59" fmla="*/ 6941474 w 10680562"/>
              <a:gd name="connsiteY59" fmla="*/ 513632 h 1605023"/>
              <a:gd name="connsiteX60" fmla="*/ 6942754 w 10680562"/>
              <a:gd name="connsiteY60" fmla="*/ 514394 h 1605023"/>
              <a:gd name="connsiteX61" fmla="*/ 6946363 w 10680562"/>
              <a:gd name="connsiteY61" fmla="*/ 511066 h 1605023"/>
              <a:gd name="connsiteX62" fmla="*/ 6952592 w 10680562"/>
              <a:gd name="connsiteY62" fmla="*/ 510252 h 1605023"/>
              <a:gd name="connsiteX63" fmla="*/ 6968398 w 10680562"/>
              <a:gd name="connsiteY63" fmla="*/ 513946 h 1605023"/>
              <a:gd name="connsiteX64" fmla="*/ 6974142 w 10680562"/>
              <a:gd name="connsiteY64" fmla="*/ 516310 h 1605023"/>
              <a:gd name="connsiteX65" fmla="*/ 6982971 w 10680562"/>
              <a:gd name="connsiteY65" fmla="*/ 517694 h 1605023"/>
              <a:gd name="connsiteX66" fmla="*/ 6983252 w 10680562"/>
              <a:gd name="connsiteY66" fmla="*/ 517416 h 1605023"/>
              <a:gd name="connsiteX67" fmla="*/ 6991400 w 10680562"/>
              <a:gd name="connsiteY67" fmla="*/ 519321 h 1605023"/>
              <a:gd name="connsiteX68" fmla="*/ 7030460 w 10680562"/>
              <a:gd name="connsiteY68" fmla="*/ 532556 h 1605023"/>
              <a:gd name="connsiteX69" fmla="*/ 7089916 w 10680562"/>
              <a:gd name="connsiteY69" fmla="*/ 511503 h 1605023"/>
              <a:gd name="connsiteX70" fmla="*/ 7113059 w 10680562"/>
              <a:gd name="connsiteY70" fmla="*/ 509904 h 1605023"/>
              <a:gd name="connsiteX71" fmla="*/ 7125755 w 10680562"/>
              <a:gd name="connsiteY71" fmla="*/ 507393 h 1605023"/>
              <a:gd name="connsiteX72" fmla="*/ 7126765 w 10680562"/>
              <a:gd name="connsiteY72" fmla="*/ 506166 h 1605023"/>
              <a:gd name="connsiteX73" fmla="*/ 7164175 w 10680562"/>
              <a:gd name="connsiteY73" fmla="*/ 519011 h 1605023"/>
              <a:gd name="connsiteX74" fmla="*/ 7169654 w 10680562"/>
              <a:gd name="connsiteY74" fmla="*/ 518219 h 1605023"/>
              <a:gd name="connsiteX75" fmla="*/ 7193386 w 10680562"/>
              <a:gd name="connsiteY75" fmla="*/ 529788 h 1605023"/>
              <a:gd name="connsiteX76" fmla="*/ 7205997 w 10680562"/>
              <a:gd name="connsiteY76" fmla="*/ 534060 h 1605023"/>
              <a:gd name="connsiteX77" fmla="*/ 7208842 w 10680562"/>
              <a:gd name="connsiteY77" fmla="*/ 538783 h 1605023"/>
              <a:gd name="connsiteX78" fmla="*/ 7227817 w 10680562"/>
              <a:gd name="connsiteY78" fmla="*/ 543304 h 1605023"/>
              <a:gd name="connsiteX79" fmla="*/ 7230267 w 10680562"/>
              <a:gd name="connsiteY79" fmla="*/ 542497 h 1605023"/>
              <a:gd name="connsiteX80" fmla="*/ 7244913 w 10680562"/>
              <a:gd name="connsiteY80" fmla="*/ 551160 h 1605023"/>
              <a:gd name="connsiteX81" fmla="*/ 7255970 w 10680562"/>
              <a:gd name="connsiteY81" fmla="*/ 564383 h 1605023"/>
              <a:gd name="connsiteX82" fmla="*/ 7421156 w 10680562"/>
              <a:gd name="connsiteY82" fmla="*/ 584155 h 1605023"/>
              <a:gd name="connsiteX83" fmla="*/ 7553166 w 10680562"/>
              <a:gd name="connsiteY83" fmla="*/ 653085 h 1605023"/>
              <a:gd name="connsiteX84" fmla="*/ 7643092 w 10680562"/>
              <a:gd name="connsiteY84" fmla="*/ 662482 h 1605023"/>
              <a:gd name="connsiteX85" fmla="*/ 7896429 w 10680562"/>
              <a:gd name="connsiteY85" fmla="*/ 689054 h 1605023"/>
              <a:gd name="connsiteX86" fmla="*/ 7954620 w 10680562"/>
              <a:gd name="connsiteY86" fmla="*/ 689481 h 1605023"/>
              <a:gd name="connsiteX87" fmla="*/ 8000803 w 10680562"/>
              <a:gd name="connsiteY87" fmla="*/ 714583 h 1605023"/>
              <a:gd name="connsiteX88" fmla="*/ 8023216 w 10680562"/>
              <a:gd name="connsiteY88" fmla="*/ 709000 h 1605023"/>
              <a:gd name="connsiteX89" fmla="*/ 8027136 w 10680562"/>
              <a:gd name="connsiteY89" fmla="*/ 707765 h 1605023"/>
              <a:gd name="connsiteX90" fmla="*/ 8041622 w 10680562"/>
              <a:gd name="connsiteY90" fmla="*/ 708731 h 1605023"/>
              <a:gd name="connsiteX91" fmla="*/ 8047209 w 10680562"/>
              <a:gd name="connsiteY91" fmla="*/ 701624 h 1605023"/>
              <a:gd name="connsiteX92" fmla="*/ 8070088 w 10680562"/>
              <a:gd name="connsiteY92" fmla="*/ 697789 h 1605023"/>
              <a:gd name="connsiteX93" fmla="*/ 8096332 w 10680562"/>
              <a:gd name="connsiteY93" fmla="*/ 701624 h 1605023"/>
              <a:gd name="connsiteX94" fmla="*/ 8219225 w 10680562"/>
              <a:gd name="connsiteY94" fmla="*/ 728069 h 1605023"/>
              <a:gd name="connsiteX95" fmla="*/ 8293793 w 10680562"/>
              <a:gd name="connsiteY95" fmla="*/ 739200 h 1605023"/>
              <a:gd name="connsiteX96" fmla="*/ 8323753 w 10680562"/>
              <a:gd name="connsiteY96" fmla="*/ 736063 h 1605023"/>
              <a:gd name="connsiteX97" fmla="*/ 8364496 w 10680562"/>
              <a:gd name="connsiteY97" fmla="*/ 736635 h 1605023"/>
              <a:gd name="connsiteX98" fmla="*/ 8437662 w 10680562"/>
              <a:gd name="connsiteY98" fmla="*/ 731942 h 1605023"/>
              <a:gd name="connsiteX99" fmla="*/ 8533764 w 10680562"/>
              <a:gd name="connsiteY99" fmla="*/ 735554 h 1605023"/>
              <a:gd name="connsiteX100" fmla="*/ 8596769 w 10680562"/>
              <a:gd name="connsiteY100" fmla="*/ 769632 h 1605023"/>
              <a:gd name="connsiteX101" fmla="*/ 8604035 w 10680562"/>
              <a:gd name="connsiteY101" fmla="*/ 764982 h 1605023"/>
              <a:gd name="connsiteX102" fmla="*/ 8650929 w 10680562"/>
              <a:gd name="connsiteY102" fmla="*/ 773164 h 1605023"/>
              <a:gd name="connsiteX103" fmla="*/ 8806497 w 10680562"/>
              <a:gd name="connsiteY103" fmla="*/ 839707 h 1605023"/>
              <a:gd name="connsiteX104" fmla="*/ 8898377 w 10680562"/>
              <a:gd name="connsiteY104" fmla="*/ 854651 h 1605023"/>
              <a:gd name="connsiteX105" fmla="*/ 8932389 w 10680562"/>
              <a:gd name="connsiteY105" fmla="*/ 853846 h 1605023"/>
              <a:gd name="connsiteX106" fmla="*/ 8989288 w 10680562"/>
              <a:gd name="connsiteY106" fmla="*/ 852877 h 1605023"/>
              <a:gd name="connsiteX107" fmla="*/ 9035275 w 10680562"/>
              <a:gd name="connsiteY107" fmla="*/ 837110 h 1605023"/>
              <a:gd name="connsiteX108" fmla="*/ 9138626 w 10680562"/>
              <a:gd name="connsiteY108" fmla="*/ 862106 h 1605023"/>
              <a:gd name="connsiteX109" fmla="*/ 9216298 w 10680562"/>
              <a:gd name="connsiteY109" fmla="*/ 858754 h 1605023"/>
              <a:gd name="connsiteX110" fmla="*/ 9259941 w 10680562"/>
              <a:gd name="connsiteY110" fmla="*/ 861843 h 1605023"/>
              <a:gd name="connsiteX111" fmla="*/ 9380407 w 10680562"/>
              <a:gd name="connsiteY111" fmla="*/ 864825 h 1605023"/>
              <a:gd name="connsiteX112" fmla="*/ 9490772 w 10680562"/>
              <a:gd name="connsiteY112" fmla="*/ 901190 h 1605023"/>
              <a:gd name="connsiteX113" fmla="*/ 9584982 w 10680562"/>
              <a:gd name="connsiteY113" fmla="*/ 935980 h 1605023"/>
              <a:gd name="connsiteX114" fmla="*/ 9759797 w 10680562"/>
              <a:gd name="connsiteY114" fmla="*/ 1010923 h 1605023"/>
              <a:gd name="connsiteX115" fmla="*/ 9834455 w 10680562"/>
              <a:gd name="connsiteY115" fmla="*/ 1082908 h 1605023"/>
              <a:gd name="connsiteX116" fmla="*/ 9939504 w 10680562"/>
              <a:gd name="connsiteY116" fmla="*/ 1110614 h 1605023"/>
              <a:gd name="connsiteX117" fmla="*/ 10077001 w 10680562"/>
              <a:gd name="connsiteY117" fmla="*/ 1160906 h 1605023"/>
              <a:gd name="connsiteX118" fmla="*/ 10178431 w 10680562"/>
              <a:gd name="connsiteY118" fmla="*/ 1244920 h 1605023"/>
              <a:gd name="connsiteX119" fmla="*/ 10248658 w 10680562"/>
              <a:gd name="connsiteY119" fmla="*/ 1309335 h 1605023"/>
              <a:gd name="connsiteX120" fmla="*/ 10414709 w 10680562"/>
              <a:gd name="connsiteY120" fmla="*/ 1388645 h 1605023"/>
              <a:gd name="connsiteX121" fmla="*/ 10592469 w 10680562"/>
              <a:gd name="connsiteY121" fmla="*/ 1543828 h 1605023"/>
              <a:gd name="connsiteX122" fmla="*/ 10674941 w 10680562"/>
              <a:gd name="connsiteY122" fmla="*/ 1597388 h 1605023"/>
              <a:gd name="connsiteX123" fmla="*/ 10680562 w 10680562"/>
              <a:gd name="connsiteY123" fmla="*/ 1605023 h 1605023"/>
              <a:gd name="connsiteX124" fmla="*/ 0 w 10680562"/>
              <a:gd name="connsiteY124" fmla="*/ 1605023 h 1605023"/>
              <a:gd name="connsiteX125" fmla="*/ 0 w 10680562"/>
              <a:gd name="connsiteY125" fmla="*/ 415048 h 1605023"/>
              <a:gd name="connsiteX126" fmla="*/ 9656 w 10680562"/>
              <a:gd name="connsiteY126" fmla="*/ 416044 h 1605023"/>
              <a:gd name="connsiteX127" fmla="*/ 179196 w 10680562"/>
              <a:gd name="connsiteY127" fmla="*/ 423071 h 1605023"/>
              <a:gd name="connsiteX128" fmla="*/ 250912 w 10680562"/>
              <a:gd name="connsiteY128" fmla="*/ 408617 h 1605023"/>
              <a:gd name="connsiteX129" fmla="*/ 291375 w 10680562"/>
              <a:gd name="connsiteY129" fmla="*/ 403710 h 1605023"/>
              <a:gd name="connsiteX130" fmla="*/ 320542 w 10680562"/>
              <a:gd name="connsiteY130" fmla="*/ 396592 h 1605023"/>
              <a:gd name="connsiteX131" fmla="*/ 522426 w 10680562"/>
              <a:gd name="connsiteY131" fmla="*/ 407158 h 1605023"/>
              <a:gd name="connsiteX132" fmla="*/ 549068 w 10680562"/>
              <a:gd name="connsiteY132" fmla="*/ 407418 h 1605023"/>
              <a:gd name="connsiteX133" fmla="*/ 571100 w 10680562"/>
              <a:gd name="connsiteY133" fmla="*/ 400562 h 1605023"/>
              <a:gd name="connsiteX134" fmla="*/ 575457 w 10680562"/>
              <a:gd name="connsiteY134" fmla="*/ 392801 h 1605023"/>
              <a:gd name="connsiteX135" fmla="*/ 589968 w 10680562"/>
              <a:gd name="connsiteY135" fmla="*/ 391807 h 1605023"/>
              <a:gd name="connsiteX136" fmla="*/ 593649 w 10680562"/>
              <a:gd name="connsiteY136" fmla="*/ 390062 h 1605023"/>
              <a:gd name="connsiteX137" fmla="*/ 614928 w 10680562"/>
              <a:gd name="connsiteY137" fmla="*/ 381544 h 1605023"/>
              <a:gd name="connsiteX138" fmla="*/ 722580 w 10680562"/>
              <a:gd name="connsiteY138" fmla="*/ 392722 h 1605023"/>
              <a:gd name="connsiteX139" fmla="*/ 946884 w 10680562"/>
              <a:gd name="connsiteY139" fmla="*/ 411854 h 1605023"/>
              <a:gd name="connsiteX140" fmla="*/ 1210905 w 10680562"/>
              <a:gd name="connsiteY140" fmla="*/ 432414 h 1605023"/>
              <a:gd name="connsiteX141" fmla="*/ 1377854 w 10680562"/>
              <a:gd name="connsiteY141" fmla="*/ 429745 h 1605023"/>
              <a:gd name="connsiteX142" fmla="*/ 1391004 w 10680562"/>
              <a:gd name="connsiteY142" fmla="*/ 441307 h 1605023"/>
              <a:gd name="connsiteX143" fmla="*/ 1406953 w 10680562"/>
              <a:gd name="connsiteY143" fmla="*/ 447889 h 1605023"/>
              <a:gd name="connsiteX144" fmla="*/ 1409246 w 10680562"/>
              <a:gd name="connsiteY144" fmla="*/ 446765 h 1605023"/>
              <a:gd name="connsiteX145" fmla="*/ 1428800 w 10680562"/>
              <a:gd name="connsiteY145" fmla="*/ 448677 h 1605023"/>
              <a:gd name="connsiteX146" fmla="*/ 1432402 w 10680562"/>
              <a:gd name="connsiteY146" fmla="*/ 452956 h 1605023"/>
              <a:gd name="connsiteX147" fmla="*/ 1606578 w 10680562"/>
              <a:gd name="connsiteY147" fmla="*/ 430870 h 1605023"/>
              <a:gd name="connsiteX148" fmla="*/ 1647476 w 10680562"/>
              <a:gd name="connsiteY148" fmla="*/ 438687 h 1605023"/>
              <a:gd name="connsiteX149" fmla="*/ 1655866 w 10680562"/>
              <a:gd name="connsiteY149" fmla="*/ 439472 h 1605023"/>
              <a:gd name="connsiteX150" fmla="*/ 1656096 w 10680562"/>
              <a:gd name="connsiteY150" fmla="*/ 439162 h 1605023"/>
              <a:gd name="connsiteX151" fmla="*/ 1670708 w 10680562"/>
              <a:gd name="connsiteY151" fmla="*/ 412530 h 1605023"/>
              <a:gd name="connsiteX152" fmla="*/ 1737953 w 10680562"/>
              <a:gd name="connsiteY152" fmla="*/ 399496 h 1605023"/>
              <a:gd name="connsiteX153" fmla="*/ 1848192 w 10680562"/>
              <a:gd name="connsiteY153" fmla="*/ 376032 h 1605023"/>
              <a:gd name="connsiteX154" fmla="*/ 1954077 w 10680562"/>
              <a:gd name="connsiteY154" fmla="*/ 352621 h 1605023"/>
              <a:gd name="connsiteX155" fmla="*/ 1993047 w 10680562"/>
              <a:gd name="connsiteY155" fmla="*/ 346068 h 1605023"/>
              <a:gd name="connsiteX156" fmla="*/ 2059719 w 10680562"/>
              <a:gd name="connsiteY156" fmla="*/ 325903 h 1605023"/>
              <a:gd name="connsiteX157" fmla="*/ 2088528 w 10680562"/>
              <a:gd name="connsiteY157" fmla="*/ 311409 h 1605023"/>
              <a:gd name="connsiteX158" fmla="*/ 2090087 w 10680562"/>
              <a:gd name="connsiteY158" fmla="*/ 311676 h 1605023"/>
              <a:gd name="connsiteX159" fmla="*/ 2091700 w 10680562"/>
              <a:gd name="connsiteY159" fmla="*/ 307455 h 1605023"/>
              <a:gd name="connsiteX160" fmla="*/ 2096989 w 10680562"/>
              <a:gd name="connsiteY160" fmla="*/ 304649 h 1605023"/>
              <a:gd name="connsiteX161" fmla="*/ 2113325 w 10680562"/>
              <a:gd name="connsiteY161" fmla="*/ 302764 h 1605023"/>
              <a:gd name="connsiteX162" fmla="*/ 2119780 w 10680562"/>
              <a:gd name="connsiteY162" fmla="*/ 303007 h 1605023"/>
              <a:gd name="connsiteX163" fmla="*/ 2128562 w 10680562"/>
              <a:gd name="connsiteY163" fmla="*/ 301336 h 1605023"/>
              <a:gd name="connsiteX164" fmla="*/ 2128679 w 10680562"/>
              <a:gd name="connsiteY164" fmla="*/ 300991 h 1605023"/>
              <a:gd name="connsiteX165" fmla="*/ 2179558 w 10680562"/>
              <a:gd name="connsiteY165" fmla="*/ 299095 h 1605023"/>
              <a:gd name="connsiteX166" fmla="*/ 2223277 w 10680562"/>
              <a:gd name="connsiteY166" fmla="*/ 260239 h 1605023"/>
              <a:gd name="connsiteX167" fmla="*/ 2243644 w 10680562"/>
              <a:gd name="connsiteY167" fmla="*/ 251110 h 1605023"/>
              <a:gd name="connsiteX168" fmla="*/ 2253986 w 10680562"/>
              <a:gd name="connsiteY168" fmla="*/ 244616 h 1605023"/>
              <a:gd name="connsiteX169" fmla="*/ 2254285 w 10680562"/>
              <a:gd name="connsiteY169" fmla="*/ 243167 h 1605023"/>
              <a:gd name="connsiteX170" fmla="*/ 2295037 w 10680562"/>
              <a:gd name="connsiteY170" fmla="*/ 242433 h 1605023"/>
              <a:gd name="connsiteX171" fmla="*/ 2299648 w 10680562"/>
              <a:gd name="connsiteY171" fmla="*/ 239896 h 1605023"/>
              <a:gd name="connsiteX172" fmla="*/ 2327237 w 10680562"/>
              <a:gd name="connsiteY172" fmla="*/ 242539 h 1605023"/>
              <a:gd name="connsiteX173" fmla="*/ 2340943 w 10680562"/>
              <a:gd name="connsiteY173" fmla="*/ 242239 h 1605023"/>
              <a:gd name="connsiteX174" fmla="*/ 2345943 w 10680562"/>
              <a:gd name="connsiteY174" fmla="*/ 245589 h 1605023"/>
              <a:gd name="connsiteX175" fmla="*/ 2365602 w 10680562"/>
              <a:gd name="connsiteY175" fmla="*/ 243403 h 1605023"/>
              <a:gd name="connsiteX176" fmla="*/ 2367433 w 10680562"/>
              <a:gd name="connsiteY176" fmla="*/ 241858 h 1605023"/>
              <a:gd name="connsiteX177" fmla="*/ 2385231 w 10680562"/>
              <a:gd name="connsiteY177" fmla="*/ 244873 h 1605023"/>
              <a:gd name="connsiteX178" fmla="*/ 2402059 w 10680562"/>
              <a:gd name="connsiteY178" fmla="*/ 253223 h 1605023"/>
              <a:gd name="connsiteX179" fmla="*/ 2719020 w 10680562"/>
              <a:gd name="connsiteY179" fmla="*/ 235271 h 1605023"/>
              <a:gd name="connsiteX180" fmla="*/ 2877308 w 10680562"/>
              <a:gd name="connsiteY180" fmla="*/ 208630 h 1605023"/>
              <a:gd name="connsiteX181" fmla="*/ 3051375 w 10680562"/>
              <a:gd name="connsiteY181" fmla="*/ 154110 h 1605023"/>
              <a:gd name="connsiteX182" fmla="*/ 3104837 w 10680562"/>
              <a:gd name="connsiteY182" fmla="*/ 135199 h 1605023"/>
              <a:gd name="connsiteX183" fmla="*/ 3159836 w 10680562"/>
              <a:gd name="connsiteY183" fmla="*/ 142694 h 1605023"/>
              <a:gd name="connsiteX184" fmla="*/ 3177510 w 10680562"/>
              <a:gd name="connsiteY184" fmla="*/ 130186 h 1605023"/>
              <a:gd name="connsiteX185" fmla="*/ 3180470 w 10680562"/>
              <a:gd name="connsiteY185" fmla="*/ 127764 h 1605023"/>
              <a:gd name="connsiteX186" fmla="*/ 3194216 w 10680562"/>
              <a:gd name="connsiteY186" fmla="*/ 123837 h 1605023"/>
              <a:gd name="connsiteX187" fmla="*/ 3214710 w 10680562"/>
              <a:gd name="connsiteY187" fmla="*/ 104451 h 1605023"/>
              <a:gd name="connsiteX188" fmla="*/ 3240671 w 10680562"/>
              <a:gd name="connsiteY188" fmla="*/ 99232 h 1605023"/>
              <a:gd name="connsiteX189" fmla="*/ 3366544 w 10680562"/>
              <a:gd name="connsiteY189" fmla="*/ 82506 h 1605023"/>
              <a:gd name="connsiteX190" fmla="*/ 3440424 w 10680562"/>
              <a:gd name="connsiteY190" fmla="*/ 67891 h 1605023"/>
              <a:gd name="connsiteX191" fmla="*/ 3466248 w 10680562"/>
              <a:gd name="connsiteY191" fmla="*/ 55103 h 1605023"/>
              <a:gd name="connsiteX192" fmla="*/ 3503820 w 10680562"/>
              <a:gd name="connsiteY192" fmla="*/ 42110 h 1605023"/>
              <a:gd name="connsiteX193" fmla="*/ 3568389 w 10680562"/>
              <a:gd name="connsiteY193" fmla="*/ 13576 h 1605023"/>
              <a:gd name="connsiteX194" fmla="*/ 3604089 w 10680562"/>
              <a:gd name="connsiteY194" fmla="*/ 6980 h 1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680562" h="1605023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2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05F0-F377-E829-BCCD-04E0F6633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Psychoanalytic Keywords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C1DD6-98C9-BFEE-73E7-5EAD67C77643}"/>
              </a:ext>
            </a:extLst>
          </p:cNvPr>
          <p:cNvSpPr txBox="1"/>
          <p:nvPr/>
        </p:nvSpPr>
        <p:spPr>
          <a:xfrm>
            <a:off x="534840" y="2228850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semiotic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8974B7-5CFB-1FE0-E7A4-699350962CF7}"/>
              </a:ext>
            </a:extLst>
          </p:cNvPr>
          <p:cNvSpPr txBox="1"/>
          <p:nvPr/>
        </p:nvSpPr>
        <p:spPr>
          <a:xfrm>
            <a:off x="9233931" y="4900374"/>
            <a:ext cx="1684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Symbolic order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56914-073B-2186-9243-02CB93E0EAEF}"/>
              </a:ext>
            </a:extLst>
          </p:cNvPr>
          <p:cNvSpPr txBox="1"/>
          <p:nvPr/>
        </p:nvSpPr>
        <p:spPr>
          <a:xfrm>
            <a:off x="3871913" y="4715708"/>
            <a:ext cx="1083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Ideal ego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6A4E55-C0B1-CF9A-B345-81D4BE6EDCE5}"/>
              </a:ext>
            </a:extLst>
          </p:cNvPr>
          <p:cNvSpPr txBox="1"/>
          <p:nvPr/>
        </p:nvSpPr>
        <p:spPr>
          <a:xfrm>
            <a:off x="6858000" y="3343275"/>
            <a:ext cx="75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chora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19ECA-83D6-EED2-6B40-F86016CAC64B}"/>
              </a:ext>
            </a:extLst>
          </p:cNvPr>
          <p:cNvSpPr txBox="1"/>
          <p:nvPr/>
        </p:nvSpPr>
        <p:spPr>
          <a:xfrm>
            <a:off x="8258175" y="3901559"/>
            <a:ext cx="1363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Mirror stage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4D4764-E231-B719-000B-509365C7C11E}"/>
              </a:ext>
            </a:extLst>
          </p:cNvPr>
          <p:cNvSpPr txBox="1"/>
          <p:nvPr/>
        </p:nvSpPr>
        <p:spPr>
          <a:xfrm>
            <a:off x="1891648" y="3056512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abjection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D27B0-8E5F-DDA0-1CE1-1E243DA23BC1}"/>
              </a:ext>
            </a:extLst>
          </p:cNvPr>
          <p:cNvSpPr txBox="1"/>
          <p:nvPr/>
        </p:nvSpPr>
        <p:spPr>
          <a:xfrm>
            <a:off x="2569990" y="3899139"/>
            <a:ext cx="1087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symbolic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89D9BE-633A-A78F-B5A6-38CA37CAA5CE}"/>
              </a:ext>
            </a:extLst>
          </p:cNvPr>
          <p:cNvSpPr txBox="1"/>
          <p:nvPr/>
        </p:nvSpPr>
        <p:spPr>
          <a:xfrm>
            <a:off x="3486150" y="2228850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jouissance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49298-ED14-6F03-F6AE-D20722215A6D}"/>
              </a:ext>
            </a:extLst>
          </p:cNvPr>
          <p:cNvSpPr txBox="1"/>
          <p:nvPr/>
        </p:nvSpPr>
        <p:spPr>
          <a:xfrm>
            <a:off x="838200" y="4915654"/>
            <a:ext cx="1210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Self/Other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8CC75B-FB4E-3AB1-1491-CF2D78AE223B}"/>
              </a:ext>
            </a:extLst>
          </p:cNvPr>
          <p:cNvSpPr txBox="1"/>
          <p:nvPr/>
        </p:nvSpPr>
        <p:spPr>
          <a:xfrm>
            <a:off x="6096000" y="5269706"/>
            <a:ext cx="1694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Subject/Object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33DAC6-12AF-B53A-934C-40C213144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801" y="266522"/>
            <a:ext cx="3484236" cy="34842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12EC42-CBA4-5688-608D-03D634F92E45}"/>
              </a:ext>
            </a:extLst>
          </p:cNvPr>
          <p:cNvSpPr txBox="1"/>
          <p:nvPr/>
        </p:nvSpPr>
        <p:spPr>
          <a:xfrm>
            <a:off x="161558" y="6388577"/>
            <a:ext cx="4579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more: https://</a:t>
            </a:r>
            <a:r>
              <a:rPr lang="en-US" dirty="0" err="1"/>
              <a:t>nosubject.com</a:t>
            </a:r>
            <a:r>
              <a:rPr lang="en-US" dirty="0"/>
              <a:t>/</a:t>
            </a:r>
            <a:r>
              <a:rPr lang="en-US" dirty="0" err="1"/>
              <a:t>Main_Page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68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80C0D-0F0C-5582-4833-51B1D63D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Archetypes of Horror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DA451-B33B-1A84-B8AF-DEA1CA663B96}"/>
              </a:ext>
            </a:extLst>
          </p:cNvPr>
          <p:cNvSpPr txBox="1"/>
          <p:nvPr/>
        </p:nvSpPr>
        <p:spPr>
          <a:xfrm>
            <a:off x="628650" y="1746010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Zombies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0BA2B-FF4F-EAD8-BC81-BC214B7832B4}"/>
              </a:ext>
            </a:extLst>
          </p:cNvPr>
          <p:cNvSpPr txBox="1"/>
          <p:nvPr/>
        </p:nvSpPr>
        <p:spPr>
          <a:xfrm>
            <a:off x="5239936" y="1745495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Ghouls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C6521-179D-AA1C-22C4-C059A610343E}"/>
              </a:ext>
            </a:extLst>
          </p:cNvPr>
          <p:cNvSpPr txBox="1"/>
          <p:nvPr/>
        </p:nvSpPr>
        <p:spPr>
          <a:xfrm>
            <a:off x="9043988" y="1745495"/>
            <a:ext cx="1120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Vampires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FC1D0F-F52F-2D96-AF9A-0DB58F266C0D}"/>
              </a:ext>
            </a:extLst>
          </p:cNvPr>
          <p:cNvSpPr txBox="1"/>
          <p:nvPr/>
        </p:nvSpPr>
        <p:spPr>
          <a:xfrm>
            <a:off x="3078349" y="4165321"/>
            <a:ext cx="138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Werewolves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08675-D67F-6F80-4E40-550C42975A5B}"/>
              </a:ext>
            </a:extLst>
          </p:cNvPr>
          <p:cNvSpPr txBox="1"/>
          <p:nvPr/>
        </p:nvSpPr>
        <p:spPr>
          <a:xfrm>
            <a:off x="7486649" y="4165321"/>
            <a:ext cx="1001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Witches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59D56E-A6C0-B2B1-8AC2-BF319A6D1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92" y="2428874"/>
            <a:ext cx="3279901" cy="1549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C0517C-F07F-CBE9-95B0-D2366A8B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433" y="2422998"/>
            <a:ext cx="2332615" cy="15494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151DF7-C9C3-F3FA-9A2B-91FB8CBF5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693" y="2445689"/>
            <a:ext cx="2629038" cy="14722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BAAB4E-4156-BD8A-1211-C04EEA566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3537" y="4716461"/>
            <a:ext cx="1954896" cy="1954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4BC3AE-4FAB-4E47-9396-3DE697FB7C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1728" y="4671337"/>
            <a:ext cx="3490886" cy="195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7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1DB7F0-8AA9-5E76-9D26-CB887E431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788" y="647700"/>
            <a:ext cx="3095625" cy="5556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09F285-5CBF-D3AA-48A9-2469CBAF2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088" y="647700"/>
            <a:ext cx="3616325" cy="5556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19B275-E713-9B33-11C4-63CB37026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>
                <a:solidFill>
                  <a:srgbClr val="FFFFFF"/>
                </a:solidFill>
              </a:rPr>
              <a:t>Student Presentations with Kaitlyn and Taylor</a:t>
            </a:r>
          </a:p>
        </p:txBody>
      </p:sp>
    </p:spTree>
    <p:extLst>
      <p:ext uri="{BB962C8B-B14F-4D97-AF65-F5344CB8AC3E}">
        <p14:creationId xmlns:p14="http://schemas.microsoft.com/office/powerpoint/2010/main" val="2253214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3550</TotalTime>
  <Words>599</Words>
  <Application>Microsoft Macintosh PowerPoint</Application>
  <PresentationFormat>Widescreen</PresentationFormat>
  <Paragraphs>37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Roboto</vt:lpstr>
      <vt:lpstr>Times New Roman</vt:lpstr>
      <vt:lpstr>Office Theme</vt:lpstr>
      <vt:lpstr>Worldbuilding and Unbuilding</vt:lpstr>
      <vt:lpstr>Agenda</vt:lpstr>
      <vt:lpstr>Adding to Our Conceptual Vocabulary</vt:lpstr>
      <vt:lpstr>Psychoanalytic Keywords</vt:lpstr>
      <vt:lpstr>Archetypes of Horror</vt:lpstr>
      <vt:lpstr>Student Presentations with Kaitlyn and Taylor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Worldbuilding and Unbuilding</dc:title>
  <dc:creator>Snorton, C. Riley</dc:creator>
  <cp:lastModifiedBy>Snorton, C. Riley</cp:lastModifiedBy>
  <cp:revision>2</cp:revision>
  <dcterms:created xsi:type="dcterms:W3CDTF">2024-02-13T02:48:58Z</dcterms:created>
  <dcterms:modified xsi:type="dcterms:W3CDTF">2024-02-15T13:59:48Z</dcterms:modified>
</cp:coreProperties>
</file>