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2" r:id="rId6"/>
    <p:sldId id="261" r:id="rId7"/>
    <p:sldId id="274" r:id="rId8"/>
    <p:sldId id="264" r:id="rId9"/>
    <p:sldId id="267" r:id="rId10"/>
    <p:sldId id="266" r:id="rId11"/>
    <p:sldId id="268" r:id="rId12"/>
    <p:sldId id="279" r:id="rId13"/>
    <p:sldId id="265" r:id="rId14"/>
    <p:sldId id="271" r:id="rId15"/>
    <p:sldId id="273" r:id="rId16"/>
    <p:sldId id="269" r:id="rId17"/>
    <p:sldId id="280" r:id="rId18"/>
    <p:sldId id="281" r:id="rId19"/>
    <p:sldId id="282" r:id="rId20"/>
    <p:sldId id="278" r:id="rId21"/>
    <p:sldId id="275" r:id="rId22"/>
    <p:sldId id="276" r:id="rId23"/>
    <p:sldId id="277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D1CF"/>
    <a:srgbClr val="0432F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617"/>
    <p:restoredTop sz="80816"/>
  </p:normalViewPr>
  <p:slideViewPr>
    <p:cSldViewPr snapToGrid="0">
      <p:cViewPr>
        <p:scale>
          <a:sx n="100" d="100"/>
          <a:sy n="100" d="100"/>
        </p:scale>
        <p:origin x="76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3/27/23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hexdump</a:t>
            </a:r>
            <a:r>
              <a:rPr lang="en-US" dirty="0"/>
              <a:t> -b </a:t>
            </a:r>
            <a:r>
              <a:rPr lang="en-US" dirty="0" err="1"/>
              <a:t>factorial.c</a:t>
            </a:r>
            <a:endParaRPr lang="en-US" dirty="0"/>
          </a:p>
          <a:p>
            <a:r>
              <a:rPr lang="en-US" dirty="0" err="1"/>
              <a:t>hexdump</a:t>
            </a:r>
            <a:r>
              <a:rPr lang="en-US" dirty="0"/>
              <a:t> -C </a:t>
            </a:r>
            <a:r>
              <a:rPr lang="en-US" dirty="0" err="1"/>
              <a:t>factorial.c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hexdump</a:t>
            </a:r>
            <a:r>
              <a:rPr lang="en-US" dirty="0"/>
              <a:t> -n 1000 -C </a:t>
            </a:r>
            <a:r>
              <a:rPr lang="en-US" dirty="0" err="1"/>
              <a:t>logo.png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clang </a:t>
            </a:r>
            <a:r>
              <a:rPr lang="en-US" dirty="0" err="1"/>
              <a:t>factorial.c</a:t>
            </a:r>
            <a:r>
              <a:rPr lang="en-US" dirty="0"/>
              <a:t> -o factorial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hexdump</a:t>
            </a:r>
            <a:r>
              <a:rPr lang="en-US" dirty="0"/>
              <a:t> -C factorial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objdump</a:t>
            </a:r>
            <a:r>
              <a:rPr lang="en-US" dirty="0"/>
              <a:t> -t factorial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objdump</a:t>
            </a:r>
            <a:r>
              <a:rPr lang="en-US" dirty="0"/>
              <a:t> -D factorial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2C28D5-7AAA-A440-BCD5-500991AF41B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49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799191-DA8B-834D-8515-0165619110D1}" type="datetimeFigureOut">
              <a:rPr lang="en-US" smtClean="0"/>
              <a:t>3/27/23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Bits 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4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th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35CC-3602-F2CD-6605-1E941198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EE51-BA05-8560-0ECD-07AA002E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Bit-wise operations</a:t>
            </a:r>
          </a:p>
          <a:p>
            <a:r>
              <a:rPr lang="en-US" dirty="0"/>
              <a:t>Addition&amp; subtraction</a:t>
            </a:r>
          </a:p>
          <a:p>
            <a:r>
              <a:rPr lang="en-US" dirty="0" err="1"/>
              <a:t>Hexdump</a:t>
            </a:r>
            <a:r>
              <a:rPr lang="en-US" dirty="0"/>
              <a:t> a file</a:t>
            </a:r>
          </a:p>
        </p:txBody>
      </p:sp>
    </p:spTree>
    <p:extLst>
      <p:ext uri="{BB962C8B-B14F-4D97-AF65-F5344CB8AC3E}">
        <p14:creationId xmlns:p14="http://schemas.microsoft.com/office/powerpoint/2010/main" val="3701171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7345-06AF-75ED-1F44-C31C4EEBA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FB0CD5-70E6-AE18-EE60-109F8E523CC1}"/>
              </a:ext>
            </a:extLst>
          </p:cNvPr>
          <p:cNvSpPr>
            <a:spLocks/>
          </p:cNvSpPr>
          <p:nvPr/>
        </p:nvSpPr>
        <p:spPr bwMode="auto">
          <a:xfrm>
            <a:off x="1510196" y="2570454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sz="2400" b="1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And</a:t>
            </a:r>
            <a:endParaRPr lang="en-US" sz="2000" b="1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 Bold" charset="0"/>
              </a:rPr>
              <a:t>A&amp;B </a:t>
            </a: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= 1 when both A=1 and B=1</a:t>
            </a:r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20472FA0-905D-8931-55CD-C63E237C1338}"/>
              </a:ext>
            </a:extLst>
          </p:cNvPr>
          <p:cNvPicPr>
            <a:picLocks noChangeArrowheads="1"/>
          </p:cNvPicPr>
          <p:nvPr/>
        </p:nvPicPr>
        <p:blipFill>
          <a:blip r:embed="rId2"/>
          <a:srcRect r="77623"/>
          <a:stretch>
            <a:fillRect/>
          </a:stretch>
        </p:blipFill>
        <p:spPr bwMode="auto">
          <a:xfrm>
            <a:off x="1776896" y="3395955"/>
            <a:ext cx="1131557" cy="108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96631D10-67CD-947F-54E0-01EB6D787703}"/>
              </a:ext>
            </a:extLst>
          </p:cNvPr>
          <p:cNvSpPr>
            <a:spLocks/>
          </p:cNvSpPr>
          <p:nvPr/>
        </p:nvSpPr>
        <p:spPr bwMode="auto">
          <a:xfrm>
            <a:off x="5612296" y="2570454"/>
            <a:ext cx="3746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sz="2400" b="1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Or</a:t>
            </a:r>
            <a:endParaRPr lang="en-US" sz="2000" b="1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 Bold" charset="0"/>
              </a:rPr>
              <a:t>A|B </a:t>
            </a: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= 1 when either A=1 or B=1</a:t>
            </a:r>
          </a:p>
        </p:txBody>
      </p:sp>
      <p:pic>
        <p:nvPicPr>
          <p:cNvPr id="7" name="Picture 8">
            <a:extLst>
              <a:ext uri="{FF2B5EF4-FFF2-40B4-BE49-F238E27FC236}">
                <a16:creationId xmlns:a16="http://schemas.microsoft.com/office/drawing/2014/main" id="{2DA88279-191D-F9E9-0B2F-328209A893F2}"/>
              </a:ext>
            </a:extLst>
          </p:cNvPr>
          <p:cNvPicPr>
            <a:picLocks noChangeArrowheads="1"/>
          </p:cNvPicPr>
          <p:nvPr/>
        </p:nvPicPr>
        <p:blipFill>
          <a:blip r:embed="rId3"/>
          <a:srcRect r="77623"/>
          <a:stretch>
            <a:fillRect/>
          </a:stretch>
        </p:blipFill>
        <p:spPr bwMode="auto">
          <a:xfrm>
            <a:off x="5955196" y="3403892"/>
            <a:ext cx="1131557" cy="108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6DF28E66-82A9-462B-A314-CAC74C09D7D5}"/>
              </a:ext>
            </a:extLst>
          </p:cNvPr>
          <p:cNvPicPr>
            <a:picLocks noChangeArrowheads="1"/>
          </p:cNvPicPr>
          <p:nvPr/>
        </p:nvPicPr>
        <p:blipFill>
          <a:blip r:embed="rId4"/>
          <a:srcRect r="77623"/>
          <a:stretch>
            <a:fillRect/>
          </a:stretch>
        </p:blipFill>
        <p:spPr bwMode="auto">
          <a:xfrm>
            <a:off x="1776896" y="5427955"/>
            <a:ext cx="1131557" cy="1083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10">
            <a:extLst>
              <a:ext uri="{FF2B5EF4-FFF2-40B4-BE49-F238E27FC236}">
                <a16:creationId xmlns:a16="http://schemas.microsoft.com/office/drawing/2014/main" id="{9E23CF5E-B2CD-54C9-AEA5-3647DD0DDEBE}"/>
              </a:ext>
            </a:extLst>
          </p:cNvPr>
          <p:cNvSpPr>
            <a:spLocks/>
          </p:cNvSpPr>
          <p:nvPr/>
        </p:nvSpPr>
        <p:spPr bwMode="auto">
          <a:xfrm>
            <a:off x="1510196" y="4602454"/>
            <a:ext cx="20955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sz="2400" b="1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Not</a:t>
            </a:r>
            <a:endParaRPr lang="en-US" sz="2000" b="1" dirty="0">
              <a:solidFill>
                <a:srgbClr val="000000"/>
              </a:solidFill>
              <a:latin typeface="Calibri Bold" charset="0"/>
              <a:ea typeface="Calibri Bold" charset="0"/>
              <a:cs typeface="Calibri Bold" charset="0"/>
              <a:sym typeface="Calibri Bold" charset="0"/>
            </a:endParaRP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 Bold" charset="0"/>
              </a:rPr>
              <a:t> ~A</a:t>
            </a: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= 1 when A=0</a:t>
            </a:r>
          </a:p>
        </p:txBody>
      </p:sp>
      <p:pic>
        <p:nvPicPr>
          <p:cNvPr id="10" name="Picture 11">
            <a:extLst>
              <a:ext uri="{FF2B5EF4-FFF2-40B4-BE49-F238E27FC236}">
                <a16:creationId xmlns:a16="http://schemas.microsoft.com/office/drawing/2014/main" id="{96C6F108-2240-EA01-956F-DAF9C1B4D81E}"/>
              </a:ext>
            </a:extLst>
          </p:cNvPr>
          <p:cNvPicPr>
            <a:picLocks noChangeArrowheads="1"/>
          </p:cNvPicPr>
          <p:nvPr/>
        </p:nvPicPr>
        <p:blipFill>
          <a:blip r:embed="rId5"/>
          <a:srcRect r="77623"/>
          <a:stretch>
            <a:fillRect/>
          </a:stretch>
        </p:blipFill>
        <p:spPr bwMode="auto">
          <a:xfrm>
            <a:off x="5955196" y="5435892"/>
            <a:ext cx="1131557" cy="10830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Rectangle 12">
            <a:extLst>
              <a:ext uri="{FF2B5EF4-FFF2-40B4-BE49-F238E27FC236}">
                <a16:creationId xmlns:a16="http://schemas.microsoft.com/office/drawing/2014/main" id="{5F5295E9-917A-9A6A-4C9C-1FCC6CD6113F}"/>
              </a:ext>
            </a:extLst>
          </p:cNvPr>
          <p:cNvSpPr>
            <a:spLocks/>
          </p:cNvSpPr>
          <p:nvPr/>
        </p:nvSpPr>
        <p:spPr bwMode="auto">
          <a:xfrm>
            <a:off x="4761396" y="4602454"/>
            <a:ext cx="5181600" cy="825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eaLnBrk="1" hangingPunct="1">
              <a:spcBef>
                <a:spcPts val="575"/>
              </a:spcBef>
            </a:pPr>
            <a:r>
              <a:rPr lang="en-US" sz="2400" b="1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Exclusive-Or (</a:t>
            </a:r>
            <a:r>
              <a:rPr lang="en-US" sz="2400" b="1" dirty="0" err="1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Xor</a:t>
            </a:r>
            <a:r>
              <a:rPr lang="en-US" sz="2400" b="1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)</a:t>
            </a:r>
          </a:p>
          <a:p>
            <a:pPr eaLnBrk="1" hangingPunct="1">
              <a:spcBef>
                <a:spcPts val="575"/>
              </a:spcBef>
              <a:buClr>
                <a:srgbClr val="980002"/>
              </a:buClr>
              <a:buSzPct val="60000"/>
              <a:buFont typeface="Wingdings" charset="2"/>
              <a:buChar char="n"/>
            </a:pPr>
            <a:r>
              <a:rPr lang="en-US" sz="2000" b="0" dirty="0">
                <a:solidFill>
                  <a:srgbClr val="000000"/>
                </a:solidFill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Calibri Bold" charset="0"/>
              </a:rPr>
              <a:t> A^B</a:t>
            </a:r>
            <a:r>
              <a:rPr lang="en-US" sz="2000" b="0" dirty="0">
                <a:solidFill>
                  <a:srgbClr val="000000"/>
                </a:solidFill>
                <a:latin typeface="Calibri Bold" charset="0"/>
                <a:ea typeface="Calibri Bold" charset="0"/>
                <a:cs typeface="Calibri Bold" charset="0"/>
                <a:sym typeface="Calibri Bold" charset="0"/>
              </a:rPr>
              <a:t> = 1 when either A=1 or B=1, but not both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A49F24-DA54-8F17-2F39-364BF24C22BB}"/>
              </a:ext>
            </a:extLst>
          </p:cNvPr>
          <p:cNvSpPr txBox="1"/>
          <p:nvPr/>
        </p:nvSpPr>
        <p:spPr>
          <a:xfrm>
            <a:off x="838200" y="1176710"/>
            <a:ext cx="69397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5250"/>
            <a:r>
              <a:rPr lang="en-US" sz="2400" dirty="0"/>
              <a:t>Algebraic representation of logic</a:t>
            </a:r>
          </a:p>
          <a:p>
            <a:pPr marL="7239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Developed by George Boole in 19th Century</a:t>
            </a:r>
          </a:p>
          <a:p>
            <a:pPr marL="7239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Encode “True” as 1 and “False” as 0</a:t>
            </a:r>
          </a:p>
        </p:txBody>
      </p:sp>
    </p:spTree>
    <p:extLst>
      <p:ext uri="{BB962C8B-B14F-4D97-AF65-F5344CB8AC3E}">
        <p14:creationId xmlns:p14="http://schemas.microsoft.com/office/powerpoint/2010/main" val="3276502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3E228-5979-314E-0313-FF7449EC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5526178-808E-67C4-6719-28F9730ED7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3297"/>
          <a:stretch/>
        </p:blipFill>
        <p:spPr>
          <a:xfrm>
            <a:off x="643330" y="1560469"/>
            <a:ext cx="3494370" cy="251239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3A14D62-6880-0D91-6F4B-9E2DCDA15C65}"/>
              </a:ext>
            </a:extLst>
          </p:cNvPr>
          <p:cNvSpPr txBox="1"/>
          <p:nvPr/>
        </p:nvSpPr>
        <p:spPr>
          <a:xfrm>
            <a:off x="6895474" y="1316877"/>
            <a:ext cx="47868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0xC8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0x7B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9AF287-E875-004D-CBEA-ACC16CD2ABC3}"/>
              </a:ext>
            </a:extLst>
          </p:cNvPr>
          <p:cNvSpPr txBox="1"/>
          <p:nvPr/>
        </p:nvSpPr>
        <p:spPr>
          <a:xfrm>
            <a:off x="7120326" y="209574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C2C688-0865-EB41-EE21-03B6ABAFF6CF}"/>
              </a:ext>
            </a:extLst>
          </p:cNvPr>
          <p:cNvSpPr txBox="1"/>
          <p:nvPr/>
        </p:nvSpPr>
        <p:spPr>
          <a:xfrm>
            <a:off x="8809232" y="2095746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11001000 (0xC8)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40FCA8-626B-0DDD-362A-98AC40BE706D}"/>
              </a:ext>
            </a:extLst>
          </p:cNvPr>
          <p:cNvSpPr txBox="1"/>
          <p:nvPr/>
        </p:nvSpPr>
        <p:spPr>
          <a:xfrm>
            <a:off x="7120326" y="2512228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D3917B-9289-C74C-F6A6-B52C8F965AB3}"/>
              </a:ext>
            </a:extLst>
          </p:cNvPr>
          <p:cNvSpPr txBox="1"/>
          <p:nvPr/>
        </p:nvSpPr>
        <p:spPr>
          <a:xfrm>
            <a:off x="8809232" y="2512228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1111011 (0x7B)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345679D-CC65-9775-144D-B4B2E051B769}"/>
              </a:ext>
            </a:extLst>
          </p:cNvPr>
          <p:cNvSpPr txBox="1"/>
          <p:nvPr/>
        </p:nvSpPr>
        <p:spPr>
          <a:xfrm>
            <a:off x="7120325" y="3197843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&amp; 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5FC9BF-A224-FFED-E164-3D4E0558C8F4}"/>
              </a:ext>
            </a:extLst>
          </p:cNvPr>
          <p:cNvSpPr txBox="1"/>
          <p:nvPr/>
        </p:nvSpPr>
        <p:spPr>
          <a:xfrm>
            <a:off x="8809232" y="3197843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01001000 (0x48)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4BE4BD1-D9E8-C60E-C0B8-F1AFAFD50DC1}"/>
              </a:ext>
            </a:extLst>
          </p:cNvPr>
          <p:cNvSpPr txBox="1"/>
          <p:nvPr/>
        </p:nvSpPr>
        <p:spPr>
          <a:xfrm>
            <a:off x="7120326" y="361432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| 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1512F8-6672-B128-1885-B8E048ED7610}"/>
              </a:ext>
            </a:extLst>
          </p:cNvPr>
          <p:cNvSpPr txBox="1"/>
          <p:nvPr/>
        </p:nvSpPr>
        <p:spPr>
          <a:xfrm>
            <a:off x="8809232" y="3614325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11111011 (0xFB)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8FBC3B-0F7C-54A8-0F44-69B5212E76BC}"/>
              </a:ext>
            </a:extLst>
          </p:cNvPr>
          <p:cNvSpPr txBox="1"/>
          <p:nvPr/>
        </p:nvSpPr>
        <p:spPr>
          <a:xfrm>
            <a:off x="7120326" y="4030807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^ 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60082C4-8B7F-9035-9CD5-9EED72DF46F4}"/>
              </a:ext>
            </a:extLst>
          </p:cNvPr>
          <p:cNvSpPr txBox="1"/>
          <p:nvPr/>
        </p:nvSpPr>
        <p:spPr>
          <a:xfrm>
            <a:off x="8809232" y="4030807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10110011 (0xB3)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35EC056-2054-8B3D-24E4-868D78CE5579}"/>
              </a:ext>
            </a:extLst>
          </p:cNvPr>
          <p:cNvSpPr txBox="1"/>
          <p:nvPr/>
        </p:nvSpPr>
        <p:spPr>
          <a:xfrm>
            <a:off x="7120326" y="4855099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~x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34557F-D317-4034-C494-352A6942DA1F}"/>
              </a:ext>
            </a:extLst>
          </p:cNvPr>
          <p:cNvSpPr txBox="1"/>
          <p:nvPr/>
        </p:nvSpPr>
        <p:spPr>
          <a:xfrm>
            <a:off x="8809232" y="4855099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00110111 (0x37)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AEFA21-CAF1-DAD1-B794-94F9977072E8}"/>
              </a:ext>
            </a:extLst>
          </p:cNvPr>
          <p:cNvSpPr txBox="1"/>
          <p:nvPr/>
        </p:nvSpPr>
        <p:spPr>
          <a:xfrm>
            <a:off x="7120326" y="5271581"/>
            <a:ext cx="463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~y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39B7A7-43E1-1D33-8DE7-BC944AEA8EF4}"/>
              </a:ext>
            </a:extLst>
          </p:cNvPr>
          <p:cNvSpPr txBox="1"/>
          <p:nvPr/>
        </p:nvSpPr>
        <p:spPr>
          <a:xfrm>
            <a:off x="8809232" y="5271581"/>
            <a:ext cx="2276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10000100 (0x84)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6ED7C0-CF98-35B4-DD1B-9B3391F46B63}"/>
              </a:ext>
            </a:extLst>
          </p:cNvPr>
          <p:cNvSpPr txBox="1"/>
          <p:nvPr/>
        </p:nvSpPr>
        <p:spPr>
          <a:xfrm>
            <a:off x="669564" y="4317474"/>
            <a:ext cx="603104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Apply to any integer data types: </a:t>
            </a:r>
          </a:p>
          <a:p>
            <a:pPr lvl="1"/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long</a:t>
            </a:r>
            <a:r>
              <a:rPr lang="en-US" dirty="0"/>
              <a:t>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int</a:t>
            </a:r>
            <a:r>
              <a:rPr lang="en-US" dirty="0"/>
              <a:t>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short</a:t>
            </a:r>
            <a:r>
              <a:rPr lang="en-US" dirty="0"/>
              <a:t>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char</a:t>
            </a:r>
            <a:r>
              <a:rPr lang="en-US" dirty="0"/>
              <a:t>,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signed</a:t>
            </a:r>
            <a:r>
              <a:rPr lang="en-US" dirty="0"/>
              <a:t> </a:t>
            </a:r>
            <a:r>
              <a:rPr lang="en-US" sz="2000" dirty="0"/>
              <a:t>or</a:t>
            </a:r>
            <a:r>
              <a:rPr lang="en-US" dirty="0"/>
              <a:t>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unsigned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View arguments as bit vectors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Operations applied bit-wise</a:t>
            </a:r>
          </a:p>
        </p:txBody>
      </p:sp>
    </p:spTree>
    <p:extLst>
      <p:ext uri="{BB962C8B-B14F-4D97-AF65-F5344CB8AC3E}">
        <p14:creationId xmlns:p14="http://schemas.microsoft.com/office/powerpoint/2010/main" val="103844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/>
      <p:bldP spid="15" grpId="0"/>
      <p:bldP spid="17" grpId="0"/>
      <p:bldP spid="23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215E-E78C-8110-62B8-615070F31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 vs. Logic Operations in 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113760-C8A6-53F3-2B67-F9FB101C0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41690"/>
            <a:ext cx="4783111" cy="4835273"/>
          </a:xfrm>
        </p:spPr>
        <p:txBody>
          <a:bodyPr/>
          <a:lstStyle/>
          <a:p>
            <a:r>
              <a:rPr lang="en-US" dirty="0"/>
              <a:t>Bitwise Operations: &amp;, |, ~, ^</a:t>
            </a:r>
          </a:p>
          <a:p>
            <a:pPr lvl="1"/>
            <a:r>
              <a:rPr lang="en-US" sz="2400" dirty="0"/>
              <a:t>View arguments as bit vectors</a:t>
            </a:r>
          </a:p>
          <a:p>
            <a:pPr lvl="1"/>
            <a:r>
              <a:rPr lang="en-US" sz="2400" dirty="0"/>
              <a:t>Operations applied bit-wise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Logical Operators: &amp;&amp;, ||, !</a:t>
            </a:r>
          </a:p>
          <a:p>
            <a:pPr lvl="1"/>
            <a:r>
              <a:rPr lang="en-US" dirty="0"/>
              <a:t>View 0 as "False"</a:t>
            </a:r>
          </a:p>
          <a:p>
            <a:pPr lvl="1"/>
            <a:r>
              <a:rPr lang="en-US" dirty="0"/>
              <a:t>Anything nonzero as "True"</a:t>
            </a:r>
          </a:p>
          <a:p>
            <a:pPr lvl="1"/>
            <a:r>
              <a:rPr lang="en-US" dirty="0"/>
              <a:t>Always return 0 or 1</a:t>
            </a:r>
          </a:p>
          <a:p>
            <a:pPr lvl="1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5E8CD8-4272-6C81-A5ED-91B0AA19754E}"/>
              </a:ext>
            </a:extLst>
          </p:cNvPr>
          <p:cNvSpPr txBox="1"/>
          <p:nvPr/>
        </p:nvSpPr>
        <p:spPr>
          <a:xfrm>
            <a:off x="5890171" y="3515762"/>
            <a:ext cx="4815229" cy="20005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!0xC8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itchFamily="2" charset="2"/>
              </a:rPr>
              <a:t> 0x00 (false)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itchFamily="2" charset="2"/>
              </a:rPr>
              <a:t>!!0xC8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itchFamily="2" charset="2"/>
              </a:rPr>
              <a:t> 0x01 (true)</a:t>
            </a:r>
          </a:p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  <a:sym typeface="Wingdings" pitchFamily="2" charset="2"/>
              </a:rPr>
              <a:t>(!! converts any non-zero values to 1)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0xC8 &amp;&amp; 0x7B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 0x01 (true)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0xC8 || 0x7B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 0x01 (true)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425DC-FB79-6941-063E-4F72C12E55C0}"/>
              </a:ext>
            </a:extLst>
          </p:cNvPr>
          <p:cNvSpPr txBox="1"/>
          <p:nvPr/>
        </p:nvSpPr>
        <p:spPr>
          <a:xfrm>
            <a:off x="5961090" y="1341690"/>
            <a:ext cx="295465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~0xC8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Wingdings" pitchFamily="2" charset="2"/>
              </a:rPr>
              <a:t> 0x37</a:t>
            </a:r>
          </a:p>
          <a:p>
            <a:endParaRPr lang="en-US" sz="2000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  <a:sym typeface="Wingdings" pitchFamily="2" charset="2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0xC8 &amp; 0xB9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 0x88</a:t>
            </a: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0xC8 | 0xB9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➙ 0xF9</a:t>
            </a:r>
            <a:endParaRPr lang="en-US" sz="2000" dirty="0"/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BCDA5674-BDC6-67A3-7EEA-532092FDE6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7060" y="5143500"/>
            <a:ext cx="4011040" cy="1612900"/>
          </a:xfrm>
          <a:prstGeom prst="wedgeRoundRectCallout">
            <a:avLst>
              <a:gd name="adj1" fmla="val 68960"/>
              <a:gd name="adj2" fmla="val -40566"/>
              <a:gd name="adj3" fmla="val 16667"/>
            </a:avLst>
          </a:prstGeom>
          <a:solidFill>
            <a:srgbClr val="FF9900"/>
          </a:solidFill>
          <a:ln w="19050">
            <a:solidFill>
              <a:schemeClr val="tx2"/>
            </a:solidFill>
            <a:miter lim="800000"/>
            <a:headEnd/>
            <a:tailEnd type="none" w="sm" len="sm"/>
          </a:ln>
          <a:effectLst/>
        </p:spPr>
        <p:txBody>
          <a:bodyPr lIns="45720" rIns="45720" anchor="ctr">
            <a:prstTxWarp prst="textNoShape">
              <a:avLst/>
            </a:prstTxWarp>
          </a:bodyPr>
          <a:lstStyle/>
          <a:p>
            <a:r>
              <a:rPr lang="en-US" sz="2400" dirty="0">
                <a:solidFill>
                  <a:srgbClr val="000000"/>
                </a:solidFill>
              </a:rPr>
              <a:t>Watch out for &amp;&amp; vs. &amp; (and || vs. |)… </a:t>
            </a:r>
          </a:p>
          <a:p>
            <a:r>
              <a:rPr lang="en-US" sz="2400" dirty="0">
                <a:solidFill>
                  <a:srgbClr val="000000"/>
                </a:solidFill>
              </a:rPr>
              <a:t>one of the more common oopsies in C programming</a:t>
            </a:r>
          </a:p>
        </p:txBody>
      </p:sp>
    </p:spTree>
    <p:extLst>
      <p:ext uri="{BB962C8B-B14F-4D97-AF65-F5344CB8AC3E}">
        <p14:creationId xmlns:p14="http://schemas.microsoft.com/office/powerpoint/2010/main" val="3385346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DDD75-CAA0-C066-B080-96371857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Shift</a:t>
            </a:r>
            <a:r>
              <a:rPr lang="en-US" dirty="0"/>
              <a:t>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4BE0F-ADBF-4538-2C31-832CC73AB6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166" y="1263903"/>
            <a:ext cx="6472334" cy="5330572"/>
          </a:xfrm>
        </p:spPr>
        <p:txBody>
          <a:bodyPr>
            <a:normAutofit/>
          </a:bodyPr>
          <a:lstStyle/>
          <a:p>
            <a:r>
              <a:rPr lang="en-US" dirty="0"/>
              <a:t>Left Shift: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&lt;&lt; y</a:t>
            </a:r>
          </a:p>
          <a:p>
            <a:pPr marL="552450" lvl="1"/>
            <a:r>
              <a:rPr lang="en-US" dirty="0"/>
              <a:t>Shift bit-vector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x</a:t>
            </a:r>
            <a:r>
              <a:rPr lang="en-US" dirty="0"/>
              <a:t> left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552450" lvl="1"/>
            <a:r>
              <a:rPr lang="en-US" dirty="0"/>
              <a:t>Keep bit-vector length (throw away extra bits)</a:t>
            </a:r>
          </a:p>
          <a:p>
            <a:pPr marL="552450" lvl="1"/>
            <a:r>
              <a:rPr lang="en-US" dirty="0"/>
              <a:t>Fill with </a:t>
            </a:r>
            <a:r>
              <a:rPr lang="en-US" dirty="0">
                <a:latin typeface="Calibri"/>
                <a:ea typeface="Monaco" charset="0"/>
                <a:cs typeface="Calibri"/>
                <a:sym typeface="Monaco" charset="0"/>
              </a:rPr>
              <a:t>0</a:t>
            </a:r>
            <a:r>
              <a:rPr lang="en-US" dirty="0"/>
              <a:t>’s on right</a:t>
            </a:r>
          </a:p>
          <a:p>
            <a:endParaRPr lang="en-US" dirty="0"/>
          </a:p>
          <a:p>
            <a:r>
              <a:rPr lang="en-US" dirty="0"/>
              <a:t>Right Shift: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&gt;&gt; y</a:t>
            </a:r>
          </a:p>
          <a:p>
            <a:pPr marL="552450" lvl="1"/>
            <a:r>
              <a:rPr lang="en-US" dirty="0"/>
              <a:t>Shift bit-vector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x</a:t>
            </a:r>
            <a:r>
              <a:rPr lang="en-US" dirty="0"/>
              <a:t> right </a:t>
            </a:r>
            <a:r>
              <a:rPr lang="en-US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  <a:sym typeface="Monaco" charset="0"/>
              </a:rPr>
              <a:t>y</a:t>
            </a:r>
            <a:r>
              <a:rPr lang="en-US" dirty="0"/>
              <a:t> positions</a:t>
            </a:r>
          </a:p>
          <a:p>
            <a:pPr marL="552450" lvl="1"/>
            <a:r>
              <a:rPr lang="en-US" dirty="0"/>
              <a:t>Keep bit-vector length (throw away extra bits)</a:t>
            </a:r>
          </a:p>
          <a:p>
            <a:pPr marL="552450" lvl="1"/>
            <a:r>
              <a:rPr lang="en-US" dirty="0"/>
              <a:t>Logical Shift: </a:t>
            </a:r>
          </a:p>
          <a:p>
            <a:pPr marL="1009650" lvl="2"/>
            <a:r>
              <a:rPr lang="en-US" dirty="0"/>
              <a:t>Fill with 0's on left</a:t>
            </a:r>
          </a:p>
          <a:p>
            <a:pPr marL="552450" lvl="1"/>
            <a:r>
              <a:rPr lang="en-US" dirty="0"/>
              <a:t>Arithmetic Shift: </a:t>
            </a:r>
          </a:p>
          <a:p>
            <a:pPr marL="1009650" lvl="2"/>
            <a:r>
              <a:rPr lang="en-US" dirty="0"/>
              <a:t>Replicate most significant bit on left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C5CE058-1554-E83C-6EE0-0CA0A55FF6BF}"/>
              </a:ext>
            </a:extLst>
          </p:cNvPr>
          <p:cNvSpPr txBox="1"/>
          <p:nvPr/>
        </p:nvSpPr>
        <p:spPr>
          <a:xfrm>
            <a:off x="7590226" y="2391074"/>
            <a:ext cx="199766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left shift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&lt;&lt; 2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&lt;&lt; 2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C5E421-169E-F804-AF65-8DD7CF344494}"/>
              </a:ext>
            </a:extLst>
          </p:cNvPr>
          <p:cNvSpPr txBox="1"/>
          <p:nvPr/>
        </p:nvSpPr>
        <p:spPr>
          <a:xfrm>
            <a:off x="9703806" y="2668073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001000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A4BFC2-BE6E-C928-D620-83CBB04BEE54}"/>
              </a:ext>
            </a:extLst>
          </p:cNvPr>
          <p:cNvSpPr txBox="1"/>
          <p:nvPr/>
        </p:nvSpPr>
        <p:spPr>
          <a:xfrm>
            <a:off x="7590226" y="3773568"/>
            <a:ext cx="3392275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logical right shift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&gt;&gt; 3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&gt;&gt; 3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74652-BDD2-0F65-2F17-49FC8A21CF49}"/>
              </a:ext>
            </a:extLst>
          </p:cNvPr>
          <p:cNvSpPr txBox="1"/>
          <p:nvPr/>
        </p:nvSpPr>
        <p:spPr>
          <a:xfrm>
            <a:off x="9703806" y="404815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10D415-CD43-7443-E62A-458002AF50FD}"/>
              </a:ext>
            </a:extLst>
          </p:cNvPr>
          <p:cNvSpPr txBox="1"/>
          <p:nvPr/>
        </p:nvSpPr>
        <p:spPr>
          <a:xfrm>
            <a:off x="7590226" y="5112775"/>
            <a:ext cx="3810659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arithmetic right shift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&gt;&gt; 3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&gt;&gt; 3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836B5-C459-2B99-07A6-091682AC1052}"/>
              </a:ext>
            </a:extLst>
          </p:cNvPr>
          <p:cNvSpPr txBox="1"/>
          <p:nvPr/>
        </p:nvSpPr>
        <p:spPr>
          <a:xfrm>
            <a:off x="9703806" y="5389774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4DA545-2697-2B96-71E9-B54038756B1F}"/>
              </a:ext>
            </a:extLst>
          </p:cNvPr>
          <p:cNvSpPr txBox="1"/>
          <p:nvPr/>
        </p:nvSpPr>
        <p:spPr>
          <a:xfrm>
            <a:off x="9703806" y="294266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111011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7A3565-BA5D-166F-200A-1A88974A5993}"/>
              </a:ext>
            </a:extLst>
          </p:cNvPr>
          <p:cNvSpPr txBox="1"/>
          <p:nvPr/>
        </p:nvSpPr>
        <p:spPr>
          <a:xfrm>
            <a:off x="7590226" y="127365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F54B2B-6F6B-BC6F-2B71-F8E5F2CEC8AD}"/>
              </a:ext>
            </a:extLst>
          </p:cNvPr>
          <p:cNvSpPr txBox="1"/>
          <p:nvPr/>
        </p:nvSpPr>
        <p:spPr>
          <a:xfrm>
            <a:off x="9703806" y="127365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E02069-B1EC-B79C-7B21-2993C082993F}"/>
              </a:ext>
            </a:extLst>
          </p:cNvPr>
          <p:cNvSpPr txBox="1"/>
          <p:nvPr/>
        </p:nvSpPr>
        <p:spPr>
          <a:xfrm>
            <a:off x="7590226" y="169013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78B8FA-28D2-50BD-10A6-7DE566D18F0D}"/>
              </a:ext>
            </a:extLst>
          </p:cNvPr>
          <p:cNvSpPr txBox="1"/>
          <p:nvPr/>
        </p:nvSpPr>
        <p:spPr>
          <a:xfrm>
            <a:off x="9703806" y="1690137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1111011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B01F6E-757C-D34A-E3BC-B12251F72E20}"/>
              </a:ext>
            </a:extLst>
          </p:cNvPr>
          <p:cNvSpPr txBox="1"/>
          <p:nvPr/>
        </p:nvSpPr>
        <p:spPr>
          <a:xfrm>
            <a:off x="9703806" y="432274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2A09BB-E84D-7905-6C29-49813B7D2FE2}"/>
              </a:ext>
            </a:extLst>
          </p:cNvPr>
          <p:cNvSpPr txBox="1"/>
          <p:nvPr/>
        </p:nvSpPr>
        <p:spPr>
          <a:xfrm>
            <a:off x="9703806" y="566845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</a:t>
            </a:r>
          </a:p>
        </p:txBody>
      </p:sp>
      <p:sp>
        <p:nvSpPr>
          <p:cNvPr id="23" name="Shape 648">
            <a:extLst>
              <a:ext uri="{FF2B5EF4-FFF2-40B4-BE49-F238E27FC236}">
                <a16:creationId xmlns:a16="http://schemas.microsoft.com/office/drawing/2014/main" id="{7D8210B6-6B79-EFCA-DF94-FADCD4048194}"/>
              </a:ext>
            </a:extLst>
          </p:cNvPr>
          <p:cNvSpPr/>
          <p:nvPr/>
        </p:nvSpPr>
        <p:spPr>
          <a:xfrm>
            <a:off x="512763" y="6332011"/>
            <a:ext cx="9736137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40" tIns="0" rIns="91440" bIns="0">
            <a:spAutoFit/>
          </a:bodyPr>
          <a:lstStyle>
            <a:lvl1pPr>
              <a:defRPr sz="2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 lvl="0">
              <a:defRPr sz="1800"/>
            </a:pPr>
            <a:r>
              <a:rPr sz="2200" b="1" dirty="0"/>
              <a:t>Almost all C compiler/machine</a:t>
            </a:r>
            <a:r>
              <a:rPr lang="en-US" sz="2200" b="1" dirty="0"/>
              <a:t>s </a:t>
            </a:r>
            <a:r>
              <a:rPr sz="2200" b="1" dirty="0"/>
              <a:t>use arit</a:t>
            </a:r>
            <a:r>
              <a:rPr lang="en-US" sz="2200" b="1" dirty="0"/>
              <a:t>hmetic</a:t>
            </a:r>
            <a:r>
              <a:rPr sz="2200" b="1" dirty="0"/>
              <a:t> right shifts for signed data</a:t>
            </a:r>
            <a:r>
              <a:rPr lang="en-US" sz="2200" b="1" dirty="0"/>
              <a:t>. Why?</a:t>
            </a:r>
            <a:endParaRPr sz="2200" b="1" dirty="0"/>
          </a:p>
        </p:txBody>
      </p:sp>
    </p:spTree>
    <p:extLst>
      <p:ext uri="{BB962C8B-B14F-4D97-AF65-F5344CB8AC3E}">
        <p14:creationId xmlns:p14="http://schemas.microsoft.com/office/powerpoint/2010/main" val="424648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2" grpId="0"/>
      <p:bldP spid="2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72740-953A-20F5-4ADB-94AD61BF9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65125"/>
            <a:ext cx="11734800" cy="797178"/>
          </a:xfrm>
        </p:spPr>
        <p:txBody>
          <a:bodyPr>
            <a:noAutofit/>
          </a:bodyPr>
          <a:lstStyle/>
          <a:p>
            <a:r>
              <a:rPr lang="en-US" sz="3600" dirty="0"/>
              <a:t>Recap: Representing Signed Integers with Two's complement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789594EE-3D1F-D288-4C81-0D9EEAE2CA10}"/>
              </a:ext>
            </a:extLst>
          </p:cNvPr>
          <p:cNvSpPr/>
          <p:nvPr/>
        </p:nvSpPr>
        <p:spPr>
          <a:xfrm rot="5400000">
            <a:off x="10467115" y="2884777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11">
            <a:extLst>
              <a:ext uri="{FF2B5EF4-FFF2-40B4-BE49-F238E27FC236}">
                <a16:creationId xmlns:a16="http://schemas.microsoft.com/office/drawing/2014/main" id="{2BB63E28-9501-8AB0-2EC3-962DF7992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177331"/>
              </p:ext>
            </p:extLst>
          </p:nvPr>
        </p:nvGraphicFramePr>
        <p:xfrm>
          <a:off x="7562749" y="3346555"/>
          <a:ext cx="4273872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4234">
                  <a:extLst>
                    <a:ext uri="{9D8B030D-6E8A-4147-A177-3AD203B41FA5}">
                      <a16:colId xmlns:a16="http://schemas.microsoft.com/office/drawing/2014/main" val="392553199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96052348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231726970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055619943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3425133741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735395356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1812028747"/>
                    </a:ext>
                  </a:extLst>
                </a:gridCol>
                <a:gridCol w="534234">
                  <a:extLst>
                    <a:ext uri="{9D8B030D-6E8A-4147-A177-3AD203B41FA5}">
                      <a16:colId xmlns:a16="http://schemas.microsoft.com/office/drawing/2014/main" val="2309003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225219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7006CF9-963C-AEE6-BB51-B7BC136FE34B}"/>
              </a:ext>
            </a:extLst>
          </p:cNvPr>
          <p:cNvSpPr txBox="1"/>
          <p:nvPr/>
        </p:nvSpPr>
        <p:spPr>
          <a:xfrm>
            <a:off x="8042850" y="2244735"/>
            <a:ext cx="33136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AF836-8240-A2C3-6E95-F935089A3CD8}"/>
                  </a:ext>
                </a:extLst>
              </p:cNvPr>
              <p:cNvSpPr txBox="1"/>
              <p:nvPr/>
            </p:nvSpPr>
            <p:spPr>
              <a:xfrm>
                <a:off x="4933080" y="2852780"/>
                <a:ext cx="3252967" cy="374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Unsigned: leading bit means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1DAF836-8240-A2C3-6E95-F935089A3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3080" y="2852780"/>
                <a:ext cx="3252967" cy="374270"/>
              </a:xfrm>
              <a:prstGeom prst="rect">
                <a:avLst/>
              </a:prstGeom>
              <a:blipFill>
                <a:blip r:embed="rId2"/>
                <a:stretch>
                  <a:fillRect l="-1556" t="-6667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E40217-1622-6D80-28A6-66B67D1B74E5}"/>
                  </a:ext>
                </a:extLst>
              </p:cNvPr>
              <p:cNvSpPr txBox="1"/>
              <p:nvPr/>
            </p:nvSpPr>
            <p:spPr>
              <a:xfrm>
                <a:off x="5120846" y="4305211"/>
                <a:ext cx="2394123" cy="6512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Two's complement: leading bit means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e>
                      <m:sup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𝟕</m:t>
                        </m:r>
                      </m:sup>
                    </m:sSup>
                  </m:oMath>
                </a14:m>
                <a:endParaRPr lang="en-US" b="1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AE40217-1622-6D80-28A6-66B67D1B74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846" y="4305211"/>
                <a:ext cx="2394123" cy="651269"/>
              </a:xfrm>
              <a:prstGeom prst="rect">
                <a:avLst/>
              </a:prstGeom>
              <a:blipFill>
                <a:blip r:embed="rId3"/>
                <a:stretch>
                  <a:fillRect l="-2116" t="-3774" b="-13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918A4E0-2019-8FE9-9E7F-557B7DC33B37}"/>
              </a:ext>
            </a:extLst>
          </p:cNvPr>
          <p:cNvCxnSpPr>
            <a:cxnSpLocks/>
          </p:cNvCxnSpPr>
          <p:nvPr/>
        </p:nvCxnSpPr>
        <p:spPr>
          <a:xfrm>
            <a:off x="7099300" y="3208912"/>
            <a:ext cx="634314" cy="2262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B83861-9C12-DB91-8EB6-1FD6DDB09C1F}"/>
              </a:ext>
            </a:extLst>
          </p:cNvPr>
          <p:cNvCxnSpPr>
            <a:cxnSpLocks/>
          </p:cNvCxnSpPr>
          <p:nvPr/>
        </p:nvCxnSpPr>
        <p:spPr>
          <a:xfrm flipV="1">
            <a:off x="7181678" y="3628770"/>
            <a:ext cx="551936" cy="9555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91AB1A2-3F82-9F6A-FBAF-424C714DF92A}"/>
              </a:ext>
            </a:extLst>
          </p:cNvPr>
          <p:cNvSpPr/>
          <p:nvPr/>
        </p:nvSpPr>
        <p:spPr>
          <a:xfrm rot="5400000">
            <a:off x="10467115" y="4078586"/>
            <a:ext cx="457200" cy="19106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EAD2B5-9DDA-74E9-BC86-0BACFC4BB120}"/>
              </a:ext>
            </a:extLst>
          </p:cNvPr>
          <p:cNvSpPr txBox="1"/>
          <p:nvPr/>
        </p:nvSpPr>
        <p:spPr>
          <a:xfrm>
            <a:off x="7946945" y="4630846"/>
            <a:ext cx="32626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Value in two's complement: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-56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FF0B87-7CC7-9091-65E1-F2B498BE2D88}"/>
                  </a:ext>
                </a:extLst>
              </p:cNvPr>
              <p:cNvSpPr txBox="1"/>
              <p:nvPr/>
            </p:nvSpPr>
            <p:spPr>
              <a:xfrm>
                <a:off x="8186695" y="2798114"/>
                <a:ext cx="2284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 200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FF0B87-7CC7-9091-65E1-F2B498BE2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695" y="2798114"/>
                <a:ext cx="2284407" cy="369332"/>
              </a:xfrm>
              <a:prstGeom prst="rect">
                <a:avLst/>
              </a:prstGeom>
              <a:blipFill>
                <a:blip r:embed="rId4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508E07-7C69-21A0-A7B3-DCD01D45F171}"/>
                  </a:ext>
                </a:extLst>
              </p:cNvPr>
              <p:cNvSpPr txBox="1"/>
              <p:nvPr/>
            </p:nvSpPr>
            <p:spPr>
              <a:xfrm>
                <a:off x="8186694" y="3989454"/>
                <a:ext cx="23998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−56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7508E07-7C69-21A0-A7B3-DCD01D45F1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6694" y="3989454"/>
                <a:ext cx="239982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5" name="Table 4">
            <a:extLst>
              <a:ext uri="{FF2B5EF4-FFF2-40B4-BE49-F238E27FC236}">
                <a16:creationId xmlns:a16="http://schemas.microsoft.com/office/drawing/2014/main" id="{618382F8-606E-8DBE-C88A-690AE6B05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5296958"/>
              </p:ext>
            </p:extLst>
          </p:nvPr>
        </p:nvGraphicFramePr>
        <p:xfrm>
          <a:off x="409777" y="1440086"/>
          <a:ext cx="4360563" cy="5098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521">
                  <a:extLst>
                    <a:ext uri="{9D8B030D-6E8A-4147-A177-3AD203B41FA5}">
                      <a16:colId xmlns:a16="http://schemas.microsoft.com/office/drawing/2014/main" val="399241612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233931518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3708816605"/>
                    </a:ext>
                  </a:extLst>
                </a:gridCol>
              </a:tblGrid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Binary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 (two's complement)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513042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0431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8381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7938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463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9753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2428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277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0784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21549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-127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549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-126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32856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2620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1679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7009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6153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06749"/>
                  </a:ext>
                </a:extLst>
              </a:tr>
            </a:tbl>
          </a:graphicData>
        </a:graphic>
      </p:graphicFrame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FD1E2D6-EEBD-509B-B652-BFD79B8B41B0}"/>
              </a:ext>
            </a:extLst>
          </p:cNvPr>
          <p:cNvSpPr/>
          <p:nvPr/>
        </p:nvSpPr>
        <p:spPr>
          <a:xfrm>
            <a:off x="2205706" y="6266185"/>
            <a:ext cx="9144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7608915D-B5C2-00C4-5F2F-DF65BBB7A78B}"/>
              </a:ext>
            </a:extLst>
          </p:cNvPr>
          <p:cNvSpPr/>
          <p:nvPr/>
        </p:nvSpPr>
        <p:spPr>
          <a:xfrm>
            <a:off x="3584031" y="3947965"/>
            <a:ext cx="9906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76BE9710-CA18-0FFF-0F92-710733339804}"/>
              </a:ext>
            </a:extLst>
          </p:cNvPr>
          <p:cNvSpPr/>
          <p:nvPr/>
        </p:nvSpPr>
        <p:spPr>
          <a:xfrm>
            <a:off x="3584031" y="4305779"/>
            <a:ext cx="9906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D064C3-FE44-0411-4DCA-E31856E64AF4}"/>
              </a:ext>
            </a:extLst>
          </p:cNvPr>
          <p:cNvSpPr txBox="1"/>
          <p:nvPr/>
        </p:nvSpPr>
        <p:spPr>
          <a:xfrm>
            <a:off x="5296602" y="1521585"/>
            <a:ext cx="577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A: Two's complement --- </a:t>
            </a:r>
            <a:r>
              <a:rPr lang="en-US" dirty="0"/>
              <a:t>Interpret the leading bit differently</a:t>
            </a:r>
          </a:p>
        </p:txBody>
      </p:sp>
    </p:spTree>
    <p:extLst>
      <p:ext uri="{BB962C8B-B14F-4D97-AF65-F5344CB8AC3E}">
        <p14:creationId xmlns:p14="http://schemas.microsoft.com/office/powerpoint/2010/main" val="326789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58D02-F7AF-162E-0560-BB5998489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Arithmetic Shift?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5B6D11-610A-FFC5-07DC-201B8186B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41690"/>
            <a:ext cx="5852533" cy="526231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Logical shift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&gt;&gt; n</a:t>
            </a:r>
            <a:endParaRPr lang="en-US" dirty="0"/>
          </a:p>
          <a:p>
            <a:pPr lvl="1"/>
            <a:r>
              <a:rPr lang="en-US" dirty="0"/>
              <a:t>Equivalent to integer division by  2^n 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if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is interpreted as an </a:t>
            </a:r>
            <a:r>
              <a:rPr lang="en-US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unsigned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integer.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Arithmetic shift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&gt;&gt; n</a:t>
            </a:r>
            <a:endParaRPr lang="en-US" dirty="0"/>
          </a:p>
          <a:p>
            <a:pPr lvl="1"/>
            <a:r>
              <a:rPr lang="en-US" dirty="0"/>
              <a:t>Preserves sign of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if interpreted as a </a:t>
            </a:r>
            <a:r>
              <a:rPr lang="en-US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two's complement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signed</a:t>
            </a:r>
            <a:r>
              <a:rPr lang="en-US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integer</a:t>
            </a:r>
          </a:p>
          <a:p>
            <a:endParaRPr lang="en-US" dirty="0">
              <a:latin typeface="Calibri" panose="020F0502020204030204" pitchFamily="34" charset="0"/>
              <a:ea typeface="Menlo" panose="020B0609030804020204" pitchFamily="49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Right shift always means division by 2^n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1C4CFE-15BF-A46B-8FC6-7CF091813F5C}"/>
              </a:ext>
            </a:extLst>
          </p:cNvPr>
          <p:cNvSpPr txBox="1"/>
          <p:nvPr/>
        </p:nvSpPr>
        <p:spPr>
          <a:xfrm>
            <a:off x="6926803" y="1221988"/>
            <a:ext cx="45079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4A9964-40DA-09A0-F333-A2DD47D90F0C}"/>
              </a:ext>
            </a:extLst>
          </p:cNvPr>
          <p:cNvSpPr txBox="1"/>
          <p:nvPr/>
        </p:nvSpPr>
        <p:spPr>
          <a:xfrm>
            <a:off x="6955226" y="2348690"/>
            <a:ext cx="3392275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logical right shift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&gt;&gt; 3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&gt;&gt; 3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502321-4068-BE70-8075-42D92BCE3D4F}"/>
              </a:ext>
            </a:extLst>
          </p:cNvPr>
          <p:cNvSpPr txBox="1"/>
          <p:nvPr/>
        </p:nvSpPr>
        <p:spPr>
          <a:xfrm>
            <a:off x="8878306" y="2623277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 (25 = 200/8)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948A9B-25E7-A88C-CE40-398D2E97EE34}"/>
              </a:ext>
            </a:extLst>
          </p:cNvPr>
          <p:cNvSpPr txBox="1"/>
          <p:nvPr/>
        </p:nvSpPr>
        <p:spPr>
          <a:xfrm>
            <a:off x="6955226" y="4907097"/>
            <a:ext cx="3810659" cy="923330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arithmetic right shift 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&gt;&gt; 3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&gt;&gt; 3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7FD6AE-B7F6-7709-C433-56675DA31E94}"/>
              </a:ext>
            </a:extLst>
          </p:cNvPr>
          <p:cNvSpPr txBox="1"/>
          <p:nvPr/>
        </p:nvSpPr>
        <p:spPr>
          <a:xfrm>
            <a:off x="8878306" y="5184096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 (-7 = -56/8)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52229D-8257-2944-A31C-E79899A79126}"/>
              </a:ext>
            </a:extLst>
          </p:cNvPr>
          <p:cNvSpPr txBox="1"/>
          <p:nvPr/>
        </p:nvSpPr>
        <p:spPr>
          <a:xfrm>
            <a:off x="6955226" y="154035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0F4947-AA23-DB23-A222-B93FE10A894F}"/>
              </a:ext>
            </a:extLst>
          </p:cNvPr>
          <p:cNvSpPr txBox="1"/>
          <p:nvPr/>
        </p:nvSpPr>
        <p:spPr>
          <a:xfrm>
            <a:off x="8878306" y="154035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11001000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1A82E4-04D0-6877-F6E9-F55AEC9454E2}"/>
              </a:ext>
            </a:extLst>
          </p:cNvPr>
          <p:cNvSpPr txBox="1"/>
          <p:nvPr/>
        </p:nvSpPr>
        <p:spPr>
          <a:xfrm>
            <a:off x="6955226" y="181713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9383DA-D3AD-C7A2-0072-8B2F8707328D}"/>
              </a:ext>
            </a:extLst>
          </p:cNvPr>
          <p:cNvSpPr txBox="1"/>
          <p:nvPr/>
        </p:nvSpPr>
        <p:spPr>
          <a:xfrm>
            <a:off x="8878306" y="1817137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1111011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DF6C00-D63E-406C-E228-3C6C82D0C961}"/>
              </a:ext>
            </a:extLst>
          </p:cNvPr>
          <p:cNvSpPr txBox="1"/>
          <p:nvPr/>
        </p:nvSpPr>
        <p:spPr>
          <a:xfrm>
            <a:off x="8878306" y="2897864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 (15 = 123/8)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BEF7D7F-DFEE-1906-0E48-EF6C1732A768}"/>
              </a:ext>
            </a:extLst>
          </p:cNvPr>
          <p:cNvSpPr txBox="1"/>
          <p:nvPr/>
        </p:nvSpPr>
        <p:spPr>
          <a:xfrm>
            <a:off x="8878306" y="5462772"/>
            <a:ext cx="3113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 (15 = 123/8)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4B72791-B613-6C2B-2D6B-12CE9D2394E3}"/>
              </a:ext>
            </a:extLst>
          </p:cNvPr>
          <p:cNvSpPr txBox="1"/>
          <p:nvPr/>
        </p:nvSpPr>
        <p:spPr>
          <a:xfrm>
            <a:off x="6926803" y="3683340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-56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CA4C4AC-0CD4-87FC-4BF2-34392BCBE3BD}"/>
              </a:ext>
            </a:extLst>
          </p:cNvPr>
          <p:cNvSpPr txBox="1"/>
          <p:nvPr/>
        </p:nvSpPr>
        <p:spPr>
          <a:xfrm>
            <a:off x="6955226" y="4001707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8D937DE-4E7B-3995-FCA9-70F8A5A9504D}"/>
              </a:ext>
            </a:extLst>
          </p:cNvPr>
          <p:cNvSpPr txBox="1"/>
          <p:nvPr/>
        </p:nvSpPr>
        <p:spPr>
          <a:xfrm>
            <a:off x="8878306" y="4001707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11001000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7534B3F-BBB3-321A-092F-E8D856499487}"/>
              </a:ext>
            </a:extLst>
          </p:cNvPr>
          <p:cNvSpPr txBox="1"/>
          <p:nvPr/>
        </p:nvSpPr>
        <p:spPr>
          <a:xfrm>
            <a:off x="6955226" y="427848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B894155-C0C4-C4B4-40C6-61217B8D3CE2}"/>
              </a:ext>
            </a:extLst>
          </p:cNvPr>
          <p:cNvSpPr txBox="1"/>
          <p:nvPr/>
        </p:nvSpPr>
        <p:spPr>
          <a:xfrm>
            <a:off x="8878306" y="427848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1111011</a:t>
            </a:r>
          </a:p>
        </p:txBody>
      </p:sp>
    </p:spTree>
    <p:extLst>
      <p:ext uri="{BB962C8B-B14F-4D97-AF65-F5344CB8AC3E}">
        <p14:creationId xmlns:p14="http://schemas.microsoft.com/office/powerpoint/2010/main" val="4195119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6FBFF-2BC7-7FA8-6F32-617AAC022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the Meaning of Left Shift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A6F3CA-F68F-A3DF-E78D-38934BC69735}"/>
              </a:ext>
            </a:extLst>
          </p:cNvPr>
          <p:cNvSpPr txBox="1"/>
          <p:nvPr/>
        </p:nvSpPr>
        <p:spPr>
          <a:xfrm>
            <a:off x="647700" y="1987490"/>
            <a:ext cx="60740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Q: How to multiply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by 16 using only bitwise operators?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1464A7-D645-FDA8-ECC3-3DCEBD356752}"/>
              </a:ext>
            </a:extLst>
          </p:cNvPr>
          <p:cNvSpPr txBox="1"/>
          <p:nvPr/>
        </p:nvSpPr>
        <p:spPr>
          <a:xfrm>
            <a:off x="647700" y="1476441"/>
            <a:ext cx="610654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Hint: Right shift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x &gt;&gt; 3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means divide </a:t>
            </a:r>
            <a:r>
              <a:rPr lang="en-US" dirty="0">
                <a:effectLst/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by 8 (2^3)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0C6CB8-F390-AEC3-20C1-7027D494FF15}"/>
              </a:ext>
            </a:extLst>
          </p:cNvPr>
          <p:cNvSpPr txBox="1"/>
          <p:nvPr/>
        </p:nvSpPr>
        <p:spPr>
          <a:xfrm>
            <a:off x="647700" y="2451100"/>
            <a:ext cx="19944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A: 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 = x &lt;&lt; 4;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C139C0-0AA9-C4EB-8AFB-8F6DDBCF6914}"/>
              </a:ext>
            </a:extLst>
          </p:cNvPr>
          <p:cNvSpPr txBox="1"/>
          <p:nvPr/>
        </p:nvSpPr>
        <p:spPr>
          <a:xfrm>
            <a:off x="411816" y="3569013"/>
            <a:ext cx="5344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z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B2C008-FDF2-B105-620A-4252589B8E78}"/>
              </a:ext>
            </a:extLst>
          </p:cNvPr>
          <p:cNvSpPr txBox="1"/>
          <p:nvPr/>
        </p:nvSpPr>
        <p:spPr>
          <a:xfrm>
            <a:off x="440239" y="5031603"/>
            <a:ext cx="1579278" cy="36933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&lt;&lt;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1AC2B5-222A-9F90-0699-A3BC6B5B11F6}"/>
              </a:ext>
            </a:extLst>
          </p:cNvPr>
          <p:cNvSpPr txBox="1"/>
          <p:nvPr/>
        </p:nvSpPr>
        <p:spPr>
          <a:xfrm>
            <a:off x="2261719" y="5338602"/>
            <a:ext cx="3252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1010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(160 = 10*16)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C592C5-656F-AB1D-C213-6A2F672FC794}"/>
              </a:ext>
            </a:extLst>
          </p:cNvPr>
          <p:cNvSpPr txBox="1"/>
          <p:nvPr/>
        </p:nvSpPr>
        <p:spPr>
          <a:xfrm>
            <a:off x="440239" y="4281080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A1A8969-3BF3-B7C3-DE32-E257A8DF57ED}"/>
              </a:ext>
            </a:extLst>
          </p:cNvPr>
          <p:cNvSpPr txBox="1"/>
          <p:nvPr/>
        </p:nvSpPr>
        <p:spPr>
          <a:xfrm>
            <a:off x="2261719" y="4281080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001010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E1AABED-34ED-17A9-97C0-8334955DCF50}"/>
              </a:ext>
            </a:extLst>
          </p:cNvPr>
          <p:cNvSpPr txBox="1"/>
          <p:nvPr/>
        </p:nvSpPr>
        <p:spPr>
          <a:xfrm>
            <a:off x="440239" y="4557862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z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106C0C2-8B5D-4987-D983-532969FAEB7E}"/>
              </a:ext>
            </a:extLst>
          </p:cNvPr>
          <p:cNvSpPr txBox="1"/>
          <p:nvPr/>
        </p:nvSpPr>
        <p:spPr>
          <a:xfrm>
            <a:off x="2261719" y="4557862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1111011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F9D3EAB-B3CB-6A19-F83D-E73B99F01BA8}"/>
              </a:ext>
            </a:extLst>
          </p:cNvPr>
          <p:cNvSpPr txBox="1"/>
          <p:nvPr/>
        </p:nvSpPr>
        <p:spPr>
          <a:xfrm>
            <a:off x="2261719" y="5638589"/>
            <a:ext cx="35317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1011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(176 != 123*16)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5B61BA7-AE23-0815-DF91-2408C6E00D89}"/>
              </a:ext>
            </a:extLst>
          </p:cNvPr>
          <p:cNvSpPr txBox="1"/>
          <p:nvPr/>
        </p:nvSpPr>
        <p:spPr>
          <a:xfrm>
            <a:off x="7076341" y="3583169"/>
            <a:ext cx="283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01F8575-5163-54E7-AB73-F32ED9E3BC19}"/>
              </a:ext>
            </a:extLst>
          </p:cNvPr>
          <p:cNvSpPr txBox="1"/>
          <p:nvPr/>
        </p:nvSpPr>
        <p:spPr>
          <a:xfrm>
            <a:off x="3817833" y="6059585"/>
            <a:ext cx="2227353" cy="707886"/>
          </a:xfrm>
          <a:prstGeom prst="wedgeRectCallout">
            <a:avLst>
              <a:gd name="adj1" fmla="val -34396"/>
              <a:gd name="adj2" fmla="val -79521"/>
            </a:avLst>
          </a:prstGeom>
          <a:solidFill>
            <a:srgbClr val="F5D1C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Overflow: if true sum &gt; 2</a:t>
            </a:r>
            <a:r>
              <a:rPr lang="en-US" sz="2000" b="1" i="1" baseline="30000" dirty="0">
                <a:solidFill>
                  <a:srgbClr val="C00000"/>
                </a:solidFill>
              </a:rPr>
              <a:t>w</a:t>
            </a:r>
            <a:r>
              <a:rPr lang="en-US" sz="2000" b="1" dirty="0">
                <a:solidFill>
                  <a:srgbClr val="C00000"/>
                </a:solidFill>
              </a:rPr>
              <a:t>-1 or 255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668DCD-16FF-B17B-3E79-3A703FBC7F8D}"/>
              </a:ext>
            </a:extLst>
          </p:cNvPr>
          <p:cNvSpPr txBox="1"/>
          <p:nvPr/>
        </p:nvSpPr>
        <p:spPr>
          <a:xfrm>
            <a:off x="440239" y="4001979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6A14727-B21B-3AB1-DE68-C1F6F8F89135}"/>
              </a:ext>
            </a:extLst>
          </p:cNvPr>
          <p:cNvSpPr txBox="1"/>
          <p:nvPr/>
        </p:nvSpPr>
        <p:spPr>
          <a:xfrm>
            <a:off x="2261719" y="4001979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000011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B20A72D-4FBE-1E8A-5ABD-F668467575C1}"/>
              </a:ext>
            </a:extLst>
          </p:cNvPr>
          <p:cNvSpPr txBox="1"/>
          <p:nvPr/>
        </p:nvSpPr>
        <p:spPr>
          <a:xfrm>
            <a:off x="2261719" y="5043482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0011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(48 = 3*16)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CC94CA-ACB5-47F4-ACF3-DBDCC0A9AED3}"/>
              </a:ext>
            </a:extLst>
          </p:cNvPr>
          <p:cNvSpPr txBox="1"/>
          <p:nvPr/>
        </p:nvSpPr>
        <p:spPr>
          <a:xfrm>
            <a:off x="8870987" y="5430718"/>
            <a:ext cx="3392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1010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(-96 != 10*16)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C5BCC28-7CB5-F293-89D2-6E30C834A49B}"/>
              </a:ext>
            </a:extLst>
          </p:cNvPr>
          <p:cNvSpPr txBox="1"/>
          <p:nvPr/>
        </p:nvSpPr>
        <p:spPr>
          <a:xfrm>
            <a:off x="7049507" y="437319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D8C184A-8EAB-CE4E-F8B6-D54FDB5F1A2D}"/>
              </a:ext>
            </a:extLst>
          </p:cNvPr>
          <p:cNvSpPr txBox="1"/>
          <p:nvPr/>
        </p:nvSpPr>
        <p:spPr>
          <a:xfrm>
            <a:off x="8870987" y="4373196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001010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4769D278-3868-ACE3-2ECD-FA8DF02B4E12}"/>
              </a:ext>
            </a:extLst>
          </p:cNvPr>
          <p:cNvSpPr txBox="1"/>
          <p:nvPr/>
        </p:nvSpPr>
        <p:spPr>
          <a:xfrm>
            <a:off x="7049507" y="409409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17045B7-02BE-D322-0C94-8B19B46269B1}"/>
              </a:ext>
            </a:extLst>
          </p:cNvPr>
          <p:cNvSpPr txBox="1"/>
          <p:nvPr/>
        </p:nvSpPr>
        <p:spPr>
          <a:xfrm>
            <a:off x="8870987" y="4094095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000011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14DC654-F532-2714-45F4-5D6D36BC2D93}"/>
              </a:ext>
            </a:extLst>
          </p:cNvPr>
          <p:cNvSpPr txBox="1"/>
          <p:nvPr/>
        </p:nvSpPr>
        <p:spPr>
          <a:xfrm>
            <a:off x="8870987" y="5135598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0011</a:t>
            </a:r>
            <a:r>
              <a:rPr lang="en-US" b="1" i="1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(48 = 3*16)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7A966759-B22C-1B27-DE15-D21F61F5D443}"/>
              </a:ext>
            </a:extLst>
          </p:cNvPr>
          <p:cNvCxnSpPr/>
          <p:nvPr/>
        </p:nvCxnSpPr>
        <p:spPr>
          <a:xfrm>
            <a:off x="6754243" y="3569013"/>
            <a:ext cx="0" cy="27047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6133BE9-B045-6E7C-C180-860F36D92BAA}"/>
              </a:ext>
            </a:extLst>
          </p:cNvPr>
          <p:cNvSpPr txBox="1"/>
          <p:nvPr/>
        </p:nvSpPr>
        <p:spPr>
          <a:xfrm>
            <a:off x="445249" y="5337577"/>
            <a:ext cx="1579278" cy="36933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&lt;&lt; 4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01CDB1-9C0C-FED9-4E63-67B1CDAB0441}"/>
              </a:ext>
            </a:extLst>
          </p:cNvPr>
          <p:cNvSpPr txBox="1"/>
          <p:nvPr/>
        </p:nvSpPr>
        <p:spPr>
          <a:xfrm>
            <a:off x="440239" y="5638589"/>
            <a:ext cx="1579278" cy="36933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z = z &lt;&lt; 4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31ED68D-72C0-7AC7-E1AE-74C65D6107E5}"/>
              </a:ext>
            </a:extLst>
          </p:cNvPr>
          <p:cNvSpPr txBox="1"/>
          <p:nvPr/>
        </p:nvSpPr>
        <p:spPr>
          <a:xfrm>
            <a:off x="7071331" y="5124744"/>
            <a:ext cx="1579278" cy="36933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 = x &lt;&lt; 4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2941A8-32B0-3079-9E5D-6D897E5433A0}"/>
              </a:ext>
            </a:extLst>
          </p:cNvPr>
          <p:cNvSpPr txBox="1"/>
          <p:nvPr/>
        </p:nvSpPr>
        <p:spPr>
          <a:xfrm>
            <a:off x="7076341" y="5430718"/>
            <a:ext cx="1579278" cy="369332"/>
          </a:xfrm>
          <a:prstGeom prst="rect">
            <a:avLst/>
          </a:prstGeom>
          <a:noFill/>
        </p:spPr>
        <p:txBody>
          <a:bodyPr wrap="none" rtlCol="0" anchor="b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 = y &lt;&lt; 4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C9A1F6E-BF6D-0AA0-C58E-29EEF4DEC09B}"/>
              </a:ext>
            </a:extLst>
          </p:cNvPr>
          <p:cNvSpPr txBox="1"/>
          <p:nvPr/>
        </p:nvSpPr>
        <p:spPr>
          <a:xfrm>
            <a:off x="9700893" y="6059585"/>
            <a:ext cx="2334161" cy="707886"/>
          </a:xfrm>
          <a:prstGeom prst="wedgeRectCallout">
            <a:avLst>
              <a:gd name="adj1" fmla="val -17718"/>
              <a:gd name="adj2" fmla="val -84903"/>
            </a:avLst>
          </a:prstGeom>
          <a:solidFill>
            <a:srgbClr val="F5D1C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Overflow: if true sum &gt; 2</a:t>
            </a:r>
            <a:r>
              <a:rPr lang="en-US" sz="2000" b="1" i="1" baseline="30000" dirty="0">
                <a:solidFill>
                  <a:srgbClr val="C00000"/>
                </a:solidFill>
              </a:rPr>
              <a:t>w-1</a:t>
            </a:r>
            <a:r>
              <a:rPr lang="en-US" sz="2000" b="1" i="1" dirty="0">
                <a:solidFill>
                  <a:srgbClr val="C00000"/>
                </a:solidFill>
              </a:rPr>
              <a:t>-1</a:t>
            </a:r>
            <a:r>
              <a:rPr lang="en-US" sz="2000" b="1" dirty="0">
                <a:solidFill>
                  <a:srgbClr val="C00000"/>
                </a:solidFill>
              </a:rPr>
              <a:t> or 127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783F1A2-A637-A928-27F9-D80926B028E9}"/>
              </a:ext>
            </a:extLst>
          </p:cNvPr>
          <p:cNvSpPr txBox="1"/>
          <p:nvPr/>
        </p:nvSpPr>
        <p:spPr>
          <a:xfrm>
            <a:off x="2321030" y="3110759"/>
            <a:ext cx="1181734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Unsigned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E13FE02-79AF-5556-296F-85B70658B395}"/>
              </a:ext>
            </a:extLst>
          </p:cNvPr>
          <p:cNvSpPr txBox="1"/>
          <p:nvPr/>
        </p:nvSpPr>
        <p:spPr>
          <a:xfrm>
            <a:off x="8059742" y="3110759"/>
            <a:ext cx="896399" cy="4001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/>
            <a:r>
              <a:rPr lang="en-US" sz="2000" b="1" dirty="0"/>
              <a:t>Signed</a:t>
            </a:r>
          </a:p>
        </p:txBody>
      </p:sp>
    </p:spTree>
    <p:extLst>
      <p:ext uri="{BB962C8B-B14F-4D97-AF65-F5344CB8AC3E}">
        <p14:creationId xmlns:p14="http://schemas.microsoft.com/office/powerpoint/2010/main" val="2212501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7" grpId="0"/>
      <p:bldP spid="18" grpId="0"/>
      <p:bldP spid="19" grpId="0"/>
      <p:bldP spid="22" grpId="0"/>
      <p:bldP spid="23" grpId="0"/>
      <p:bldP spid="24" grpId="0"/>
      <p:bldP spid="25" grpId="0"/>
      <p:bldP spid="26" grpId="0"/>
      <p:bldP spid="28" grpId="0"/>
      <p:bldP spid="33" grpId="0" animBg="1"/>
      <p:bldP spid="35" grpId="0"/>
      <p:bldP spid="36" grpId="0"/>
      <p:bldP spid="41" grpId="0"/>
      <p:bldP spid="59" grpId="0"/>
      <p:bldP spid="60" grpId="0"/>
      <p:bldP spid="61" grpId="0"/>
      <p:bldP spid="64" grpId="0"/>
      <p:bldP spid="65" grpId="0"/>
      <p:bldP spid="66" grpId="0"/>
      <p:bldP spid="70" grpId="0"/>
      <p:bldP spid="71" grpId="0"/>
      <p:bldP spid="72" grpId="0"/>
      <p:bldP spid="73" grpId="0"/>
      <p:bldP spid="74" grpId="0" animBg="1"/>
      <p:bldP spid="75" grpId="0" animBg="1"/>
      <p:bldP spid="7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B91E7-5EE8-8862-8DF2-466ED7861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uses of bitwise operations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4B6AD-D38B-F517-64F7-A3D90BDED6C8}"/>
              </a:ext>
            </a:extLst>
          </p:cNvPr>
          <p:cNvSpPr txBox="1"/>
          <p:nvPr/>
        </p:nvSpPr>
        <p:spPr>
          <a:xfrm>
            <a:off x="965200" y="1701800"/>
            <a:ext cx="37836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Exercise: Check if the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 bit is set.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F3E38AA-5825-8A87-08B5-EB10A727E014}"/>
              </a:ext>
            </a:extLst>
          </p:cNvPr>
          <p:cNvSpPr txBox="1"/>
          <p:nvPr/>
        </p:nvSpPr>
        <p:spPr>
          <a:xfrm>
            <a:off x="965200" y="2387600"/>
            <a:ext cx="5623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check_bit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&gt;&gt; n) &amp;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AD3D1B-BC14-56DF-C874-4396B541B8E8}"/>
              </a:ext>
            </a:extLst>
          </p:cNvPr>
          <p:cNvSpPr txBox="1"/>
          <p:nvPr/>
        </p:nvSpPr>
        <p:spPr>
          <a:xfrm>
            <a:off x="965200" y="4336172"/>
            <a:ext cx="270394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Exercise: Set the </a:t>
            </a:r>
            <a:r>
              <a:rPr lang="en-US" sz="2000" i="1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 bit.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57FDB7-BFE4-FE1A-DF30-ECDDB6C15726}"/>
              </a:ext>
            </a:extLst>
          </p:cNvPr>
          <p:cNvSpPr txBox="1"/>
          <p:nvPr/>
        </p:nvSpPr>
        <p:spPr>
          <a:xfrm>
            <a:off x="965200" y="4994871"/>
            <a:ext cx="53447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set_bit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x,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| 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&lt;&lt; n);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6504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F66C4-30DB-3A5A-3E11-EE5072BB7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uses of bitwise operations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7549BC-294D-B391-A0B6-A1585658DD3F}"/>
              </a:ext>
            </a:extLst>
          </p:cNvPr>
          <p:cNvSpPr txBox="1"/>
          <p:nvPr/>
        </p:nvSpPr>
        <p:spPr>
          <a:xfrm>
            <a:off x="965200" y="1701800"/>
            <a:ext cx="35984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Exercise: count the number of 1s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9ED57C-09B2-4C59-0519-96229E9D2400}"/>
              </a:ext>
            </a:extLst>
          </p:cNvPr>
          <p:cNvSpPr txBox="1"/>
          <p:nvPr/>
        </p:nvSpPr>
        <p:spPr>
          <a:xfrm>
            <a:off x="965200" y="2387600"/>
            <a:ext cx="5902578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count_ones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count += (x &amp;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x = x &gt;&gt;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91580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35CC-3602-F2CD-6605-1E941198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EE51-BA05-8560-0ECD-07AA002E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Bit-wise Operations</a:t>
            </a:r>
          </a:p>
          <a:p>
            <a:r>
              <a:rPr lang="en-US" dirty="0"/>
              <a:t>Addition &amp; Subtraction</a:t>
            </a:r>
          </a:p>
          <a:p>
            <a:r>
              <a:rPr lang="en-US" dirty="0" err="1"/>
              <a:t>Hexdump</a:t>
            </a:r>
            <a:r>
              <a:rPr lang="en-US" dirty="0"/>
              <a:t> a file</a:t>
            </a:r>
          </a:p>
        </p:txBody>
      </p:sp>
    </p:spTree>
    <p:extLst>
      <p:ext uri="{BB962C8B-B14F-4D97-AF65-F5344CB8AC3E}">
        <p14:creationId xmlns:p14="http://schemas.microsoft.com/office/powerpoint/2010/main" val="21451309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2D7F-3940-2D45-538D-B2345D05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Operations: </a:t>
            </a:r>
            <a:r>
              <a:rPr lang="en-US" b="1" dirty="0"/>
              <a:t>Unsigned</a:t>
            </a:r>
            <a:r>
              <a:rPr lang="en-US" dirty="0"/>
              <a:t> Addition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BFA83-EAFA-BED3-7F06-AFB44BE2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781" y="3359639"/>
            <a:ext cx="8715606" cy="981509"/>
          </a:xfrm>
        </p:spPr>
        <p:txBody>
          <a:bodyPr>
            <a:normAutofit/>
          </a:bodyPr>
          <a:lstStyle/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Standard Addition Function, but Ignores carry output</a:t>
            </a:r>
          </a:p>
          <a:p>
            <a:pPr eaLnBrk="1" hangingPunct="1"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Implements Modular Arithmetic: </a:t>
            </a:r>
            <a:r>
              <a:rPr lang="en-US" b="0" i="1" dirty="0"/>
              <a:t>s</a:t>
            </a:r>
            <a:r>
              <a:rPr lang="en-US" b="0" dirty="0"/>
              <a:t> = </a:t>
            </a:r>
            <a:r>
              <a:rPr lang="en-US" b="0" dirty="0" err="1"/>
              <a:t>UAdd</a:t>
            </a:r>
            <a:r>
              <a:rPr lang="en-US" b="0" i="1" baseline="-25000" dirty="0" err="1"/>
              <a:t>w</a:t>
            </a:r>
            <a:r>
              <a:rPr lang="en-US" b="0" dirty="0"/>
              <a:t>(</a:t>
            </a:r>
            <a:r>
              <a:rPr lang="en-US" b="0" i="1" dirty="0"/>
              <a:t>u</a:t>
            </a:r>
            <a:r>
              <a:rPr lang="en-US" b="0" dirty="0"/>
              <a:t> , </a:t>
            </a:r>
            <a:r>
              <a:rPr lang="en-US" b="0" i="1" dirty="0"/>
              <a:t>v</a:t>
            </a:r>
            <a:r>
              <a:rPr lang="en-US" b="0" dirty="0"/>
              <a:t>) = </a:t>
            </a:r>
            <a:r>
              <a:rPr lang="en-US" b="0" i="1" dirty="0"/>
              <a:t>u</a:t>
            </a:r>
            <a:r>
              <a:rPr lang="en-US" b="0" dirty="0"/>
              <a:t> + </a:t>
            </a:r>
            <a:r>
              <a:rPr lang="en-US" b="0" i="1" dirty="0"/>
              <a:t>v</a:t>
            </a:r>
            <a:r>
              <a:rPr lang="en-US" b="0" dirty="0"/>
              <a:t>  mod 2</a:t>
            </a:r>
            <a:r>
              <a:rPr lang="en-US" b="0" i="1" baseline="30000" dirty="0"/>
              <a:t>w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5B04474-25F6-0F76-5393-552C7132ED6F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371600"/>
            <a:ext cx="2743200" cy="228600"/>
            <a:chOff x="2976" y="816"/>
            <a:chExt cx="1728" cy="144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F358731-62F3-7C29-4062-1021A10DC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07BB024C-0D09-1A45-1069-B690AEFBF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A632A34B-34E8-3C50-3481-613A2A5A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CAD3B6D8-B7BF-880E-FEEA-52FDE39E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A2750924-5CEB-2EAE-EEC7-0EA04C454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93249CE-7D9D-3F25-573C-7113C300D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32B3F112-D501-FF78-5364-13FBCD76F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D70036F0-62C2-5EF6-C823-C9650800E2AF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828800"/>
            <a:ext cx="2743200" cy="228600"/>
            <a:chOff x="2976" y="1104"/>
            <a:chExt cx="1728" cy="144"/>
          </a:xfrm>
        </p:grpSpPr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3FF19727-F81A-CA05-5A2E-9A1250661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BD910B2A-F9F5-95AE-8B11-C8F48523C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9FD7F1E0-12F9-FA67-95AA-0C027A92D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0D15A3CD-3E90-B170-9CEE-7D1D673D4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12C8649C-C59A-83BC-2FC3-7E8DF12D0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BF091DCE-85F9-1F0D-182A-9EC0339F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27F05A8C-EE99-FA89-B04B-2A2882772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20" name="Rectangle 21">
            <a:extLst>
              <a:ext uri="{FF2B5EF4-FFF2-40B4-BE49-F238E27FC236}">
                <a16:creationId xmlns:a16="http://schemas.microsoft.com/office/drawing/2014/main" id="{B06DF361-63FD-B43F-69EF-579141B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12192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CCDCF581-D1C3-06B6-26CF-E59AF95C4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16764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5834EDA9-BC40-C339-5052-579D88896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1336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8C8153D7-6F42-D006-C1D7-F4519F705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617" y="1683760"/>
            <a:ext cx="35779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022D3EB-FDBD-4A9B-52AC-6F0719C1B5FB}"/>
              </a:ext>
            </a:extLst>
          </p:cNvPr>
          <p:cNvGrpSpPr>
            <a:grpSpLocks/>
          </p:cNvGrpSpPr>
          <p:nvPr/>
        </p:nvGrpSpPr>
        <p:grpSpPr bwMode="auto">
          <a:xfrm>
            <a:off x="5321300" y="2286000"/>
            <a:ext cx="2971800" cy="228600"/>
            <a:chOff x="2832" y="1392"/>
            <a:chExt cx="1872" cy="144"/>
          </a:xfrm>
        </p:grpSpPr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F9707A0D-09AB-F832-B361-E0DBBAF68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27" name="Rectangle 27">
                <a:extLst>
                  <a:ext uri="{FF2B5EF4-FFF2-40B4-BE49-F238E27FC236}">
                    <a16:creationId xmlns:a16="http://schemas.microsoft.com/office/drawing/2014/main" id="{3C48C322-CBC7-8604-5A5F-2155A5869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" name="Rectangle 28">
                <a:extLst>
                  <a:ext uri="{FF2B5EF4-FFF2-40B4-BE49-F238E27FC236}">
                    <a16:creationId xmlns:a16="http://schemas.microsoft.com/office/drawing/2014/main" id="{CBB87FF7-AC4C-9F15-ECF0-3D918DB54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9" name="Rectangle 29">
                <a:extLst>
                  <a:ext uri="{FF2B5EF4-FFF2-40B4-BE49-F238E27FC236}">
                    <a16:creationId xmlns:a16="http://schemas.microsoft.com/office/drawing/2014/main" id="{39C78611-6AFC-8BDF-91E7-322CED878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0" name="Rectangle 30">
                <a:extLst>
                  <a:ext uri="{FF2B5EF4-FFF2-40B4-BE49-F238E27FC236}">
                    <a16:creationId xmlns:a16="http://schemas.microsoft.com/office/drawing/2014/main" id="{F975D410-C3C4-129E-3D4B-73AF770DA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9219A698-EF37-9E6C-0ACF-3AD92A1E1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2" name="Rectangle 32">
                <a:extLst>
                  <a:ext uri="{FF2B5EF4-FFF2-40B4-BE49-F238E27FC236}">
                    <a16:creationId xmlns:a16="http://schemas.microsoft.com/office/drawing/2014/main" id="{77BDE69C-766B-8D54-7ED3-9FD14EC80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" name="Rectangle 33">
                <a:extLst>
                  <a:ext uri="{FF2B5EF4-FFF2-40B4-BE49-F238E27FC236}">
                    <a16:creationId xmlns:a16="http://schemas.microsoft.com/office/drawing/2014/main" id="{17592C34-EEDD-21FA-DF58-F00F8A107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  <p:sp>
          <p:nvSpPr>
            <p:cNvPr id="26" name="Rectangle 34">
              <a:extLst>
                <a:ext uri="{FF2B5EF4-FFF2-40B4-BE49-F238E27FC236}">
                  <a16:creationId xmlns:a16="http://schemas.microsoft.com/office/drawing/2014/main" id="{69FC9A6E-D24C-05D7-6FEA-2EB3641DD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34" name="Rectangle 35">
            <a:extLst>
              <a:ext uri="{FF2B5EF4-FFF2-40B4-BE49-F238E27FC236}">
                <a16:creationId xmlns:a16="http://schemas.microsoft.com/office/drawing/2014/main" id="{2A248D1C-C02F-3C98-B470-74BBB5BEF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2" y="2133600"/>
            <a:ext cx="642938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+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35" name="Group 36">
            <a:extLst>
              <a:ext uri="{FF2B5EF4-FFF2-40B4-BE49-F238E27FC236}">
                <a16:creationId xmlns:a16="http://schemas.microsoft.com/office/drawing/2014/main" id="{9C74C52D-3F5A-FBBE-66F5-55007D12ACD9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2743200"/>
            <a:ext cx="2743200" cy="228600"/>
            <a:chOff x="2976" y="1392"/>
            <a:chExt cx="1728" cy="144"/>
          </a:xfrm>
        </p:grpSpPr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22F12704-C44B-98E5-7D2D-61D26A6B0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0EAE19EA-64E2-8155-6B00-C0668374D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A3EB2CCA-C745-E806-307A-53904095A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06D35A3F-D9A4-B8DE-8560-E26CADD69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19B2C281-8579-8C70-841A-C5AA8BD04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CE82C701-0FAC-ED76-E43D-B3689DC10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1441D6EE-4DFE-DA0F-35CA-1633C7DB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3" name="Line 44">
            <a:extLst>
              <a:ext uri="{FF2B5EF4-FFF2-40B4-BE49-F238E27FC236}">
                <a16:creationId xmlns:a16="http://schemas.microsoft.com/office/drawing/2014/main" id="{4F84E5C3-3FEE-3829-C5BD-16D2156AF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590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BB237BA3-7AFC-A810-9C1B-77B794228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057400"/>
            <a:ext cx="216931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Sum: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</a:p>
        </p:txBody>
      </p:sp>
      <p:sp>
        <p:nvSpPr>
          <p:cNvPr id="45" name="Text Box 46">
            <a:extLst>
              <a:ext uri="{FF2B5EF4-FFF2-40B4-BE49-F238E27FC236}">
                <a16:creationId xmlns:a16="http://schemas.microsoft.com/office/drawing/2014/main" id="{AF741087-7F14-1C36-8644-EAFDCC1A9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6" name="Text Box 47">
            <a:extLst>
              <a:ext uri="{FF2B5EF4-FFF2-40B4-BE49-F238E27FC236}">
                <a16:creationId xmlns:a16="http://schemas.microsoft.com/office/drawing/2014/main" id="{8144FE07-E1E0-7BDD-82FA-9AB66EB02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6670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Carry: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7" name="Rectangle 48">
            <a:extLst>
              <a:ext uri="{FF2B5EF4-FFF2-40B4-BE49-F238E27FC236}">
                <a16:creationId xmlns:a16="http://schemas.microsoft.com/office/drawing/2014/main" id="{657F0073-7191-6D70-F7AD-92F4A50FC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4950" y="2704907"/>
            <a:ext cx="138430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dirty="0" err="1">
                <a:latin typeface="Times" pitchFamily="18" charset="0"/>
              </a:rPr>
              <a:t>UAdd</a:t>
            </a:r>
            <a:r>
              <a:rPr lang="en-US" b="0" i="1" baseline="-25000" dirty="0" err="1">
                <a:latin typeface="Times" pitchFamily="18" charset="0"/>
              </a:rPr>
              <a:t>w</a:t>
            </a:r>
            <a:r>
              <a:rPr lang="en-US" b="0" dirty="0">
                <a:latin typeface="Times" pitchFamily="18" charset="0"/>
              </a:rPr>
              <a:t>(</a:t>
            </a:r>
            <a:r>
              <a:rPr lang="en-US" b="0" i="1" dirty="0">
                <a:latin typeface="Times" pitchFamily="18" charset="0"/>
              </a:rPr>
              <a:t>u</a:t>
            </a:r>
            <a:r>
              <a:rPr lang="en-US" b="0" dirty="0">
                <a:latin typeface="Times" pitchFamily="18" charset="0"/>
              </a:rPr>
              <a:t> , </a:t>
            </a:r>
            <a:r>
              <a:rPr lang="en-US" b="0" i="1" dirty="0">
                <a:latin typeface="Times" pitchFamily="18" charset="0"/>
              </a:rPr>
              <a:t>v</a:t>
            </a:r>
            <a:r>
              <a:rPr lang="en-US" b="0" dirty="0">
                <a:latin typeface="Times" pitchFamily="18" charset="0"/>
              </a:rPr>
              <a:t>)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19BC1189-4A5D-F00B-9BFC-528AF0C500E8}"/>
              </a:ext>
            </a:extLst>
          </p:cNvPr>
          <p:cNvSpPr txBox="1"/>
          <p:nvPr/>
        </p:nvSpPr>
        <p:spPr>
          <a:xfrm>
            <a:off x="8217907" y="52382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CA85939B-3EC8-AA52-1552-9C36E22B790C}"/>
              </a:ext>
            </a:extLst>
          </p:cNvPr>
          <p:cNvSpPr txBox="1"/>
          <p:nvPr/>
        </p:nvSpPr>
        <p:spPr>
          <a:xfrm>
            <a:off x="9074187" y="5238215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10110000 (176)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909814A-F391-CB8C-DDD1-ED8FA86768AE}"/>
              </a:ext>
            </a:extLst>
          </p:cNvPr>
          <p:cNvSpPr txBox="1"/>
          <p:nvPr/>
        </p:nvSpPr>
        <p:spPr>
          <a:xfrm>
            <a:off x="8217907" y="495911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4204F366-C8C4-7200-3E6A-63A66C7B98D7}"/>
              </a:ext>
            </a:extLst>
          </p:cNvPr>
          <p:cNvSpPr txBox="1"/>
          <p:nvPr/>
        </p:nvSpPr>
        <p:spPr>
          <a:xfrm>
            <a:off x="9074187" y="4959114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11001000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(200)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D148532F-AC3C-4EDC-A21C-ED9DA4EB283A}"/>
              </a:ext>
            </a:extLst>
          </p:cNvPr>
          <p:cNvSpPr txBox="1"/>
          <p:nvPr/>
        </p:nvSpPr>
        <p:spPr>
          <a:xfrm>
            <a:off x="8217907" y="560754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s+t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4C41D4D8-EC17-8AAA-B21D-641794B06D3B}"/>
              </a:ext>
            </a:extLst>
          </p:cNvPr>
          <p:cNvSpPr txBox="1"/>
          <p:nvPr/>
        </p:nvSpPr>
        <p:spPr>
          <a:xfrm>
            <a:off x="8947187" y="5607547"/>
            <a:ext cx="246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>
                <a:solidFill>
                  <a:srgbClr val="C00000"/>
                </a:solidFill>
                <a:latin typeface="Menlo" panose="020B060903080402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01111000 (120)</a:t>
            </a:r>
            <a:r>
              <a:rPr lang="en-US" b="1" baseline="-25000" dirty="0">
                <a:solidFill>
                  <a:srgbClr val="000000"/>
                </a:solidFill>
                <a:latin typeface="Menlo" panose="020B0609030804020204" pitchFamily="49" charset="0"/>
              </a:rPr>
              <a:t>10</a:t>
            </a:r>
            <a:endParaRPr lang="en-US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78" name="Line 44">
            <a:extLst>
              <a:ext uri="{FF2B5EF4-FFF2-40B4-BE49-F238E27FC236}">
                <a16:creationId xmlns:a16="http://schemas.microsoft.com/office/drawing/2014/main" id="{7748E8D6-3B19-8F26-3CF5-5807CC27E8C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4843" y="5620247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55511B36-2234-5544-C0BC-A35AA1DA56B5}"/>
              </a:ext>
            </a:extLst>
          </p:cNvPr>
          <p:cNvSpPr txBox="1"/>
          <p:nvPr/>
        </p:nvSpPr>
        <p:spPr>
          <a:xfrm>
            <a:off x="292100" y="4377505"/>
            <a:ext cx="111051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 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   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v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          s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t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176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3E47844-1685-DA52-4F17-C46DF96A6F4C}"/>
              </a:ext>
            </a:extLst>
          </p:cNvPr>
          <p:cNvSpPr txBox="1"/>
          <p:nvPr/>
        </p:nvSpPr>
        <p:spPr>
          <a:xfrm>
            <a:off x="4467112" y="520223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</a:t>
            </a: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646A8426-0FC0-5E20-8B3E-F6FBFED0F712}"/>
              </a:ext>
            </a:extLst>
          </p:cNvPr>
          <p:cNvSpPr txBox="1"/>
          <p:nvPr/>
        </p:nvSpPr>
        <p:spPr>
          <a:xfrm>
            <a:off x="5323392" y="5202236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01100110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(102)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9FCBE5EA-478F-F499-C31F-F183722E7F8B}"/>
              </a:ext>
            </a:extLst>
          </p:cNvPr>
          <p:cNvSpPr txBox="1"/>
          <p:nvPr/>
        </p:nvSpPr>
        <p:spPr>
          <a:xfrm>
            <a:off x="4467112" y="492313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2FBEA56-395F-F227-A8F5-17E00509C1FF}"/>
              </a:ext>
            </a:extLst>
          </p:cNvPr>
          <p:cNvSpPr txBox="1"/>
          <p:nvPr/>
        </p:nvSpPr>
        <p:spPr>
          <a:xfrm>
            <a:off x="5323392" y="4923135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010010 (82)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761F0069-6371-11E0-1E46-55C6A473AC9F}"/>
              </a:ext>
            </a:extLst>
          </p:cNvPr>
          <p:cNvSpPr txBox="1"/>
          <p:nvPr/>
        </p:nvSpPr>
        <p:spPr>
          <a:xfrm>
            <a:off x="4467112" y="557156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u+v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5CE45E77-2F88-59BF-F977-B317280A9D7D}"/>
              </a:ext>
            </a:extLst>
          </p:cNvPr>
          <p:cNvSpPr txBox="1"/>
          <p:nvPr/>
        </p:nvSpPr>
        <p:spPr>
          <a:xfrm>
            <a:off x="5323392" y="5571568"/>
            <a:ext cx="230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Menlo" panose="020B060903080402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0111000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(184)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6" name="Line 44">
            <a:extLst>
              <a:ext uri="{FF2B5EF4-FFF2-40B4-BE49-F238E27FC236}">
                <a16:creationId xmlns:a16="http://schemas.microsoft.com/office/drawing/2014/main" id="{69E97694-5349-E1AA-F488-F1EA2F1DA382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048" y="5584268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23C0DA2D-9627-23FB-31AE-2ED8442BA86C}"/>
              </a:ext>
            </a:extLst>
          </p:cNvPr>
          <p:cNvSpPr txBox="1"/>
          <p:nvPr/>
        </p:nvSpPr>
        <p:spPr>
          <a:xfrm>
            <a:off x="580648" y="52382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9708275C-95D3-2EE8-BF41-EE7178DB2961}"/>
              </a:ext>
            </a:extLst>
          </p:cNvPr>
          <p:cNvSpPr txBox="1"/>
          <p:nvPr/>
        </p:nvSpPr>
        <p:spPr>
          <a:xfrm>
            <a:off x="1436928" y="5238215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00001100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B1CE9A66-56FE-17B3-A50F-E7D5A44E80B8}"/>
              </a:ext>
            </a:extLst>
          </p:cNvPr>
          <p:cNvSpPr txBox="1"/>
          <p:nvPr/>
        </p:nvSpPr>
        <p:spPr>
          <a:xfrm>
            <a:off x="580648" y="495911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F3FB6C7-EC70-0967-C575-52879F42F8F4}"/>
              </a:ext>
            </a:extLst>
          </p:cNvPr>
          <p:cNvSpPr txBox="1"/>
          <p:nvPr/>
        </p:nvSpPr>
        <p:spPr>
          <a:xfrm>
            <a:off x="1436928" y="4959114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010010 (18)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7E92098D-9C90-A613-04DA-74B38CB1E4A5}"/>
              </a:ext>
            </a:extLst>
          </p:cNvPr>
          <p:cNvSpPr txBox="1"/>
          <p:nvPr/>
        </p:nvSpPr>
        <p:spPr>
          <a:xfrm>
            <a:off x="580648" y="560754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x+y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1D6F62DE-ABE9-7E9E-D998-DC9B0B602209}"/>
              </a:ext>
            </a:extLst>
          </p:cNvPr>
          <p:cNvSpPr txBox="1"/>
          <p:nvPr/>
        </p:nvSpPr>
        <p:spPr>
          <a:xfrm>
            <a:off x="1436928" y="5607547"/>
            <a:ext cx="230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00011110 (30)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93" name="Line 44">
            <a:extLst>
              <a:ext uri="{FF2B5EF4-FFF2-40B4-BE49-F238E27FC236}">
                <a16:creationId xmlns:a16="http://schemas.microsoft.com/office/drawing/2014/main" id="{C38D7C20-1C97-F3BD-FE7C-F8360BC91E6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84" y="5620247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DE2FA5A3-5477-8BC5-84C3-3B2C5D5CF0B5}"/>
              </a:ext>
            </a:extLst>
          </p:cNvPr>
          <p:cNvSpPr txBox="1"/>
          <p:nvPr/>
        </p:nvSpPr>
        <p:spPr>
          <a:xfrm>
            <a:off x="9281158" y="6015598"/>
            <a:ext cx="2377441" cy="707886"/>
          </a:xfrm>
          <a:prstGeom prst="wedgeRectCallout">
            <a:avLst>
              <a:gd name="adj1" fmla="val 11176"/>
              <a:gd name="adj2" fmla="val -62270"/>
            </a:avLst>
          </a:prstGeom>
          <a:solidFill>
            <a:srgbClr val="F5D1C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Overflow: if true sum &gt; 2</a:t>
            </a:r>
            <a:r>
              <a:rPr lang="en-US" sz="2000" b="1" i="1" baseline="30000" dirty="0">
                <a:solidFill>
                  <a:srgbClr val="C00000"/>
                </a:solidFill>
              </a:rPr>
              <a:t>w</a:t>
            </a:r>
            <a:r>
              <a:rPr lang="en-US" sz="2000" b="1" dirty="0">
                <a:solidFill>
                  <a:srgbClr val="C00000"/>
                </a:solidFill>
              </a:rPr>
              <a:t>-1 or 255</a:t>
            </a:r>
          </a:p>
        </p:txBody>
      </p:sp>
    </p:spTree>
    <p:extLst>
      <p:ext uri="{BB962C8B-B14F-4D97-AF65-F5344CB8AC3E}">
        <p14:creationId xmlns:p14="http://schemas.microsoft.com/office/powerpoint/2010/main" val="2116398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/>
      <p:bldP spid="173" grpId="0"/>
      <p:bldP spid="174" grpId="0"/>
      <p:bldP spid="175" grpId="0"/>
      <p:bldP spid="176" grpId="0"/>
      <p:bldP spid="177" grpId="0"/>
      <p:bldP spid="178" grpId="0" animBg="1"/>
      <p:bldP spid="179" grpId="0"/>
      <p:bldP spid="180" grpId="0"/>
      <p:bldP spid="181" grpId="0"/>
      <p:bldP spid="182" grpId="0"/>
      <p:bldP spid="183" grpId="0"/>
      <p:bldP spid="184" grpId="0"/>
      <p:bldP spid="185" grpId="0"/>
      <p:bldP spid="186" grpId="0" animBg="1"/>
      <p:bldP spid="187" grpId="0"/>
      <p:bldP spid="188" grpId="0"/>
      <p:bldP spid="189" grpId="0"/>
      <p:bldP spid="190" grpId="0"/>
      <p:bldP spid="191" grpId="0"/>
      <p:bldP spid="192" grpId="0"/>
      <p:bldP spid="193" grpId="0" animBg="1"/>
      <p:bldP spid="19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D2D7F-3940-2D45-538D-B2345D05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Bitwise Operations: </a:t>
            </a:r>
            <a:r>
              <a:rPr lang="en-US" b="1" dirty="0"/>
              <a:t>Signed</a:t>
            </a:r>
            <a:r>
              <a:rPr lang="en-US" dirty="0"/>
              <a:t> Addition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BFA83-EAFA-BED3-7F06-AFB44BE294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29" y="3492499"/>
            <a:ext cx="11790428" cy="48590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Two's complement (signed) addition and unsigned addition have </a:t>
            </a:r>
            <a:r>
              <a:rPr lang="en-US" b="1" dirty="0"/>
              <a:t>Identical</a:t>
            </a:r>
            <a:r>
              <a:rPr lang="en-US" dirty="0"/>
              <a:t> Bit-Level Behavior.</a:t>
            </a:r>
          </a:p>
        </p:txBody>
      </p:sp>
      <p:grpSp>
        <p:nvGrpSpPr>
          <p:cNvPr id="4" name="Group 5">
            <a:extLst>
              <a:ext uri="{FF2B5EF4-FFF2-40B4-BE49-F238E27FC236}">
                <a16:creationId xmlns:a16="http://schemas.microsoft.com/office/drawing/2014/main" id="{15B04474-25F6-0F76-5393-552C7132ED6F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371600"/>
            <a:ext cx="2743200" cy="228600"/>
            <a:chOff x="2976" y="816"/>
            <a:chExt cx="1728" cy="144"/>
          </a:xfrm>
        </p:grpSpPr>
        <p:sp>
          <p:nvSpPr>
            <p:cNvPr id="5" name="Rectangle 6">
              <a:extLst>
                <a:ext uri="{FF2B5EF4-FFF2-40B4-BE49-F238E27FC236}">
                  <a16:creationId xmlns:a16="http://schemas.microsoft.com/office/drawing/2014/main" id="{8F358731-62F3-7C29-4062-1021A10DC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07BB024C-0D09-1A45-1069-B690AEFBF3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" name="Rectangle 8">
              <a:extLst>
                <a:ext uri="{FF2B5EF4-FFF2-40B4-BE49-F238E27FC236}">
                  <a16:creationId xmlns:a16="http://schemas.microsoft.com/office/drawing/2014/main" id="{A632A34B-34E8-3C50-3481-613A2A5A7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CAD3B6D8-B7BF-880E-FEEA-52FDE39EF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A2750924-5CEB-2EAE-EEC7-0EA04C454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0" name="Rectangle 11">
              <a:extLst>
                <a:ext uri="{FF2B5EF4-FFF2-40B4-BE49-F238E27FC236}">
                  <a16:creationId xmlns:a16="http://schemas.microsoft.com/office/drawing/2014/main" id="{193249CE-7D9D-3F25-573C-7113C300D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1" name="Rectangle 12">
              <a:extLst>
                <a:ext uri="{FF2B5EF4-FFF2-40B4-BE49-F238E27FC236}">
                  <a16:creationId xmlns:a16="http://schemas.microsoft.com/office/drawing/2014/main" id="{32B3F112-D501-FF78-5364-13FBCD76F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12" name="Group 13">
            <a:extLst>
              <a:ext uri="{FF2B5EF4-FFF2-40B4-BE49-F238E27FC236}">
                <a16:creationId xmlns:a16="http://schemas.microsoft.com/office/drawing/2014/main" id="{D70036F0-62C2-5EF6-C823-C9650800E2AF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828800"/>
            <a:ext cx="2743200" cy="228600"/>
            <a:chOff x="2976" y="1104"/>
            <a:chExt cx="1728" cy="144"/>
          </a:xfrm>
        </p:grpSpPr>
        <p:sp>
          <p:nvSpPr>
            <p:cNvPr id="13" name="Rectangle 14">
              <a:extLst>
                <a:ext uri="{FF2B5EF4-FFF2-40B4-BE49-F238E27FC236}">
                  <a16:creationId xmlns:a16="http://schemas.microsoft.com/office/drawing/2014/main" id="{3FF19727-F81A-CA05-5A2E-9A12506610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4" name="Rectangle 15">
              <a:extLst>
                <a:ext uri="{FF2B5EF4-FFF2-40B4-BE49-F238E27FC236}">
                  <a16:creationId xmlns:a16="http://schemas.microsoft.com/office/drawing/2014/main" id="{BD910B2A-F9F5-95AE-8B11-C8F48523C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9FD7F1E0-12F9-FA67-95AA-0C027A92D5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6" name="Rectangle 17">
              <a:extLst>
                <a:ext uri="{FF2B5EF4-FFF2-40B4-BE49-F238E27FC236}">
                  <a16:creationId xmlns:a16="http://schemas.microsoft.com/office/drawing/2014/main" id="{0D15A3CD-3E90-B170-9CEE-7D1D673D4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7" name="Rectangle 18">
              <a:extLst>
                <a:ext uri="{FF2B5EF4-FFF2-40B4-BE49-F238E27FC236}">
                  <a16:creationId xmlns:a16="http://schemas.microsoft.com/office/drawing/2014/main" id="{12C8649C-C59A-83BC-2FC3-7E8DF12D0B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8" name="Rectangle 19">
              <a:extLst>
                <a:ext uri="{FF2B5EF4-FFF2-40B4-BE49-F238E27FC236}">
                  <a16:creationId xmlns:a16="http://schemas.microsoft.com/office/drawing/2014/main" id="{BF091DCE-85F9-1F0D-182A-9EC0339FB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9" name="Rectangle 20">
              <a:extLst>
                <a:ext uri="{FF2B5EF4-FFF2-40B4-BE49-F238E27FC236}">
                  <a16:creationId xmlns:a16="http://schemas.microsoft.com/office/drawing/2014/main" id="{27F05A8C-EE99-FA89-B04B-2A2882772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20" name="Rectangle 21">
            <a:extLst>
              <a:ext uri="{FF2B5EF4-FFF2-40B4-BE49-F238E27FC236}">
                <a16:creationId xmlns:a16="http://schemas.microsoft.com/office/drawing/2014/main" id="{B06DF361-63FD-B43F-69EF-579141B16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12192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21" name="Rectangle 22">
            <a:extLst>
              <a:ext uri="{FF2B5EF4-FFF2-40B4-BE49-F238E27FC236}">
                <a16:creationId xmlns:a16="http://schemas.microsoft.com/office/drawing/2014/main" id="{CCDCF581-D1C3-06B6-26CF-E59AF95C4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16764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22" name="Line 23">
            <a:extLst>
              <a:ext uri="{FF2B5EF4-FFF2-40B4-BE49-F238E27FC236}">
                <a16:creationId xmlns:a16="http://schemas.microsoft.com/office/drawing/2014/main" id="{5834EDA9-BC40-C339-5052-579D88896A3E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1336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24">
            <a:extLst>
              <a:ext uri="{FF2B5EF4-FFF2-40B4-BE49-F238E27FC236}">
                <a16:creationId xmlns:a16="http://schemas.microsoft.com/office/drawing/2014/main" id="{8C8153D7-6F42-D006-C1D7-F4519F705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617" y="1683760"/>
            <a:ext cx="35779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</a:t>
            </a:r>
          </a:p>
        </p:txBody>
      </p:sp>
      <p:grpSp>
        <p:nvGrpSpPr>
          <p:cNvPr id="24" name="Group 25">
            <a:extLst>
              <a:ext uri="{FF2B5EF4-FFF2-40B4-BE49-F238E27FC236}">
                <a16:creationId xmlns:a16="http://schemas.microsoft.com/office/drawing/2014/main" id="{0022D3EB-FDBD-4A9B-52AC-6F0719C1B5FB}"/>
              </a:ext>
            </a:extLst>
          </p:cNvPr>
          <p:cNvGrpSpPr>
            <a:grpSpLocks/>
          </p:cNvGrpSpPr>
          <p:nvPr/>
        </p:nvGrpSpPr>
        <p:grpSpPr bwMode="auto">
          <a:xfrm>
            <a:off x="5321300" y="2286000"/>
            <a:ext cx="2971800" cy="228600"/>
            <a:chOff x="2832" y="1392"/>
            <a:chExt cx="1872" cy="144"/>
          </a:xfrm>
        </p:grpSpPr>
        <p:grpSp>
          <p:nvGrpSpPr>
            <p:cNvPr id="25" name="Group 26">
              <a:extLst>
                <a:ext uri="{FF2B5EF4-FFF2-40B4-BE49-F238E27FC236}">
                  <a16:creationId xmlns:a16="http://schemas.microsoft.com/office/drawing/2014/main" id="{F9707A0D-09AB-F832-B361-E0DBBAF68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27" name="Rectangle 27">
                <a:extLst>
                  <a:ext uri="{FF2B5EF4-FFF2-40B4-BE49-F238E27FC236}">
                    <a16:creationId xmlns:a16="http://schemas.microsoft.com/office/drawing/2014/main" id="{3C48C322-CBC7-8604-5A5F-2155A5869F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8" name="Rectangle 28">
                <a:extLst>
                  <a:ext uri="{FF2B5EF4-FFF2-40B4-BE49-F238E27FC236}">
                    <a16:creationId xmlns:a16="http://schemas.microsoft.com/office/drawing/2014/main" id="{CBB87FF7-AC4C-9F15-ECF0-3D918DB54B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9" name="Rectangle 29">
                <a:extLst>
                  <a:ext uri="{FF2B5EF4-FFF2-40B4-BE49-F238E27FC236}">
                    <a16:creationId xmlns:a16="http://schemas.microsoft.com/office/drawing/2014/main" id="{39C78611-6AFC-8BDF-91E7-322CED878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0" name="Rectangle 30">
                <a:extLst>
                  <a:ext uri="{FF2B5EF4-FFF2-40B4-BE49-F238E27FC236}">
                    <a16:creationId xmlns:a16="http://schemas.microsoft.com/office/drawing/2014/main" id="{F975D410-C3C4-129E-3D4B-73AF770DA0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1" name="Rectangle 31">
                <a:extLst>
                  <a:ext uri="{FF2B5EF4-FFF2-40B4-BE49-F238E27FC236}">
                    <a16:creationId xmlns:a16="http://schemas.microsoft.com/office/drawing/2014/main" id="{9219A698-EF37-9E6C-0ACF-3AD92A1E16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2" name="Rectangle 32">
                <a:extLst>
                  <a:ext uri="{FF2B5EF4-FFF2-40B4-BE49-F238E27FC236}">
                    <a16:creationId xmlns:a16="http://schemas.microsoft.com/office/drawing/2014/main" id="{77BDE69C-766B-8D54-7ED3-9FD14EC80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" name="Rectangle 33">
                <a:extLst>
                  <a:ext uri="{FF2B5EF4-FFF2-40B4-BE49-F238E27FC236}">
                    <a16:creationId xmlns:a16="http://schemas.microsoft.com/office/drawing/2014/main" id="{17592C34-EEDD-21FA-DF58-F00F8A107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  <p:sp>
          <p:nvSpPr>
            <p:cNvPr id="26" name="Rectangle 34">
              <a:extLst>
                <a:ext uri="{FF2B5EF4-FFF2-40B4-BE49-F238E27FC236}">
                  <a16:creationId xmlns:a16="http://schemas.microsoft.com/office/drawing/2014/main" id="{69FC9A6E-D24C-05D7-6FEA-2EB3641DDE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34" name="Rectangle 35">
            <a:extLst>
              <a:ext uri="{FF2B5EF4-FFF2-40B4-BE49-F238E27FC236}">
                <a16:creationId xmlns:a16="http://schemas.microsoft.com/office/drawing/2014/main" id="{2A248D1C-C02F-3C98-B470-74BBB5BEF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2" y="2133600"/>
            <a:ext cx="642938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+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35" name="Group 36">
            <a:extLst>
              <a:ext uri="{FF2B5EF4-FFF2-40B4-BE49-F238E27FC236}">
                <a16:creationId xmlns:a16="http://schemas.microsoft.com/office/drawing/2014/main" id="{9C74C52D-3F5A-FBBE-66F5-55007D12ACD9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2743200"/>
            <a:ext cx="2743200" cy="228600"/>
            <a:chOff x="2976" y="1392"/>
            <a:chExt cx="1728" cy="144"/>
          </a:xfrm>
        </p:grpSpPr>
        <p:sp>
          <p:nvSpPr>
            <p:cNvPr id="36" name="Rectangle 37">
              <a:extLst>
                <a:ext uri="{FF2B5EF4-FFF2-40B4-BE49-F238E27FC236}">
                  <a16:creationId xmlns:a16="http://schemas.microsoft.com/office/drawing/2014/main" id="{22F12704-C44B-98E5-7D2D-61D26A6B03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7" name="Rectangle 38">
              <a:extLst>
                <a:ext uri="{FF2B5EF4-FFF2-40B4-BE49-F238E27FC236}">
                  <a16:creationId xmlns:a16="http://schemas.microsoft.com/office/drawing/2014/main" id="{0EAE19EA-64E2-8155-6B00-C0668374D1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8" name="Rectangle 39">
              <a:extLst>
                <a:ext uri="{FF2B5EF4-FFF2-40B4-BE49-F238E27FC236}">
                  <a16:creationId xmlns:a16="http://schemas.microsoft.com/office/drawing/2014/main" id="{A3EB2CCA-C745-E806-307A-53904095AD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9" name="Rectangle 40">
              <a:extLst>
                <a:ext uri="{FF2B5EF4-FFF2-40B4-BE49-F238E27FC236}">
                  <a16:creationId xmlns:a16="http://schemas.microsoft.com/office/drawing/2014/main" id="{06D35A3F-D9A4-B8DE-8560-E26CADD693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" name="Rectangle 41">
              <a:extLst>
                <a:ext uri="{FF2B5EF4-FFF2-40B4-BE49-F238E27FC236}">
                  <a16:creationId xmlns:a16="http://schemas.microsoft.com/office/drawing/2014/main" id="{19B2C281-8579-8C70-841A-C5AA8BD04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" name="Rectangle 42">
              <a:extLst>
                <a:ext uri="{FF2B5EF4-FFF2-40B4-BE49-F238E27FC236}">
                  <a16:creationId xmlns:a16="http://schemas.microsoft.com/office/drawing/2014/main" id="{CE82C701-0FAC-ED76-E43D-B3689DC10C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2" name="Rectangle 43">
              <a:extLst>
                <a:ext uri="{FF2B5EF4-FFF2-40B4-BE49-F238E27FC236}">
                  <a16:creationId xmlns:a16="http://schemas.microsoft.com/office/drawing/2014/main" id="{1441D6EE-4DFE-DA0F-35CA-1633C7DB9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3" name="Line 44">
            <a:extLst>
              <a:ext uri="{FF2B5EF4-FFF2-40B4-BE49-F238E27FC236}">
                <a16:creationId xmlns:a16="http://schemas.microsoft.com/office/drawing/2014/main" id="{4F84E5C3-3FEE-3829-C5BD-16D2156AF5B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590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BB237BA3-7AFC-A810-9C1B-77B794228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057400"/>
            <a:ext cx="216931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Sum: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</a:p>
        </p:txBody>
      </p:sp>
      <p:sp>
        <p:nvSpPr>
          <p:cNvPr id="45" name="Text Box 46">
            <a:extLst>
              <a:ext uri="{FF2B5EF4-FFF2-40B4-BE49-F238E27FC236}">
                <a16:creationId xmlns:a16="http://schemas.microsoft.com/office/drawing/2014/main" id="{AF741087-7F14-1C36-8644-EAFDCC1A9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6" name="Text Box 47">
            <a:extLst>
              <a:ext uri="{FF2B5EF4-FFF2-40B4-BE49-F238E27FC236}">
                <a16:creationId xmlns:a16="http://schemas.microsoft.com/office/drawing/2014/main" id="{8144FE07-E1E0-7BDD-82FA-9AB66EB02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6670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Carry: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7" name="Rectangle 48">
            <a:extLst>
              <a:ext uri="{FF2B5EF4-FFF2-40B4-BE49-F238E27FC236}">
                <a16:creationId xmlns:a16="http://schemas.microsoft.com/office/drawing/2014/main" id="{657F0073-7191-6D70-F7AD-92F4A50FC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64" y="2704907"/>
            <a:ext cx="135248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dirty="0" err="1">
                <a:latin typeface="Times" pitchFamily="18" charset="0"/>
              </a:rPr>
              <a:t>T</a:t>
            </a:r>
            <a:r>
              <a:rPr lang="en-US" b="0" dirty="0" err="1">
                <a:latin typeface="Times" pitchFamily="18" charset="0"/>
              </a:rPr>
              <a:t>Add</a:t>
            </a:r>
            <a:r>
              <a:rPr lang="en-US" b="0" i="1" baseline="-25000" dirty="0" err="1">
                <a:latin typeface="Times" pitchFamily="18" charset="0"/>
              </a:rPr>
              <a:t>w</a:t>
            </a:r>
            <a:r>
              <a:rPr lang="en-US" b="0" dirty="0">
                <a:latin typeface="Times" pitchFamily="18" charset="0"/>
              </a:rPr>
              <a:t>(</a:t>
            </a:r>
            <a:r>
              <a:rPr lang="en-US" b="0" i="1" dirty="0">
                <a:latin typeface="Times" pitchFamily="18" charset="0"/>
              </a:rPr>
              <a:t>u</a:t>
            </a:r>
            <a:r>
              <a:rPr lang="en-US" b="0" dirty="0">
                <a:latin typeface="Times" pitchFamily="18" charset="0"/>
              </a:rPr>
              <a:t> , </a:t>
            </a:r>
            <a:r>
              <a:rPr lang="en-US" b="0" i="1" dirty="0">
                <a:latin typeface="Times" pitchFamily="18" charset="0"/>
              </a:rPr>
              <a:t>v</a:t>
            </a:r>
            <a:r>
              <a:rPr lang="en-US" b="0" dirty="0">
                <a:latin typeface="Times" pitchFamily="18" charset="0"/>
              </a:rPr>
              <a:t>)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B7585A4A-9498-FB9B-85B4-C66033E969D3}"/>
              </a:ext>
            </a:extLst>
          </p:cNvPr>
          <p:cNvSpPr txBox="1"/>
          <p:nvPr/>
        </p:nvSpPr>
        <p:spPr>
          <a:xfrm>
            <a:off x="8217907" y="52382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t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040CC49-6977-04CF-3A40-5208BFA6A061}"/>
              </a:ext>
            </a:extLst>
          </p:cNvPr>
          <p:cNvSpPr txBox="1"/>
          <p:nvPr/>
        </p:nvSpPr>
        <p:spPr>
          <a:xfrm>
            <a:off x="9074187" y="5238215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10110000 (-80)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3069A52E-4E70-14F9-6861-B1E26CA7CFDF}"/>
              </a:ext>
            </a:extLst>
          </p:cNvPr>
          <p:cNvSpPr txBox="1"/>
          <p:nvPr/>
        </p:nvSpPr>
        <p:spPr>
          <a:xfrm>
            <a:off x="8217907" y="495911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s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25061DD-3A7A-AC46-6FB9-B02A81F17CC0}"/>
              </a:ext>
            </a:extLst>
          </p:cNvPr>
          <p:cNvSpPr txBox="1"/>
          <p:nvPr/>
        </p:nvSpPr>
        <p:spPr>
          <a:xfrm>
            <a:off x="9074187" y="4959114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11001000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(-56)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C77DD32-F362-3957-2E77-DCBBFFA749FB}"/>
              </a:ext>
            </a:extLst>
          </p:cNvPr>
          <p:cNvSpPr txBox="1"/>
          <p:nvPr/>
        </p:nvSpPr>
        <p:spPr>
          <a:xfrm>
            <a:off x="8217907" y="560754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s+t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87E4C0A3-F801-5C75-54D6-BF3168B15BF8}"/>
              </a:ext>
            </a:extLst>
          </p:cNvPr>
          <p:cNvSpPr txBox="1"/>
          <p:nvPr/>
        </p:nvSpPr>
        <p:spPr>
          <a:xfrm>
            <a:off x="8947187" y="5607547"/>
            <a:ext cx="2462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trike="sngStrike" dirty="0">
                <a:solidFill>
                  <a:srgbClr val="C00000"/>
                </a:solidFill>
                <a:latin typeface="Menlo" panose="020B060903080402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01111000 (120)</a:t>
            </a:r>
            <a:r>
              <a:rPr lang="en-US" b="1" baseline="-25000" dirty="0">
                <a:solidFill>
                  <a:srgbClr val="000000"/>
                </a:solidFill>
                <a:latin typeface="Menlo" panose="020B0609030804020204" pitchFamily="49" charset="0"/>
              </a:rPr>
              <a:t>10</a:t>
            </a:r>
            <a:endParaRPr lang="en-US" b="1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0" name="Line 44">
            <a:extLst>
              <a:ext uri="{FF2B5EF4-FFF2-40B4-BE49-F238E27FC236}">
                <a16:creationId xmlns:a16="http://schemas.microsoft.com/office/drawing/2014/main" id="{0F1EC5F3-7DB9-8578-B1AD-D6176B2CA0EB}"/>
              </a:ext>
            </a:extLst>
          </p:cNvPr>
          <p:cNvSpPr>
            <a:spLocks noChangeShapeType="1"/>
          </p:cNvSpPr>
          <p:nvPr/>
        </p:nvSpPr>
        <p:spPr bwMode="auto">
          <a:xfrm>
            <a:off x="8194843" y="5620247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1F0C434-2FBE-8C5C-15BD-2B29C5D74B86}"/>
              </a:ext>
            </a:extLst>
          </p:cNvPr>
          <p:cNvSpPr txBox="1"/>
          <p:nvPr/>
        </p:nvSpPr>
        <p:spPr>
          <a:xfrm>
            <a:off x="5002297" y="6015598"/>
            <a:ext cx="2377441" cy="707886"/>
          </a:xfrm>
          <a:prstGeom prst="wedgeRectCallout">
            <a:avLst>
              <a:gd name="adj1" fmla="val 26667"/>
              <a:gd name="adj2" fmla="val -71241"/>
            </a:avLst>
          </a:prstGeom>
          <a:solidFill>
            <a:srgbClr val="F5D1C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Overflow: if true sum &gt; 2</a:t>
            </a:r>
            <a:r>
              <a:rPr lang="en-US" sz="2000" b="1" i="1" baseline="30000" dirty="0">
                <a:solidFill>
                  <a:srgbClr val="C00000"/>
                </a:solidFill>
              </a:rPr>
              <a:t>w-1</a:t>
            </a:r>
            <a:r>
              <a:rPr lang="en-US" sz="2000" b="1" i="1" dirty="0">
                <a:solidFill>
                  <a:srgbClr val="C00000"/>
                </a:solidFill>
              </a:rPr>
              <a:t>-1</a:t>
            </a:r>
            <a:r>
              <a:rPr lang="en-US" sz="2000" b="1" dirty="0">
                <a:solidFill>
                  <a:srgbClr val="C00000"/>
                </a:solidFill>
              </a:rPr>
              <a:t> or 127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7F255F4-F6DC-6DB2-DADB-01CDCEA62B32}"/>
              </a:ext>
            </a:extLst>
          </p:cNvPr>
          <p:cNvSpPr txBox="1"/>
          <p:nvPr/>
        </p:nvSpPr>
        <p:spPr>
          <a:xfrm>
            <a:off x="838200" y="4377505"/>
            <a:ext cx="10559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18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,     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82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v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102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          s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-56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t =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-80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747D1DEF-DD47-A8E7-30BB-CF84E438E6A9}"/>
              </a:ext>
            </a:extLst>
          </p:cNvPr>
          <p:cNvSpPr txBox="1"/>
          <p:nvPr/>
        </p:nvSpPr>
        <p:spPr>
          <a:xfrm>
            <a:off x="4467112" y="5202236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v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36DA038-07AC-0267-84C3-EEC928E699E0}"/>
              </a:ext>
            </a:extLst>
          </p:cNvPr>
          <p:cNvSpPr txBox="1"/>
          <p:nvPr/>
        </p:nvSpPr>
        <p:spPr>
          <a:xfrm>
            <a:off x="5323392" y="5202236"/>
            <a:ext cx="2323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01100110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(102)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6AF89FEC-BC8A-F01A-B339-1B56535A38AC}"/>
              </a:ext>
            </a:extLst>
          </p:cNvPr>
          <p:cNvSpPr txBox="1"/>
          <p:nvPr/>
        </p:nvSpPr>
        <p:spPr>
          <a:xfrm>
            <a:off x="4467112" y="492313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u</a:t>
            </a: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BAD5D431-1195-E2B9-A274-2FC71AC44DBC}"/>
              </a:ext>
            </a:extLst>
          </p:cNvPr>
          <p:cNvSpPr txBox="1"/>
          <p:nvPr/>
        </p:nvSpPr>
        <p:spPr>
          <a:xfrm>
            <a:off x="5323392" y="4923135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010010 (82)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BAB989D-E9DE-E7BA-280B-667CAEAC1DE5}"/>
              </a:ext>
            </a:extLst>
          </p:cNvPr>
          <p:cNvSpPr txBox="1"/>
          <p:nvPr/>
        </p:nvSpPr>
        <p:spPr>
          <a:xfrm>
            <a:off x="4467112" y="5571568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u+v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ADC5BF5A-B9EB-E142-7151-6E2C82CB2653}"/>
              </a:ext>
            </a:extLst>
          </p:cNvPr>
          <p:cNvSpPr txBox="1"/>
          <p:nvPr/>
        </p:nvSpPr>
        <p:spPr>
          <a:xfrm>
            <a:off x="5323392" y="5571568"/>
            <a:ext cx="230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Menlo" panose="020B0609030804020204" pitchFamily="49" charset="0"/>
              </a:rPr>
              <a:t>1</a:t>
            </a:r>
            <a:r>
              <a:rPr lang="en-US" b="1" dirty="0">
                <a:solidFill>
                  <a:srgbClr val="000000"/>
                </a:solidFill>
                <a:latin typeface="Menlo" panose="020B0609030804020204" pitchFamily="49" charset="0"/>
              </a:rPr>
              <a:t>0111000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(-72)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39" name="Line 44">
            <a:extLst>
              <a:ext uri="{FF2B5EF4-FFF2-40B4-BE49-F238E27FC236}">
                <a16:creationId xmlns:a16="http://schemas.microsoft.com/office/drawing/2014/main" id="{F379B70D-98E0-0CDB-60D9-E5DDBA1799CC}"/>
              </a:ext>
            </a:extLst>
          </p:cNvPr>
          <p:cNvSpPr>
            <a:spLocks noChangeShapeType="1"/>
          </p:cNvSpPr>
          <p:nvPr/>
        </p:nvSpPr>
        <p:spPr bwMode="auto">
          <a:xfrm>
            <a:off x="4444048" y="5584268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DA3C925-8F29-8F04-92A9-6987AFA2BDA4}"/>
              </a:ext>
            </a:extLst>
          </p:cNvPr>
          <p:cNvSpPr txBox="1"/>
          <p:nvPr/>
        </p:nvSpPr>
        <p:spPr>
          <a:xfrm>
            <a:off x="580648" y="523821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76835236-2366-DADA-C4D4-A8B7102860C1}"/>
              </a:ext>
            </a:extLst>
          </p:cNvPr>
          <p:cNvSpPr txBox="1"/>
          <p:nvPr/>
        </p:nvSpPr>
        <p:spPr>
          <a:xfrm>
            <a:off x="1436928" y="5238215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00001100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(12)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2FF0AAA9-15C4-A89B-B036-5C96B69B9103}"/>
              </a:ext>
            </a:extLst>
          </p:cNvPr>
          <p:cNvSpPr txBox="1"/>
          <p:nvPr/>
        </p:nvSpPr>
        <p:spPr>
          <a:xfrm>
            <a:off x="580648" y="4959114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6AE0A360-7F3D-44DD-7D57-E304CF3A0A78}"/>
              </a:ext>
            </a:extLst>
          </p:cNvPr>
          <p:cNvSpPr txBox="1"/>
          <p:nvPr/>
        </p:nvSpPr>
        <p:spPr>
          <a:xfrm>
            <a:off x="1436928" y="4959114"/>
            <a:ext cx="21836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00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010010 (18)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6E306E2D-B6CB-2DF6-66A6-7399170292F8}"/>
              </a:ext>
            </a:extLst>
          </p:cNvPr>
          <p:cNvSpPr txBox="1"/>
          <p:nvPr/>
        </p:nvSpPr>
        <p:spPr>
          <a:xfrm>
            <a:off x="580648" y="560754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000000"/>
                </a:solidFill>
                <a:latin typeface="Menlo" panose="020B0609030804020204" pitchFamily="49" charset="0"/>
              </a:rPr>
              <a:t>x+y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010BABB-CD8C-9F5B-EDB6-1796426AA4E4}"/>
              </a:ext>
            </a:extLst>
          </p:cNvPr>
          <p:cNvSpPr txBox="1"/>
          <p:nvPr/>
        </p:nvSpPr>
        <p:spPr>
          <a:xfrm>
            <a:off x="1436928" y="5607547"/>
            <a:ext cx="2306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00011110 (30)</a:t>
            </a:r>
            <a:r>
              <a:rPr lang="en-US" baseline="-25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10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46" name="Line 44">
            <a:extLst>
              <a:ext uri="{FF2B5EF4-FFF2-40B4-BE49-F238E27FC236}">
                <a16:creationId xmlns:a16="http://schemas.microsoft.com/office/drawing/2014/main" id="{9856C67B-D59F-5780-F914-5ADD23A4B8C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7584" y="5620247"/>
            <a:ext cx="237744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BA276724-46A5-5FEF-F084-13736835D850}"/>
              </a:ext>
            </a:extLst>
          </p:cNvPr>
          <p:cNvSpPr txBox="1"/>
          <p:nvPr/>
        </p:nvSpPr>
        <p:spPr>
          <a:xfrm>
            <a:off x="9281158" y="6015598"/>
            <a:ext cx="2377441" cy="707886"/>
          </a:xfrm>
          <a:prstGeom prst="wedgeRectCallout">
            <a:avLst>
              <a:gd name="adj1" fmla="val 11710"/>
              <a:gd name="adj2" fmla="val -67652"/>
            </a:avLst>
          </a:prstGeom>
          <a:solidFill>
            <a:srgbClr val="F5D1C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Overflow: if true sum &lt; -2</a:t>
            </a:r>
            <a:r>
              <a:rPr lang="en-US" sz="2000" b="1" i="1" baseline="30000" dirty="0">
                <a:solidFill>
                  <a:srgbClr val="C00000"/>
                </a:solidFill>
              </a:rPr>
              <a:t>w-1</a:t>
            </a:r>
            <a:r>
              <a:rPr lang="en-US" sz="2000" b="1" dirty="0">
                <a:solidFill>
                  <a:srgbClr val="C00000"/>
                </a:solidFill>
              </a:rPr>
              <a:t> or -128</a:t>
            </a:r>
          </a:p>
        </p:txBody>
      </p:sp>
    </p:spTree>
    <p:extLst>
      <p:ext uri="{BB962C8B-B14F-4D97-AF65-F5344CB8AC3E}">
        <p14:creationId xmlns:p14="http://schemas.microsoft.com/office/powerpoint/2010/main" val="3849763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" grpId="0"/>
      <p:bldP spid="125" grpId="0"/>
      <p:bldP spid="126" grpId="0"/>
      <p:bldP spid="127" grpId="0"/>
      <p:bldP spid="128" grpId="0"/>
      <p:bldP spid="129" grpId="0"/>
      <p:bldP spid="130" grpId="0" animBg="1"/>
      <p:bldP spid="131" grpId="0" animBg="1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 animBg="1"/>
      <p:bldP spid="140" grpId="0"/>
      <p:bldP spid="141" grpId="0"/>
      <p:bldP spid="142" grpId="0"/>
      <p:bldP spid="143" grpId="0"/>
      <p:bldP spid="144" grpId="0"/>
      <p:bldP spid="145" grpId="0"/>
      <p:bldP spid="146" grpId="0" animBg="1"/>
      <p:bldP spid="14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F2666-FFEC-165C-BD43-AF18D07FD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Operations: Addition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8028661-ED66-F8EF-5E4E-A67314ED1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129" y="3492499"/>
            <a:ext cx="11790428" cy="485907"/>
          </a:xfrm>
        </p:spPr>
        <p:txBody>
          <a:bodyPr>
            <a:normAutofit/>
          </a:bodyPr>
          <a:lstStyle/>
          <a:p>
            <a:pPr marL="0" indent="0" eaLnBrk="1" hangingPunct="1">
              <a:buNone/>
              <a:tabLst>
                <a:tab pos="800100" algn="l"/>
                <a:tab pos="1257300" algn="l"/>
                <a:tab pos="3035300" algn="l"/>
                <a:tab pos="3429000" algn="l"/>
              </a:tabLst>
              <a:defRPr/>
            </a:pPr>
            <a:r>
              <a:rPr lang="en-US" dirty="0"/>
              <a:t>Two's complement (signed) addition and unsigned addition have </a:t>
            </a:r>
            <a:r>
              <a:rPr lang="en-US" b="1" dirty="0"/>
              <a:t>Identical</a:t>
            </a:r>
            <a:r>
              <a:rPr lang="en-US" dirty="0"/>
              <a:t> Bit-Level Behavior.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D72CBD5E-4E40-BFA5-1A22-9367E48B6D7B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371600"/>
            <a:ext cx="2743200" cy="228600"/>
            <a:chOff x="2976" y="816"/>
            <a:chExt cx="1728" cy="144"/>
          </a:xfrm>
        </p:grpSpPr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970A744-5A20-7F61-5A10-49C10089CD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75AAF7BE-8EFC-181D-F7D0-D291F8937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8" name="Rectangle 8">
              <a:extLst>
                <a:ext uri="{FF2B5EF4-FFF2-40B4-BE49-F238E27FC236}">
                  <a16:creationId xmlns:a16="http://schemas.microsoft.com/office/drawing/2014/main" id="{AF960E60-44EF-335E-D05C-7121217BFB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1AB3AADA-172C-7AC5-609A-9BBBD3D14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25CBB0D2-26C9-4C1A-7FEF-4061840BC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EC254525-81EE-8E76-889B-7EA3F38E7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816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46007E19-9EAA-A3BC-DD08-C7308B9135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816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D67B74E1-B60D-16A8-5AE6-39A0DD5F1816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1828800"/>
            <a:ext cx="2743200" cy="228600"/>
            <a:chOff x="2976" y="1104"/>
            <a:chExt cx="1728" cy="144"/>
          </a:xfrm>
        </p:grpSpPr>
        <p:sp>
          <p:nvSpPr>
            <p:cNvPr id="14" name="Rectangle 14">
              <a:extLst>
                <a:ext uri="{FF2B5EF4-FFF2-40B4-BE49-F238E27FC236}">
                  <a16:creationId xmlns:a16="http://schemas.microsoft.com/office/drawing/2014/main" id="{2B866552-C83C-7637-363E-A3D010012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5" name="Rectangle 15">
              <a:extLst>
                <a:ext uri="{FF2B5EF4-FFF2-40B4-BE49-F238E27FC236}">
                  <a16:creationId xmlns:a16="http://schemas.microsoft.com/office/drawing/2014/main" id="{AAAA0A3C-E4BC-1FD3-F694-068F48DEE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6" name="Rectangle 16">
              <a:extLst>
                <a:ext uri="{FF2B5EF4-FFF2-40B4-BE49-F238E27FC236}">
                  <a16:creationId xmlns:a16="http://schemas.microsoft.com/office/drawing/2014/main" id="{672A6224-BD39-C24B-31C9-8D16A8257D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7" name="Rectangle 17">
              <a:extLst>
                <a:ext uri="{FF2B5EF4-FFF2-40B4-BE49-F238E27FC236}">
                  <a16:creationId xmlns:a16="http://schemas.microsoft.com/office/drawing/2014/main" id="{B63C7288-6C6E-185E-812A-6F0FFBFDC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8" name="Rectangle 18">
              <a:extLst>
                <a:ext uri="{FF2B5EF4-FFF2-40B4-BE49-F238E27FC236}">
                  <a16:creationId xmlns:a16="http://schemas.microsoft.com/office/drawing/2014/main" id="{53E7FB14-8F20-FEEB-1CFF-3237F2F718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19" name="Rectangle 19">
              <a:extLst>
                <a:ext uri="{FF2B5EF4-FFF2-40B4-BE49-F238E27FC236}">
                  <a16:creationId xmlns:a16="http://schemas.microsoft.com/office/drawing/2014/main" id="{95D29E9D-931D-9655-A497-985E5F3D6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104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F882D278-D645-29EF-A6FC-6934FB5258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104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21" name="Rectangle 21">
            <a:extLst>
              <a:ext uri="{FF2B5EF4-FFF2-40B4-BE49-F238E27FC236}">
                <a16:creationId xmlns:a16="http://schemas.microsoft.com/office/drawing/2014/main" id="{76043DF0-21D7-0BFB-1545-A0EB50775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0150" y="1219200"/>
            <a:ext cx="2984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</a:t>
            </a:r>
          </a:p>
        </p:txBody>
      </p:sp>
      <p:sp>
        <p:nvSpPr>
          <p:cNvPr id="22" name="Rectangle 22">
            <a:extLst>
              <a:ext uri="{FF2B5EF4-FFF2-40B4-BE49-F238E27FC236}">
                <a16:creationId xmlns:a16="http://schemas.microsoft.com/office/drawing/2014/main" id="{A0521CF7-E4D1-4AE6-2EF3-A72A0B15F1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2850" y="1676400"/>
            <a:ext cx="285750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v</a:t>
            </a:r>
          </a:p>
        </p:txBody>
      </p:sp>
      <p:sp>
        <p:nvSpPr>
          <p:cNvPr id="23" name="Line 23">
            <a:extLst>
              <a:ext uri="{FF2B5EF4-FFF2-40B4-BE49-F238E27FC236}">
                <a16:creationId xmlns:a16="http://schemas.microsoft.com/office/drawing/2014/main" id="{92E48198-5AA2-A72C-7A90-17F1738C2C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1336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24">
            <a:extLst>
              <a:ext uri="{FF2B5EF4-FFF2-40B4-BE49-F238E27FC236}">
                <a16:creationId xmlns:a16="http://schemas.microsoft.com/office/drawing/2014/main" id="{A70FD354-699E-DEAA-56FB-D7B8AAF0C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1617" y="1683760"/>
            <a:ext cx="357790" cy="461665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b="0">
                <a:latin typeface="Times" pitchFamily="18" charset="0"/>
              </a:rPr>
              <a:t>+</a:t>
            </a:r>
          </a:p>
        </p:txBody>
      </p:sp>
      <p:grpSp>
        <p:nvGrpSpPr>
          <p:cNvPr id="25" name="Group 25">
            <a:extLst>
              <a:ext uri="{FF2B5EF4-FFF2-40B4-BE49-F238E27FC236}">
                <a16:creationId xmlns:a16="http://schemas.microsoft.com/office/drawing/2014/main" id="{13041701-211B-8A06-CF92-EE2EDB19AFD6}"/>
              </a:ext>
            </a:extLst>
          </p:cNvPr>
          <p:cNvGrpSpPr>
            <a:grpSpLocks/>
          </p:cNvGrpSpPr>
          <p:nvPr/>
        </p:nvGrpSpPr>
        <p:grpSpPr bwMode="auto">
          <a:xfrm>
            <a:off x="5321300" y="2286000"/>
            <a:ext cx="2971800" cy="228600"/>
            <a:chOff x="2832" y="1392"/>
            <a:chExt cx="1872" cy="144"/>
          </a:xfrm>
        </p:grpSpPr>
        <p:grpSp>
          <p:nvGrpSpPr>
            <p:cNvPr id="26" name="Group 26">
              <a:extLst>
                <a:ext uri="{FF2B5EF4-FFF2-40B4-BE49-F238E27FC236}">
                  <a16:creationId xmlns:a16="http://schemas.microsoft.com/office/drawing/2014/main" id="{5AA95FAE-795E-F99F-DE6C-4DE5E1D3C9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1392"/>
              <a:ext cx="1728" cy="144"/>
              <a:chOff x="2976" y="1392"/>
              <a:chExt cx="1728" cy="144"/>
            </a:xfrm>
          </p:grpSpPr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041BE9E-7180-72D1-5A91-576FDB0957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29D01E0-CDD9-A003-642E-4BB172AEF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528BA71-1633-8FFA-6F2B-7D841530A7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E9A8018-6C46-A5B4-E78B-217721AA08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2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5BC79E5-EFE6-BF16-E146-882AEFD9E0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16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08E0D38B-DEB0-B6FA-657F-881495DB94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0" y="1392"/>
                <a:ext cx="14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endParaRPr lang="en-US" b="0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53A53670-E400-C555-81B0-1B6083CFAE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8" y="1392"/>
                <a:ext cx="864" cy="144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b="0"/>
                  <a:t>• • •</a:t>
                </a:r>
              </a:p>
            </p:txBody>
          </p:sp>
        </p:grpSp>
        <p:sp>
          <p:nvSpPr>
            <p:cNvPr id="27" name="Rectangle 34">
              <a:extLst>
                <a:ext uri="{FF2B5EF4-FFF2-40B4-BE49-F238E27FC236}">
                  <a16:creationId xmlns:a16="http://schemas.microsoft.com/office/drawing/2014/main" id="{92CDCE4E-31B7-6031-7E27-AA871DE1B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2" y="1392"/>
              <a:ext cx="144" cy="144"/>
            </a:xfrm>
            <a:prstGeom prst="rect">
              <a:avLst/>
            </a:prstGeom>
            <a:solidFill>
              <a:srgbClr val="FF99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</p:grpSp>
      <p:sp>
        <p:nvSpPr>
          <p:cNvPr id="35" name="Rectangle 35">
            <a:extLst>
              <a:ext uri="{FF2B5EF4-FFF2-40B4-BE49-F238E27FC236}">
                <a16:creationId xmlns:a16="http://schemas.microsoft.com/office/drawing/2014/main" id="{D093DBC3-0234-BAA1-11D1-8D1E79EC66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5662" y="2133600"/>
            <a:ext cx="642938" cy="366713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b="0" i="1">
                <a:latin typeface="Times" pitchFamily="18" charset="0"/>
              </a:rPr>
              <a:t>u </a:t>
            </a:r>
            <a:r>
              <a:rPr lang="en-US" b="0">
                <a:latin typeface="Times" pitchFamily="18" charset="0"/>
              </a:rPr>
              <a:t>+ </a:t>
            </a:r>
            <a:r>
              <a:rPr lang="en-US" b="0" i="1">
                <a:latin typeface="Times" pitchFamily="18" charset="0"/>
              </a:rPr>
              <a:t>v</a:t>
            </a:r>
          </a:p>
        </p:txBody>
      </p:sp>
      <p:grpSp>
        <p:nvGrpSpPr>
          <p:cNvPr id="36" name="Group 36">
            <a:extLst>
              <a:ext uri="{FF2B5EF4-FFF2-40B4-BE49-F238E27FC236}">
                <a16:creationId xmlns:a16="http://schemas.microsoft.com/office/drawing/2014/main" id="{6245AAAF-16CF-94E4-9DB2-CA793D799E1E}"/>
              </a:ext>
            </a:extLst>
          </p:cNvPr>
          <p:cNvGrpSpPr>
            <a:grpSpLocks/>
          </p:cNvGrpSpPr>
          <p:nvPr/>
        </p:nvGrpSpPr>
        <p:grpSpPr bwMode="auto">
          <a:xfrm>
            <a:off x="5549900" y="2743200"/>
            <a:ext cx="2743200" cy="228600"/>
            <a:chOff x="2976" y="1392"/>
            <a:chExt cx="1728" cy="144"/>
          </a:xfrm>
        </p:grpSpPr>
        <p:sp>
          <p:nvSpPr>
            <p:cNvPr id="37" name="Rectangle 37">
              <a:extLst>
                <a:ext uri="{FF2B5EF4-FFF2-40B4-BE49-F238E27FC236}">
                  <a16:creationId xmlns:a16="http://schemas.microsoft.com/office/drawing/2014/main" id="{C2BE99FF-4D64-4EFC-1319-9D7365A60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8" name="Rectangle 38">
              <a:extLst>
                <a:ext uri="{FF2B5EF4-FFF2-40B4-BE49-F238E27FC236}">
                  <a16:creationId xmlns:a16="http://schemas.microsoft.com/office/drawing/2014/main" id="{247E8249-FBF0-AD21-31C9-49A2CAADD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2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39" name="Rectangle 39">
              <a:extLst>
                <a:ext uri="{FF2B5EF4-FFF2-40B4-BE49-F238E27FC236}">
                  <a16:creationId xmlns:a16="http://schemas.microsoft.com/office/drawing/2014/main" id="{896E1E21-8D2E-1EBC-866B-0C35DE8446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4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0" name="Rectangle 40">
              <a:extLst>
                <a:ext uri="{FF2B5EF4-FFF2-40B4-BE49-F238E27FC236}">
                  <a16:creationId xmlns:a16="http://schemas.microsoft.com/office/drawing/2014/main" id="{3FFF89DD-5ACC-9B7D-7B6D-D647D4F70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1" name="Rectangle 41">
              <a:extLst>
                <a:ext uri="{FF2B5EF4-FFF2-40B4-BE49-F238E27FC236}">
                  <a16:creationId xmlns:a16="http://schemas.microsoft.com/office/drawing/2014/main" id="{22485F4D-F368-92F5-0C95-E9505C273F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2" name="Rectangle 42">
              <a:extLst>
                <a:ext uri="{FF2B5EF4-FFF2-40B4-BE49-F238E27FC236}">
                  <a16:creationId xmlns:a16="http://schemas.microsoft.com/office/drawing/2014/main" id="{4D5B216D-B2BB-D48B-4E94-A9510ABC51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1392"/>
              <a:ext cx="14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endParaRPr lang="en-US" b="0"/>
            </a:p>
          </p:txBody>
        </p:sp>
        <p:sp>
          <p:nvSpPr>
            <p:cNvPr id="43" name="Rectangle 43">
              <a:extLst>
                <a:ext uri="{FF2B5EF4-FFF2-40B4-BE49-F238E27FC236}">
                  <a16:creationId xmlns:a16="http://schemas.microsoft.com/office/drawing/2014/main" id="{4CB21A20-831E-F89F-FE55-E864DDC79F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8" y="1392"/>
              <a:ext cx="864" cy="144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</a:pPr>
              <a:r>
                <a:rPr lang="en-US" b="0"/>
                <a:t>• • •</a:t>
              </a:r>
            </a:p>
          </p:txBody>
        </p:sp>
      </p:grpSp>
      <p:sp>
        <p:nvSpPr>
          <p:cNvPr id="44" name="Line 44">
            <a:extLst>
              <a:ext uri="{FF2B5EF4-FFF2-40B4-BE49-F238E27FC236}">
                <a16:creationId xmlns:a16="http://schemas.microsoft.com/office/drawing/2014/main" id="{E76444B0-4591-06E0-B4EF-D7770B2FAD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559300" y="2590800"/>
            <a:ext cx="3886200" cy="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5" name="Text Box 45">
            <a:extLst>
              <a:ext uri="{FF2B5EF4-FFF2-40B4-BE49-F238E27FC236}">
                <a16:creationId xmlns:a16="http://schemas.microsoft.com/office/drawing/2014/main" id="{2F72B679-A545-0200-A626-FAA60D1EE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057400"/>
            <a:ext cx="2169312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True Sum: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+1 bits</a:t>
            </a:r>
          </a:p>
        </p:txBody>
      </p:sp>
      <p:sp>
        <p:nvSpPr>
          <p:cNvPr id="46" name="Text Box 46">
            <a:extLst>
              <a:ext uri="{FF2B5EF4-FFF2-40B4-BE49-F238E27FC236}">
                <a16:creationId xmlns:a16="http://schemas.microsoft.com/office/drawing/2014/main" id="{D333F18F-AFB0-AA3B-D561-7306257A21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1371600"/>
            <a:ext cx="1944315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Operands: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7" name="Text Box 47">
            <a:extLst>
              <a:ext uri="{FF2B5EF4-FFF2-40B4-BE49-F238E27FC236}">
                <a16:creationId xmlns:a16="http://schemas.microsoft.com/office/drawing/2014/main" id="{ECC688A7-110D-7E7F-0D14-5A0BE41186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1400" y="2667000"/>
            <a:ext cx="2438400" cy="400110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0" dirty="0">
                <a:latin typeface="Calibri" pitchFamily="34" charset="0"/>
              </a:rPr>
              <a:t>Discard Carry: </a:t>
            </a:r>
            <a:r>
              <a:rPr lang="en-US" sz="2000" b="0" i="1" dirty="0">
                <a:latin typeface="Calibri" pitchFamily="34" charset="0"/>
              </a:rPr>
              <a:t>w</a:t>
            </a:r>
            <a:r>
              <a:rPr lang="en-US" sz="2000" b="0" dirty="0">
                <a:latin typeface="Calibri" pitchFamily="34" charset="0"/>
              </a:rPr>
              <a:t> bits</a:t>
            </a:r>
          </a:p>
        </p:txBody>
      </p:sp>
      <p:sp>
        <p:nvSpPr>
          <p:cNvPr id="48" name="Rectangle 48">
            <a:extLst>
              <a:ext uri="{FF2B5EF4-FFF2-40B4-BE49-F238E27FC236}">
                <a16:creationId xmlns:a16="http://schemas.microsoft.com/office/drawing/2014/main" id="{9CA8F888-36F8-8904-A2DB-A4C2E9C20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76764" y="2704907"/>
            <a:ext cx="135248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dirty="0" err="1">
                <a:latin typeface="Times" pitchFamily="18" charset="0"/>
              </a:rPr>
              <a:t>T</a:t>
            </a:r>
            <a:r>
              <a:rPr lang="en-US" b="0" dirty="0" err="1">
                <a:latin typeface="Times" pitchFamily="18" charset="0"/>
              </a:rPr>
              <a:t>Add</a:t>
            </a:r>
            <a:r>
              <a:rPr lang="en-US" b="0" i="1" baseline="-25000" dirty="0" err="1">
                <a:latin typeface="Times" pitchFamily="18" charset="0"/>
              </a:rPr>
              <a:t>w</a:t>
            </a:r>
            <a:r>
              <a:rPr lang="en-US" b="0" dirty="0">
                <a:latin typeface="Times" pitchFamily="18" charset="0"/>
              </a:rPr>
              <a:t>(</a:t>
            </a:r>
            <a:r>
              <a:rPr lang="en-US" b="0" i="1" dirty="0">
                <a:latin typeface="Times" pitchFamily="18" charset="0"/>
              </a:rPr>
              <a:t>u</a:t>
            </a:r>
            <a:r>
              <a:rPr lang="en-US" b="0" dirty="0">
                <a:latin typeface="Times" pitchFamily="18" charset="0"/>
              </a:rPr>
              <a:t> , </a:t>
            </a:r>
            <a:r>
              <a:rPr lang="en-US" b="0" i="1" dirty="0">
                <a:latin typeface="Times" pitchFamily="18" charset="0"/>
              </a:rPr>
              <a:t>v</a:t>
            </a:r>
            <a:r>
              <a:rPr lang="en-US" b="0" dirty="0">
                <a:latin typeface="Times" pitchFamily="18" charset="0"/>
              </a:rPr>
              <a:t>)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4DA5A3F-411C-4AC2-0F70-0E2713C9E89C}"/>
              </a:ext>
            </a:extLst>
          </p:cNvPr>
          <p:cNvSpPr txBox="1"/>
          <p:nvPr/>
        </p:nvSpPr>
        <p:spPr>
          <a:xfrm>
            <a:off x="622300" y="4394200"/>
            <a:ext cx="9272731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u +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v;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b =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u + 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v;</a:t>
            </a:r>
          </a:p>
          <a:p>
            <a:endParaRPr lang="en-US" b="1" dirty="0">
              <a:solidFill>
                <a:srgbClr val="000000"/>
              </a:solidFill>
              <a:latin typeface="Menlo" panose="020B0609030804020204" pitchFamily="49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 have the </a:t>
            </a:r>
            <a:r>
              <a:rPr lang="en-US" sz="2400" i="1" dirty="0">
                <a:latin typeface="Calibri" panose="020F0502020204030204" pitchFamily="34" charset="0"/>
                <a:cs typeface="Calibri" panose="020F0502020204030204" pitchFamily="34" charset="0"/>
              </a:rPr>
              <a:t>same binary representation, but different interpretation</a:t>
            </a:r>
          </a:p>
        </p:txBody>
      </p:sp>
    </p:spTree>
    <p:extLst>
      <p:ext uri="{BB962C8B-B14F-4D97-AF65-F5344CB8AC3E}">
        <p14:creationId xmlns:p14="http://schemas.microsoft.com/office/powerpoint/2010/main" val="6084148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Table 4">
            <a:extLst>
              <a:ext uri="{FF2B5EF4-FFF2-40B4-BE49-F238E27FC236}">
                <a16:creationId xmlns:a16="http://schemas.microsoft.com/office/drawing/2014/main" id="{2615C6D9-C31D-A4D0-C6E8-BEFD19890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656343"/>
              </p:ext>
            </p:extLst>
          </p:nvPr>
        </p:nvGraphicFramePr>
        <p:xfrm>
          <a:off x="409777" y="1440086"/>
          <a:ext cx="4360563" cy="50987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53521">
                  <a:extLst>
                    <a:ext uri="{9D8B030D-6E8A-4147-A177-3AD203B41FA5}">
                      <a16:colId xmlns:a16="http://schemas.microsoft.com/office/drawing/2014/main" val="399241612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2339315189"/>
                    </a:ext>
                  </a:extLst>
                </a:gridCol>
                <a:gridCol w="1453521">
                  <a:extLst>
                    <a:ext uri="{9D8B030D-6E8A-4147-A177-3AD203B41FA5}">
                      <a16:colId xmlns:a16="http://schemas.microsoft.com/office/drawing/2014/main" val="3708816605"/>
                    </a:ext>
                  </a:extLst>
                </a:gridCol>
              </a:tblGrid>
              <a:tr h="52509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Binary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Unsigned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Signed (two's complement)</a:t>
                      </a:r>
                    </a:p>
                  </a:txBody>
                  <a:tcPr marT="0" marB="0"/>
                </a:tc>
                <a:extLst>
                  <a:ext uri="{0D108BD9-81ED-4DB2-BD59-A6C34878D82A}">
                    <a16:rowId xmlns:a16="http://schemas.microsoft.com/office/drawing/2014/main" val="72513042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70431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98381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357938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944634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79753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125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62428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126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146277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01111111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127</a:t>
                      </a:r>
                    </a:p>
                  </a:txBody>
                  <a:tcPr marT="0" marB="0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007841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-128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421549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129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-127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855497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-126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032856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10000011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-125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42620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…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216798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11111101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-3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770092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11111110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254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-2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1161533"/>
                  </a:ext>
                </a:extLst>
              </a:tr>
              <a:tr h="2843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11111111</a:t>
                      </a:r>
                    </a:p>
                  </a:txBody>
                  <a:tcPr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255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-1</a:t>
                      </a:r>
                    </a:p>
                  </a:txBody>
                  <a:tcPr marT="0" marB="0">
                    <a:solidFill>
                      <a:srgbClr val="F5D1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5006749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4D569DB-FE52-C2DC-1846-E6D97158A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37900" cy="797178"/>
          </a:xfrm>
        </p:spPr>
        <p:txBody>
          <a:bodyPr>
            <a:normAutofit/>
          </a:bodyPr>
          <a:lstStyle/>
          <a:p>
            <a:r>
              <a:rPr lang="en-US" dirty="0"/>
              <a:t>Bitwise Operations: Negation of signed integers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614791-C26A-C44E-4A38-7E83F2182AB9}"/>
              </a:ext>
            </a:extLst>
          </p:cNvPr>
          <p:cNvSpPr/>
          <p:nvPr/>
        </p:nvSpPr>
        <p:spPr>
          <a:xfrm>
            <a:off x="3723731" y="4267679"/>
            <a:ext cx="990600" cy="274320"/>
          </a:xfrm>
          <a:prstGeom prst="roundRect">
            <a:avLst/>
          </a:prstGeom>
          <a:noFill/>
          <a:ln w="63500" cap="flat">
            <a:solidFill>
              <a:srgbClr val="00CC99"/>
            </a:solidFill>
            <a:prstDash val="solid"/>
            <a:bevel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rial Narrow Bold"/>
              <a:ea typeface="Arial Narrow Bold"/>
              <a:cs typeface="Arial Narrow Bold"/>
              <a:sym typeface="Arial Narrow Bold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F551A-9E02-B4E3-9D5D-5057100DF76D}"/>
              </a:ext>
            </a:extLst>
          </p:cNvPr>
          <p:cNvSpPr txBox="1"/>
          <p:nvPr/>
        </p:nvSpPr>
        <p:spPr>
          <a:xfrm>
            <a:off x="4891217" y="4305779"/>
            <a:ext cx="4325773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000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kumimoji="0" lang="en-US" sz="200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min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(-2</a:t>
            </a:r>
            <a:r>
              <a:rPr kumimoji="0" lang="en-US" sz="2000" i="0" u="none" strike="noStrike" cap="none" spc="0" normalizeH="0" baseline="3000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w-1</a:t>
            </a: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): </a:t>
            </a:r>
          </a:p>
          <a:p>
            <a: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min</a:t>
            </a:r>
            <a:r>
              <a:rPr kumimoji="0" lang="en-US" sz="2000" i="0" u="none" strike="noStrike" cap="none" spc="0" normalizeH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 panose="020F0502020204030204" pitchFamily="34" charset="0"/>
                <a:ea typeface="Arial Narrow Bold"/>
                <a:cs typeface="Calibri" panose="020F0502020204030204" pitchFamily="34" charset="0"/>
                <a:sym typeface="Arial Narrow Bold"/>
              </a:rPr>
              <a:t> value for signed</a:t>
            </a:r>
            <a:endParaRPr kumimoji="0" lang="en-US" sz="200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Calibri" panose="020F0502020204030204" pitchFamily="34" charset="0"/>
              <a:ea typeface="Arial Narrow Bold"/>
              <a:cs typeface="Calibri" panose="020F0502020204030204" pitchFamily="34" charset="0"/>
              <a:sym typeface="Arial Narrow Bold"/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7614493-2516-2733-8719-507A14B7D679}"/>
              </a:ext>
            </a:extLst>
          </p:cNvPr>
          <p:cNvSpPr txBox="1">
            <a:spLocks/>
          </p:cNvSpPr>
          <p:nvPr/>
        </p:nvSpPr>
        <p:spPr>
          <a:xfrm>
            <a:off x="6794500" y="1322288"/>
            <a:ext cx="52832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Wingdings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For any given signed integer x (except </a:t>
            </a:r>
            <a:r>
              <a:rPr lang="en-US" dirty="0" err="1"/>
              <a:t>Tmin</a:t>
            </a:r>
            <a:r>
              <a:rPr lang="en-US" dirty="0"/>
              <a:t>),  -X = ~X + 1</a:t>
            </a:r>
          </a:p>
          <a:p>
            <a:r>
              <a:rPr lang="en-US" dirty="0"/>
              <a:t>Exercise: </a:t>
            </a:r>
          </a:p>
          <a:p>
            <a:pPr lvl="1"/>
            <a:r>
              <a:rPr lang="en-US" dirty="0"/>
              <a:t>-5 =&gt; ??</a:t>
            </a:r>
          </a:p>
          <a:p>
            <a:pPr lvl="1"/>
            <a:r>
              <a:rPr lang="en-US" dirty="0"/>
              <a:t>-(-5) =&gt; ??</a:t>
            </a:r>
          </a:p>
          <a:p>
            <a:endParaRPr lang="en-US" dirty="0"/>
          </a:p>
          <a:p>
            <a:r>
              <a:rPr lang="en-US" dirty="0"/>
              <a:t>This also means subtraction can be also done using only bitwise operations</a:t>
            </a:r>
          </a:p>
          <a:p>
            <a:pPr lvl="1"/>
            <a:r>
              <a:rPr lang="en-US" sz="20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A - B = A + (-B)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8362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635CC-3602-F2CD-6605-1E9411987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FEE51-BA05-8560-0ECD-07AA002E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Bit-wise Operations</a:t>
            </a:r>
          </a:p>
          <a:p>
            <a:r>
              <a:rPr lang="en-US" strike="sngStrike" dirty="0"/>
              <a:t>Addition &amp; Subtraction</a:t>
            </a:r>
          </a:p>
          <a:p>
            <a:r>
              <a:rPr lang="en-US" dirty="0" err="1"/>
              <a:t>Hexdump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223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1F9D-CF73-F812-57BB-928A3F71B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Hexdump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09C4B-3BAD-BA77-992D-09B920F4A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hexdump</a:t>
            </a:r>
            <a:r>
              <a:rPr lang="en-US" dirty="0"/>
              <a:t> - display file contents in hexadecimal, decimal, octal, or ascii</a:t>
            </a:r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pPr lvl="1"/>
            <a:r>
              <a:rPr lang="en-US" dirty="0"/>
              <a:t>C source file</a:t>
            </a:r>
          </a:p>
          <a:p>
            <a:pPr lvl="1"/>
            <a:r>
              <a:rPr lang="en-US" dirty="0"/>
              <a:t>CSV file</a:t>
            </a:r>
          </a:p>
          <a:p>
            <a:pPr lvl="1"/>
            <a:r>
              <a:rPr lang="en-US" dirty="0"/>
              <a:t>Image</a:t>
            </a:r>
          </a:p>
          <a:p>
            <a:pPr lvl="1"/>
            <a:r>
              <a:rPr lang="en-US" dirty="0"/>
              <a:t>Binary</a:t>
            </a:r>
          </a:p>
          <a:p>
            <a:endParaRPr lang="en-US" dirty="0"/>
          </a:p>
          <a:p>
            <a:r>
              <a:rPr lang="en-US" dirty="0"/>
              <a:t>Run </a:t>
            </a:r>
            <a:r>
              <a:rPr lang="en-US" sz="20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$ man </a:t>
            </a:r>
            <a:r>
              <a:rPr lang="en-US" sz="20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hexdump</a:t>
            </a:r>
            <a:r>
              <a:rPr lang="en-US" sz="200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 read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29841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2CFBF-239C-E7D8-31AB-2B2130CE22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14FAEF-CCA8-8523-2606-6FAE88C37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Bitwise operations are powerful</a:t>
            </a:r>
          </a:p>
          <a:p>
            <a:pPr lvl="1"/>
            <a:r>
              <a:rPr lang="en-US" dirty="0"/>
              <a:t>4 Boolean operations</a:t>
            </a:r>
          </a:p>
          <a:p>
            <a:pPr lvl="1"/>
            <a:r>
              <a:rPr lang="en-US" dirty="0"/>
              <a:t>Shifts</a:t>
            </a:r>
          </a:p>
          <a:p>
            <a:pPr lvl="1"/>
            <a:r>
              <a:rPr lang="en-US" dirty="0"/>
              <a:t>Addition</a:t>
            </a:r>
          </a:p>
          <a:p>
            <a:pPr lvl="1"/>
            <a:r>
              <a:rPr lang="en-US" dirty="0"/>
              <a:t>Signed vs. Unsigned</a:t>
            </a:r>
          </a:p>
        </p:txBody>
      </p:sp>
    </p:spTree>
    <p:extLst>
      <p:ext uri="{BB962C8B-B14F-4D97-AF65-F5344CB8AC3E}">
        <p14:creationId xmlns:p14="http://schemas.microsoft.com/office/powerpoint/2010/main" val="3802818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5DFBB-CBF2-B244-E68E-D7C7A521D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6061A-41D6-1317-0857-26C5C4D13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3867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DFE48-FE59-F9E8-B675-7F498E96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C4355-15CC-BA7A-0D80-95C999B027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4449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3B076-8510-854A-C411-751F03E1C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32CB6-7155-A279-A00D-945BC50438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3505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CFFC-CF0A-6DFF-DF3E-33BF40858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22C29-DA35-1282-AC57-3D97975534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8899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7773</TotalTime>
  <Words>1623</Words>
  <Application>Microsoft Macintosh PowerPoint</Application>
  <PresentationFormat>Widescreen</PresentationFormat>
  <Paragraphs>426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Calibri Bold</vt:lpstr>
      <vt:lpstr>Arial</vt:lpstr>
      <vt:lpstr>Arial Narrow Bold</vt:lpstr>
      <vt:lpstr>Calibri</vt:lpstr>
      <vt:lpstr>Calibri Light</vt:lpstr>
      <vt:lpstr>Cambria Math</vt:lpstr>
      <vt:lpstr>Menlo</vt:lpstr>
      <vt:lpstr>Times</vt:lpstr>
      <vt:lpstr>Wingdings</vt:lpstr>
      <vt:lpstr>Office Theme</vt:lpstr>
      <vt:lpstr>Bits II  CMSC 14300: System Programming I 4th Lecture</vt:lpstr>
      <vt:lpstr>Overview</vt:lpstr>
      <vt:lpstr>Boolean Algebra</vt:lpstr>
      <vt:lpstr>Bitwise Operators</vt:lpstr>
      <vt:lpstr>Bitwise Operations vs. Logic Operations in C</vt:lpstr>
      <vt:lpstr>Shift Operations</vt:lpstr>
      <vt:lpstr>Recap: Representing Signed Integers with Two's complement</vt:lpstr>
      <vt:lpstr>Why Arithmetic Shift?</vt:lpstr>
      <vt:lpstr>What's the Meaning of Left Shift</vt:lpstr>
      <vt:lpstr>More uses of bitwise operations</vt:lpstr>
      <vt:lpstr>More uses of bitwise operations </vt:lpstr>
      <vt:lpstr>Overview</vt:lpstr>
      <vt:lpstr>Bitwise Operations: Unsigned Addition </vt:lpstr>
      <vt:lpstr>Bitwise Operations: Signed Addition </vt:lpstr>
      <vt:lpstr>Bitwise Operations: Addition</vt:lpstr>
      <vt:lpstr>Bitwise Operations: Negation of signed integers</vt:lpstr>
      <vt:lpstr>Overview</vt:lpstr>
      <vt:lpstr>Hexdump</vt:lpstr>
      <vt:lpstr>Recap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239</cp:revision>
  <dcterms:created xsi:type="dcterms:W3CDTF">2023-03-12T16:00:37Z</dcterms:created>
  <dcterms:modified xsi:type="dcterms:W3CDTF">2023-03-29T20:24:31Z</dcterms:modified>
</cp:coreProperties>
</file>