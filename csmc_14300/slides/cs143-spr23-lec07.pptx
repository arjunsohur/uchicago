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310" r:id="rId3"/>
    <p:sldId id="323" r:id="rId4"/>
    <p:sldId id="329" r:id="rId5"/>
    <p:sldId id="330" r:id="rId6"/>
    <p:sldId id="331" r:id="rId7"/>
    <p:sldId id="332" r:id="rId8"/>
    <p:sldId id="334" r:id="rId9"/>
    <p:sldId id="318" r:id="rId10"/>
    <p:sldId id="319" r:id="rId11"/>
    <p:sldId id="320" r:id="rId12"/>
    <p:sldId id="315" r:id="rId13"/>
    <p:sldId id="321" r:id="rId14"/>
    <p:sldId id="316" r:id="rId15"/>
    <p:sldId id="317" r:id="rId16"/>
    <p:sldId id="324" r:id="rId17"/>
    <p:sldId id="325" r:id="rId18"/>
    <p:sldId id="322" r:id="rId19"/>
    <p:sldId id="327" r:id="rId20"/>
    <p:sldId id="333" r:id="rId21"/>
    <p:sldId id="32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D1CF"/>
    <a:srgbClr val="0432FF"/>
    <a:srgbClr val="B592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26"/>
    <p:restoredTop sz="80950"/>
  </p:normalViewPr>
  <p:slideViewPr>
    <p:cSldViewPr snapToGrid="0">
      <p:cViewPr>
        <p:scale>
          <a:sx n="100" d="100"/>
          <a:sy n="100" d="100"/>
        </p:scale>
        <p:origin x="144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42" d="100"/>
          <a:sy n="142" d="100"/>
        </p:scale>
        <p:origin x="3960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3F169-2198-DE43-9383-BED4C1AFCE25}" type="datetimeFigureOut">
              <a:rPr lang="en-US" smtClean="0"/>
              <a:t>4/3/23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2C28D5-7AAA-A440-BCD5-500991AF4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680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414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D6493-2476-93E9-B539-6FEFD693F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8B6265-6663-685B-0D67-32A300D1E7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973AC-C4D7-2CD8-59B9-8F0369621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EC3C-9C7C-6C2F-A149-61BF90BAD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FC2BA-FDA7-D836-7F7E-11EC7EA3E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90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0B075-03A3-FA86-B7F8-D311B3620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717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CE385-2161-0088-C06C-4B4A6B7FF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462E8-303B-5403-3582-618C446E3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D7485-BD1F-CD51-FE23-21B47F35D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C25C6-1258-538E-FF42-9D9DF4106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95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27316-4858-30BC-055B-124573C2E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A639A-B191-327A-6978-62EECF4B0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B25BB-C316-ECCB-BF4D-C3D1D1313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B2548-ED1B-4668-17CD-F31AE604E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702F-018C-965A-1676-349EA4F5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715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9BB08-3A02-1789-20AC-966C0B74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03AE7-6E47-C852-258C-0093063D05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DB2F4-5118-F931-1661-8C225D35D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C3D44-75A5-E98B-BAC7-9AE0294AC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94225-9A87-1DA2-9198-24E2AD0C9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DB31FB-4778-D85E-90C0-DA68EEAB9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68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6E9-2839-97CB-4D1A-A5C832013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3EECC-A052-DB25-D3E9-6ECA81590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415DF-3550-F497-50FA-3A7C892EA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2575B5-D73E-0E68-4DA6-0248BFFE64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C03FB7-11FD-90ED-77F9-A302DEDB4B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1F8A68-B0D0-6E96-0A84-980AA8A9B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4/3/23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CFB583-8D53-40A4-90E8-010676273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B0730B-A18E-3D24-DCA4-DEE6491A1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723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6C52F-88D0-DECE-0B74-4AA230B75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7AD8EC-E6CA-09B1-E885-D8875529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4/3/23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93AF39-5DF7-362E-8D4C-A245D6ADE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C6545-2C3D-D645-9C01-AEF8545B5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79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0903B2-65E4-BF8E-0848-6C395032D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4/3/23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C0B6EE-E685-7C69-4126-140308D5D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B4CAE-3EE7-E34B-95F3-125BA85C3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903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64D97-9411-4DB6-6EBD-01C93CDE4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C1A7B-3AEB-9D4C-FF90-9FC82BBE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8F3502-B1D2-7567-4197-0F851DBC1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B52E46-B510-8C10-AEC4-919A1A605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DA79E-A724-4A2C-A553-8B305ED55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BDD05-00C1-74CA-A04D-24B20A7AE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63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FD8E1-4084-A7A6-AC62-A6D3B1AEF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EBF6B4-B75E-1C3F-8C26-684764EF51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E4C6C-AE41-8CD7-452E-AC2AF898E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18251-593F-A35D-DF75-B54E453A6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E3CFE-4382-B365-4D25-29E6BF68E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65313-4F5A-B1B7-BB09-70D9562DD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652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86E39-4054-8A15-83C3-9FC82AE98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3AD267-2FB2-FF75-996B-E53FD34FC1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5DA04-68C0-7F32-D3E9-20620D4A8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70689-1A91-87E6-3351-6E09CC990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E03F9-C455-32B8-120B-607D292F0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462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83B5D7-80EE-B154-4817-85CC296274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797980-2812-EA0A-3248-5ECDDAD48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0C7A2-85CE-898E-77D7-B23E670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A95D8-5872-BC66-DD62-CB752D4CD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78490-7E14-AF79-1A2C-2D9238015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3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462C29-C3B1-5C75-6B98-5E8299403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3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713F3-1ECF-6977-0C5F-4D3C0FCB1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1690"/>
            <a:ext cx="10515600" cy="4835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030F0-2085-C3AB-C299-84A59592F4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99191-DA8B-834D-8515-0165619110D1}" type="datetimeFigureOut">
              <a:rPr lang="en-US" smtClean="0"/>
              <a:t>4/3/23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F843C-135A-9E50-77B7-0146DD4B71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269D5-0268-159A-99CD-0955D179F1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595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65645-EB28-9C39-979C-0D1D57197B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l" fontAlgn="base">
              <a:lnSpc>
                <a:spcPct val="100000"/>
              </a:lnSpc>
              <a:spcAft>
                <a:spcPct val="0"/>
              </a:spcAft>
              <a:defRPr/>
            </a:pPr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Pointers II</a:t>
            </a: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CMSC 14300: System Programming I</a:t>
            </a:r>
            <a:b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r>
              <a:rPr lang="en-US" sz="2800" kern="0" dirty="0">
                <a:solidFill>
                  <a:schemeClr val="tx1"/>
                </a:solidFill>
                <a:latin typeface="Calibri" pitchFamily="34" charset="0"/>
              </a:rPr>
              <a:t>7</a:t>
            </a:r>
            <a:r>
              <a:rPr kumimoji="0" lang="en-US" sz="2800" b="0" i="0" u="none" strike="noStrike" kern="0" cap="none" spc="0" normalizeH="0" baseline="30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th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 Lecture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AE83B3-0C44-0224-7BE7-EDCAE9DDC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599"/>
          </a:xfrm>
        </p:spPr>
        <p:txBody>
          <a:bodyPr>
            <a:normAutofit/>
          </a:bodyPr>
          <a:lstStyle/>
          <a:p>
            <a:pPr algn="l"/>
            <a:endParaRPr lang="en-US" dirty="0"/>
          </a:p>
          <a:p>
            <a:pPr algn="l"/>
            <a:r>
              <a:rPr lang="en-US" dirty="0"/>
              <a:t>Instructor: </a:t>
            </a:r>
          </a:p>
          <a:p>
            <a:pPr algn="l"/>
            <a:r>
              <a:rPr lang="en-US" dirty="0"/>
              <a:t>Prof. Adam Shaw</a:t>
            </a:r>
          </a:p>
          <a:p>
            <a:pPr algn="l"/>
            <a:r>
              <a:rPr lang="en-US" dirty="0"/>
              <a:t>Prof. Junchen Jiang</a:t>
            </a:r>
          </a:p>
        </p:txBody>
      </p:sp>
    </p:spTree>
    <p:extLst>
      <p:ext uri="{BB962C8B-B14F-4D97-AF65-F5344CB8AC3E}">
        <p14:creationId xmlns:p14="http://schemas.microsoft.com/office/powerpoint/2010/main" val="1374811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EC02A-BF3A-8F04-6603-A838884A2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299F7-7128-50F7-1473-358F65051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Recap of pointers </a:t>
            </a:r>
          </a:p>
          <a:p>
            <a:r>
              <a:rPr lang="en-US" dirty="0"/>
              <a:t>Arrays</a:t>
            </a:r>
          </a:p>
          <a:p>
            <a:r>
              <a:rPr lang="en-US" dirty="0"/>
              <a:t>Performance implication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708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9DCEF-7D2E-0F1F-1BD8-52D68A430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Pointer Exercise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5BD6F6-5FB9-6782-BD20-3A1905E2EBD0}"/>
              </a:ext>
            </a:extLst>
          </p:cNvPr>
          <p:cNvSpPr/>
          <p:nvPr/>
        </p:nvSpPr>
        <p:spPr>
          <a:xfrm>
            <a:off x="9744745" y="1450874"/>
            <a:ext cx="1488006" cy="50419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7AE8DB-1582-103C-A92D-69207BE52659}"/>
              </a:ext>
            </a:extLst>
          </p:cNvPr>
          <p:cNvSpPr txBox="1"/>
          <p:nvPr/>
        </p:nvSpPr>
        <p:spPr>
          <a:xfrm>
            <a:off x="9949050" y="963129"/>
            <a:ext cx="1078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Memory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84A5D89-679E-39F1-5074-1ED3C38FAFFA}"/>
              </a:ext>
            </a:extLst>
          </p:cNvPr>
          <p:cNvGrpSpPr/>
          <p:nvPr/>
        </p:nvGrpSpPr>
        <p:grpSpPr>
          <a:xfrm>
            <a:off x="8457398" y="1828800"/>
            <a:ext cx="3579669" cy="369332"/>
            <a:chOff x="7888688" y="1828800"/>
            <a:chExt cx="3579669" cy="36933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909759C-EBF9-CBDC-DA1A-0CE797C4BE4C}"/>
                </a:ext>
              </a:extLst>
            </p:cNvPr>
            <p:cNvSpPr txBox="1"/>
            <p:nvPr/>
          </p:nvSpPr>
          <p:spPr>
            <a:xfrm>
              <a:off x="7888688" y="1858764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0x4000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BBBD7DE-EE01-10EC-BDE1-302E08A7B66A}"/>
                </a:ext>
              </a:extLst>
            </p:cNvPr>
            <p:cNvCxnSpPr/>
            <p:nvPr/>
          </p:nvCxnSpPr>
          <p:spPr>
            <a:xfrm>
              <a:off x="8813941" y="2013036"/>
              <a:ext cx="36180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C8504C5-669E-EC5C-C9B1-27E6535A897D}"/>
                </a:ext>
              </a:extLst>
            </p:cNvPr>
            <p:cNvSpPr/>
            <p:nvPr/>
          </p:nvSpPr>
          <p:spPr>
            <a:xfrm>
              <a:off x="9175749" y="1895762"/>
              <a:ext cx="1488004" cy="2743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0x7000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19C9691-2D41-BDD2-5660-3AA25D29922D}"/>
                </a:ext>
              </a:extLst>
            </p:cNvPr>
            <p:cNvSpPr txBox="1"/>
            <p:nvPr/>
          </p:nvSpPr>
          <p:spPr>
            <a:xfrm>
              <a:off x="11040035" y="1828800"/>
              <a:ext cx="4283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pp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1CBF8BE-A133-B19A-B9F5-CC840A914F0E}"/>
              </a:ext>
            </a:extLst>
          </p:cNvPr>
          <p:cNvGrpSpPr/>
          <p:nvPr/>
        </p:nvGrpSpPr>
        <p:grpSpPr>
          <a:xfrm>
            <a:off x="8457684" y="2599845"/>
            <a:ext cx="3435113" cy="369332"/>
            <a:chOff x="7888974" y="2599845"/>
            <a:chExt cx="3435113" cy="36933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05DED0D-717D-3671-99BA-04D6AA9F6C07}"/>
                </a:ext>
              </a:extLst>
            </p:cNvPr>
            <p:cNvSpPr/>
            <p:nvPr/>
          </p:nvSpPr>
          <p:spPr>
            <a:xfrm>
              <a:off x="9176037" y="2648044"/>
              <a:ext cx="1488004" cy="2743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E6297FF-9066-28EF-C0B3-B18E44FA7277}"/>
                </a:ext>
              </a:extLst>
            </p:cNvPr>
            <p:cNvSpPr txBox="1"/>
            <p:nvPr/>
          </p:nvSpPr>
          <p:spPr>
            <a:xfrm>
              <a:off x="7888974" y="2630623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0x5000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E19A0BE-6A91-843B-67F8-9C76A7C51B64}"/>
                </a:ext>
              </a:extLst>
            </p:cNvPr>
            <p:cNvCxnSpPr/>
            <p:nvPr/>
          </p:nvCxnSpPr>
          <p:spPr>
            <a:xfrm>
              <a:off x="8814227" y="2784895"/>
              <a:ext cx="36180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32DBA60-2ED6-E5C9-51AF-99DCA98F33D8}"/>
                </a:ext>
              </a:extLst>
            </p:cNvPr>
            <p:cNvSpPr txBox="1"/>
            <p:nvPr/>
          </p:nvSpPr>
          <p:spPr>
            <a:xfrm>
              <a:off x="11040035" y="2599845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BE6B869-C4C2-DEF9-5784-7EBF0B543DC4}"/>
              </a:ext>
            </a:extLst>
          </p:cNvPr>
          <p:cNvGrpSpPr/>
          <p:nvPr/>
        </p:nvGrpSpPr>
        <p:grpSpPr>
          <a:xfrm>
            <a:off x="8457398" y="3389125"/>
            <a:ext cx="3451695" cy="396568"/>
            <a:chOff x="7888688" y="3389125"/>
            <a:chExt cx="3451695" cy="396568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5A8DE3E-5D82-ED74-3F98-AF0D1074D35B}"/>
                </a:ext>
              </a:extLst>
            </p:cNvPr>
            <p:cNvSpPr txBox="1"/>
            <p:nvPr/>
          </p:nvSpPr>
          <p:spPr>
            <a:xfrm>
              <a:off x="7888688" y="3447139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0x6000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2ED30EA-40AA-9932-F8E3-325B384B50E7}"/>
                </a:ext>
              </a:extLst>
            </p:cNvPr>
            <p:cNvCxnSpPr/>
            <p:nvPr/>
          </p:nvCxnSpPr>
          <p:spPr>
            <a:xfrm>
              <a:off x="8813941" y="3601411"/>
              <a:ext cx="36180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9DEB482-A4E1-4CE7-6691-C5BA97859CFD}"/>
                </a:ext>
              </a:extLst>
            </p:cNvPr>
            <p:cNvSpPr/>
            <p:nvPr/>
          </p:nvSpPr>
          <p:spPr>
            <a:xfrm>
              <a:off x="9175749" y="3484137"/>
              <a:ext cx="1488004" cy="2743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0x5000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3A35AF1-988A-3EE6-16EC-C2C4B3C030D0}"/>
                </a:ext>
              </a:extLst>
            </p:cNvPr>
            <p:cNvSpPr txBox="1"/>
            <p:nvPr/>
          </p:nvSpPr>
          <p:spPr>
            <a:xfrm>
              <a:off x="11033889" y="3389125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7B78884-E4CB-C23C-3F18-57715E99B661}"/>
              </a:ext>
            </a:extLst>
          </p:cNvPr>
          <p:cNvGrpSpPr/>
          <p:nvPr/>
        </p:nvGrpSpPr>
        <p:grpSpPr>
          <a:xfrm>
            <a:off x="8457684" y="4141407"/>
            <a:ext cx="3451409" cy="416145"/>
            <a:chOff x="7888974" y="4141407"/>
            <a:chExt cx="3451409" cy="416145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B3327A0-8D3A-89C9-2068-F2049A98E7A0}"/>
                </a:ext>
              </a:extLst>
            </p:cNvPr>
            <p:cNvSpPr/>
            <p:nvPr/>
          </p:nvSpPr>
          <p:spPr>
            <a:xfrm>
              <a:off x="9176037" y="4236419"/>
              <a:ext cx="1488004" cy="2743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0x5000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4B74B4F-E0C5-C2C6-ADBB-633F5951FDB4}"/>
                </a:ext>
              </a:extLst>
            </p:cNvPr>
            <p:cNvSpPr txBox="1"/>
            <p:nvPr/>
          </p:nvSpPr>
          <p:spPr>
            <a:xfrm>
              <a:off x="7888974" y="4218998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0x7000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ADDA2E9-FC14-921B-5FD1-981FDC19FC35}"/>
                </a:ext>
              </a:extLst>
            </p:cNvPr>
            <p:cNvCxnSpPr/>
            <p:nvPr/>
          </p:nvCxnSpPr>
          <p:spPr>
            <a:xfrm>
              <a:off x="8814227" y="4373270"/>
              <a:ext cx="36180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588197A-793D-452F-BCFC-37E4560D0FB2}"/>
                </a:ext>
              </a:extLst>
            </p:cNvPr>
            <p:cNvSpPr txBox="1"/>
            <p:nvPr/>
          </p:nvSpPr>
          <p:spPr>
            <a:xfrm>
              <a:off x="11033889" y="4141407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5D98937-ED22-97F6-1DB6-25DBC422852B}"/>
              </a:ext>
            </a:extLst>
          </p:cNvPr>
          <p:cNvGrpSpPr/>
          <p:nvPr/>
        </p:nvGrpSpPr>
        <p:grpSpPr>
          <a:xfrm>
            <a:off x="8457396" y="4919966"/>
            <a:ext cx="3433777" cy="416145"/>
            <a:chOff x="7888686" y="4919966"/>
            <a:chExt cx="3433777" cy="416145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6C5056A-A39F-7CE8-8C20-7015E71B5917}"/>
                </a:ext>
              </a:extLst>
            </p:cNvPr>
            <p:cNvSpPr/>
            <p:nvPr/>
          </p:nvSpPr>
          <p:spPr>
            <a:xfrm>
              <a:off x="9175749" y="5014978"/>
              <a:ext cx="1488004" cy="2743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B2720F3-A034-B003-2862-288D0B4E3BBC}"/>
                </a:ext>
              </a:extLst>
            </p:cNvPr>
            <p:cNvSpPr txBox="1"/>
            <p:nvPr/>
          </p:nvSpPr>
          <p:spPr>
            <a:xfrm>
              <a:off x="7888686" y="4997557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0x8000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B2D910BA-D746-B3B4-6509-EA0E469A5B26}"/>
                </a:ext>
              </a:extLst>
            </p:cNvPr>
            <p:cNvCxnSpPr/>
            <p:nvPr/>
          </p:nvCxnSpPr>
          <p:spPr>
            <a:xfrm>
              <a:off x="8813939" y="5151829"/>
              <a:ext cx="36180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5249BE3-58A0-803A-2661-26D5C37766AF}"/>
                </a:ext>
              </a:extLst>
            </p:cNvPr>
            <p:cNvSpPr txBox="1"/>
            <p:nvPr/>
          </p:nvSpPr>
          <p:spPr>
            <a:xfrm>
              <a:off x="11033601" y="4919966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81F5796-364A-5142-29C4-AC7310E02C89}"/>
              </a:ext>
            </a:extLst>
          </p:cNvPr>
          <p:cNvGrpSpPr/>
          <p:nvPr/>
        </p:nvGrpSpPr>
        <p:grpSpPr>
          <a:xfrm>
            <a:off x="8457396" y="5681104"/>
            <a:ext cx="3420953" cy="416145"/>
            <a:chOff x="7888686" y="5681104"/>
            <a:chExt cx="3420953" cy="416145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F666055-08A4-31B1-624E-68BBEBCCA3A4}"/>
                </a:ext>
              </a:extLst>
            </p:cNvPr>
            <p:cNvSpPr/>
            <p:nvPr/>
          </p:nvSpPr>
          <p:spPr>
            <a:xfrm>
              <a:off x="9175749" y="5776116"/>
              <a:ext cx="1488004" cy="2743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1D67E20-6390-F6B7-4F8F-9CD6A0C8E967}"/>
                </a:ext>
              </a:extLst>
            </p:cNvPr>
            <p:cNvSpPr txBox="1"/>
            <p:nvPr/>
          </p:nvSpPr>
          <p:spPr>
            <a:xfrm>
              <a:off x="7888686" y="5758695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0x9000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B378FCB9-A988-2F2E-A63A-EC227E2A7BE8}"/>
                </a:ext>
              </a:extLst>
            </p:cNvPr>
            <p:cNvCxnSpPr/>
            <p:nvPr/>
          </p:nvCxnSpPr>
          <p:spPr>
            <a:xfrm>
              <a:off x="8813939" y="5912967"/>
              <a:ext cx="36180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A441094-AEF8-3C24-ACDA-A81A3C64F27F}"/>
                </a:ext>
              </a:extLst>
            </p:cNvPr>
            <p:cNvSpPr txBox="1"/>
            <p:nvPr/>
          </p:nvSpPr>
          <p:spPr>
            <a:xfrm>
              <a:off x="11033601" y="5681104"/>
              <a:ext cx="2760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z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E026FDB4-D25A-9505-9A84-A851B35F8A96}"/>
              </a:ext>
            </a:extLst>
          </p:cNvPr>
          <p:cNvSpPr txBox="1"/>
          <p:nvPr/>
        </p:nvSpPr>
        <p:spPr>
          <a:xfrm>
            <a:off x="254601" y="1657863"/>
            <a:ext cx="3262432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20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 = </a:t>
            </a:r>
            <a:r>
              <a:rPr lang="en-US" sz="20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7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 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20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*p = &amp;x;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20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*q = p;</a:t>
            </a:r>
          </a:p>
          <a:p>
            <a:endParaRPr lang="en-US" sz="2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en-US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-US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20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y = *q;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*q = </a:t>
            </a:r>
            <a:r>
              <a:rPr lang="en-US" sz="20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13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20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z = *p;</a:t>
            </a:r>
          </a:p>
          <a:p>
            <a:endParaRPr lang="en-US" sz="2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20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**pp = 0x7000;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9B47C32-04E2-7894-EFB6-29D26B85F03B}"/>
              </a:ext>
            </a:extLst>
          </p:cNvPr>
          <p:cNvSpPr txBox="1"/>
          <p:nvPr/>
        </p:nvSpPr>
        <p:spPr>
          <a:xfrm>
            <a:off x="3610379" y="1657479"/>
            <a:ext cx="4647426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latin typeface="Menlo" panose="020B0609030804020204" pitchFamily="49" charset="0"/>
              </a:rPr>
              <a:t>x= </a:t>
            </a:r>
            <a:r>
              <a:rPr lang="en-US" sz="2000" dirty="0">
                <a:latin typeface="Menlo" panose="020B0609030804020204" pitchFamily="49" charset="0"/>
              </a:rPr>
              <a:t>????, &amp;x= ?????</a:t>
            </a:r>
          </a:p>
          <a:p>
            <a:r>
              <a:rPr lang="en-US" sz="2000" dirty="0">
                <a:effectLst/>
                <a:latin typeface="Menlo" panose="020B0609030804020204" pitchFamily="49" charset="0"/>
              </a:rPr>
              <a:t>*p= ????, </a:t>
            </a:r>
            <a:r>
              <a:rPr lang="en-US" sz="2000" dirty="0">
                <a:latin typeface="Menlo" panose="020B0609030804020204" pitchFamily="49" charset="0"/>
              </a:rPr>
              <a:t>p= ????? , &amp;p= ????</a:t>
            </a:r>
          </a:p>
          <a:p>
            <a:r>
              <a:rPr lang="en-US" sz="2000" dirty="0">
                <a:latin typeface="Menlo" panose="020B0609030804020204" pitchFamily="49" charset="0"/>
              </a:rPr>
              <a:t>p==q ??</a:t>
            </a:r>
          </a:p>
          <a:p>
            <a:r>
              <a:rPr lang="en-US" sz="2000" dirty="0">
                <a:latin typeface="Menlo" panose="020B0609030804020204" pitchFamily="49" charset="0"/>
              </a:rPr>
              <a:t>*p==*q ??</a:t>
            </a:r>
          </a:p>
          <a:p>
            <a:r>
              <a:rPr lang="en-US" sz="2000" dirty="0">
                <a:latin typeface="Menlo" panose="020B0609030804020204" pitchFamily="49" charset="0"/>
              </a:rPr>
              <a:t>&amp;p==&amp;q</a:t>
            </a:r>
          </a:p>
          <a:p>
            <a:endParaRPr lang="en-US" sz="2000" dirty="0">
              <a:effectLst/>
              <a:latin typeface="Menlo" panose="020B0609030804020204" pitchFamily="49" charset="0"/>
            </a:endParaRPr>
          </a:p>
          <a:p>
            <a:endParaRPr lang="en-US" sz="2000" dirty="0">
              <a:effectLst/>
              <a:latin typeface="Menlo" panose="020B0609030804020204" pitchFamily="49" charset="0"/>
            </a:endParaRPr>
          </a:p>
          <a:p>
            <a:endParaRPr lang="en-US" sz="2000" dirty="0">
              <a:effectLst/>
              <a:latin typeface="Menlo" panose="020B0609030804020204" pitchFamily="49" charset="0"/>
            </a:endParaRPr>
          </a:p>
          <a:p>
            <a:r>
              <a:rPr lang="en-US" sz="2000" dirty="0">
                <a:effectLst/>
                <a:latin typeface="Menlo" panose="020B0609030804020204" pitchFamily="49" charset="0"/>
              </a:rPr>
              <a:t>y= ????, </a:t>
            </a:r>
            <a:r>
              <a:rPr lang="en-US" sz="2000" dirty="0">
                <a:latin typeface="Menlo" panose="020B0609030804020204" pitchFamily="49" charset="0"/>
              </a:rPr>
              <a:t>z= ????</a:t>
            </a:r>
          </a:p>
          <a:p>
            <a:endParaRPr lang="en-US" sz="2000" dirty="0">
              <a:effectLst/>
              <a:latin typeface="Menlo" panose="020B0609030804020204" pitchFamily="49" charset="0"/>
            </a:endParaRPr>
          </a:p>
          <a:p>
            <a:r>
              <a:rPr lang="en-US" sz="2000" dirty="0">
                <a:effectLst/>
                <a:latin typeface="Menlo" panose="020B0609030804020204" pitchFamily="49" charset="0"/>
              </a:rPr>
              <a:t>pp= ??</a:t>
            </a:r>
          </a:p>
          <a:p>
            <a:r>
              <a:rPr lang="en-US" sz="2000" dirty="0">
                <a:effectLst/>
                <a:latin typeface="Menlo" panose="020B0609030804020204" pitchFamily="49" charset="0"/>
              </a:rPr>
              <a:t>*pp = ??</a:t>
            </a:r>
          </a:p>
          <a:p>
            <a:r>
              <a:rPr lang="en-US" sz="2000" dirty="0">
                <a:effectLst/>
                <a:latin typeface="Menlo" panose="020B0609030804020204" pitchFamily="49" charset="0"/>
              </a:rPr>
              <a:t>**pp = ??</a:t>
            </a:r>
          </a:p>
        </p:txBody>
      </p:sp>
      <p:cxnSp>
        <p:nvCxnSpPr>
          <p:cNvPr id="55" name="Curved Connector 54">
            <a:extLst>
              <a:ext uri="{FF2B5EF4-FFF2-40B4-BE49-F238E27FC236}">
                <a16:creationId xmlns:a16="http://schemas.microsoft.com/office/drawing/2014/main" id="{6DCA94D3-29BC-CE1A-B34B-F707E4012955}"/>
              </a:ext>
            </a:extLst>
          </p:cNvPr>
          <p:cNvCxnSpPr>
            <a:cxnSpLocks/>
          </p:cNvCxnSpPr>
          <p:nvPr/>
        </p:nvCxnSpPr>
        <p:spPr>
          <a:xfrm flipV="1">
            <a:off x="11232751" y="2691075"/>
            <a:ext cx="12700" cy="1588375"/>
          </a:xfrm>
          <a:prstGeom prst="curvedConnector3">
            <a:avLst>
              <a:gd name="adj1" fmla="val 1905882"/>
            </a:avLst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Curved Connector 57">
            <a:extLst>
              <a:ext uri="{FF2B5EF4-FFF2-40B4-BE49-F238E27FC236}">
                <a16:creationId xmlns:a16="http://schemas.microsoft.com/office/drawing/2014/main" id="{BA689086-ABCB-D73E-1C59-F994FB80B77A}"/>
              </a:ext>
            </a:extLst>
          </p:cNvPr>
          <p:cNvCxnSpPr>
            <a:cxnSpLocks/>
          </p:cNvCxnSpPr>
          <p:nvPr/>
        </p:nvCxnSpPr>
        <p:spPr>
          <a:xfrm flipV="1">
            <a:off x="11232463" y="2691075"/>
            <a:ext cx="288" cy="836093"/>
          </a:xfrm>
          <a:prstGeom prst="curvedConnector3">
            <a:avLst>
              <a:gd name="adj1" fmla="val 46790972"/>
            </a:avLst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Curved Connector 60">
            <a:extLst>
              <a:ext uri="{FF2B5EF4-FFF2-40B4-BE49-F238E27FC236}">
                <a16:creationId xmlns:a16="http://schemas.microsoft.com/office/drawing/2014/main" id="{B70AC7DA-5FB2-014C-F28A-DFFF1BD8AAEC}"/>
              </a:ext>
            </a:extLst>
          </p:cNvPr>
          <p:cNvCxnSpPr>
            <a:cxnSpLocks/>
          </p:cNvCxnSpPr>
          <p:nvPr/>
        </p:nvCxnSpPr>
        <p:spPr>
          <a:xfrm>
            <a:off x="11232463" y="2073263"/>
            <a:ext cx="288" cy="2340657"/>
          </a:xfrm>
          <a:prstGeom prst="curvedConnector3">
            <a:avLst>
              <a:gd name="adj1" fmla="val 121496875"/>
            </a:avLst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8D6961DB-5A7D-46C7-A104-5256B33D7273}"/>
              </a:ext>
            </a:extLst>
          </p:cNvPr>
          <p:cNvSpPr/>
          <p:nvPr/>
        </p:nvSpPr>
        <p:spPr>
          <a:xfrm>
            <a:off x="4140649" y="1664982"/>
            <a:ext cx="646771" cy="35555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55D645-ADDB-F7E8-19F0-06F313DC5AF0}"/>
              </a:ext>
            </a:extLst>
          </p:cNvPr>
          <p:cNvSpPr/>
          <p:nvPr/>
        </p:nvSpPr>
        <p:spPr>
          <a:xfrm>
            <a:off x="5536667" y="1657479"/>
            <a:ext cx="990140" cy="35555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0x5000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D7C0E9-D324-D2E1-B1C6-F97B8099C739}"/>
              </a:ext>
            </a:extLst>
          </p:cNvPr>
          <p:cNvSpPr/>
          <p:nvPr/>
        </p:nvSpPr>
        <p:spPr>
          <a:xfrm>
            <a:off x="7327286" y="1980099"/>
            <a:ext cx="990140" cy="35555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0x6000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43BBB2-E3AB-C41F-2240-3C910B28A444}"/>
              </a:ext>
            </a:extLst>
          </p:cNvPr>
          <p:cNvSpPr/>
          <p:nvPr/>
        </p:nvSpPr>
        <p:spPr>
          <a:xfrm>
            <a:off x="4277781" y="1975272"/>
            <a:ext cx="646771" cy="35555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5DB596-CCC4-B9B5-CE6B-9323F499E6C7}"/>
              </a:ext>
            </a:extLst>
          </p:cNvPr>
          <p:cNvSpPr/>
          <p:nvPr/>
        </p:nvSpPr>
        <p:spPr>
          <a:xfrm>
            <a:off x="5593696" y="1993040"/>
            <a:ext cx="990140" cy="35555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0x5000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9282EA-F805-C8E1-DE13-57FAE314E2BA}"/>
              </a:ext>
            </a:extLst>
          </p:cNvPr>
          <p:cNvSpPr/>
          <p:nvPr/>
        </p:nvSpPr>
        <p:spPr>
          <a:xfrm>
            <a:off x="4359850" y="2289193"/>
            <a:ext cx="870760" cy="35555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71C1CF-4AFE-425B-C658-27A9B2F8E118}"/>
              </a:ext>
            </a:extLst>
          </p:cNvPr>
          <p:cNvSpPr/>
          <p:nvPr/>
        </p:nvSpPr>
        <p:spPr>
          <a:xfrm>
            <a:off x="4721658" y="2606732"/>
            <a:ext cx="870760" cy="35555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900F0F-4FDB-CCAD-ADBA-964460152ADD}"/>
              </a:ext>
            </a:extLst>
          </p:cNvPr>
          <p:cNvSpPr/>
          <p:nvPr/>
        </p:nvSpPr>
        <p:spPr>
          <a:xfrm>
            <a:off x="4721658" y="2929735"/>
            <a:ext cx="990140" cy="35555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False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3A2B85-D2CC-AD2A-EF4D-88BBBD77DABF}"/>
              </a:ext>
            </a:extLst>
          </p:cNvPr>
          <p:cNvSpPr/>
          <p:nvPr/>
        </p:nvSpPr>
        <p:spPr>
          <a:xfrm>
            <a:off x="4155892" y="4101671"/>
            <a:ext cx="646771" cy="35555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7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89C91CB-99CF-9622-B6EF-29ABE17D4572}"/>
              </a:ext>
            </a:extLst>
          </p:cNvPr>
          <p:cNvSpPr/>
          <p:nvPr/>
        </p:nvSpPr>
        <p:spPr>
          <a:xfrm>
            <a:off x="5534262" y="4101671"/>
            <a:ext cx="646771" cy="35555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2B28101-7A5A-6346-3E75-BB80F37D2193}"/>
              </a:ext>
            </a:extLst>
          </p:cNvPr>
          <p:cNvSpPr/>
          <p:nvPr/>
        </p:nvSpPr>
        <p:spPr>
          <a:xfrm>
            <a:off x="4246427" y="4700339"/>
            <a:ext cx="990140" cy="35555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0x7000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E6F3DAD-8ECB-DA64-6A76-A2ED44B75D4D}"/>
              </a:ext>
            </a:extLst>
          </p:cNvPr>
          <p:cNvSpPr/>
          <p:nvPr/>
        </p:nvSpPr>
        <p:spPr>
          <a:xfrm>
            <a:off x="4544122" y="5022742"/>
            <a:ext cx="990140" cy="35555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0x5000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2DA66DB-16EE-315F-0538-A16157403636}"/>
              </a:ext>
            </a:extLst>
          </p:cNvPr>
          <p:cNvSpPr/>
          <p:nvPr/>
        </p:nvSpPr>
        <p:spPr>
          <a:xfrm>
            <a:off x="4715806" y="5380649"/>
            <a:ext cx="646771" cy="35555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13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865846E-EA13-A7BE-094A-D8B304028BB3}"/>
              </a:ext>
            </a:extLst>
          </p:cNvPr>
          <p:cNvSpPr/>
          <p:nvPr/>
        </p:nvSpPr>
        <p:spPr>
          <a:xfrm>
            <a:off x="9757447" y="5018803"/>
            <a:ext cx="1488004" cy="2743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EBBB5E8-0A63-E4DA-C781-2EF563DF8F80}"/>
              </a:ext>
            </a:extLst>
          </p:cNvPr>
          <p:cNvSpPr/>
          <p:nvPr/>
        </p:nvSpPr>
        <p:spPr>
          <a:xfrm>
            <a:off x="9753859" y="5775807"/>
            <a:ext cx="1488004" cy="2743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E89A678-1173-97BA-D55A-4605AF250AA5}"/>
              </a:ext>
            </a:extLst>
          </p:cNvPr>
          <p:cNvSpPr/>
          <p:nvPr/>
        </p:nvSpPr>
        <p:spPr>
          <a:xfrm>
            <a:off x="9751097" y="2648044"/>
            <a:ext cx="1488004" cy="2743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82684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uiExpand="1" build="p"/>
      <p:bldP spid="48" grpId="0" uiExpand="1" build="p"/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3" grpId="0" animBg="1"/>
      <p:bldP spid="21" grpId="0" animBg="1"/>
      <p:bldP spid="22" grpId="0" animBg="1"/>
      <p:bldP spid="24" grpId="0" animBg="1"/>
      <p:bldP spid="39" grpId="0" animBg="1"/>
      <p:bldP spid="40" grpId="0" animBg="1"/>
      <p:bldP spid="41" grpId="0" animBg="1"/>
      <p:bldP spid="42" grpId="0" animBg="1"/>
      <p:bldP spid="5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3CCF2-F342-11AF-C717-0AC44A671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by reference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B48180-8BCC-84D4-9D14-8807D51D9B29}"/>
              </a:ext>
            </a:extLst>
          </p:cNvPr>
          <p:cNvSpPr txBox="1"/>
          <p:nvPr/>
        </p:nvSpPr>
        <p:spPr>
          <a:xfrm>
            <a:off x="462462" y="1276794"/>
            <a:ext cx="5131514" cy="47705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6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600" dirty="0">
              <a:solidFill>
                <a:srgbClr val="C814C9"/>
              </a:solidFill>
              <a:effectLst/>
              <a:latin typeface="Menlo" panose="020B0609030804020204" pitchFamily="49" charset="0"/>
            </a:endParaRP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swapA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x,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y){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tmp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=x;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x = y;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y =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tmp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"in </a:t>
            </a:r>
            <a:r>
              <a:rPr lang="en-US" sz="16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swapA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: x =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y =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	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x, y);</a:t>
            </a:r>
            <a:endParaRPr lang="en-US" sz="16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 { 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7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b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13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swapA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(a, b);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"in main: a =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b =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	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a, b);</a:t>
            </a:r>
            <a:endParaRPr lang="en-US" sz="16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71FBAC-3EAF-339D-FD10-27978941B711}"/>
              </a:ext>
            </a:extLst>
          </p:cNvPr>
          <p:cNvSpPr txBox="1"/>
          <p:nvPr/>
        </p:nvSpPr>
        <p:spPr>
          <a:xfrm>
            <a:off x="6352275" y="1276794"/>
            <a:ext cx="5128870" cy="477053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6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  <a:b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swapB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x,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y)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tmp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=*x;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*x=*y;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*y =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tmp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"in </a:t>
            </a:r>
            <a:r>
              <a:rPr lang="en-US" sz="16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swapB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: *x =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*y =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	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*x, *y);</a:t>
            </a:r>
            <a:endParaRPr lang="en-US" sz="16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7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b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13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swapB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(&amp;a, &amp;b);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"in main: a =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b =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	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a, b);</a:t>
            </a:r>
            <a:endParaRPr lang="en-US" sz="16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BCC53A-2908-7AFD-8E89-B0191174494F}"/>
              </a:ext>
            </a:extLst>
          </p:cNvPr>
          <p:cNvSpPr txBox="1"/>
          <p:nvPr/>
        </p:nvSpPr>
        <p:spPr>
          <a:xfrm>
            <a:off x="1634388" y="6326634"/>
            <a:ext cx="22796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i="1" dirty="0"/>
              <a:t>Passing-by-value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84330F-E5EA-C1D9-9790-B16567C2A155}"/>
              </a:ext>
            </a:extLst>
          </p:cNvPr>
          <p:cNvSpPr txBox="1"/>
          <p:nvPr/>
        </p:nvSpPr>
        <p:spPr>
          <a:xfrm>
            <a:off x="7524181" y="6326633"/>
            <a:ext cx="27850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i="1" dirty="0"/>
              <a:t>Passing-by-reference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6686AD1-AC5D-C644-2416-56C326880361}"/>
              </a:ext>
            </a:extLst>
          </p:cNvPr>
          <p:cNvSpPr/>
          <p:nvPr/>
        </p:nvSpPr>
        <p:spPr>
          <a:xfrm>
            <a:off x="1388389" y="4677670"/>
            <a:ext cx="783617" cy="308472"/>
          </a:xfrm>
          <a:prstGeom prst="roundRect">
            <a:avLst/>
          </a:prstGeom>
          <a:noFill/>
          <a:ln w="285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8656BD9-F9D7-BFFB-8600-087AB76E6C63}"/>
              </a:ext>
            </a:extLst>
          </p:cNvPr>
          <p:cNvSpPr/>
          <p:nvPr/>
        </p:nvSpPr>
        <p:spPr>
          <a:xfrm>
            <a:off x="7299244" y="4715770"/>
            <a:ext cx="972739" cy="308472"/>
          </a:xfrm>
          <a:prstGeom prst="roundRect">
            <a:avLst/>
          </a:prstGeom>
          <a:noFill/>
          <a:ln w="285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DE755C-5743-0B24-5E36-1850DB650CFE}"/>
              </a:ext>
            </a:extLst>
          </p:cNvPr>
          <p:cNvSpPr txBox="1"/>
          <p:nvPr/>
        </p:nvSpPr>
        <p:spPr>
          <a:xfrm>
            <a:off x="7902562" y="3375077"/>
            <a:ext cx="4213238" cy="10156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*x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*y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deference pointers: reading and writing the content of a and b, rather than local variables of </a:t>
            </a:r>
            <a:r>
              <a:rPr lang="en-US" sz="20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swapB</a:t>
            </a:r>
            <a:endParaRPr lang="en-US" sz="20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6BAA3C-097B-E9C1-0022-FF4DBB3654A0}"/>
              </a:ext>
            </a:extLst>
          </p:cNvPr>
          <p:cNvSpPr txBox="1"/>
          <p:nvPr/>
        </p:nvSpPr>
        <p:spPr>
          <a:xfrm>
            <a:off x="3349989" y="3631284"/>
            <a:ext cx="2873011" cy="707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y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are local variables of </a:t>
            </a:r>
            <a:r>
              <a:rPr lang="en-US" sz="20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swapA</a:t>
            </a:r>
            <a:endParaRPr lang="en-US" sz="20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33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5536A-2D9A-DBBF-8821-F94C7713B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Stack vs. Heap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FB12F1C-A3BD-1797-72E3-25FE7B94FDEC}"/>
              </a:ext>
            </a:extLst>
          </p:cNvPr>
          <p:cNvGrpSpPr/>
          <p:nvPr/>
        </p:nvGrpSpPr>
        <p:grpSpPr>
          <a:xfrm>
            <a:off x="8899257" y="1091126"/>
            <a:ext cx="896130" cy="5538278"/>
            <a:chOff x="7211641" y="2940522"/>
            <a:chExt cx="896130" cy="189862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FADD89-73B2-7F37-1B23-A2EEECB037BB}"/>
                </a:ext>
              </a:extLst>
            </p:cNvPr>
            <p:cNvSpPr/>
            <p:nvPr/>
          </p:nvSpPr>
          <p:spPr>
            <a:xfrm>
              <a:off x="7211641" y="2964924"/>
              <a:ext cx="896130" cy="18742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664AAB4-44D9-5F6A-715E-A1DB1169FB6B}"/>
                </a:ext>
              </a:extLst>
            </p:cNvPr>
            <p:cNvSpPr txBox="1"/>
            <p:nvPr/>
          </p:nvSpPr>
          <p:spPr>
            <a:xfrm rot="5400000">
              <a:off x="7539848" y="4484197"/>
              <a:ext cx="2461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…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A8BACFE-27BE-FB64-B23F-AF06C10E23AD}"/>
                </a:ext>
              </a:extLst>
            </p:cNvPr>
            <p:cNvSpPr txBox="1"/>
            <p:nvPr/>
          </p:nvSpPr>
          <p:spPr>
            <a:xfrm rot="5400000">
              <a:off x="7539848" y="2832778"/>
              <a:ext cx="2461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…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51248DBD-13C1-0090-B61F-296848B7D9D7}"/>
              </a:ext>
            </a:extLst>
          </p:cNvPr>
          <p:cNvSpPr/>
          <p:nvPr/>
        </p:nvSpPr>
        <p:spPr>
          <a:xfrm>
            <a:off x="8899254" y="1702052"/>
            <a:ext cx="896129" cy="144066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30D995-003F-B894-B583-D582F4DB4127}"/>
              </a:ext>
            </a:extLst>
          </p:cNvPr>
          <p:cNvSpPr txBox="1"/>
          <p:nvPr/>
        </p:nvSpPr>
        <p:spPr>
          <a:xfrm>
            <a:off x="8757681" y="753865"/>
            <a:ext cx="1078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Memory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64A660-14EF-99CC-DB34-4172F947D23E}"/>
              </a:ext>
            </a:extLst>
          </p:cNvPr>
          <p:cNvSpPr/>
          <p:nvPr/>
        </p:nvSpPr>
        <p:spPr>
          <a:xfrm>
            <a:off x="8899254" y="5157159"/>
            <a:ext cx="896129" cy="846740"/>
          </a:xfrm>
          <a:prstGeom prst="rect">
            <a:avLst/>
          </a:prstGeom>
          <a:solidFill>
            <a:srgbClr val="F5D1CF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AAC3EA-92AD-7608-5376-D494FF22B408}"/>
              </a:ext>
            </a:extLst>
          </p:cNvPr>
          <p:cNvSpPr txBox="1"/>
          <p:nvPr/>
        </p:nvSpPr>
        <p:spPr>
          <a:xfrm>
            <a:off x="10112315" y="2339103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main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1FCBA7-4F63-126A-C286-D4AD876DF543}"/>
              </a:ext>
            </a:extLst>
          </p:cNvPr>
          <p:cNvSpPr txBox="1"/>
          <p:nvPr/>
        </p:nvSpPr>
        <p:spPr>
          <a:xfrm>
            <a:off x="10870722" y="5310419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Heap</a:t>
            </a: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916AEE3E-2C7B-C009-8905-0CE6438972C4}"/>
              </a:ext>
            </a:extLst>
          </p:cNvPr>
          <p:cNvSpPr/>
          <p:nvPr/>
        </p:nvSpPr>
        <p:spPr>
          <a:xfrm>
            <a:off x="9836502" y="1702052"/>
            <a:ext cx="275809" cy="1440668"/>
          </a:xfrm>
          <a:prstGeom prst="rightBrace">
            <a:avLst>
              <a:gd name="adj1" fmla="val 30242"/>
              <a:gd name="adj2" fmla="val 50000"/>
            </a:avLst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3356CBB5-4069-96EE-2FB5-545B1D774172}"/>
              </a:ext>
            </a:extLst>
          </p:cNvPr>
          <p:cNvSpPr/>
          <p:nvPr/>
        </p:nvSpPr>
        <p:spPr>
          <a:xfrm>
            <a:off x="9836502" y="5137473"/>
            <a:ext cx="278237" cy="853725"/>
          </a:xfrm>
          <a:prstGeom prst="rightBrace">
            <a:avLst>
              <a:gd name="adj1" fmla="val 30242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52811AA-C355-EB98-ECCD-F60F8AB15AD5}"/>
              </a:ext>
            </a:extLst>
          </p:cNvPr>
          <p:cNvSpPr/>
          <p:nvPr/>
        </p:nvSpPr>
        <p:spPr>
          <a:xfrm>
            <a:off x="8897771" y="2229996"/>
            <a:ext cx="896129" cy="238497"/>
          </a:xfrm>
          <a:prstGeom prst="rect">
            <a:avLst/>
          </a:prstGeom>
          <a:noFill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584604E-C487-098F-8B7B-378ADBEB13A8}"/>
              </a:ext>
            </a:extLst>
          </p:cNvPr>
          <p:cNvSpPr/>
          <p:nvPr/>
        </p:nvSpPr>
        <p:spPr>
          <a:xfrm>
            <a:off x="8897770" y="3142724"/>
            <a:ext cx="896129" cy="13889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23">
            <a:extLst>
              <a:ext uri="{FF2B5EF4-FFF2-40B4-BE49-F238E27FC236}">
                <a16:creationId xmlns:a16="http://schemas.microsoft.com/office/drawing/2014/main" id="{CF463F4C-421B-6307-4A7F-78593481896C}"/>
              </a:ext>
            </a:extLst>
          </p:cNvPr>
          <p:cNvSpPr>
            <a:spLocks/>
          </p:cNvSpPr>
          <p:nvPr/>
        </p:nvSpPr>
        <p:spPr bwMode="auto">
          <a:xfrm>
            <a:off x="10910528" y="2960003"/>
            <a:ext cx="7604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rt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kern="120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B8698B2-1CD5-86BD-BD78-D756CC46A2F0}"/>
              </a:ext>
            </a:extLst>
          </p:cNvPr>
          <p:cNvSpPr txBox="1"/>
          <p:nvPr/>
        </p:nvSpPr>
        <p:spPr>
          <a:xfrm>
            <a:off x="10092248" y="3576748"/>
            <a:ext cx="646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sum</a:t>
            </a:r>
          </a:p>
        </p:txBody>
      </p:sp>
      <p:sp>
        <p:nvSpPr>
          <p:cNvPr id="34" name="Right Brace 33">
            <a:extLst>
              <a:ext uri="{FF2B5EF4-FFF2-40B4-BE49-F238E27FC236}">
                <a16:creationId xmlns:a16="http://schemas.microsoft.com/office/drawing/2014/main" id="{0DFF16BA-3E8F-F5B8-573E-B7013BBA2518}"/>
              </a:ext>
            </a:extLst>
          </p:cNvPr>
          <p:cNvSpPr/>
          <p:nvPr/>
        </p:nvSpPr>
        <p:spPr>
          <a:xfrm>
            <a:off x="9836502" y="3207486"/>
            <a:ext cx="275813" cy="1324172"/>
          </a:xfrm>
          <a:prstGeom prst="rightBrace">
            <a:avLst>
              <a:gd name="adj1" fmla="val 30242"/>
              <a:gd name="adj2" fmla="val 50000"/>
            </a:avLst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802E8FA-CE31-AF49-A0D8-CF8AE1B25155}"/>
              </a:ext>
            </a:extLst>
          </p:cNvPr>
          <p:cNvSpPr/>
          <p:nvPr/>
        </p:nvSpPr>
        <p:spPr>
          <a:xfrm>
            <a:off x="8905843" y="2001182"/>
            <a:ext cx="896129" cy="238497"/>
          </a:xfrm>
          <a:prstGeom prst="rect">
            <a:avLst/>
          </a:prstGeom>
          <a:noFill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8660B2A-33D3-8CC3-A26B-037DE82727A6}"/>
              </a:ext>
            </a:extLst>
          </p:cNvPr>
          <p:cNvSpPr/>
          <p:nvPr/>
        </p:nvSpPr>
        <p:spPr>
          <a:xfrm>
            <a:off x="8904633" y="2454922"/>
            <a:ext cx="896129" cy="238497"/>
          </a:xfrm>
          <a:prstGeom prst="rect">
            <a:avLst/>
          </a:prstGeom>
          <a:noFill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DD0CFB-14BA-967E-84DE-1C412F6CB9FA}"/>
              </a:ext>
            </a:extLst>
          </p:cNvPr>
          <p:cNvSpPr/>
          <p:nvPr/>
        </p:nvSpPr>
        <p:spPr>
          <a:xfrm>
            <a:off x="8884323" y="3715276"/>
            <a:ext cx="896129" cy="238497"/>
          </a:xfrm>
          <a:prstGeom prst="rect">
            <a:avLst/>
          </a:prstGeom>
          <a:noFill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754C7D-A3C7-A400-F826-E0D6CCAD4C0E}"/>
              </a:ext>
            </a:extLst>
          </p:cNvPr>
          <p:cNvSpPr/>
          <p:nvPr/>
        </p:nvSpPr>
        <p:spPr>
          <a:xfrm>
            <a:off x="8892395" y="3486462"/>
            <a:ext cx="896129" cy="238497"/>
          </a:xfrm>
          <a:prstGeom prst="rect">
            <a:avLst/>
          </a:prstGeom>
          <a:noFill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A9ECA5-0255-51DD-5476-659C3DCCFAAB}"/>
              </a:ext>
            </a:extLst>
          </p:cNvPr>
          <p:cNvSpPr/>
          <p:nvPr/>
        </p:nvSpPr>
        <p:spPr>
          <a:xfrm>
            <a:off x="8891185" y="3940202"/>
            <a:ext cx="896129" cy="238497"/>
          </a:xfrm>
          <a:prstGeom prst="rect">
            <a:avLst/>
          </a:prstGeom>
          <a:noFill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z</a:t>
            </a:r>
          </a:p>
        </p:txBody>
      </p:sp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D7D4538F-1A55-F906-32AC-D169DF4DC868}"/>
              </a:ext>
            </a:extLst>
          </p:cNvPr>
          <p:cNvCxnSpPr>
            <a:cxnSpLocks/>
            <a:stCxn id="4" idx="1"/>
            <a:endCxn id="35" idx="1"/>
          </p:cNvCxnSpPr>
          <p:nvPr/>
        </p:nvCxnSpPr>
        <p:spPr>
          <a:xfrm rot="10800000" flipH="1">
            <a:off x="8892395" y="2120431"/>
            <a:ext cx="13448" cy="1485280"/>
          </a:xfrm>
          <a:prstGeom prst="curvedConnector3">
            <a:avLst>
              <a:gd name="adj1" fmla="val -1699881"/>
            </a:avLst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50FBCDC8-48E2-AF42-6475-77FB4251A02D}"/>
              </a:ext>
            </a:extLst>
          </p:cNvPr>
          <p:cNvCxnSpPr>
            <a:cxnSpLocks/>
            <a:stCxn id="3" idx="1"/>
            <a:endCxn id="17" idx="1"/>
          </p:cNvCxnSpPr>
          <p:nvPr/>
        </p:nvCxnSpPr>
        <p:spPr>
          <a:xfrm rot="10800000" flipH="1">
            <a:off x="8884322" y="2422387"/>
            <a:ext cx="14931" cy="1412139"/>
          </a:xfrm>
          <a:prstGeom prst="curvedConnector3">
            <a:avLst>
              <a:gd name="adj1" fmla="val -1531043"/>
            </a:avLst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79C66822-D40F-6098-E9F1-2A11FE86012A}"/>
              </a:ext>
            </a:extLst>
          </p:cNvPr>
          <p:cNvCxnSpPr>
            <a:cxnSpLocks/>
            <a:stCxn id="6" idx="1"/>
            <a:endCxn id="36" idx="1"/>
          </p:cNvCxnSpPr>
          <p:nvPr/>
        </p:nvCxnSpPr>
        <p:spPr>
          <a:xfrm rot="10800000" flipH="1">
            <a:off x="8891185" y="2574171"/>
            <a:ext cx="13448" cy="1485280"/>
          </a:xfrm>
          <a:prstGeom prst="curvedConnector3">
            <a:avLst>
              <a:gd name="adj1" fmla="val -1699881"/>
            </a:avLst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F9A204A-378C-3E4F-6D80-E91A89F48BDB}"/>
              </a:ext>
            </a:extLst>
          </p:cNvPr>
          <p:cNvSpPr txBox="1"/>
          <p:nvPr/>
        </p:nvSpPr>
        <p:spPr>
          <a:xfrm>
            <a:off x="1752813" y="1489154"/>
            <a:ext cx="4159071" cy="28007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sum(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*x,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*y,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*z)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*z = *y + *x;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b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c;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sum(&amp;a, &amp;b, &amp;c);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c);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64341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5536A-2D9A-DBBF-8821-F94C7713B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Stack vs. Heap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1DD4D1-17BE-8D1B-B889-BB4548C30627}"/>
              </a:ext>
            </a:extLst>
          </p:cNvPr>
          <p:cNvSpPr txBox="1"/>
          <p:nvPr/>
        </p:nvSpPr>
        <p:spPr>
          <a:xfrm>
            <a:off x="1955800" y="4635831"/>
            <a:ext cx="64079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Why is it incorrect?</a:t>
            </a:r>
          </a:p>
          <a:p>
            <a:r>
              <a:rPr lang="en-US" sz="2000" dirty="0"/>
              <a:t>The content of 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z</a:t>
            </a:r>
            <a:r>
              <a:rPr lang="en-US" sz="2000" dirty="0"/>
              <a:t> will be recycled after sum returns.</a:t>
            </a:r>
          </a:p>
          <a:p>
            <a:r>
              <a:rPr lang="en-US" sz="2000" dirty="0"/>
              <a:t>When main </a:t>
            </a:r>
            <a:r>
              <a:rPr lang="en-US" sz="2000" dirty="0" err="1"/>
              <a:t>deferences</a:t>
            </a:r>
            <a:r>
              <a:rPr lang="en-US" sz="2000" dirty="0"/>
              <a:t> 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</a:t>
            </a:r>
            <a:r>
              <a:rPr lang="en-US" sz="2000" dirty="0"/>
              <a:t>, the content could be changed.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2223747-0B46-DAE4-C91E-BB33C936133F}"/>
              </a:ext>
            </a:extLst>
          </p:cNvPr>
          <p:cNvGrpSpPr/>
          <p:nvPr/>
        </p:nvGrpSpPr>
        <p:grpSpPr>
          <a:xfrm>
            <a:off x="8899257" y="1091126"/>
            <a:ext cx="896130" cy="5538278"/>
            <a:chOff x="7211641" y="2940522"/>
            <a:chExt cx="896130" cy="189862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DBB3F88-5E83-88D2-5890-0BFA4712B54D}"/>
                </a:ext>
              </a:extLst>
            </p:cNvPr>
            <p:cNvSpPr/>
            <p:nvPr/>
          </p:nvSpPr>
          <p:spPr>
            <a:xfrm>
              <a:off x="7211641" y="2964924"/>
              <a:ext cx="896130" cy="18742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86FBAAB-6B65-6EA4-BB65-2B4BD963B683}"/>
                </a:ext>
              </a:extLst>
            </p:cNvPr>
            <p:cNvSpPr txBox="1"/>
            <p:nvPr/>
          </p:nvSpPr>
          <p:spPr>
            <a:xfrm rot="5400000">
              <a:off x="7539848" y="4484197"/>
              <a:ext cx="2461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…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9E7A6E7-A9CD-361F-9B7C-E2C5CD5827B9}"/>
                </a:ext>
              </a:extLst>
            </p:cNvPr>
            <p:cNvSpPr txBox="1"/>
            <p:nvPr/>
          </p:nvSpPr>
          <p:spPr>
            <a:xfrm rot="5400000">
              <a:off x="7539848" y="2832778"/>
              <a:ext cx="2461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…</a:t>
              </a: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496C4709-64DF-7BD7-2019-7C6E6A1505D8}"/>
              </a:ext>
            </a:extLst>
          </p:cNvPr>
          <p:cNvSpPr/>
          <p:nvPr/>
        </p:nvSpPr>
        <p:spPr>
          <a:xfrm>
            <a:off x="8899254" y="1702052"/>
            <a:ext cx="896129" cy="144066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927BC1-42A3-2C03-37E2-C4A903477E4C}"/>
              </a:ext>
            </a:extLst>
          </p:cNvPr>
          <p:cNvSpPr txBox="1"/>
          <p:nvPr/>
        </p:nvSpPr>
        <p:spPr>
          <a:xfrm>
            <a:off x="8757681" y="753865"/>
            <a:ext cx="1078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Memory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DC87C88-13C5-3410-25E1-1A5349E4FF94}"/>
              </a:ext>
            </a:extLst>
          </p:cNvPr>
          <p:cNvSpPr/>
          <p:nvPr/>
        </p:nvSpPr>
        <p:spPr>
          <a:xfrm>
            <a:off x="8899254" y="5157159"/>
            <a:ext cx="896129" cy="846740"/>
          </a:xfrm>
          <a:prstGeom prst="rect">
            <a:avLst/>
          </a:prstGeom>
          <a:solidFill>
            <a:srgbClr val="F5D1CF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9424A2-2F96-0DBF-CAEE-9A1DD553952F}"/>
              </a:ext>
            </a:extLst>
          </p:cNvPr>
          <p:cNvSpPr txBox="1"/>
          <p:nvPr/>
        </p:nvSpPr>
        <p:spPr>
          <a:xfrm>
            <a:off x="10112315" y="2339103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main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3D769A-8C85-6057-BD21-3C27829AD85D}"/>
              </a:ext>
            </a:extLst>
          </p:cNvPr>
          <p:cNvSpPr txBox="1"/>
          <p:nvPr/>
        </p:nvSpPr>
        <p:spPr>
          <a:xfrm>
            <a:off x="10870722" y="5310419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Heap</a:t>
            </a:r>
          </a:p>
        </p:txBody>
      </p:sp>
      <p:sp>
        <p:nvSpPr>
          <p:cNvPr id="34" name="Right Brace 33">
            <a:extLst>
              <a:ext uri="{FF2B5EF4-FFF2-40B4-BE49-F238E27FC236}">
                <a16:creationId xmlns:a16="http://schemas.microsoft.com/office/drawing/2014/main" id="{FFF27239-7DA1-7481-E94D-1D171852EA16}"/>
              </a:ext>
            </a:extLst>
          </p:cNvPr>
          <p:cNvSpPr/>
          <p:nvPr/>
        </p:nvSpPr>
        <p:spPr>
          <a:xfrm>
            <a:off x="9836502" y="1702052"/>
            <a:ext cx="275809" cy="1440668"/>
          </a:xfrm>
          <a:prstGeom prst="rightBrace">
            <a:avLst>
              <a:gd name="adj1" fmla="val 30242"/>
              <a:gd name="adj2" fmla="val 50000"/>
            </a:avLst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ight Brace 34">
            <a:extLst>
              <a:ext uri="{FF2B5EF4-FFF2-40B4-BE49-F238E27FC236}">
                <a16:creationId xmlns:a16="http://schemas.microsoft.com/office/drawing/2014/main" id="{554FC34E-88CB-9111-3086-47243C0B4917}"/>
              </a:ext>
            </a:extLst>
          </p:cNvPr>
          <p:cNvSpPr/>
          <p:nvPr/>
        </p:nvSpPr>
        <p:spPr>
          <a:xfrm>
            <a:off x="9836502" y="5137473"/>
            <a:ext cx="278237" cy="853725"/>
          </a:xfrm>
          <a:prstGeom prst="rightBrace">
            <a:avLst>
              <a:gd name="adj1" fmla="val 30242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629AB24-9186-9D58-AF16-C59889329994}"/>
              </a:ext>
            </a:extLst>
          </p:cNvPr>
          <p:cNvSpPr/>
          <p:nvPr/>
        </p:nvSpPr>
        <p:spPr>
          <a:xfrm>
            <a:off x="8897771" y="2229996"/>
            <a:ext cx="896129" cy="238497"/>
          </a:xfrm>
          <a:prstGeom prst="rect">
            <a:avLst/>
          </a:prstGeom>
          <a:noFill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6B3B113-B4F4-5CAC-386E-871B48DBE64A}"/>
              </a:ext>
            </a:extLst>
          </p:cNvPr>
          <p:cNvSpPr/>
          <p:nvPr/>
        </p:nvSpPr>
        <p:spPr>
          <a:xfrm>
            <a:off x="8897770" y="3142724"/>
            <a:ext cx="896129" cy="13889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23">
            <a:extLst>
              <a:ext uri="{FF2B5EF4-FFF2-40B4-BE49-F238E27FC236}">
                <a16:creationId xmlns:a16="http://schemas.microsoft.com/office/drawing/2014/main" id="{E0242C90-CA68-6EF0-2CAE-568875504416}"/>
              </a:ext>
            </a:extLst>
          </p:cNvPr>
          <p:cNvSpPr>
            <a:spLocks/>
          </p:cNvSpPr>
          <p:nvPr/>
        </p:nvSpPr>
        <p:spPr bwMode="auto">
          <a:xfrm>
            <a:off x="10910528" y="2960003"/>
            <a:ext cx="7604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rt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kern="120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197F4EA-9147-CB2B-01F8-8E5054451DC2}"/>
              </a:ext>
            </a:extLst>
          </p:cNvPr>
          <p:cNvSpPr txBox="1"/>
          <p:nvPr/>
        </p:nvSpPr>
        <p:spPr>
          <a:xfrm>
            <a:off x="10092248" y="3576748"/>
            <a:ext cx="646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sum</a:t>
            </a:r>
          </a:p>
        </p:txBody>
      </p:sp>
      <p:sp>
        <p:nvSpPr>
          <p:cNvPr id="40" name="Right Brace 39">
            <a:extLst>
              <a:ext uri="{FF2B5EF4-FFF2-40B4-BE49-F238E27FC236}">
                <a16:creationId xmlns:a16="http://schemas.microsoft.com/office/drawing/2014/main" id="{5AC0DF97-C088-9370-B6AA-A374D489039E}"/>
              </a:ext>
            </a:extLst>
          </p:cNvPr>
          <p:cNvSpPr/>
          <p:nvPr/>
        </p:nvSpPr>
        <p:spPr>
          <a:xfrm>
            <a:off x="9836502" y="3207486"/>
            <a:ext cx="275813" cy="1324172"/>
          </a:xfrm>
          <a:prstGeom prst="rightBrace">
            <a:avLst>
              <a:gd name="adj1" fmla="val 30242"/>
              <a:gd name="adj2" fmla="val 50000"/>
            </a:avLst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5A8F8BE-4CAB-951A-72C5-0DD30BFAF974}"/>
              </a:ext>
            </a:extLst>
          </p:cNvPr>
          <p:cNvSpPr/>
          <p:nvPr/>
        </p:nvSpPr>
        <p:spPr>
          <a:xfrm>
            <a:off x="8905843" y="2001182"/>
            <a:ext cx="896129" cy="238497"/>
          </a:xfrm>
          <a:prstGeom prst="rect">
            <a:avLst/>
          </a:prstGeom>
          <a:noFill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992339C-E7C1-3D8D-17A5-522FA6F78B87}"/>
              </a:ext>
            </a:extLst>
          </p:cNvPr>
          <p:cNvSpPr/>
          <p:nvPr/>
        </p:nvSpPr>
        <p:spPr>
          <a:xfrm>
            <a:off x="8904633" y="2454922"/>
            <a:ext cx="896129" cy="238497"/>
          </a:xfrm>
          <a:prstGeom prst="rect">
            <a:avLst/>
          </a:prstGeom>
          <a:noFill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AA7788E-046F-8D9A-BAB4-BD35AB0BB933}"/>
              </a:ext>
            </a:extLst>
          </p:cNvPr>
          <p:cNvSpPr/>
          <p:nvPr/>
        </p:nvSpPr>
        <p:spPr>
          <a:xfrm>
            <a:off x="8884323" y="3715276"/>
            <a:ext cx="896129" cy="238497"/>
          </a:xfrm>
          <a:prstGeom prst="rect">
            <a:avLst/>
          </a:prstGeom>
          <a:noFill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57C60C1-7DE1-1AFD-7436-8ED73C0E7DE3}"/>
              </a:ext>
            </a:extLst>
          </p:cNvPr>
          <p:cNvSpPr/>
          <p:nvPr/>
        </p:nvSpPr>
        <p:spPr>
          <a:xfrm>
            <a:off x="8892395" y="3486462"/>
            <a:ext cx="896129" cy="238497"/>
          </a:xfrm>
          <a:prstGeom prst="rect">
            <a:avLst/>
          </a:prstGeom>
          <a:noFill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FB3EE9A-0E1F-30A1-946A-7FC54333D88A}"/>
              </a:ext>
            </a:extLst>
          </p:cNvPr>
          <p:cNvSpPr/>
          <p:nvPr/>
        </p:nvSpPr>
        <p:spPr>
          <a:xfrm>
            <a:off x="8891185" y="3940202"/>
            <a:ext cx="896129" cy="238497"/>
          </a:xfrm>
          <a:prstGeom prst="rect">
            <a:avLst/>
          </a:prstGeom>
          <a:noFill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z</a:t>
            </a:r>
          </a:p>
        </p:txBody>
      </p:sp>
      <p:cxnSp>
        <p:nvCxnSpPr>
          <p:cNvPr id="46" name="Curved Connector 45">
            <a:extLst>
              <a:ext uri="{FF2B5EF4-FFF2-40B4-BE49-F238E27FC236}">
                <a16:creationId xmlns:a16="http://schemas.microsoft.com/office/drawing/2014/main" id="{05D6A080-F64B-6AFF-40A3-0BAB5F21EA82}"/>
              </a:ext>
            </a:extLst>
          </p:cNvPr>
          <p:cNvCxnSpPr>
            <a:cxnSpLocks/>
            <a:stCxn id="44" idx="1"/>
            <a:endCxn id="41" idx="1"/>
          </p:cNvCxnSpPr>
          <p:nvPr/>
        </p:nvCxnSpPr>
        <p:spPr>
          <a:xfrm rot="10800000" flipH="1">
            <a:off x="8892395" y="2120431"/>
            <a:ext cx="13448" cy="1485280"/>
          </a:xfrm>
          <a:prstGeom prst="curvedConnector3">
            <a:avLst>
              <a:gd name="adj1" fmla="val -1699881"/>
            </a:avLst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Curved Connector 46">
            <a:extLst>
              <a:ext uri="{FF2B5EF4-FFF2-40B4-BE49-F238E27FC236}">
                <a16:creationId xmlns:a16="http://schemas.microsoft.com/office/drawing/2014/main" id="{6365ED9C-457A-767C-C8DD-BEF03EBDD42B}"/>
              </a:ext>
            </a:extLst>
          </p:cNvPr>
          <p:cNvCxnSpPr>
            <a:cxnSpLocks/>
            <a:stCxn id="43" idx="1"/>
            <a:endCxn id="29" idx="1"/>
          </p:cNvCxnSpPr>
          <p:nvPr/>
        </p:nvCxnSpPr>
        <p:spPr>
          <a:xfrm rot="10800000" flipH="1">
            <a:off x="8884322" y="2422387"/>
            <a:ext cx="14931" cy="1412139"/>
          </a:xfrm>
          <a:prstGeom prst="curvedConnector3">
            <a:avLst>
              <a:gd name="adj1" fmla="val -1531043"/>
            </a:avLst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urved Connector 47">
            <a:extLst>
              <a:ext uri="{FF2B5EF4-FFF2-40B4-BE49-F238E27FC236}">
                <a16:creationId xmlns:a16="http://schemas.microsoft.com/office/drawing/2014/main" id="{484BF06B-08D7-E216-DEE3-798BBFDC275D}"/>
              </a:ext>
            </a:extLst>
          </p:cNvPr>
          <p:cNvCxnSpPr>
            <a:cxnSpLocks/>
            <a:stCxn id="42" idx="1"/>
            <a:endCxn id="45" idx="1"/>
          </p:cNvCxnSpPr>
          <p:nvPr/>
        </p:nvCxnSpPr>
        <p:spPr>
          <a:xfrm rot="10800000" flipV="1">
            <a:off x="8891185" y="2574171"/>
            <a:ext cx="13448" cy="1485280"/>
          </a:xfrm>
          <a:prstGeom prst="curvedConnector3">
            <a:avLst>
              <a:gd name="adj1" fmla="val 1799881"/>
            </a:avLst>
          </a:prstGeom>
          <a:ln w="38100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98327DAD-1FC1-35E1-8F46-C1ABD2B26055}"/>
              </a:ext>
            </a:extLst>
          </p:cNvPr>
          <p:cNvSpPr txBox="1"/>
          <p:nvPr/>
        </p:nvSpPr>
        <p:spPr>
          <a:xfrm>
            <a:off x="1752813" y="1489154"/>
            <a:ext cx="3674975" cy="28007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sum(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*x,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*y)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z = *x + *y;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&amp;z;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b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*s = sum(&amp;a, &amp;b);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*s);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39289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5536A-2D9A-DBBF-8821-F94C7713B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Stack vs. Heap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90E7B-0B5A-7340-0A19-C5083B2DDBCB}"/>
              </a:ext>
            </a:extLst>
          </p:cNvPr>
          <p:cNvSpPr txBox="1"/>
          <p:nvPr/>
        </p:nvSpPr>
        <p:spPr>
          <a:xfrm>
            <a:off x="1752817" y="1496510"/>
            <a:ext cx="4897563" cy="32932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sum(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*x,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*y)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*z = 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*)malloc(</a:t>
            </a:r>
            <a:r>
              <a:rPr lang="en-US" sz="1600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*z = *x + *y;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z;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b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*s = sum(&amp;a, &amp;b);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*s);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 free(s);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71937DE-2738-5E80-DE1A-3DF59F31DE04}"/>
              </a:ext>
            </a:extLst>
          </p:cNvPr>
          <p:cNvGrpSpPr/>
          <p:nvPr/>
        </p:nvGrpSpPr>
        <p:grpSpPr>
          <a:xfrm>
            <a:off x="8899257" y="1162304"/>
            <a:ext cx="896130" cy="4792686"/>
            <a:chOff x="7211641" y="2964924"/>
            <a:chExt cx="896130" cy="187422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97B8B8B-EBBC-62F9-306A-C8239F2FF683}"/>
                </a:ext>
              </a:extLst>
            </p:cNvPr>
            <p:cNvSpPr/>
            <p:nvPr/>
          </p:nvSpPr>
          <p:spPr>
            <a:xfrm>
              <a:off x="7211641" y="2964924"/>
              <a:ext cx="896130" cy="18742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8B33BBF-6BC4-B762-99B8-6836F28493CF}"/>
                </a:ext>
              </a:extLst>
            </p:cNvPr>
            <p:cNvSpPr txBox="1"/>
            <p:nvPr/>
          </p:nvSpPr>
          <p:spPr>
            <a:xfrm rot="5400000">
              <a:off x="7539848" y="4484197"/>
              <a:ext cx="2461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…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94C1B14-177C-A26C-C540-68DD7A4B687F}"/>
                </a:ext>
              </a:extLst>
            </p:cNvPr>
            <p:cNvSpPr txBox="1"/>
            <p:nvPr/>
          </p:nvSpPr>
          <p:spPr>
            <a:xfrm rot="5400000">
              <a:off x="7539848" y="2885026"/>
              <a:ext cx="2461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…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FE024890-4DF9-2B98-1DA2-F6D714BD20E6}"/>
              </a:ext>
            </a:extLst>
          </p:cNvPr>
          <p:cNvSpPr/>
          <p:nvPr/>
        </p:nvSpPr>
        <p:spPr>
          <a:xfrm>
            <a:off x="8899254" y="1863025"/>
            <a:ext cx="896129" cy="113090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705F12-42F4-FB5C-4EA4-49DA63E746B6}"/>
              </a:ext>
            </a:extLst>
          </p:cNvPr>
          <p:cNvSpPr txBox="1"/>
          <p:nvPr/>
        </p:nvSpPr>
        <p:spPr>
          <a:xfrm>
            <a:off x="8757681" y="753865"/>
            <a:ext cx="1078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Memory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ACC1CE-603A-F2C2-D642-835AA0B7698F}"/>
              </a:ext>
            </a:extLst>
          </p:cNvPr>
          <p:cNvSpPr/>
          <p:nvPr/>
        </p:nvSpPr>
        <p:spPr>
          <a:xfrm>
            <a:off x="8899254" y="4623759"/>
            <a:ext cx="896129" cy="846740"/>
          </a:xfrm>
          <a:prstGeom prst="rect">
            <a:avLst/>
          </a:prstGeom>
          <a:solidFill>
            <a:srgbClr val="F5D1CF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AA898C-5D7D-1E59-ADED-80489CF6D87F}"/>
              </a:ext>
            </a:extLst>
          </p:cNvPr>
          <p:cNvSpPr txBox="1"/>
          <p:nvPr/>
        </p:nvSpPr>
        <p:spPr>
          <a:xfrm>
            <a:off x="10112315" y="2339103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main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B5CD10-574F-B3CC-D446-C5D8727CC139}"/>
              </a:ext>
            </a:extLst>
          </p:cNvPr>
          <p:cNvSpPr txBox="1"/>
          <p:nvPr/>
        </p:nvSpPr>
        <p:spPr>
          <a:xfrm>
            <a:off x="10870722" y="4789719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Heap</a:t>
            </a: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7B1AA54C-9F12-8C57-76DB-B6ACE806FA54}"/>
              </a:ext>
            </a:extLst>
          </p:cNvPr>
          <p:cNvSpPr/>
          <p:nvPr/>
        </p:nvSpPr>
        <p:spPr>
          <a:xfrm>
            <a:off x="9836502" y="1870830"/>
            <a:ext cx="278237" cy="1089173"/>
          </a:xfrm>
          <a:prstGeom prst="rightBrace">
            <a:avLst>
              <a:gd name="adj1" fmla="val 30242"/>
              <a:gd name="adj2" fmla="val 50000"/>
            </a:avLst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AC8C7D23-F315-79CC-3B4B-025E7D03B488}"/>
              </a:ext>
            </a:extLst>
          </p:cNvPr>
          <p:cNvSpPr/>
          <p:nvPr/>
        </p:nvSpPr>
        <p:spPr>
          <a:xfrm>
            <a:off x="9836502" y="4616773"/>
            <a:ext cx="278237" cy="853725"/>
          </a:xfrm>
          <a:prstGeom prst="rightBrace">
            <a:avLst>
              <a:gd name="adj1" fmla="val 30242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532BBE-0EE6-67B8-C507-ED984C78E1A2}"/>
              </a:ext>
            </a:extLst>
          </p:cNvPr>
          <p:cNvSpPr/>
          <p:nvPr/>
        </p:nvSpPr>
        <p:spPr>
          <a:xfrm>
            <a:off x="8897771" y="2318896"/>
            <a:ext cx="896129" cy="238497"/>
          </a:xfrm>
          <a:prstGeom prst="rect">
            <a:avLst/>
          </a:prstGeom>
          <a:noFill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7CF7E8-41A9-F871-6D4F-A8C2556E7DC1}"/>
              </a:ext>
            </a:extLst>
          </p:cNvPr>
          <p:cNvSpPr/>
          <p:nvPr/>
        </p:nvSpPr>
        <p:spPr>
          <a:xfrm>
            <a:off x="8897770" y="3000915"/>
            <a:ext cx="896129" cy="80225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23">
            <a:extLst>
              <a:ext uri="{FF2B5EF4-FFF2-40B4-BE49-F238E27FC236}">
                <a16:creationId xmlns:a16="http://schemas.microsoft.com/office/drawing/2014/main" id="{C2C74565-3E52-F43E-DAE4-C78957095205}"/>
              </a:ext>
            </a:extLst>
          </p:cNvPr>
          <p:cNvSpPr>
            <a:spLocks/>
          </p:cNvSpPr>
          <p:nvPr/>
        </p:nvSpPr>
        <p:spPr bwMode="auto">
          <a:xfrm>
            <a:off x="10910528" y="2960003"/>
            <a:ext cx="7604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rt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kern="120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E66269-2934-6438-B4DA-22E0254F078F}"/>
              </a:ext>
            </a:extLst>
          </p:cNvPr>
          <p:cNvSpPr txBox="1"/>
          <p:nvPr/>
        </p:nvSpPr>
        <p:spPr>
          <a:xfrm>
            <a:off x="10112315" y="3224220"/>
            <a:ext cx="646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sum</a:t>
            </a:r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B345C03F-3B41-95A0-BE78-85F16F7F48BD}"/>
              </a:ext>
            </a:extLst>
          </p:cNvPr>
          <p:cNvSpPr/>
          <p:nvPr/>
        </p:nvSpPr>
        <p:spPr>
          <a:xfrm>
            <a:off x="9836502" y="3055047"/>
            <a:ext cx="278237" cy="748119"/>
          </a:xfrm>
          <a:prstGeom prst="rightBrace">
            <a:avLst>
              <a:gd name="adj1" fmla="val 30242"/>
              <a:gd name="adj2" fmla="val 50000"/>
            </a:avLst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98B47E-FD64-78CD-8220-89F08A0743E5}"/>
              </a:ext>
            </a:extLst>
          </p:cNvPr>
          <p:cNvSpPr/>
          <p:nvPr/>
        </p:nvSpPr>
        <p:spPr>
          <a:xfrm>
            <a:off x="8905843" y="2090082"/>
            <a:ext cx="896129" cy="238497"/>
          </a:xfrm>
          <a:prstGeom prst="rect">
            <a:avLst/>
          </a:prstGeom>
          <a:noFill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DD050F9-DA2E-DA22-242B-D81FD591C2E4}"/>
              </a:ext>
            </a:extLst>
          </p:cNvPr>
          <p:cNvSpPr/>
          <p:nvPr/>
        </p:nvSpPr>
        <p:spPr>
          <a:xfrm>
            <a:off x="8904633" y="3283407"/>
            <a:ext cx="896129" cy="238497"/>
          </a:xfrm>
          <a:prstGeom prst="rect">
            <a:avLst/>
          </a:prstGeom>
          <a:noFill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z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F4ECB90-7F34-9CE1-24C2-D2A009C3D57A}"/>
              </a:ext>
            </a:extLst>
          </p:cNvPr>
          <p:cNvSpPr/>
          <p:nvPr/>
        </p:nvSpPr>
        <p:spPr>
          <a:xfrm>
            <a:off x="8897767" y="2547710"/>
            <a:ext cx="896129" cy="238497"/>
          </a:xfrm>
          <a:prstGeom prst="rect">
            <a:avLst/>
          </a:prstGeom>
          <a:noFill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</a:t>
            </a:r>
          </a:p>
        </p:txBody>
      </p:sp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1489CB21-945D-712D-BC3C-9024F26FF031}"/>
              </a:ext>
            </a:extLst>
          </p:cNvPr>
          <p:cNvCxnSpPr>
            <a:cxnSpLocks/>
            <a:stCxn id="27" idx="1"/>
            <a:endCxn id="29" idx="1"/>
          </p:cNvCxnSpPr>
          <p:nvPr/>
        </p:nvCxnSpPr>
        <p:spPr>
          <a:xfrm rot="10800000" flipH="1" flipV="1">
            <a:off x="8897767" y="2666958"/>
            <a:ext cx="8076" cy="2322815"/>
          </a:xfrm>
          <a:prstGeom prst="curvedConnector3">
            <a:avLst>
              <a:gd name="adj1" fmla="val -5161701"/>
            </a:avLst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64C7A9D9-6EDA-97E2-BD17-CDB226CD42A9}"/>
              </a:ext>
            </a:extLst>
          </p:cNvPr>
          <p:cNvSpPr/>
          <p:nvPr/>
        </p:nvSpPr>
        <p:spPr>
          <a:xfrm>
            <a:off x="8905843" y="4870525"/>
            <a:ext cx="896129" cy="238497"/>
          </a:xfrm>
          <a:prstGeom prst="rect">
            <a:avLst/>
          </a:prstGeom>
          <a:solidFill>
            <a:schemeClr val="bg2"/>
          </a:solidFill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593866D1-E77C-1315-AB55-89F6AAD87909}"/>
              </a:ext>
            </a:extLst>
          </p:cNvPr>
          <p:cNvCxnSpPr>
            <a:cxnSpLocks/>
            <a:stCxn id="19" idx="1"/>
            <a:endCxn id="29" idx="1"/>
          </p:cNvCxnSpPr>
          <p:nvPr/>
        </p:nvCxnSpPr>
        <p:spPr>
          <a:xfrm rot="10800000" flipH="1" flipV="1">
            <a:off x="8897769" y="3402040"/>
            <a:ext cx="8073" cy="1587733"/>
          </a:xfrm>
          <a:prstGeom prst="curvedConnector3">
            <a:avLst>
              <a:gd name="adj1" fmla="val -2831661"/>
            </a:avLst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2120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EC02A-BF3A-8F04-6603-A838884A2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299F7-7128-50F7-1473-358F65051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trike="sngStrike" dirty="0"/>
              <a:t>Recap of pointers </a:t>
            </a:r>
          </a:p>
          <a:p>
            <a:r>
              <a:rPr lang="en-US" dirty="0"/>
              <a:t>Arrays</a:t>
            </a:r>
          </a:p>
          <a:p>
            <a:r>
              <a:rPr lang="en-US" dirty="0"/>
              <a:t>Performance implication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114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FB2D7-E40B-6329-DD10-FC00782F4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563948-DE8C-29F4-247F-1148F00A37C0}"/>
              </a:ext>
            </a:extLst>
          </p:cNvPr>
          <p:cNvSpPr txBox="1"/>
          <p:nvPr/>
        </p:nvSpPr>
        <p:spPr>
          <a:xfrm>
            <a:off x="4754339" y="1372649"/>
            <a:ext cx="353173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[]</a:t>
            </a:r>
          </a:p>
          <a:p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range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1000000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arr.append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D4636D-A21B-1BB2-45A4-84324C3FFD82}"/>
              </a:ext>
            </a:extLst>
          </p:cNvPr>
          <p:cNvSpPr txBox="1"/>
          <p:nvPr/>
        </p:nvSpPr>
        <p:spPr>
          <a:xfrm>
            <a:off x="783588" y="1662545"/>
            <a:ext cx="36391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How to represent lists in Python?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3DDB3C-7CC3-CE34-8C25-D973F24CE333}"/>
              </a:ext>
            </a:extLst>
          </p:cNvPr>
          <p:cNvSpPr txBox="1"/>
          <p:nvPr/>
        </p:nvSpPr>
        <p:spPr>
          <a:xfrm>
            <a:off x="801660" y="2948686"/>
            <a:ext cx="322331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Two ways to present lists in 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Linked lists (in 2 weeks)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Arrays (today)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38B313-A4DA-67EC-AD34-576CDAAEC523}"/>
              </a:ext>
            </a:extLst>
          </p:cNvPr>
          <p:cNvSpPr txBox="1"/>
          <p:nvPr/>
        </p:nvSpPr>
        <p:spPr>
          <a:xfrm>
            <a:off x="799414" y="4469688"/>
            <a:ext cx="103673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Tradeoffs: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Linked lists can </a:t>
            </a:r>
            <a:r>
              <a:rPr lang="en-US" sz="2000" i="1" dirty="0"/>
              <a:t>grow and shrink</a:t>
            </a:r>
            <a:r>
              <a:rPr lang="en-US" sz="2000" dirty="0"/>
              <a:t>, but takes </a:t>
            </a:r>
            <a:r>
              <a:rPr lang="en-US" sz="2000" i="1" dirty="0"/>
              <a:t>n</a:t>
            </a:r>
            <a:r>
              <a:rPr lang="en-US" sz="2000" dirty="0"/>
              <a:t> iterations to get to the </a:t>
            </a:r>
            <a:r>
              <a:rPr lang="en-US" sz="2000" i="1" dirty="0"/>
              <a:t>n</a:t>
            </a:r>
            <a:r>
              <a:rPr lang="en-US" sz="2000" baseline="30000" dirty="0"/>
              <a:t>th</a:t>
            </a:r>
            <a:r>
              <a:rPr lang="en-US" sz="2000" dirty="0"/>
              <a:t> element of a linked list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Arrays have a </a:t>
            </a:r>
            <a:r>
              <a:rPr lang="en-US" sz="2000" i="1" dirty="0"/>
              <a:t>fixed</a:t>
            </a:r>
            <a:r>
              <a:rPr lang="en-US" sz="2000" dirty="0"/>
              <a:t> length, but any index within an array can be accessed for the </a:t>
            </a:r>
            <a:r>
              <a:rPr lang="en-US" sz="2000" i="1" dirty="0"/>
              <a:t>same</a:t>
            </a:r>
            <a:r>
              <a:rPr lang="en-US" sz="2000" dirty="0"/>
              <a:t> low cost</a:t>
            </a:r>
          </a:p>
        </p:txBody>
      </p:sp>
    </p:spTree>
    <p:extLst>
      <p:ext uri="{BB962C8B-B14F-4D97-AF65-F5344CB8AC3E}">
        <p14:creationId xmlns:p14="http://schemas.microsoft.com/office/powerpoint/2010/main" val="1287624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87096-7422-6C9D-4E9E-1C25280DE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layout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E3B163-79CE-9ED7-F014-2F2EA6002A1A}"/>
              </a:ext>
            </a:extLst>
          </p:cNvPr>
          <p:cNvSpPr/>
          <p:nvPr/>
        </p:nvSpPr>
        <p:spPr>
          <a:xfrm>
            <a:off x="9176035" y="1959362"/>
            <a:ext cx="1488006" cy="35151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F38AC4-A9C7-4246-7DEA-7FCD4C2905FE}"/>
              </a:ext>
            </a:extLst>
          </p:cNvPr>
          <p:cNvSpPr txBox="1"/>
          <p:nvPr/>
        </p:nvSpPr>
        <p:spPr>
          <a:xfrm rot="5400000">
            <a:off x="9721106" y="4679130"/>
            <a:ext cx="397866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400" dirty="0"/>
              <a:t>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64ABF6-1AF4-5C06-AC09-BE404428463F}"/>
              </a:ext>
            </a:extLst>
          </p:cNvPr>
          <p:cNvSpPr txBox="1"/>
          <p:nvPr/>
        </p:nvSpPr>
        <p:spPr>
          <a:xfrm rot="5400000">
            <a:off x="9726471" y="2172392"/>
            <a:ext cx="397866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400" dirty="0"/>
              <a:t>…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7EFAED-7FE8-A5EF-B20A-3624D01E42D0}"/>
              </a:ext>
            </a:extLst>
          </p:cNvPr>
          <p:cNvSpPr/>
          <p:nvPr/>
        </p:nvSpPr>
        <p:spPr>
          <a:xfrm>
            <a:off x="9176037" y="2838544"/>
            <a:ext cx="1488004" cy="4287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element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045EC5-704B-3A62-2D5A-04190EEA929D}"/>
              </a:ext>
            </a:extLst>
          </p:cNvPr>
          <p:cNvSpPr/>
          <p:nvPr/>
        </p:nvSpPr>
        <p:spPr>
          <a:xfrm>
            <a:off x="9176037" y="3258165"/>
            <a:ext cx="1488004" cy="4287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element 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EC0EDD-395B-6441-4C4B-07DD2454D552}"/>
              </a:ext>
            </a:extLst>
          </p:cNvPr>
          <p:cNvSpPr/>
          <p:nvPr/>
        </p:nvSpPr>
        <p:spPr>
          <a:xfrm>
            <a:off x="9176037" y="3687786"/>
            <a:ext cx="1488004" cy="4287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element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40D613-483F-2A7D-9F13-A62272E3AB94}"/>
              </a:ext>
            </a:extLst>
          </p:cNvPr>
          <p:cNvSpPr txBox="1"/>
          <p:nvPr/>
        </p:nvSpPr>
        <p:spPr>
          <a:xfrm>
            <a:off x="10878940" y="3571645"/>
            <a:ext cx="1078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Memory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89A61E-BC2B-7AA4-D406-925FE75DBB94}"/>
              </a:ext>
            </a:extLst>
          </p:cNvPr>
          <p:cNvSpPr txBox="1"/>
          <p:nvPr/>
        </p:nvSpPr>
        <p:spPr>
          <a:xfrm>
            <a:off x="9646724" y="5499668"/>
            <a:ext cx="2186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 address (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000…00</a:t>
            </a:r>
            <a:r>
              <a:rPr lang="en-US" dirty="0"/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40E864-A6BE-FD56-6E46-A8289EC33D3D}"/>
              </a:ext>
            </a:extLst>
          </p:cNvPr>
          <p:cNvSpPr txBox="1"/>
          <p:nvPr/>
        </p:nvSpPr>
        <p:spPr>
          <a:xfrm>
            <a:off x="9531283" y="1589574"/>
            <a:ext cx="2230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 address (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fff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…ff</a:t>
            </a:r>
            <a:r>
              <a:rPr lang="en-US" dirty="0"/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FC7ED8-55AD-499D-3B78-F75AB247F1B2}"/>
              </a:ext>
            </a:extLst>
          </p:cNvPr>
          <p:cNvSpPr txBox="1"/>
          <p:nvPr/>
        </p:nvSpPr>
        <p:spPr>
          <a:xfrm>
            <a:off x="228347" y="1840675"/>
            <a:ext cx="892263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 array is </a:t>
            </a:r>
            <a:r>
              <a:rPr lang="en-US" sz="200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homogeneous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(all elements are of the </a:t>
            </a:r>
            <a:r>
              <a:rPr lang="en-US" sz="200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same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type) and of </a:t>
            </a:r>
            <a:r>
              <a:rPr lang="en-US" sz="200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fixed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length.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Arrays are allocated contiguously in memory: an array is stored in a region of memory that has all the elements together with no gaps.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Arrays are allocated sequentially in memory: element 0 has the lowest address, element 1 has the next-lowest address, etc.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Element 1 is immediately after element 0 in memory. Element 2 is immediately after element 1 in memory.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CA32EF-0BD8-0EF9-1958-E84B0C23789D}"/>
              </a:ext>
            </a:extLst>
          </p:cNvPr>
          <p:cNvSpPr/>
          <p:nvPr/>
        </p:nvSpPr>
        <p:spPr>
          <a:xfrm>
            <a:off x="9176037" y="4116495"/>
            <a:ext cx="1488004" cy="4287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element 0</a:t>
            </a:r>
          </a:p>
        </p:txBody>
      </p:sp>
    </p:spTree>
    <p:extLst>
      <p:ext uri="{BB962C8B-B14F-4D97-AF65-F5344CB8AC3E}">
        <p14:creationId xmlns:p14="http://schemas.microsoft.com/office/powerpoint/2010/main" val="1680050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4BD5F-EE3A-9AE7-5205-5079ADF76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size and address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5B05CD-5C3F-884A-CB1C-ADABB272A3AC}"/>
              </a:ext>
            </a:extLst>
          </p:cNvPr>
          <p:cNvSpPr txBox="1"/>
          <p:nvPr/>
        </p:nvSpPr>
        <p:spPr>
          <a:xfrm>
            <a:off x="629392" y="1531917"/>
            <a:ext cx="46902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latin typeface="CMSS10"/>
              </a:rPr>
              <a:t>Suppose we want an array of four </a:t>
            </a:r>
            <a:r>
              <a:rPr lang="en-US" sz="2000" dirty="0">
                <a:effectLst/>
                <a:latin typeface="CMTT10"/>
              </a:rPr>
              <a:t>double</a:t>
            </a:r>
            <a:r>
              <a:rPr lang="en-US" sz="2000" dirty="0">
                <a:effectLst/>
                <a:latin typeface="CMSS10"/>
              </a:rPr>
              <a:t>s.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AA0A4E-5E5E-9242-2B78-F73BCEC05692}"/>
              </a:ext>
            </a:extLst>
          </p:cNvPr>
          <p:cNvSpPr txBox="1"/>
          <p:nvPr/>
        </p:nvSpPr>
        <p:spPr>
          <a:xfrm>
            <a:off x="629392" y="2086197"/>
            <a:ext cx="398044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 double takes 8 bytes.</a:t>
            </a:r>
          </a:p>
          <a:p>
            <a:r>
              <a:rPr lang="en-US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==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8</a:t>
            </a:r>
            <a:endParaRPr lang="en-US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endParaRPr lang="en-US" dirty="0">
              <a:latin typeface="CMSS10"/>
            </a:endParaRPr>
          </a:p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total size of the array is 32 bytes</a:t>
            </a:r>
          </a:p>
          <a:p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</a:t>
            </a:r>
            <a:r>
              <a:rPr lang="en-US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==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32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en-US" sz="1800" dirty="0">
              <a:effectLst/>
              <a:latin typeface="CMSS1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92DC77-7A1A-1418-824D-61DD227139EA}"/>
                  </a:ext>
                </a:extLst>
              </p:cNvPr>
              <p:cNvSpPr txBox="1"/>
              <p:nvPr/>
            </p:nvSpPr>
            <p:spPr>
              <a:xfrm>
                <a:off x="629392" y="3840523"/>
                <a:ext cx="10467930" cy="25545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Suppose the array is allocated starting at address 200.</a:t>
                </a:r>
              </a:p>
              <a:p>
                <a:r>
                  <a:rPr lang="en-US" sz="20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The 32 bytes of the array have addresses 200-231.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The 0</a:t>
                </a:r>
                <a:r>
                  <a:rPr lang="en-US" sz="2000" baseline="300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th</a:t>
                </a:r>
                <a:r>
                  <a:rPr lang="en-US" sz="20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element starts at address 200 and uses 8 bytes.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The 1</a:t>
                </a:r>
                <a:r>
                  <a:rPr lang="en-US" sz="2000" baseline="300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st</a:t>
                </a:r>
                <a:r>
                  <a:rPr lang="en-US" sz="20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element starts at address 208 and uses 8 bytes.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The 2</a:t>
                </a:r>
                <a:r>
                  <a:rPr lang="en-US" sz="2000" baseline="300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nd</a:t>
                </a:r>
                <a:r>
                  <a:rPr lang="en-US" sz="20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element starts at address 216 and uses 8 bytes.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The 3</a:t>
                </a:r>
                <a:r>
                  <a:rPr lang="en-US" sz="2000" baseline="300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rd</a:t>
                </a:r>
                <a:r>
                  <a:rPr lang="en-US" sz="20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element starts at address 224 and uses 8 bytes.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The </a:t>
                </a:r>
                <a:r>
                  <a:rPr lang="en-US" sz="2000" i="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lang="en-US" sz="2000" baseline="30000" dirty="0" err="1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th</a:t>
                </a:r>
                <a:r>
                  <a:rPr lang="en-US" sz="20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 element starts at address 200+8</a:t>
                </a:r>
                <a14:m>
                  <m:oMath xmlns:m="http://schemas.openxmlformats.org/officeDocument/2006/math">
                    <m:r>
                      <a:rPr lang="en-US" sz="200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∙</m:t>
                    </m:r>
                  </m:oMath>
                </a14:m>
                <a:r>
                  <a:rPr lang="en-US" sz="2000" i="1" dirty="0" err="1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lang="en-US" sz="20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and uses 8 bytes.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The </a:t>
                </a:r>
                <a:r>
                  <a:rPr lang="en-US" sz="2000" i="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lang="en-US" sz="2000" baseline="30000" dirty="0" err="1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th</a:t>
                </a:r>
                <a:r>
                  <a:rPr lang="en-US" sz="20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element starts at address 200+</a:t>
                </a:r>
                <a:r>
                  <a:rPr lang="en-US" dirty="0">
                    <a:solidFill>
                      <a:srgbClr val="C1651C"/>
                    </a:solidFill>
                    <a:latin typeface="Menlo" panose="020B0609030804020204" pitchFamily="49" charset="0"/>
                  </a:rPr>
                  <a:t>sizeof</a:t>
                </a:r>
                <a:r>
                  <a:rPr lang="en-US" dirty="0">
                    <a:solidFill>
                      <a:srgbClr val="000000"/>
                    </a:solidFill>
                    <a:latin typeface="Menlo" panose="020B0609030804020204" pitchFamily="49" charset="0"/>
                  </a:rPr>
                  <a:t>(</a:t>
                </a:r>
                <a:r>
                  <a:rPr lang="en-US" dirty="0">
                    <a:solidFill>
                      <a:srgbClr val="2FB41D"/>
                    </a:solidFill>
                    <a:latin typeface="Menlo" panose="020B0609030804020204" pitchFamily="49" charset="0"/>
                  </a:rPr>
                  <a:t>double</a:t>
                </a:r>
                <a:r>
                  <a:rPr lang="en-US" dirty="0">
                    <a:solidFill>
                      <a:srgbClr val="000000"/>
                    </a:solidFill>
                    <a:latin typeface="Menlo" panose="020B0609030804020204" pitchFamily="49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sz="200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∙</m:t>
                    </m:r>
                  </m:oMath>
                </a14:m>
                <a:r>
                  <a:rPr lang="en-US" sz="2000" i="1" dirty="0" err="1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lang="en-US" sz="20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and uses </a:t>
                </a:r>
                <a:r>
                  <a:rPr lang="en-US" dirty="0" err="1">
                    <a:solidFill>
                      <a:srgbClr val="C1651C"/>
                    </a:solidFill>
                    <a:latin typeface="Menlo" panose="020B0609030804020204" pitchFamily="49" charset="0"/>
                  </a:rPr>
                  <a:t>sizeof</a:t>
                </a:r>
                <a:r>
                  <a:rPr lang="en-US" dirty="0">
                    <a:solidFill>
                      <a:srgbClr val="000000"/>
                    </a:solidFill>
                    <a:latin typeface="Menlo" panose="020B0609030804020204" pitchFamily="49" charset="0"/>
                  </a:rPr>
                  <a:t>(</a:t>
                </a:r>
                <a:r>
                  <a:rPr lang="en-US" dirty="0">
                    <a:solidFill>
                      <a:srgbClr val="2FB41D"/>
                    </a:solidFill>
                    <a:latin typeface="Menlo" panose="020B0609030804020204" pitchFamily="49" charset="0"/>
                  </a:rPr>
                  <a:t>double</a:t>
                </a:r>
                <a:r>
                  <a:rPr lang="en-US" dirty="0">
                    <a:solidFill>
                      <a:srgbClr val="000000"/>
                    </a:solidFill>
                    <a:latin typeface="Menlo" panose="020B0609030804020204" pitchFamily="49" charset="0"/>
                  </a:rPr>
                  <a:t>)</a:t>
                </a:r>
                <a:r>
                  <a:rPr lang="en-US" sz="20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bytes.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92DC77-7A1A-1418-824D-61DD22713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392" y="3840523"/>
                <a:ext cx="10467930" cy="2554545"/>
              </a:xfrm>
              <a:prstGeom prst="rect">
                <a:avLst/>
              </a:prstGeom>
              <a:blipFill>
                <a:blip r:embed="rId2"/>
                <a:stretch>
                  <a:fillRect l="-606" t="-990" b="-3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250DC5A6-905D-650B-963F-8FCE4EC4059D}"/>
              </a:ext>
            </a:extLst>
          </p:cNvPr>
          <p:cNvSpPr/>
          <p:nvPr/>
        </p:nvSpPr>
        <p:spPr>
          <a:xfrm>
            <a:off x="9176035" y="1959362"/>
            <a:ext cx="1488006" cy="35151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A5DA4-5A01-8C3F-32D9-0185059631E0}"/>
              </a:ext>
            </a:extLst>
          </p:cNvPr>
          <p:cNvSpPr txBox="1"/>
          <p:nvPr/>
        </p:nvSpPr>
        <p:spPr>
          <a:xfrm rot="5400000">
            <a:off x="9721106" y="4679130"/>
            <a:ext cx="397866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400" dirty="0"/>
              <a:t>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7A20E0-B591-6395-A22A-CB9414878C32}"/>
              </a:ext>
            </a:extLst>
          </p:cNvPr>
          <p:cNvSpPr txBox="1"/>
          <p:nvPr/>
        </p:nvSpPr>
        <p:spPr>
          <a:xfrm rot="5400000">
            <a:off x="9726471" y="2172392"/>
            <a:ext cx="397866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400" dirty="0"/>
              <a:t>…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F169E7-AD9B-A0F4-F7C7-CAB857E8801A}"/>
              </a:ext>
            </a:extLst>
          </p:cNvPr>
          <p:cNvSpPr/>
          <p:nvPr/>
        </p:nvSpPr>
        <p:spPr>
          <a:xfrm>
            <a:off x="9176037" y="2838544"/>
            <a:ext cx="1488004" cy="4287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element 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8FA805-3770-9157-B180-EBC7C736DFE1}"/>
              </a:ext>
            </a:extLst>
          </p:cNvPr>
          <p:cNvSpPr/>
          <p:nvPr/>
        </p:nvSpPr>
        <p:spPr>
          <a:xfrm>
            <a:off x="9176037" y="3258165"/>
            <a:ext cx="1488004" cy="4287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element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7239E8-F156-8A87-F897-B24321218DDE}"/>
              </a:ext>
            </a:extLst>
          </p:cNvPr>
          <p:cNvSpPr/>
          <p:nvPr/>
        </p:nvSpPr>
        <p:spPr>
          <a:xfrm>
            <a:off x="9176037" y="3687786"/>
            <a:ext cx="1488004" cy="4287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element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237840-09E2-EFFC-49FF-584B12F7EB2A}"/>
              </a:ext>
            </a:extLst>
          </p:cNvPr>
          <p:cNvSpPr txBox="1"/>
          <p:nvPr/>
        </p:nvSpPr>
        <p:spPr>
          <a:xfrm>
            <a:off x="10878940" y="3571645"/>
            <a:ext cx="1078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Memory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709856-4437-874A-80D6-7CCD1BDED9F4}"/>
              </a:ext>
            </a:extLst>
          </p:cNvPr>
          <p:cNvSpPr txBox="1"/>
          <p:nvPr/>
        </p:nvSpPr>
        <p:spPr>
          <a:xfrm>
            <a:off x="9646724" y="5499668"/>
            <a:ext cx="2186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 address (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000…00</a:t>
            </a:r>
            <a:r>
              <a:rPr lang="en-US" dirty="0"/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FD1BFB-7447-6E5E-2EB3-20252ABD27FD}"/>
              </a:ext>
            </a:extLst>
          </p:cNvPr>
          <p:cNvSpPr txBox="1"/>
          <p:nvPr/>
        </p:nvSpPr>
        <p:spPr>
          <a:xfrm>
            <a:off x="9531283" y="1589574"/>
            <a:ext cx="2230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 address (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fff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…ff</a:t>
            </a:r>
            <a:r>
              <a:rPr lang="en-US" dirty="0"/>
              <a:t>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079F02-7547-A64E-99E4-265433649703}"/>
              </a:ext>
            </a:extLst>
          </p:cNvPr>
          <p:cNvSpPr/>
          <p:nvPr/>
        </p:nvSpPr>
        <p:spPr>
          <a:xfrm>
            <a:off x="9176037" y="4116495"/>
            <a:ext cx="1488004" cy="4287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element 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625DE3-9378-5B4F-E408-D220970C7219}"/>
              </a:ext>
            </a:extLst>
          </p:cNvPr>
          <p:cNvSpPr txBox="1"/>
          <p:nvPr/>
        </p:nvSpPr>
        <p:spPr>
          <a:xfrm>
            <a:off x="7562928" y="4341697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 = 200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32C2A3F-37B2-03BB-E195-A11A92F25220}"/>
              </a:ext>
            </a:extLst>
          </p:cNvPr>
          <p:cNvCxnSpPr/>
          <p:nvPr/>
        </p:nvCxnSpPr>
        <p:spPr>
          <a:xfrm>
            <a:off x="8814227" y="4545204"/>
            <a:ext cx="3618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DE4D461-1956-068F-5B57-B09030363B77}"/>
              </a:ext>
            </a:extLst>
          </p:cNvPr>
          <p:cNvSpPr txBox="1"/>
          <p:nvPr/>
        </p:nvSpPr>
        <p:spPr>
          <a:xfrm>
            <a:off x="7562928" y="3912988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 = 208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07BC4DC-888E-C679-86AD-540FC4F31432}"/>
              </a:ext>
            </a:extLst>
          </p:cNvPr>
          <p:cNvCxnSpPr/>
          <p:nvPr/>
        </p:nvCxnSpPr>
        <p:spPr>
          <a:xfrm>
            <a:off x="8814227" y="4116495"/>
            <a:ext cx="3618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A46DD0F-B779-D45A-3BF2-EC2080C5DF6E}"/>
              </a:ext>
            </a:extLst>
          </p:cNvPr>
          <p:cNvSpPr txBox="1"/>
          <p:nvPr/>
        </p:nvSpPr>
        <p:spPr>
          <a:xfrm>
            <a:off x="7562799" y="3487841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 = 216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43F293F-1251-A50F-EF57-69B725B59139}"/>
              </a:ext>
            </a:extLst>
          </p:cNvPr>
          <p:cNvCxnSpPr/>
          <p:nvPr/>
        </p:nvCxnSpPr>
        <p:spPr>
          <a:xfrm>
            <a:off x="8814098" y="3691348"/>
            <a:ext cx="3618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1EC96C1-D3DD-FB88-2F72-BC09CEE90BBF}"/>
              </a:ext>
            </a:extLst>
          </p:cNvPr>
          <p:cNvSpPr txBox="1"/>
          <p:nvPr/>
        </p:nvSpPr>
        <p:spPr>
          <a:xfrm>
            <a:off x="7562799" y="3059132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 = 224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D5B77E5-F33A-64BE-E075-1D8AC2F21485}"/>
              </a:ext>
            </a:extLst>
          </p:cNvPr>
          <p:cNvCxnSpPr/>
          <p:nvPr/>
        </p:nvCxnSpPr>
        <p:spPr>
          <a:xfrm>
            <a:off x="8814098" y="3262639"/>
            <a:ext cx="3618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9936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565EA-3AD9-6AAC-54CB-8F2924937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Syntax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432434-148E-1182-D687-3C565081057B}"/>
              </a:ext>
            </a:extLst>
          </p:cNvPr>
          <p:cNvSpPr txBox="1"/>
          <p:nvPr/>
        </p:nvSpPr>
        <p:spPr>
          <a:xfrm>
            <a:off x="948267" y="1557867"/>
            <a:ext cx="75319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type of an array is based on the type of elements that it is storing. 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 e.g.,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array contains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elements</a:t>
            </a:r>
            <a:endParaRPr lang="en-US" sz="20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336D06-A1F8-8E24-C8A9-7027D456E3AC}"/>
              </a:ext>
            </a:extLst>
          </p:cNvPr>
          <p:cNvSpPr txBox="1"/>
          <p:nvPr/>
        </p:nvSpPr>
        <p:spPr>
          <a:xfrm>
            <a:off x="948267" y="2472267"/>
            <a:ext cx="21287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latin typeface="CMSS10"/>
              </a:rPr>
              <a:t>An array of </a:t>
            </a:r>
            <a:r>
              <a:rPr lang="en-US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ints</a:t>
            </a:r>
            <a:r>
              <a:rPr lang="en-US" sz="2000" dirty="0">
                <a:effectLst/>
                <a:latin typeface="CMSS10"/>
              </a:rPr>
              <a:t>: </a:t>
            </a:r>
          </a:p>
          <a:p>
            <a:r>
              <a:rPr lang="en-US" sz="2000" dirty="0">
                <a:effectLst/>
                <a:latin typeface="CMSS10"/>
              </a:rPr>
              <a:t>       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*a;</a:t>
            </a:r>
            <a:endParaRPr lang="en-US" sz="2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EA628C-D82A-588D-91CB-5BBD275BC53B}"/>
              </a:ext>
            </a:extLst>
          </p:cNvPr>
          <p:cNvSpPr txBox="1"/>
          <p:nvPr/>
        </p:nvSpPr>
        <p:spPr>
          <a:xfrm>
            <a:off x="948267" y="3371487"/>
            <a:ext cx="75791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This is identical (same type and syntax) with a pointer to a single </a:t>
            </a:r>
            <a:r>
              <a:rPr lang="en-US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Why?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CF3331-621F-B0AB-E5DE-596B703CE1E9}"/>
              </a:ext>
            </a:extLst>
          </p:cNvPr>
          <p:cNvSpPr/>
          <p:nvPr/>
        </p:nvSpPr>
        <p:spPr>
          <a:xfrm>
            <a:off x="9176035" y="1959362"/>
            <a:ext cx="1488006" cy="35151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DCC35A-A804-A23C-B5AE-491E7A68F05A}"/>
              </a:ext>
            </a:extLst>
          </p:cNvPr>
          <p:cNvSpPr txBox="1"/>
          <p:nvPr/>
        </p:nvSpPr>
        <p:spPr>
          <a:xfrm rot="5400000">
            <a:off x="9721106" y="4679130"/>
            <a:ext cx="397866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400" dirty="0"/>
              <a:t>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A83FED-A480-A7D4-73DB-E265D73143D7}"/>
              </a:ext>
            </a:extLst>
          </p:cNvPr>
          <p:cNvSpPr txBox="1"/>
          <p:nvPr/>
        </p:nvSpPr>
        <p:spPr>
          <a:xfrm rot="5400000">
            <a:off x="9726471" y="2172392"/>
            <a:ext cx="397866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400" dirty="0"/>
              <a:t>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FDAD2F-D613-19AD-6928-0F085EA19650}"/>
              </a:ext>
            </a:extLst>
          </p:cNvPr>
          <p:cNvSpPr txBox="1"/>
          <p:nvPr/>
        </p:nvSpPr>
        <p:spPr>
          <a:xfrm>
            <a:off x="10878940" y="3571645"/>
            <a:ext cx="1078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Memory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502C0E-5299-159B-EC1A-6A1CB12300F9}"/>
              </a:ext>
            </a:extLst>
          </p:cNvPr>
          <p:cNvSpPr txBox="1"/>
          <p:nvPr/>
        </p:nvSpPr>
        <p:spPr>
          <a:xfrm>
            <a:off x="9646724" y="5499668"/>
            <a:ext cx="2186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 address (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000…00</a:t>
            </a:r>
            <a:r>
              <a:rPr lang="en-US" dirty="0"/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F6E5FE-8B2B-0B6E-8D0E-A31DB79B188D}"/>
              </a:ext>
            </a:extLst>
          </p:cNvPr>
          <p:cNvSpPr txBox="1"/>
          <p:nvPr/>
        </p:nvSpPr>
        <p:spPr>
          <a:xfrm>
            <a:off x="9531283" y="1589574"/>
            <a:ext cx="2230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 address (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fff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…ff</a:t>
            </a:r>
            <a:r>
              <a:rPr lang="en-US" dirty="0"/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1DDE4D-D137-2786-7C7F-AFF793AC9587}"/>
              </a:ext>
            </a:extLst>
          </p:cNvPr>
          <p:cNvSpPr txBox="1"/>
          <p:nvPr/>
        </p:nvSpPr>
        <p:spPr>
          <a:xfrm>
            <a:off x="8527590" y="4360538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02663B7-C95B-C8F3-B374-2C62FFFEE937}"/>
              </a:ext>
            </a:extLst>
          </p:cNvPr>
          <p:cNvCxnSpPr/>
          <p:nvPr/>
        </p:nvCxnSpPr>
        <p:spPr>
          <a:xfrm>
            <a:off x="8814227" y="4545204"/>
            <a:ext cx="3618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9A45407-57F4-CA0D-26F1-6ADF487765BE}"/>
              </a:ext>
            </a:extLst>
          </p:cNvPr>
          <p:cNvSpPr/>
          <p:nvPr/>
        </p:nvSpPr>
        <p:spPr>
          <a:xfrm>
            <a:off x="9176037" y="2838544"/>
            <a:ext cx="1488004" cy="4287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element 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BDFFE6-2451-0D0A-4514-972454FE7469}"/>
              </a:ext>
            </a:extLst>
          </p:cNvPr>
          <p:cNvSpPr/>
          <p:nvPr/>
        </p:nvSpPr>
        <p:spPr>
          <a:xfrm>
            <a:off x="9176037" y="3258165"/>
            <a:ext cx="1488004" cy="4287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element 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A6EBD68-021A-BD96-044E-967DA51008C4}"/>
              </a:ext>
            </a:extLst>
          </p:cNvPr>
          <p:cNvSpPr/>
          <p:nvPr/>
        </p:nvSpPr>
        <p:spPr>
          <a:xfrm>
            <a:off x="9176037" y="3687786"/>
            <a:ext cx="1488004" cy="4287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element 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C0A9AB9-169D-451E-0F5B-3FC153DCBEC9}"/>
              </a:ext>
            </a:extLst>
          </p:cNvPr>
          <p:cNvSpPr/>
          <p:nvPr/>
        </p:nvSpPr>
        <p:spPr>
          <a:xfrm>
            <a:off x="9176037" y="4116495"/>
            <a:ext cx="1488004" cy="4287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element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8C7435-B164-8818-D31C-77EFEAB7DAE0}"/>
              </a:ext>
            </a:extLst>
          </p:cNvPr>
          <p:cNvSpPr txBox="1"/>
          <p:nvPr/>
        </p:nvSpPr>
        <p:spPr>
          <a:xfrm>
            <a:off x="998013" y="4477221"/>
            <a:ext cx="70164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 array variable holds a pointer to the first element of the array. </a:t>
            </a:r>
          </a:p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array must be allocated separately. </a:t>
            </a:r>
          </a:p>
        </p:txBody>
      </p:sp>
    </p:spTree>
    <p:extLst>
      <p:ext uri="{BB962C8B-B14F-4D97-AF65-F5344CB8AC3E}">
        <p14:creationId xmlns:p14="http://schemas.microsoft.com/office/powerpoint/2010/main" val="889190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B4499-5655-F2BD-B8EA-0FCA6F8FD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 as local variables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4E44A4-434D-E7F5-EAC8-AED3476FF7C8}"/>
              </a:ext>
            </a:extLst>
          </p:cNvPr>
          <p:cNvSpPr txBox="1"/>
          <p:nvPr/>
        </p:nvSpPr>
        <p:spPr>
          <a:xfrm>
            <a:off x="494947" y="1896533"/>
            <a:ext cx="112021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a[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 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makes an array of length 5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b[] = {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40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50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 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makes and initializes an array of length 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61D83C-C6C0-165C-5F98-E03FED4D187C}"/>
              </a:ext>
            </a:extLst>
          </p:cNvPr>
          <p:cNvSpPr txBox="1"/>
          <p:nvPr/>
        </p:nvSpPr>
        <p:spPr>
          <a:xfrm>
            <a:off x="778933" y="1405467"/>
            <a:ext cx="42200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 allocate an array as a local variable: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328CFD-6D63-7322-BB8E-85FA11884062}"/>
              </a:ext>
            </a:extLst>
          </p:cNvPr>
          <p:cNvSpPr txBox="1"/>
          <p:nvPr/>
        </p:nvSpPr>
        <p:spPr>
          <a:xfrm>
            <a:off x="829733" y="2726267"/>
            <a:ext cx="6181500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Note: braces can only be used to initialize a new array. 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a[] = {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40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50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 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syntax error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1107A0-0831-F6A1-9FD4-6BDB622B2ACB}"/>
              </a:ext>
            </a:extLst>
          </p:cNvPr>
          <p:cNvSpPr txBox="1"/>
          <p:nvPr/>
        </p:nvSpPr>
        <p:spPr>
          <a:xfrm>
            <a:off x="829733" y="3838083"/>
            <a:ext cx="729719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 access the </a:t>
            </a:r>
            <a:r>
              <a:rPr lang="en-US" sz="2000" i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000" baseline="300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element (“indexing”), use bracket notation: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a[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7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sets element with index 2 to 7</a:t>
            </a: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 = a[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 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retrieves the element with index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CD8A70-909C-4355-F6D3-9CF4DF567373}"/>
              </a:ext>
            </a:extLst>
          </p:cNvPr>
          <p:cNvSpPr txBox="1"/>
          <p:nvPr/>
        </p:nvSpPr>
        <p:spPr>
          <a:xfrm>
            <a:off x="838200" y="5098590"/>
            <a:ext cx="84930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Note: arrays use 0-based indexing (a length </a:t>
            </a:r>
            <a:r>
              <a:rPr lang="en-US" sz="200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array has indices 0, 1, 2, . . . , </a:t>
            </a:r>
            <a:r>
              <a:rPr lang="en-US" sz="200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-1). </a:t>
            </a:r>
          </a:p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Warning: C performs no bounds checking</a:t>
            </a:r>
          </a:p>
        </p:txBody>
      </p:sp>
    </p:spTree>
    <p:extLst>
      <p:ext uri="{BB962C8B-B14F-4D97-AF65-F5344CB8AC3E}">
        <p14:creationId xmlns:p14="http://schemas.microsoft.com/office/powerpoint/2010/main" val="1326934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A71DD-8AA4-31D5-11A2-6DB7B01A4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variables are pointers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661008-E08B-77F5-872E-1422E828A121}"/>
              </a:ext>
            </a:extLst>
          </p:cNvPr>
          <p:cNvSpPr txBox="1"/>
          <p:nvPr/>
        </p:nvSpPr>
        <p:spPr>
          <a:xfrm>
            <a:off x="530052" y="1590906"/>
            <a:ext cx="701040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Consider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[] = {10, 20, 30, 40};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arr</a:t>
            </a:r>
            <a:r>
              <a:rPr lang="en-US" sz="2000" dirty="0"/>
              <a:t> is an array of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2000" dirty="0"/>
              <a:t> values.</a:t>
            </a:r>
          </a:p>
          <a:p>
            <a:endParaRPr lang="en-US" sz="2000" dirty="0"/>
          </a:p>
          <a:p>
            <a:r>
              <a:rPr lang="en-US" sz="2000" dirty="0"/>
              <a:t>Accessing element 0: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arr</a:t>
            </a:r>
            <a:r>
              <a:rPr lang="en-US" sz="2000" dirty="0"/>
              <a:t> is also a </a:t>
            </a:r>
            <a:r>
              <a:rPr lang="en-US" sz="2000" b="1" dirty="0"/>
              <a:t>pointer</a:t>
            </a:r>
            <a:r>
              <a:rPr lang="en-US" sz="2000" dirty="0"/>
              <a:t> to element 0.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[0]</a:t>
            </a:r>
            <a:r>
              <a:rPr lang="en-US" sz="2000" dirty="0"/>
              <a:t> is the </a:t>
            </a:r>
            <a:r>
              <a:rPr lang="en-US" sz="2000" b="1" dirty="0"/>
              <a:t>value</a:t>
            </a:r>
            <a:r>
              <a:rPr lang="en-US" sz="2000" dirty="0"/>
              <a:t> of the element 0.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*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arr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also the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value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of the element 0. </a:t>
            </a:r>
          </a:p>
          <a:p>
            <a:endParaRPr lang="en-US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Accessing element 1: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arr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[1]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the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value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of the element 1.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arr+1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also the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pointer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 element 1.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*(arr+1)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also the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value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of the element 1.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nlo" panose="020B0609030804020204" pitchFamily="49" charset="0"/>
              <a:ea typeface="+mn-ea"/>
              <a:cs typeface="+mn-cs"/>
            </a:endParaRPr>
          </a:p>
          <a:p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BD787F-F9B1-809F-5DFB-B38B540457A9}"/>
              </a:ext>
            </a:extLst>
          </p:cNvPr>
          <p:cNvSpPr txBox="1"/>
          <p:nvPr/>
        </p:nvSpPr>
        <p:spPr>
          <a:xfrm>
            <a:off x="7845608" y="1811490"/>
            <a:ext cx="1078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Memory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88D854-2600-BEF6-1EDF-81019CC53E15}"/>
              </a:ext>
            </a:extLst>
          </p:cNvPr>
          <p:cNvSpPr txBox="1"/>
          <p:nvPr/>
        </p:nvSpPr>
        <p:spPr>
          <a:xfrm>
            <a:off x="9646724" y="5499668"/>
            <a:ext cx="2186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 address (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000…00</a:t>
            </a:r>
            <a:r>
              <a:rPr lang="en-US" dirty="0"/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6DC2C0-576D-4A48-B31A-F5671122CFFA}"/>
              </a:ext>
            </a:extLst>
          </p:cNvPr>
          <p:cNvSpPr txBox="1"/>
          <p:nvPr/>
        </p:nvSpPr>
        <p:spPr>
          <a:xfrm>
            <a:off x="9531283" y="1589574"/>
            <a:ext cx="2230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 address (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fff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…ff</a:t>
            </a:r>
            <a:r>
              <a:rPr lang="en-US" dirty="0"/>
              <a:t>)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E98BAF1-4E47-E26A-ABD6-8E45526D0D89}"/>
              </a:ext>
            </a:extLst>
          </p:cNvPr>
          <p:cNvGrpSpPr/>
          <p:nvPr/>
        </p:nvGrpSpPr>
        <p:grpSpPr>
          <a:xfrm>
            <a:off x="9176035" y="1959362"/>
            <a:ext cx="2067700" cy="3515162"/>
            <a:chOff x="9176035" y="1959362"/>
            <a:chExt cx="1488006" cy="351516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6183A75-6AA8-39AE-C87F-6E09D1F1C7C8}"/>
                </a:ext>
              </a:extLst>
            </p:cNvPr>
            <p:cNvSpPr/>
            <p:nvPr/>
          </p:nvSpPr>
          <p:spPr>
            <a:xfrm>
              <a:off x="9176035" y="1959362"/>
              <a:ext cx="1488006" cy="351516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CCC2BD9-3A19-B426-7C7D-28E1F9D51131}"/>
                </a:ext>
              </a:extLst>
            </p:cNvPr>
            <p:cNvSpPr txBox="1"/>
            <p:nvPr/>
          </p:nvSpPr>
          <p:spPr>
            <a:xfrm rot="5400000">
              <a:off x="9721106" y="4679130"/>
              <a:ext cx="397866" cy="46166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400" dirty="0"/>
                <a:t>…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B0421A5-9C8E-241B-02A1-CB345BFB3D0D}"/>
                </a:ext>
              </a:extLst>
            </p:cNvPr>
            <p:cNvSpPr txBox="1"/>
            <p:nvPr/>
          </p:nvSpPr>
          <p:spPr>
            <a:xfrm rot="5400000">
              <a:off x="9726471" y="2172392"/>
              <a:ext cx="397866" cy="46166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400" dirty="0"/>
                <a:t>…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B45529D-F462-9238-6382-512A1A168C9B}"/>
                </a:ext>
              </a:extLst>
            </p:cNvPr>
            <p:cNvSpPr/>
            <p:nvPr/>
          </p:nvSpPr>
          <p:spPr>
            <a:xfrm>
              <a:off x="9176037" y="2838544"/>
              <a:ext cx="1488004" cy="4287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40 (element 3)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6F7F29F-FBFD-D18B-EAE2-7863C6236908}"/>
                </a:ext>
              </a:extLst>
            </p:cNvPr>
            <p:cNvSpPr/>
            <p:nvPr/>
          </p:nvSpPr>
          <p:spPr>
            <a:xfrm>
              <a:off x="9176037" y="3258165"/>
              <a:ext cx="1488004" cy="4287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30 (element 2)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07ACD40-CDBE-33D0-E0B2-5C6FBBE9F9C2}"/>
                </a:ext>
              </a:extLst>
            </p:cNvPr>
            <p:cNvSpPr/>
            <p:nvPr/>
          </p:nvSpPr>
          <p:spPr>
            <a:xfrm>
              <a:off x="9176037" y="3687786"/>
              <a:ext cx="1488004" cy="4287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20 (element 1)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79C0475-782A-263C-90E7-20126ACCDF17}"/>
                </a:ext>
              </a:extLst>
            </p:cNvPr>
            <p:cNvSpPr/>
            <p:nvPr/>
          </p:nvSpPr>
          <p:spPr>
            <a:xfrm>
              <a:off x="9176037" y="4116495"/>
              <a:ext cx="1488004" cy="4287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 (element 0)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2419C5C4-0A12-3707-031A-29A61B5707CC}"/>
              </a:ext>
            </a:extLst>
          </p:cNvPr>
          <p:cNvSpPr txBox="1"/>
          <p:nvPr/>
        </p:nvSpPr>
        <p:spPr>
          <a:xfrm>
            <a:off x="7332957" y="4360538"/>
            <a:ext cx="1542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0x16f9af604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E9B25E7-50C7-4E6A-1FCC-31EAB3AEBB33}"/>
              </a:ext>
            </a:extLst>
          </p:cNvPr>
          <p:cNvCxnSpPr/>
          <p:nvPr/>
        </p:nvCxnSpPr>
        <p:spPr>
          <a:xfrm>
            <a:off x="8814227" y="4545204"/>
            <a:ext cx="3618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DEE1F2F-CF07-6F3F-F25C-DFE4FA6B765D}"/>
              </a:ext>
            </a:extLst>
          </p:cNvPr>
          <p:cNvSpPr txBox="1"/>
          <p:nvPr/>
        </p:nvSpPr>
        <p:spPr>
          <a:xfrm>
            <a:off x="7332957" y="3931829"/>
            <a:ext cx="1542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0x16f9af608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29D2B1F-9DA6-B597-AC8D-C72EF33B2818}"/>
              </a:ext>
            </a:extLst>
          </p:cNvPr>
          <p:cNvCxnSpPr/>
          <p:nvPr/>
        </p:nvCxnSpPr>
        <p:spPr>
          <a:xfrm>
            <a:off x="8814227" y="4116495"/>
            <a:ext cx="3618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65D57F6-90A3-B335-B46D-F5E2D8BDAE6B}"/>
              </a:ext>
            </a:extLst>
          </p:cNvPr>
          <p:cNvSpPr txBox="1"/>
          <p:nvPr/>
        </p:nvSpPr>
        <p:spPr>
          <a:xfrm>
            <a:off x="7332957" y="3495547"/>
            <a:ext cx="1542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0x16f9af60c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4BE22E5-4296-7AC8-BBE2-F325FA49F541}"/>
              </a:ext>
            </a:extLst>
          </p:cNvPr>
          <p:cNvCxnSpPr/>
          <p:nvPr/>
        </p:nvCxnSpPr>
        <p:spPr>
          <a:xfrm>
            <a:off x="8814227" y="3680213"/>
            <a:ext cx="3618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5FAC0C4-6767-CB13-D292-C2ABB0BB61EE}"/>
              </a:ext>
            </a:extLst>
          </p:cNvPr>
          <p:cNvSpPr txBox="1"/>
          <p:nvPr/>
        </p:nvSpPr>
        <p:spPr>
          <a:xfrm>
            <a:off x="7324915" y="3073499"/>
            <a:ext cx="1542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0x16f9af610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F03D8F9-8F54-403A-B22F-31D0F9ECD083}"/>
              </a:ext>
            </a:extLst>
          </p:cNvPr>
          <p:cNvCxnSpPr/>
          <p:nvPr/>
        </p:nvCxnSpPr>
        <p:spPr>
          <a:xfrm>
            <a:off x="8806185" y="3258165"/>
            <a:ext cx="3618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C4A4F28-3D82-D4D8-820C-69256BD6B674}"/>
              </a:ext>
            </a:extLst>
          </p:cNvPr>
          <p:cNvSpPr txBox="1"/>
          <p:nvPr/>
        </p:nvSpPr>
        <p:spPr>
          <a:xfrm>
            <a:off x="530052" y="5572681"/>
            <a:ext cx="95051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Pointer arithmetic.</a:t>
            </a:r>
          </a:p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When writing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arr+</a:t>
            </a:r>
            <a:r>
              <a:rPr kumimoji="0" lang="en-US" sz="1800" b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i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C implicitly multiplies </a:t>
            </a:r>
            <a:r>
              <a:rPr lang="en-US" sz="2000" i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by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1651C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sizeof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int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)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for an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int</a:t>
            </a:r>
            <a:r>
              <a:rPr lang="en-US" sz="2000" dirty="0">
                <a:solidFill>
                  <a:srgbClr val="2B91A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array. </a:t>
            </a:r>
          </a:p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Indexing with the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arr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]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syntax is more straightforward and readable.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429E75-54A2-2516-FD0A-32B51B123F05}"/>
              </a:ext>
            </a:extLst>
          </p:cNvPr>
          <p:cNvSpPr txBox="1"/>
          <p:nvPr/>
        </p:nvSpPr>
        <p:spPr>
          <a:xfrm>
            <a:off x="4583130" y="2818127"/>
            <a:ext cx="20233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sym typeface="Wingdings" pitchFamily="2" charset="2"/>
              </a:rPr>
              <a:t></a:t>
            </a:r>
            <a:r>
              <a:rPr lang="en-US" sz="2000" dirty="0">
                <a:solidFill>
                  <a:srgbClr val="C00000"/>
                </a:solidFill>
                <a:sym typeface="Wingdings" pitchFamily="2" charset="2"/>
              </a:rPr>
              <a:t> </a:t>
            </a:r>
            <a:r>
              <a:rPr lang="en-US" dirty="0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0x16f9af604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46F7B-5AF0-2095-509B-DCB41F5BA63D}"/>
              </a:ext>
            </a:extLst>
          </p:cNvPr>
          <p:cNvSpPr txBox="1"/>
          <p:nvPr/>
        </p:nvSpPr>
        <p:spPr>
          <a:xfrm>
            <a:off x="4845059" y="3147415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itchFamily="2" charset="2"/>
              </a:rPr>
              <a:t>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enlo" panose="020B0609030804020204" pitchFamily="49" charset="0"/>
              </a:rPr>
              <a:t>10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13EAB6-1858-D3ED-A50B-A2F43A82C396}"/>
              </a:ext>
            </a:extLst>
          </p:cNvPr>
          <p:cNvSpPr txBox="1"/>
          <p:nvPr/>
        </p:nvSpPr>
        <p:spPr>
          <a:xfrm>
            <a:off x="4966086" y="3429000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sym typeface="Wingdings" pitchFamily="2" charset="2"/>
              </a:rPr>
              <a:t>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enlo" panose="020B0609030804020204" pitchFamily="49" charset="0"/>
              </a:rPr>
              <a:t>10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5B095F-A0DB-D51C-128F-F11086AE2A05}"/>
              </a:ext>
            </a:extLst>
          </p:cNvPr>
          <p:cNvSpPr txBox="1"/>
          <p:nvPr/>
        </p:nvSpPr>
        <p:spPr>
          <a:xfrm>
            <a:off x="4845059" y="4316174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itchFamily="2" charset="2"/>
              </a:rPr>
              <a:t> </a:t>
            </a:r>
            <a:r>
              <a:rPr lang="en-US" dirty="0">
                <a:solidFill>
                  <a:srgbClr val="C00000"/>
                </a:solidFill>
                <a:latin typeface="Menlo" panose="020B0609030804020204" pitchFamily="49" charset="0"/>
                <a:sym typeface="Wingdings" pitchFamily="2" charset="2"/>
              </a:rPr>
              <a:t>2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enlo" panose="020B0609030804020204" pitchFamily="49" charset="0"/>
              </a:rPr>
              <a:t>0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6C9D4F-B6D5-E9A1-AA48-C1CD8F6E3E83}"/>
              </a:ext>
            </a:extLst>
          </p:cNvPr>
          <p:cNvSpPr txBox="1"/>
          <p:nvPr/>
        </p:nvSpPr>
        <p:spPr>
          <a:xfrm>
            <a:off x="4980805" y="4621719"/>
            <a:ext cx="20505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itchFamily="2" charset="2"/>
              </a:rPr>
              <a:t>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enlo" panose="020B0609030804020204" pitchFamily="49" charset="0"/>
              </a:rPr>
              <a:t>0x16f9af608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063106F-D6BC-42C3-6273-F3225583CAD4}"/>
              </a:ext>
            </a:extLst>
          </p:cNvPr>
          <p:cNvSpPr txBox="1"/>
          <p:nvPr/>
        </p:nvSpPr>
        <p:spPr>
          <a:xfrm>
            <a:off x="5594785" y="4951221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itchFamily="2" charset="2"/>
              </a:rPr>
              <a:t> </a:t>
            </a:r>
            <a:r>
              <a:rPr lang="en-US" dirty="0">
                <a:solidFill>
                  <a:srgbClr val="C00000"/>
                </a:solidFill>
                <a:latin typeface="Menlo" panose="020B0609030804020204" pitchFamily="49" charset="0"/>
                <a:sym typeface="Wingdings" pitchFamily="2" charset="2"/>
              </a:rPr>
              <a:t>20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388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27" grpId="0"/>
      <p:bldP spid="3" grpId="0"/>
      <p:bldP spid="4" grpId="0"/>
      <p:bldP spid="5" grpId="0"/>
      <p:bldP spid="29" grpId="0"/>
      <p:bldP spid="30" grpId="0"/>
      <p:bldP spid="3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D382A-3B25-24F5-B6A4-2DD67DB31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Array Length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9493FF-216D-A3E3-0923-0DEF9D9F1409}"/>
              </a:ext>
            </a:extLst>
          </p:cNvPr>
          <p:cNvSpPr txBox="1"/>
          <p:nvPr/>
        </p:nvSpPr>
        <p:spPr>
          <a:xfrm>
            <a:off x="838200" y="1557867"/>
            <a:ext cx="9382761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Q: If an array variable is a pointer to element 0, how do you tell how long the array is? </a:t>
            </a:r>
          </a:p>
          <a:p>
            <a:endParaRPr lang="en-US" sz="20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Answers:</a:t>
            </a:r>
          </a:p>
          <a:p>
            <a:pPr lvl="1"/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When you allocate the array, you tell C the size of the array.</a:t>
            </a:r>
            <a:b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Once the allocation is made, C does </a:t>
            </a:r>
            <a:r>
              <a:rPr lang="en-US" sz="20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keep track of the length.</a:t>
            </a:r>
            <a:b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Why? C doesn’t perform bounds checking, so doesn’t need to know.</a:t>
            </a:r>
            <a:b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Consequence: If you need to know the length, you need to keep track of it yourself </a:t>
            </a: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C6234C-3EE4-1763-5287-0E818049311F}"/>
              </a:ext>
            </a:extLst>
          </p:cNvPr>
          <p:cNvSpPr txBox="1"/>
          <p:nvPr/>
        </p:nvSpPr>
        <p:spPr>
          <a:xfrm>
            <a:off x="457200" y="4561469"/>
            <a:ext cx="6599884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[] = {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50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 </a:t>
            </a:r>
            <a:endParaRPr lang="en-US" dirty="0">
              <a:solidFill>
                <a:srgbClr val="C814C9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],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],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],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],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51B313-89F0-AEBA-4435-7C69E2FC4E24}"/>
              </a:ext>
            </a:extLst>
          </p:cNvPr>
          <p:cNvSpPr txBox="1"/>
          <p:nvPr/>
        </p:nvSpPr>
        <p:spPr>
          <a:xfrm>
            <a:off x="7569200" y="4605867"/>
            <a:ext cx="3392275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/>
              <a:t>Output: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$ ./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a.out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     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10, 20, 30, 50, 6897364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9969B05-38EB-CB85-766F-B24235733CCA}"/>
              </a:ext>
            </a:extLst>
          </p:cNvPr>
          <p:cNvSpPr/>
          <p:nvPr/>
        </p:nvSpPr>
        <p:spPr>
          <a:xfrm>
            <a:off x="5669279" y="5367614"/>
            <a:ext cx="951653" cy="389719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481D86E-E465-5687-7FB0-DCA90B9D2499}"/>
              </a:ext>
            </a:extLst>
          </p:cNvPr>
          <p:cNvSpPr/>
          <p:nvPr/>
        </p:nvSpPr>
        <p:spPr>
          <a:xfrm>
            <a:off x="9843934" y="5052368"/>
            <a:ext cx="1010331" cy="459896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49CE98-8DD6-E3AC-25B2-7A3DB998AD84}"/>
              </a:ext>
            </a:extLst>
          </p:cNvPr>
          <p:cNvSpPr txBox="1"/>
          <p:nvPr/>
        </p:nvSpPr>
        <p:spPr>
          <a:xfrm>
            <a:off x="7569200" y="6095495"/>
            <a:ext cx="3272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Accessing the 5</a:t>
            </a:r>
            <a:r>
              <a:rPr lang="en-US" baseline="30000" dirty="0"/>
              <a:t>th</a:t>
            </a:r>
            <a:r>
              <a:rPr lang="en-US" dirty="0"/>
              <a:t> element won't return meaning result. </a:t>
            </a:r>
            <a:endParaRPr lang="en-US" dirty="0">
              <a:effectLst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1FB51CD-FB3D-C75D-50E1-240CF988743A}"/>
              </a:ext>
            </a:extLst>
          </p:cNvPr>
          <p:cNvCxnSpPr>
            <a:cxnSpLocks/>
          </p:cNvCxnSpPr>
          <p:nvPr/>
        </p:nvCxnSpPr>
        <p:spPr>
          <a:xfrm flipV="1">
            <a:off x="9584267" y="5512264"/>
            <a:ext cx="685833" cy="626927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0929230-68C6-3041-98FC-EAF42DD1389A}"/>
              </a:ext>
            </a:extLst>
          </p:cNvPr>
          <p:cNvCxnSpPr>
            <a:cxnSpLocks/>
            <a:endCxn id="7" idx="3"/>
          </p:cNvCxnSpPr>
          <p:nvPr/>
        </p:nvCxnSpPr>
        <p:spPr>
          <a:xfrm flipH="1" flipV="1">
            <a:off x="6620932" y="5562474"/>
            <a:ext cx="948268" cy="713448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8352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6BE14-5C4E-EEED-72C6-DBB99895C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Reading elements from an array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CEA633-F16B-8FC0-0DCA-952FEBE0184C}"/>
              </a:ext>
            </a:extLst>
          </p:cNvPr>
          <p:cNvSpPr txBox="1"/>
          <p:nvPr/>
        </p:nvSpPr>
        <p:spPr>
          <a:xfrm>
            <a:off x="736600" y="2035987"/>
            <a:ext cx="5359400" cy="45243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sum(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a[],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alen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double* a  is equivalent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res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alen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res += a[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*(a + </a:t>
            </a:r>
            <a:r>
              <a:rPr lang="en-US" dirty="0" err="1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)  is equivalent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res;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xs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[] = {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30.5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 = sum(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xs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s is 60.5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AEDF75-AC13-DCC7-4DCD-07A8E46B87D1}"/>
              </a:ext>
            </a:extLst>
          </p:cNvPr>
          <p:cNvSpPr txBox="1"/>
          <p:nvPr/>
        </p:nvSpPr>
        <p:spPr>
          <a:xfrm>
            <a:off x="812800" y="1354667"/>
            <a:ext cx="24393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Summing an array</a:t>
            </a:r>
          </a:p>
        </p:txBody>
      </p:sp>
    </p:spTree>
    <p:extLst>
      <p:ext uri="{BB962C8B-B14F-4D97-AF65-F5344CB8AC3E}">
        <p14:creationId xmlns:p14="http://schemas.microsoft.com/office/powerpoint/2010/main" val="1590484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0142B-F0BA-8231-3314-0DBB0ED12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Modifying elements of an array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8146F-16C3-10C5-97DA-BC958D1A647E}"/>
              </a:ext>
            </a:extLst>
          </p:cNvPr>
          <p:cNvSpPr txBox="1"/>
          <p:nvPr/>
        </p:nvSpPr>
        <p:spPr>
          <a:xfrm>
            <a:off x="842551" y="2087013"/>
            <a:ext cx="6181500" cy="34163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squares_change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a[],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alen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alen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a[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*= a[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xs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[] = {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squares_change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xs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</a:t>
            </a:r>
            <a:r>
              <a:rPr lang="en-US" dirty="0" err="1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xs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 is now 1, 4, 9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CECA7F-46E1-DEBA-8E06-9D45A7745F74}"/>
              </a:ext>
            </a:extLst>
          </p:cNvPr>
          <p:cNvSpPr txBox="1"/>
          <p:nvPr/>
        </p:nvSpPr>
        <p:spPr>
          <a:xfrm>
            <a:off x="812800" y="1354667"/>
            <a:ext cx="61307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Changing each element of an array to its square</a:t>
            </a:r>
          </a:p>
        </p:txBody>
      </p:sp>
    </p:spTree>
    <p:extLst>
      <p:ext uri="{BB962C8B-B14F-4D97-AF65-F5344CB8AC3E}">
        <p14:creationId xmlns:p14="http://schemas.microsoft.com/office/powerpoint/2010/main" val="22254299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79CFD-62E9-A546-28B6-D0A4F6203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creating arrays as local variables?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F727DA-CE77-2233-7991-F5ADBE2D20E8}"/>
              </a:ext>
            </a:extLst>
          </p:cNvPr>
          <p:cNvSpPr txBox="1"/>
          <p:nvPr/>
        </p:nvSpPr>
        <p:spPr>
          <a:xfrm>
            <a:off x="838200" y="1166842"/>
            <a:ext cx="4684776" cy="45243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*bitstring(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result[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9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result[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8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'\0'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8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&gt;&gt; 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7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-i)) &amp;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result[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'1'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else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result [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'0'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result;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19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*bits = bitstring(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%s\n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bits);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Rectangular Callout 4">
            <a:extLst>
              <a:ext uri="{FF2B5EF4-FFF2-40B4-BE49-F238E27FC236}">
                <a16:creationId xmlns:a16="http://schemas.microsoft.com/office/drawing/2014/main" id="{2E262636-2416-6E55-A778-C92FBAA3E5E4}"/>
              </a:ext>
            </a:extLst>
          </p:cNvPr>
          <p:cNvSpPr/>
          <p:nvPr/>
        </p:nvSpPr>
        <p:spPr>
          <a:xfrm>
            <a:off x="4298568" y="1529084"/>
            <a:ext cx="3829050" cy="789309"/>
          </a:xfrm>
          <a:prstGeom prst="wedgeRectCallout">
            <a:avLst>
              <a:gd name="adj1" fmla="val -84959"/>
              <a:gd name="adj2" fmla="val -1476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result</a:t>
            </a:r>
            <a:r>
              <a:rPr lang="en-US" sz="200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array is allocated as a local variable within </a:t>
            </a:r>
            <a:r>
              <a:rPr lang="en-US" dirty="0">
                <a:solidFill>
                  <a:schemeClr val="tx1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bitstring</a:t>
            </a:r>
            <a:r>
              <a:rPr lang="en-US" sz="200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DBF6D1-43B6-1C9C-27AC-7F6A4B2956B8}"/>
              </a:ext>
            </a:extLst>
          </p:cNvPr>
          <p:cNvSpPr txBox="1"/>
          <p:nvPr/>
        </p:nvSpPr>
        <p:spPr>
          <a:xfrm>
            <a:off x="4973345" y="3134787"/>
            <a:ext cx="3799190" cy="28623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array is deallocated when </a:t>
            </a:r>
            <a:r>
              <a:rPr lang="en-US" dirty="0">
                <a:solidFill>
                  <a:schemeClr val="tx1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bitstring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returns. </a:t>
            </a: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We have returned a pointer to memory that will be recycled and should not be used. </a:t>
            </a:r>
          </a:p>
          <a:p>
            <a:endParaRPr lang="en-US" sz="20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This may work (out of luck) but is wrong.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75299EB-ADF1-D95D-29BE-20C314CC0EA8}"/>
              </a:ext>
            </a:extLst>
          </p:cNvPr>
          <p:cNvGrpSpPr/>
          <p:nvPr/>
        </p:nvGrpSpPr>
        <p:grpSpPr>
          <a:xfrm>
            <a:off x="9572235" y="954597"/>
            <a:ext cx="896130" cy="5538278"/>
            <a:chOff x="7211641" y="2940522"/>
            <a:chExt cx="896130" cy="189862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E59BDD0-31B1-FBFA-267B-3EE5375F78B0}"/>
                </a:ext>
              </a:extLst>
            </p:cNvPr>
            <p:cNvSpPr/>
            <p:nvPr/>
          </p:nvSpPr>
          <p:spPr>
            <a:xfrm>
              <a:off x="7211641" y="2964924"/>
              <a:ext cx="896130" cy="18742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A71FD45-AFFC-F90A-A2ED-DA2CB1ED87EF}"/>
                </a:ext>
              </a:extLst>
            </p:cNvPr>
            <p:cNvSpPr txBox="1"/>
            <p:nvPr/>
          </p:nvSpPr>
          <p:spPr>
            <a:xfrm rot="5400000">
              <a:off x="7539848" y="4484197"/>
              <a:ext cx="2461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…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AC23F64-9ED7-5422-DE15-BDF72485B735}"/>
                </a:ext>
              </a:extLst>
            </p:cNvPr>
            <p:cNvSpPr txBox="1"/>
            <p:nvPr/>
          </p:nvSpPr>
          <p:spPr>
            <a:xfrm rot="5400000">
              <a:off x="7539848" y="2832778"/>
              <a:ext cx="2461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…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B7201AA8-E65E-B663-77FC-3909ABACF812}"/>
              </a:ext>
            </a:extLst>
          </p:cNvPr>
          <p:cNvSpPr/>
          <p:nvPr/>
        </p:nvSpPr>
        <p:spPr>
          <a:xfrm>
            <a:off x="9572232" y="1565523"/>
            <a:ext cx="896129" cy="144066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D04B52-F983-0F25-4EE9-A263C21221A8}"/>
              </a:ext>
            </a:extLst>
          </p:cNvPr>
          <p:cNvSpPr/>
          <p:nvPr/>
        </p:nvSpPr>
        <p:spPr>
          <a:xfrm>
            <a:off x="9572232" y="5020630"/>
            <a:ext cx="896129" cy="846740"/>
          </a:xfrm>
          <a:prstGeom prst="rect">
            <a:avLst/>
          </a:prstGeom>
          <a:solidFill>
            <a:srgbClr val="F5D1CF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6BAA30-3C95-739C-BC29-C8F70AAFD252}"/>
              </a:ext>
            </a:extLst>
          </p:cNvPr>
          <p:cNvSpPr txBox="1"/>
          <p:nvPr/>
        </p:nvSpPr>
        <p:spPr>
          <a:xfrm>
            <a:off x="10785293" y="2202574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main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3D8AD7-B5DE-BCC1-EEC4-50CD1B2D9BC7}"/>
              </a:ext>
            </a:extLst>
          </p:cNvPr>
          <p:cNvSpPr txBox="1"/>
          <p:nvPr/>
        </p:nvSpPr>
        <p:spPr>
          <a:xfrm>
            <a:off x="11337124" y="5199123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Heap</a:t>
            </a:r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606FB857-1E42-D7AD-3D71-5545AB36009B}"/>
              </a:ext>
            </a:extLst>
          </p:cNvPr>
          <p:cNvSpPr/>
          <p:nvPr/>
        </p:nvSpPr>
        <p:spPr>
          <a:xfrm>
            <a:off x="10509480" y="1565523"/>
            <a:ext cx="275809" cy="1440668"/>
          </a:xfrm>
          <a:prstGeom prst="rightBrace">
            <a:avLst>
              <a:gd name="adj1" fmla="val 30242"/>
              <a:gd name="adj2" fmla="val 50000"/>
            </a:avLst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EB06196D-570C-B422-6AFB-41B4080A8CDA}"/>
              </a:ext>
            </a:extLst>
          </p:cNvPr>
          <p:cNvSpPr/>
          <p:nvPr/>
        </p:nvSpPr>
        <p:spPr>
          <a:xfrm>
            <a:off x="10509480" y="5000944"/>
            <a:ext cx="278237" cy="853725"/>
          </a:xfrm>
          <a:prstGeom prst="rightBrace">
            <a:avLst>
              <a:gd name="adj1" fmla="val 30242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358349-A057-C8EC-FCF0-9B46DE845D59}"/>
              </a:ext>
            </a:extLst>
          </p:cNvPr>
          <p:cNvSpPr/>
          <p:nvPr/>
        </p:nvSpPr>
        <p:spPr>
          <a:xfrm>
            <a:off x="9570748" y="3006195"/>
            <a:ext cx="896129" cy="13889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23">
            <a:extLst>
              <a:ext uri="{FF2B5EF4-FFF2-40B4-BE49-F238E27FC236}">
                <a16:creationId xmlns:a16="http://schemas.microsoft.com/office/drawing/2014/main" id="{84A8B0AC-BF9B-E97A-DB08-7408ACE47BB3}"/>
              </a:ext>
            </a:extLst>
          </p:cNvPr>
          <p:cNvSpPr>
            <a:spLocks/>
          </p:cNvSpPr>
          <p:nvPr/>
        </p:nvSpPr>
        <p:spPr bwMode="auto">
          <a:xfrm>
            <a:off x="11376930" y="2848707"/>
            <a:ext cx="7604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rt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kern="120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04114F-6707-1A37-D971-1FA72D4657F6}"/>
              </a:ext>
            </a:extLst>
          </p:cNvPr>
          <p:cNvSpPr txBox="1"/>
          <p:nvPr/>
        </p:nvSpPr>
        <p:spPr>
          <a:xfrm>
            <a:off x="10765226" y="3440219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bitstring</a:t>
            </a:r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B3DFCAD8-A155-B96B-1BEF-EE3B3485FACA}"/>
              </a:ext>
            </a:extLst>
          </p:cNvPr>
          <p:cNvSpPr/>
          <p:nvPr/>
        </p:nvSpPr>
        <p:spPr>
          <a:xfrm>
            <a:off x="10509480" y="3070957"/>
            <a:ext cx="275813" cy="1324172"/>
          </a:xfrm>
          <a:prstGeom prst="rightBrace">
            <a:avLst>
              <a:gd name="adj1" fmla="val 30242"/>
              <a:gd name="adj2" fmla="val 50000"/>
            </a:avLst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CB5B0A8-F89F-5830-CC47-31398DECA092}"/>
              </a:ext>
            </a:extLst>
          </p:cNvPr>
          <p:cNvSpPr/>
          <p:nvPr/>
        </p:nvSpPr>
        <p:spPr>
          <a:xfrm>
            <a:off x="9577611" y="2318393"/>
            <a:ext cx="896129" cy="238497"/>
          </a:xfrm>
          <a:prstGeom prst="rect">
            <a:avLst/>
          </a:prstGeom>
          <a:noFill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bits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23C2086-4580-765D-05C7-C794F3F87BD4}"/>
              </a:ext>
            </a:extLst>
          </p:cNvPr>
          <p:cNvSpPr/>
          <p:nvPr/>
        </p:nvSpPr>
        <p:spPr>
          <a:xfrm>
            <a:off x="9564163" y="3803673"/>
            <a:ext cx="896129" cy="238497"/>
          </a:xfrm>
          <a:prstGeom prst="rect">
            <a:avLst/>
          </a:prstGeom>
          <a:noFill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result</a:t>
            </a:r>
          </a:p>
        </p:txBody>
      </p: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EC0F9021-BAE0-86D2-BC18-7DAA35F98A6F}"/>
              </a:ext>
            </a:extLst>
          </p:cNvPr>
          <p:cNvCxnSpPr>
            <a:cxnSpLocks/>
            <a:stCxn id="23" idx="1"/>
            <a:endCxn id="26" idx="1"/>
          </p:cNvCxnSpPr>
          <p:nvPr/>
        </p:nvCxnSpPr>
        <p:spPr>
          <a:xfrm rot="10800000" flipV="1">
            <a:off x="9564163" y="2437642"/>
            <a:ext cx="13448" cy="1485280"/>
          </a:xfrm>
          <a:prstGeom prst="curvedConnector3">
            <a:avLst>
              <a:gd name="adj1" fmla="val 1799881"/>
            </a:avLst>
          </a:prstGeom>
          <a:ln w="38100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5985A6D0-7183-C430-B9D7-82703BFB9193}"/>
              </a:ext>
            </a:extLst>
          </p:cNvPr>
          <p:cNvSpPr/>
          <p:nvPr/>
        </p:nvSpPr>
        <p:spPr>
          <a:xfrm>
            <a:off x="9577027" y="3201340"/>
            <a:ext cx="896129" cy="853724"/>
          </a:xfrm>
          <a:prstGeom prst="rect">
            <a:avLst/>
          </a:prstGeom>
          <a:noFill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elements</a:t>
            </a:r>
          </a:p>
        </p:txBody>
      </p:sp>
    </p:spTree>
    <p:extLst>
      <p:ext uri="{BB962C8B-B14F-4D97-AF65-F5344CB8AC3E}">
        <p14:creationId xmlns:p14="http://schemas.microsoft.com/office/powerpoint/2010/main" val="1303243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79CFD-62E9-A546-28B6-D0A4F6203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creating arrays as local variables?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F727DA-CE77-2233-7991-F5ADBE2D20E8}"/>
              </a:ext>
            </a:extLst>
          </p:cNvPr>
          <p:cNvSpPr txBox="1"/>
          <p:nvPr/>
        </p:nvSpPr>
        <p:spPr>
          <a:xfrm>
            <a:off x="838200" y="1162303"/>
            <a:ext cx="6400801" cy="5509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*bitstring(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*result = (char*) malloc(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9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(result ==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stderr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"unable to allocate array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  <a:endParaRPr lang="en-US" sz="16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exit(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result[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8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'\0'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8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&gt;&gt; 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7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-i)) &amp;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result[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'1'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else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result [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'0'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result;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19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*bits = bitstring(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%s\n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bits);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free(bits);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DBF6D1-43B6-1C9C-27AC-7F6A4B2956B8}"/>
              </a:ext>
            </a:extLst>
          </p:cNvPr>
          <p:cNvSpPr txBox="1"/>
          <p:nvPr/>
        </p:nvSpPr>
        <p:spPr>
          <a:xfrm>
            <a:off x="4108875" y="3801892"/>
            <a:ext cx="4802128" cy="10156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result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array is allocated in the persistent region of memory called the heap and will not be deallocated until we say so. </a:t>
            </a:r>
            <a:endParaRPr lang="en-US" sz="24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8E8E6BC-FD2C-793F-5B49-8217630DD7EE}"/>
              </a:ext>
            </a:extLst>
          </p:cNvPr>
          <p:cNvGrpSpPr/>
          <p:nvPr/>
        </p:nvGrpSpPr>
        <p:grpSpPr>
          <a:xfrm>
            <a:off x="9572235" y="954597"/>
            <a:ext cx="896130" cy="5751324"/>
            <a:chOff x="7211641" y="2940522"/>
            <a:chExt cx="896130" cy="197166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EAFBA2B-01A5-84F8-0497-7A2BCBB6302B}"/>
                </a:ext>
              </a:extLst>
            </p:cNvPr>
            <p:cNvSpPr/>
            <p:nvPr/>
          </p:nvSpPr>
          <p:spPr>
            <a:xfrm>
              <a:off x="7211641" y="2964924"/>
              <a:ext cx="896130" cy="18742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1EDCC94-7BF7-4584-0A18-4AF9B499B694}"/>
                </a:ext>
              </a:extLst>
            </p:cNvPr>
            <p:cNvSpPr txBox="1"/>
            <p:nvPr/>
          </p:nvSpPr>
          <p:spPr>
            <a:xfrm rot="5400000">
              <a:off x="7548366" y="4558261"/>
              <a:ext cx="2461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…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9F74F14-A60C-8630-B088-D72D3ACF9630}"/>
                </a:ext>
              </a:extLst>
            </p:cNvPr>
            <p:cNvSpPr txBox="1"/>
            <p:nvPr/>
          </p:nvSpPr>
          <p:spPr>
            <a:xfrm rot="5400000">
              <a:off x="7539848" y="2832778"/>
              <a:ext cx="2461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…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14F89462-C698-D19C-8290-3447CF092198}"/>
              </a:ext>
            </a:extLst>
          </p:cNvPr>
          <p:cNvSpPr/>
          <p:nvPr/>
        </p:nvSpPr>
        <p:spPr>
          <a:xfrm>
            <a:off x="9572232" y="1565523"/>
            <a:ext cx="896129" cy="144066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9DA864-F917-F576-DA39-99DE90064ED2}"/>
              </a:ext>
            </a:extLst>
          </p:cNvPr>
          <p:cNvSpPr/>
          <p:nvPr/>
        </p:nvSpPr>
        <p:spPr>
          <a:xfrm>
            <a:off x="9572232" y="5109655"/>
            <a:ext cx="896129" cy="1049815"/>
          </a:xfrm>
          <a:prstGeom prst="rect">
            <a:avLst/>
          </a:prstGeom>
          <a:solidFill>
            <a:srgbClr val="F5D1CF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A1C7B6-8766-00BC-CFD8-0156A86F5F2B}"/>
              </a:ext>
            </a:extLst>
          </p:cNvPr>
          <p:cNvSpPr txBox="1"/>
          <p:nvPr/>
        </p:nvSpPr>
        <p:spPr>
          <a:xfrm>
            <a:off x="10785293" y="2202574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E661B6-C6C7-9CDA-C112-4E553EA4C1CE}"/>
              </a:ext>
            </a:extLst>
          </p:cNvPr>
          <p:cNvSpPr txBox="1"/>
          <p:nvPr/>
        </p:nvSpPr>
        <p:spPr>
          <a:xfrm>
            <a:off x="11337124" y="5199123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Heap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D728A3FA-54BF-1D5B-7BFC-5ADE98F7520F}"/>
              </a:ext>
            </a:extLst>
          </p:cNvPr>
          <p:cNvSpPr/>
          <p:nvPr/>
        </p:nvSpPr>
        <p:spPr>
          <a:xfrm>
            <a:off x="10509480" y="1565523"/>
            <a:ext cx="275809" cy="1440668"/>
          </a:xfrm>
          <a:prstGeom prst="rightBrace">
            <a:avLst>
              <a:gd name="adj1" fmla="val 30242"/>
              <a:gd name="adj2" fmla="val 50000"/>
            </a:avLst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DE0A1C14-3A5C-2594-84DD-E36739E8F221}"/>
              </a:ext>
            </a:extLst>
          </p:cNvPr>
          <p:cNvSpPr/>
          <p:nvPr/>
        </p:nvSpPr>
        <p:spPr>
          <a:xfrm>
            <a:off x="10521347" y="5109655"/>
            <a:ext cx="243880" cy="1049815"/>
          </a:xfrm>
          <a:prstGeom prst="rightBrace">
            <a:avLst>
              <a:gd name="adj1" fmla="val 30242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9623CE-66EF-D5B3-9786-F95C841967A5}"/>
              </a:ext>
            </a:extLst>
          </p:cNvPr>
          <p:cNvSpPr/>
          <p:nvPr/>
        </p:nvSpPr>
        <p:spPr>
          <a:xfrm>
            <a:off x="9570748" y="3006195"/>
            <a:ext cx="896129" cy="13889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23">
            <a:extLst>
              <a:ext uri="{FF2B5EF4-FFF2-40B4-BE49-F238E27FC236}">
                <a16:creationId xmlns:a16="http://schemas.microsoft.com/office/drawing/2014/main" id="{6F80720E-7C84-1902-8CAF-B9FCEE09BDBD}"/>
              </a:ext>
            </a:extLst>
          </p:cNvPr>
          <p:cNvSpPr>
            <a:spLocks/>
          </p:cNvSpPr>
          <p:nvPr/>
        </p:nvSpPr>
        <p:spPr bwMode="auto">
          <a:xfrm>
            <a:off x="11376930" y="2848707"/>
            <a:ext cx="7604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rt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kern="120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5975E2-35A5-6CF6-A0AC-0A9430144329}"/>
              </a:ext>
            </a:extLst>
          </p:cNvPr>
          <p:cNvSpPr txBox="1"/>
          <p:nvPr/>
        </p:nvSpPr>
        <p:spPr>
          <a:xfrm>
            <a:off x="10765226" y="3440219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bitstring</a:t>
            </a: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C878FE40-5D91-148A-09DD-A5EDE0431455}"/>
              </a:ext>
            </a:extLst>
          </p:cNvPr>
          <p:cNvSpPr/>
          <p:nvPr/>
        </p:nvSpPr>
        <p:spPr>
          <a:xfrm>
            <a:off x="10509480" y="3070957"/>
            <a:ext cx="275813" cy="1324172"/>
          </a:xfrm>
          <a:prstGeom prst="rightBrace">
            <a:avLst>
              <a:gd name="adj1" fmla="val 30242"/>
              <a:gd name="adj2" fmla="val 50000"/>
            </a:avLst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B80B6B-7295-6491-F2D7-856EAE3E0EE1}"/>
              </a:ext>
            </a:extLst>
          </p:cNvPr>
          <p:cNvSpPr/>
          <p:nvPr/>
        </p:nvSpPr>
        <p:spPr>
          <a:xfrm>
            <a:off x="9577611" y="2318393"/>
            <a:ext cx="896129" cy="238497"/>
          </a:xfrm>
          <a:prstGeom prst="rect">
            <a:avLst/>
          </a:prstGeom>
          <a:noFill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bits</a:t>
            </a:r>
          </a:p>
        </p:txBody>
      </p: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2F9BBDE3-27BF-AF52-73C3-7EE1554C9242}"/>
              </a:ext>
            </a:extLst>
          </p:cNvPr>
          <p:cNvCxnSpPr>
            <a:cxnSpLocks/>
            <a:stCxn id="19" idx="1"/>
            <a:endCxn id="24" idx="1"/>
          </p:cNvCxnSpPr>
          <p:nvPr/>
        </p:nvCxnSpPr>
        <p:spPr>
          <a:xfrm rot="10800000" flipV="1">
            <a:off x="9564163" y="2437642"/>
            <a:ext cx="13448" cy="3504580"/>
          </a:xfrm>
          <a:prstGeom prst="curvedConnector3">
            <a:avLst>
              <a:gd name="adj1" fmla="val 1799881"/>
            </a:avLst>
          </a:prstGeom>
          <a:ln w="38100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1F000EA4-BB51-2036-A4CF-391B9E8CDF9C}"/>
              </a:ext>
            </a:extLst>
          </p:cNvPr>
          <p:cNvSpPr/>
          <p:nvPr/>
        </p:nvSpPr>
        <p:spPr>
          <a:xfrm>
            <a:off x="9564163" y="5822973"/>
            <a:ext cx="896129" cy="238497"/>
          </a:xfrm>
          <a:prstGeom prst="rect">
            <a:avLst/>
          </a:prstGeom>
          <a:noFill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result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92F74DC-EBFE-FD6A-E2C0-740582394800}"/>
              </a:ext>
            </a:extLst>
          </p:cNvPr>
          <p:cNvSpPr/>
          <p:nvPr/>
        </p:nvSpPr>
        <p:spPr>
          <a:xfrm>
            <a:off x="9577027" y="5220640"/>
            <a:ext cx="896129" cy="853724"/>
          </a:xfrm>
          <a:prstGeom prst="rect">
            <a:avLst/>
          </a:prstGeom>
          <a:noFill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elements</a:t>
            </a:r>
          </a:p>
        </p:txBody>
      </p:sp>
    </p:spTree>
    <p:extLst>
      <p:ext uri="{BB962C8B-B14F-4D97-AF65-F5344CB8AC3E}">
        <p14:creationId xmlns:p14="http://schemas.microsoft.com/office/powerpoint/2010/main" val="25370953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09C15-27EA-8569-89C5-156843918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Finding Even Elements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FFD2DB-0B36-DD84-FF43-EC1929B081ED}"/>
              </a:ext>
            </a:extLst>
          </p:cNvPr>
          <p:cNvSpPr txBox="1"/>
          <p:nvPr/>
        </p:nvSpPr>
        <p:spPr>
          <a:xfrm>
            <a:off x="3307079" y="1162303"/>
            <a:ext cx="6109365" cy="5509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evens(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a[],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alen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outlen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j,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nevens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alen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 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(a[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%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nevens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outlen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nevens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res = 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*)malloc(</a:t>
            </a:r>
            <a:r>
              <a:rPr lang="en-US" sz="1600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*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nevens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(check if res is NULL and raise error)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j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alen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 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(a[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%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 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res[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j++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a[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res;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xs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[] = {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*es,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elen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es = evens(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xs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&amp;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elen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  // do something with es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0FB10FE-2028-1509-FEEE-EC9449462100}"/>
              </a:ext>
            </a:extLst>
          </p:cNvPr>
          <p:cNvSpPr/>
          <p:nvPr/>
        </p:nvSpPr>
        <p:spPr>
          <a:xfrm>
            <a:off x="5708647" y="5516771"/>
            <a:ext cx="951653" cy="389719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54EBB86-BE7B-D0E2-7E44-C7DB745FF5E3}"/>
              </a:ext>
            </a:extLst>
          </p:cNvPr>
          <p:cNvSpPr/>
          <p:nvPr/>
        </p:nvSpPr>
        <p:spPr>
          <a:xfrm>
            <a:off x="3533302" y="2366638"/>
            <a:ext cx="2175345" cy="282096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06C089-36ED-815A-3FCF-19619B9E270B}"/>
              </a:ext>
            </a:extLst>
          </p:cNvPr>
          <p:cNvSpPr txBox="1"/>
          <p:nvPr/>
        </p:nvSpPr>
        <p:spPr>
          <a:xfrm>
            <a:off x="1031077" y="3894764"/>
            <a:ext cx="22760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Saving the # of event elements by a pointer (i.e., "out parameter")</a:t>
            </a:r>
            <a:endParaRPr lang="en-US" dirty="0">
              <a:effectLst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C1CD1A7-9204-5A8B-A0C1-35CDE1A1F93A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2463800" y="2507686"/>
            <a:ext cx="1069502" cy="1345383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83C4A16-8ECD-867C-4CF5-1B4875BD4A5F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2809212" y="4859789"/>
            <a:ext cx="2899435" cy="851842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ight Brace 17">
            <a:extLst>
              <a:ext uri="{FF2B5EF4-FFF2-40B4-BE49-F238E27FC236}">
                <a16:creationId xmlns:a16="http://schemas.microsoft.com/office/drawing/2014/main" id="{622A55E6-60D1-DA89-A88F-5D2B2C8BF687}"/>
              </a:ext>
            </a:extLst>
          </p:cNvPr>
          <p:cNvSpPr/>
          <p:nvPr/>
        </p:nvSpPr>
        <p:spPr>
          <a:xfrm>
            <a:off x="6949581" y="1574864"/>
            <a:ext cx="405735" cy="736600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CF9902-E889-22DF-DAB6-FAFC16235AEF}"/>
              </a:ext>
            </a:extLst>
          </p:cNvPr>
          <p:cNvSpPr txBox="1"/>
          <p:nvPr/>
        </p:nvSpPr>
        <p:spPr>
          <a:xfrm>
            <a:off x="7397629" y="1644198"/>
            <a:ext cx="1886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Determining the # of even elements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89D2AC-8187-734A-33B2-64A6C2BBBAA7}"/>
              </a:ext>
            </a:extLst>
          </p:cNvPr>
          <p:cNvSpPr txBox="1"/>
          <p:nvPr/>
        </p:nvSpPr>
        <p:spPr>
          <a:xfrm>
            <a:off x="9728200" y="2366638"/>
            <a:ext cx="21571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Creating an array to hold even elements after knowing the # of even elements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E365A19-DB48-ACC5-435F-5FB05058E721}"/>
              </a:ext>
            </a:extLst>
          </p:cNvPr>
          <p:cNvCxnSpPr>
            <a:cxnSpLocks/>
          </p:cNvCxnSpPr>
          <p:nvPr/>
        </p:nvCxnSpPr>
        <p:spPr>
          <a:xfrm flipH="1">
            <a:off x="9225944" y="2795577"/>
            <a:ext cx="44450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88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18" grpId="0" animBg="1"/>
      <p:bldP spid="19" grpId="0"/>
      <p:bldP spid="2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DA01E-4EA3-2A19-2DBB-748533652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69AC0-5290-5DA8-FA40-BA3CC2C3A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Pointer exercise</a:t>
            </a:r>
          </a:p>
          <a:p>
            <a:endParaRPr lang="en-US" dirty="0"/>
          </a:p>
          <a:p>
            <a:r>
              <a:rPr lang="en-US" dirty="0"/>
              <a:t>C arrays</a:t>
            </a:r>
          </a:p>
          <a:p>
            <a:pPr lvl="1"/>
            <a:r>
              <a:rPr lang="en-US" dirty="0"/>
              <a:t>Fixed length</a:t>
            </a:r>
          </a:p>
          <a:p>
            <a:pPr lvl="1"/>
            <a:r>
              <a:rPr lang="en-US" dirty="0"/>
              <a:t>Memory layout</a:t>
            </a:r>
          </a:p>
          <a:p>
            <a:pPr lvl="1"/>
            <a:r>
              <a:rPr lang="en-US" dirty="0"/>
              <a:t>Index and pointer arithmetic</a:t>
            </a:r>
          </a:p>
        </p:txBody>
      </p:sp>
    </p:spTree>
    <p:extLst>
      <p:ext uri="{BB962C8B-B14F-4D97-AF65-F5344CB8AC3E}">
        <p14:creationId xmlns:p14="http://schemas.microsoft.com/office/powerpoint/2010/main" val="827805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12443</TotalTime>
  <Words>2529</Words>
  <Application>Microsoft Macintosh PowerPoint</Application>
  <PresentationFormat>Widescreen</PresentationFormat>
  <Paragraphs>459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Calibri Bold</vt:lpstr>
      <vt:lpstr>CMSS10</vt:lpstr>
      <vt:lpstr>CMTT10</vt:lpstr>
      <vt:lpstr>Arial</vt:lpstr>
      <vt:lpstr>Calibri</vt:lpstr>
      <vt:lpstr>Calibri Light</vt:lpstr>
      <vt:lpstr>Cambria Math</vt:lpstr>
      <vt:lpstr>Menlo</vt:lpstr>
      <vt:lpstr>Wingdings</vt:lpstr>
      <vt:lpstr>Office Theme</vt:lpstr>
      <vt:lpstr>Pointers II  CMSC 14300: System Programming I 7th Lecture</vt:lpstr>
      <vt:lpstr>Overview</vt:lpstr>
      <vt:lpstr>C Pointer Exercise</vt:lpstr>
      <vt:lpstr>Passing by reference</vt:lpstr>
      <vt:lpstr>Example: Stack vs. Heap</vt:lpstr>
      <vt:lpstr>Example: Stack vs. Heap</vt:lpstr>
      <vt:lpstr>Example: Stack vs. Heap</vt:lpstr>
      <vt:lpstr>Overview</vt:lpstr>
      <vt:lpstr>Array</vt:lpstr>
      <vt:lpstr>Memory layout</vt:lpstr>
      <vt:lpstr>Array size and address</vt:lpstr>
      <vt:lpstr>Array Syntax</vt:lpstr>
      <vt:lpstr>Arrays as local variables</vt:lpstr>
      <vt:lpstr>Array variables are pointers</vt:lpstr>
      <vt:lpstr>Array Length </vt:lpstr>
      <vt:lpstr>Example: Reading elements from an array</vt:lpstr>
      <vt:lpstr>Example: Modifying elements of an array</vt:lpstr>
      <vt:lpstr>Why not creating arrays as local variables?</vt:lpstr>
      <vt:lpstr>Why not creating arrays as local variables?</vt:lpstr>
      <vt:lpstr>Example: Finding Even Elements </vt:lpstr>
      <vt:lpstr>Recap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Overview  CMSC 14300: System programming I 1st Lecture</dc:title>
  <dc:creator>Junchen Jiang</dc:creator>
  <cp:lastModifiedBy>Junchen Jiang</cp:lastModifiedBy>
  <cp:revision>580</cp:revision>
  <dcterms:created xsi:type="dcterms:W3CDTF">2023-03-12T16:00:37Z</dcterms:created>
  <dcterms:modified xsi:type="dcterms:W3CDTF">2023-04-03T22:31:53Z</dcterms:modified>
</cp:coreProperties>
</file>