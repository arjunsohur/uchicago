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3" r:id="rId11"/>
    <p:sldId id="424" r:id="rId12"/>
    <p:sldId id="425" r:id="rId13"/>
    <p:sldId id="426" r:id="rId14"/>
    <p:sldId id="427" r:id="rId15"/>
    <p:sldId id="428" r:id="rId16"/>
    <p:sldId id="429" r:id="rId17"/>
    <p:sldId id="430" r:id="rId18"/>
    <p:sldId id="433" r:id="rId19"/>
    <p:sldId id="431" r:id="rId20"/>
    <p:sldId id="43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5D1C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92"/>
    <p:restoredTop sz="80960"/>
  </p:normalViewPr>
  <p:slideViewPr>
    <p:cSldViewPr snapToGrid="0">
      <p:cViewPr>
        <p:scale>
          <a:sx n="80" d="100"/>
          <a:sy n="80" d="100"/>
        </p:scale>
        <p:origin x="1080" y="2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4/11/23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02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structs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11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C2FE-8957-FDA7-8B9C-5AA53BD10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797178"/>
          </a:xfrm>
        </p:spPr>
        <p:txBody>
          <a:bodyPr>
            <a:normAutofit/>
          </a:bodyPr>
          <a:lstStyle/>
          <a:p>
            <a:r>
              <a:rPr lang="en-US" dirty="0"/>
              <a:t>Example: Calculate the midpoint on a 2D 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12439-64B9-33E5-5A48-2FBAA63F5878}"/>
              </a:ext>
            </a:extLst>
          </p:cNvPr>
          <p:cNvSpPr txBox="1"/>
          <p:nvPr/>
        </p:nvSpPr>
        <p:spPr>
          <a:xfrm>
            <a:off x="838200" y="1391920"/>
            <a:ext cx="9057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Functions in C can only return a single value. Pointer parameters offer a workaround.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9F20D-C459-7E60-8F9D-1062581FF4F4}"/>
              </a:ext>
            </a:extLst>
          </p:cNvPr>
          <p:cNvSpPr txBox="1"/>
          <p:nvPr/>
        </p:nvSpPr>
        <p:spPr>
          <a:xfrm>
            <a:off x="424840" y="2016497"/>
            <a:ext cx="6552157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midpoint(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x1,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x2,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y2,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*x3,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*y3)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*x3 = (x1+x2)/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*y3 = (y1+y2)/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y1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y2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x3, y3;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midpoint(x1, y1, x2, y2, &amp;x3, &amp;y3);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x3, y3);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C6CE8-C6C1-6AA5-DDFE-FB080D648DBE}"/>
              </a:ext>
            </a:extLst>
          </p:cNvPr>
          <p:cNvSpPr txBox="1"/>
          <p:nvPr/>
        </p:nvSpPr>
        <p:spPr>
          <a:xfrm>
            <a:off x="7773374" y="2329077"/>
            <a:ext cx="2653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$ ./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a.out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   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15.000000, 22.500000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A24AF-71E7-9FED-F02B-F19EA8303788}"/>
              </a:ext>
            </a:extLst>
          </p:cNvPr>
          <p:cNvSpPr txBox="1"/>
          <p:nvPr/>
        </p:nvSpPr>
        <p:spPr>
          <a:xfrm>
            <a:off x="7663980" y="1928967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AF18CE-1ECD-F632-3AFF-C41266C102A5}"/>
              </a:ext>
            </a:extLst>
          </p:cNvPr>
          <p:cNvSpPr/>
          <p:nvPr/>
        </p:nvSpPr>
        <p:spPr>
          <a:xfrm>
            <a:off x="1844842" y="5466080"/>
            <a:ext cx="3112169" cy="31919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27E127-3586-7CBC-5D67-5C383E51C95B}"/>
              </a:ext>
            </a:extLst>
          </p:cNvPr>
          <p:cNvSpPr/>
          <p:nvPr/>
        </p:nvSpPr>
        <p:spPr>
          <a:xfrm>
            <a:off x="2225041" y="2556388"/>
            <a:ext cx="2731970" cy="23719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A326F-25BD-4C02-E814-04766E10132B}"/>
              </a:ext>
            </a:extLst>
          </p:cNvPr>
          <p:cNvSpPr txBox="1"/>
          <p:nvPr/>
        </p:nvSpPr>
        <p:spPr>
          <a:xfrm>
            <a:off x="7491528" y="4344131"/>
            <a:ext cx="4395672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/>
              <a:t>x1 and y1 are parts of a logical entity: </a:t>
            </a:r>
          </a:p>
          <a:p>
            <a:r>
              <a:rPr lang="en-US" sz="2000" dirty="0"/>
              <a:t>They are the coordinates of a point.</a:t>
            </a:r>
          </a:p>
          <a:p>
            <a:endParaRPr lang="en-US" sz="2000" dirty="0"/>
          </a:p>
          <a:p>
            <a:r>
              <a:rPr lang="en-US" sz="2000" dirty="0"/>
              <a:t>so are x2 and y2, and x3 and y3.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7F97DD2-CAAC-22DD-D8BF-3AAFA096159B}"/>
              </a:ext>
            </a:extLst>
          </p:cNvPr>
          <p:cNvSpPr/>
          <p:nvPr/>
        </p:nvSpPr>
        <p:spPr>
          <a:xfrm>
            <a:off x="2225041" y="2793585"/>
            <a:ext cx="2731970" cy="23719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AAD35E6-1F90-A6EF-33EF-0835279F9E03}"/>
              </a:ext>
            </a:extLst>
          </p:cNvPr>
          <p:cNvSpPr/>
          <p:nvPr/>
        </p:nvSpPr>
        <p:spPr>
          <a:xfrm>
            <a:off x="2225041" y="3030782"/>
            <a:ext cx="2731970" cy="23719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9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1389-DAD8-8BF4-5672-A738F3F3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structs: Bundling Together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65268-8C4C-FA8D-A408-D78152C900F0}"/>
              </a:ext>
            </a:extLst>
          </p:cNvPr>
          <p:cNvSpPr txBox="1"/>
          <p:nvPr/>
        </p:nvSpPr>
        <p:spPr>
          <a:xfrm>
            <a:off x="838199" y="1698207"/>
            <a:ext cx="11290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structs</a:t>
            </a:r>
            <a:r>
              <a:rPr lang="en-US" sz="2400" dirty="0"/>
              <a:t> allow us to treat both an x and a y value as a single, combined data value, a point.</a:t>
            </a:r>
          </a:p>
          <a:p>
            <a:r>
              <a:rPr lang="en-US" sz="2400" dirty="0"/>
              <a:t>   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This single value can be returned without out-parameters.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70107-48C5-EE91-D856-C387EF0CDADF}"/>
              </a:ext>
            </a:extLst>
          </p:cNvPr>
          <p:cNvSpPr txBox="1"/>
          <p:nvPr/>
        </p:nvSpPr>
        <p:spPr>
          <a:xfrm>
            <a:off x="838199" y="3429000"/>
            <a:ext cx="45519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C, this idea is called a </a:t>
            </a:r>
            <a:r>
              <a:rPr lang="en-US" sz="2400" i="1" dirty="0"/>
              <a:t>struct</a:t>
            </a:r>
          </a:p>
          <a:p>
            <a:endParaRPr lang="en-US" sz="2400" i="1" dirty="0"/>
          </a:p>
          <a:p>
            <a:endParaRPr lang="en-US" sz="2400" i="1" dirty="0"/>
          </a:p>
          <a:p>
            <a:r>
              <a:rPr lang="en-US" sz="2400" dirty="0"/>
              <a:t>structs have </a:t>
            </a:r>
            <a:r>
              <a:rPr lang="en-US" sz="2400" i="1" dirty="0"/>
              <a:t>fields</a:t>
            </a:r>
          </a:p>
          <a:p>
            <a:r>
              <a:rPr lang="en-US" sz="2400" dirty="0"/>
              <a:t>  (known as </a:t>
            </a:r>
            <a:r>
              <a:rPr lang="en-US" sz="2400" i="1" dirty="0"/>
              <a:t>attributes</a:t>
            </a:r>
            <a:r>
              <a:rPr lang="en-US" sz="2400" dirty="0"/>
              <a:t> in Python)</a:t>
            </a:r>
          </a:p>
        </p:txBody>
      </p:sp>
    </p:spTree>
    <p:extLst>
      <p:ext uri="{BB962C8B-B14F-4D97-AF65-F5344CB8AC3E}">
        <p14:creationId xmlns:p14="http://schemas.microsoft.com/office/powerpoint/2010/main" val="4233970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41CC-E863-45F3-287B-0E9232EC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struct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B5BFA-EC17-4A9A-055A-0A5BFB1B308D}"/>
              </a:ext>
            </a:extLst>
          </p:cNvPr>
          <p:cNvSpPr txBox="1"/>
          <p:nvPr/>
        </p:nvSpPr>
        <p:spPr>
          <a:xfrm>
            <a:off x="838200" y="1162303"/>
            <a:ext cx="5121915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r>
              <a:rPr lang="en-US" sz="1600" dirty="0">
                <a:solidFill>
                  <a:srgbClr val="0432FF"/>
                </a:solidFill>
                <a:latin typeface="Menlo" panose="020B0609030804020204" pitchFamily="49" charset="0"/>
              </a:rPr>
              <a:t> // field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y; </a:t>
            </a:r>
            <a:r>
              <a:rPr lang="en-US" sz="1600" dirty="0">
                <a:solidFill>
                  <a:srgbClr val="0432FF"/>
                </a:solidFill>
                <a:latin typeface="Menlo" panose="020B0609030804020204" pitchFamily="49" charset="0"/>
              </a:rPr>
              <a:t>// field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midpoint(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  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res.x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(p1.x + p2.x)/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(p1.y + p2.y)/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p3 = midpoint(p1, p2);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7F5C94-3CC1-8E45-BA52-CE2FEB93F0A5}"/>
              </a:ext>
            </a:extLst>
          </p:cNvPr>
          <p:cNvSpPr txBox="1"/>
          <p:nvPr/>
        </p:nvSpPr>
        <p:spPr>
          <a:xfrm>
            <a:off x="6577263" y="2670371"/>
            <a:ext cx="4776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Note the semicolon after the closing brace; this is required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also combine fields: </a:t>
            </a:r>
            <a:r>
              <a:rPr lang="en-US" sz="2000" dirty="0">
                <a:solidFill>
                  <a:srgbClr val="2B91A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double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x, y;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2167CE-9054-9FFE-86A4-F0DFDED097F7}"/>
              </a:ext>
            </a:extLst>
          </p:cNvPr>
          <p:cNvSpPr/>
          <p:nvPr/>
        </p:nvSpPr>
        <p:spPr>
          <a:xfrm>
            <a:off x="838200" y="1588169"/>
            <a:ext cx="2771274" cy="117107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6399F4-A994-1EC6-997D-6FED6BD94D08}"/>
              </a:ext>
            </a:extLst>
          </p:cNvPr>
          <p:cNvSpPr txBox="1"/>
          <p:nvPr/>
        </p:nvSpPr>
        <p:spPr>
          <a:xfrm>
            <a:off x="6558114" y="1385768"/>
            <a:ext cx="5512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goes below the include directives in your .c file, or, if needed across multiple files, in your .h file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6213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EEBA8-88E8-A634-D1DC-FB8C6054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structs as local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9AB2D-ED1D-A969-DD31-D3EA1C1CC781}"/>
              </a:ext>
            </a:extLst>
          </p:cNvPr>
          <p:cNvSpPr txBox="1"/>
          <p:nvPr/>
        </p:nvSpPr>
        <p:spPr>
          <a:xfrm>
            <a:off x="838200" y="1162303"/>
            <a:ext cx="5121915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midpoint(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  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res.x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(p1.x + p2.x)/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(p1.y + p2.y)/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p3 = midpoint(p1, p2);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5CB6F5-3891-A864-A225-998E5215EAE0}"/>
              </a:ext>
            </a:extLst>
          </p:cNvPr>
          <p:cNvSpPr/>
          <p:nvPr/>
        </p:nvSpPr>
        <p:spPr>
          <a:xfrm>
            <a:off x="1150219" y="5117433"/>
            <a:ext cx="3405739" cy="46522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5D4759-B0C8-2580-B8FF-87B5324E1BAB}"/>
              </a:ext>
            </a:extLst>
          </p:cNvPr>
          <p:cNvSpPr/>
          <p:nvPr/>
        </p:nvSpPr>
        <p:spPr>
          <a:xfrm>
            <a:off x="1150219" y="3429000"/>
            <a:ext cx="2202581" cy="26068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7CCBF-4402-294A-46C2-90060A78985E}"/>
              </a:ext>
            </a:extLst>
          </p:cNvPr>
          <p:cNvSpPr txBox="1"/>
          <p:nvPr/>
        </p:nvSpPr>
        <p:spPr>
          <a:xfrm>
            <a:off x="6416843" y="1733264"/>
            <a:ext cx="45770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Can declare 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variable as follows: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 = {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  <a:endParaRPr lang="en-US" dirty="0">
              <a:solidFill>
                <a:srgbClr val="000000"/>
              </a:solidFill>
              <a:latin typeface="CMSS1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res;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197BD-469C-83CA-B779-7FA0DCDA8427}"/>
              </a:ext>
            </a:extLst>
          </p:cNvPr>
          <p:cNvSpPr txBox="1"/>
          <p:nvPr/>
        </p:nvSpPr>
        <p:spPr>
          <a:xfrm>
            <a:off x="6416843" y="3666518"/>
            <a:ext cx="4424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/>
              <a:t> </a:t>
            </a:r>
            <a:r>
              <a:rPr lang="en-US" sz="2000" dirty="0"/>
              <a:t>is part of a two-word type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6BA72E-87CA-B631-4E76-7F37764097B9}"/>
              </a:ext>
            </a:extLst>
          </p:cNvPr>
          <p:cNvSpPr txBox="1"/>
          <p:nvPr/>
        </p:nvSpPr>
        <p:spPr>
          <a:xfrm>
            <a:off x="6416843" y="2886995"/>
            <a:ext cx="5683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</a:t>
            </a:r>
            <a:r>
              <a:rPr lang="en-US" sz="2000" dirty="0"/>
              <a:t> is uninitialized,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sz="2000" dirty="0"/>
              <a:t> and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y</a:t>
            </a:r>
            <a:r>
              <a:rPr lang="en-US" sz="2000" dirty="0"/>
              <a:t> values could be anything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8D1C7B-8A01-4479-1C88-9CD11AE7C1FC}"/>
              </a:ext>
            </a:extLst>
          </p:cNvPr>
          <p:cNvSpPr txBox="1"/>
          <p:nvPr/>
        </p:nvSpPr>
        <p:spPr>
          <a:xfrm>
            <a:off x="6416843" y="4446041"/>
            <a:ext cx="5021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Similarly to arrays, bracket notation can only be used when declaring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variable </a:t>
            </a:r>
          </a:p>
        </p:txBody>
      </p:sp>
    </p:spTree>
    <p:extLst>
      <p:ext uri="{BB962C8B-B14F-4D97-AF65-F5344CB8AC3E}">
        <p14:creationId xmlns:p14="http://schemas.microsoft.com/office/powerpoint/2010/main" val="424978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E723-C0AE-A361-AF14-D86E6013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structs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53794-0338-E507-A279-2441AAABEFD3}"/>
              </a:ext>
            </a:extLst>
          </p:cNvPr>
          <p:cNvSpPr txBox="1"/>
          <p:nvPr/>
        </p:nvSpPr>
        <p:spPr>
          <a:xfrm>
            <a:off x="838200" y="1162303"/>
            <a:ext cx="5121915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midpoint(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  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res.x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(p1.x + p2.x)/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(p1.y + p2.y)/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p3 = midpoint(p1, p2);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7BEE3B-C0A4-1614-4B88-E0239CFC7968}"/>
              </a:ext>
            </a:extLst>
          </p:cNvPr>
          <p:cNvSpPr/>
          <p:nvPr/>
        </p:nvSpPr>
        <p:spPr>
          <a:xfrm flipH="1">
            <a:off x="1042737" y="3656218"/>
            <a:ext cx="3368841" cy="49868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8007B7-022E-C036-860A-20B04133B550}"/>
              </a:ext>
            </a:extLst>
          </p:cNvPr>
          <p:cNvSpPr/>
          <p:nvPr/>
        </p:nvSpPr>
        <p:spPr>
          <a:xfrm flipH="1">
            <a:off x="3727127" y="5862009"/>
            <a:ext cx="1582810" cy="29816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650CC-AC8E-FEB0-5097-E7D0BD93649D}"/>
              </a:ext>
            </a:extLst>
          </p:cNvPr>
          <p:cNvSpPr txBox="1"/>
          <p:nvPr/>
        </p:nvSpPr>
        <p:spPr>
          <a:xfrm>
            <a:off x="6269358" y="1401810"/>
            <a:ext cx="551225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To access a field, write the name of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variable, then a period, then the name of a field: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p1.x = 2.8;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8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8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  <a:endParaRPr lang="en-US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92182-FF61-A1D7-0D45-6B984FE5F939}"/>
              </a:ext>
            </a:extLst>
          </p:cNvPr>
          <p:cNvSpPr txBox="1"/>
          <p:nvPr/>
        </p:nvSpPr>
        <p:spPr>
          <a:xfrm>
            <a:off x="6269358" y="3241505"/>
            <a:ext cx="57045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Can use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MSS10"/>
              </a:rPr>
              <a:t>s as: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local 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parameter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return types </a:t>
            </a:r>
            <a:endParaRPr lang="en-US" sz="20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array element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targets of pointers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field types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nested within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MSS10"/>
              </a:rPr>
              <a:t>)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195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E723-C0AE-A361-AF14-D86E6013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structs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53794-0338-E507-A279-2441AAABEFD3}"/>
              </a:ext>
            </a:extLst>
          </p:cNvPr>
          <p:cNvSpPr txBox="1"/>
          <p:nvPr/>
        </p:nvSpPr>
        <p:spPr>
          <a:xfrm>
            <a:off x="838200" y="1162303"/>
            <a:ext cx="5121915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midpoint(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  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res.x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(p1.x + p2.x)/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(p1.y + p2.y)/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p3 = midpoint(p1, p2);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7BEE3B-C0A4-1614-4B88-E0239CFC7968}"/>
              </a:ext>
            </a:extLst>
          </p:cNvPr>
          <p:cNvSpPr/>
          <p:nvPr/>
        </p:nvSpPr>
        <p:spPr>
          <a:xfrm flipH="1">
            <a:off x="3603695" y="2930313"/>
            <a:ext cx="1978958" cy="49868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650CC-AC8E-FEB0-5097-E7D0BD93649D}"/>
              </a:ext>
            </a:extLst>
          </p:cNvPr>
          <p:cNvSpPr txBox="1"/>
          <p:nvPr/>
        </p:nvSpPr>
        <p:spPr>
          <a:xfrm>
            <a:off x="6269358" y="1401810"/>
            <a:ext cx="551225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To access a field, write the name of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variable, then a period, then the name of a field: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p1.x = 2.8;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8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8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  <a:endParaRPr lang="en-US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92182-FF61-A1D7-0D45-6B984FE5F939}"/>
              </a:ext>
            </a:extLst>
          </p:cNvPr>
          <p:cNvSpPr txBox="1"/>
          <p:nvPr/>
        </p:nvSpPr>
        <p:spPr>
          <a:xfrm>
            <a:off x="6269358" y="3241505"/>
            <a:ext cx="57045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Can use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MSS10"/>
              </a:rPr>
              <a:t>s as: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local 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CMSS10"/>
              </a:rPr>
              <a:t>parameter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return types </a:t>
            </a:r>
            <a:endParaRPr lang="en-US" sz="20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array element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targets of pointers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field types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nested within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MSS10"/>
              </a:rPr>
              <a:t>)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4098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E723-C0AE-A361-AF14-D86E6013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structs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53794-0338-E507-A279-2441AAABEFD3}"/>
              </a:ext>
            </a:extLst>
          </p:cNvPr>
          <p:cNvSpPr txBox="1"/>
          <p:nvPr/>
        </p:nvSpPr>
        <p:spPr>
          <a:xfrm>
            <a:off x="838200" y="1162303"/>
            <a:ext cx="5121915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y;</a:t>
            </a:r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midpoint(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  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res.x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(p1.x + p2.x)/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(p1.y + p2.y)/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p3 = midpoint(p1, p2);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7BEE3B-C0A4-1614-4B88-E0239CFC7968}"/>
              </a:ext>
            </a:extLst>
          </p:cNvPr>
          <p:cNvSpPr/>
          <p:nvPr/>
        </p:nvSpPr>
        <p:spPr>
          <a:xfrm flipH="1">
            <a:off x="838200" y="2926302"/>
            <a:ext cx="1632284" cy="31520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650CC-AC8E-FEB0-5097-E7D0BD93649D}"/>
              </a:ext>
            </a:extLst>
          </p:cNvPr>
          <p:cNvSpPr txBox="1"/>
          <p:nvPr/>
        </p:nvSpPr>
        <p:spPr>
          <a:xfrm>
            <a:off x="6269358" y="1401810"/>
            <a:ext cx="551225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To access a field, write the name of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variable, then a period, then the name of a field: 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p1.x = 2.8;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8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8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8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p3.x, p3.y);</a:t>
            </a:r>
            <a:endParaRPr lang="en-US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92182-FF61-A1D7-0D45-6B984FE5F939}"/>
              </a:ext>
            </a:extLst>
          </p:cNvPr>
          <p:cNvSpPr txBox="1"/>
          <p:nvPr/>
        </p:nvSpPr>
        <p:spPr>
          <a:xfrm>
            <a:off x="6269358" y="3241505"/>
            <a:ext cx="57045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Can use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MSS10"/>
              </a:rPr>
              <a:t>s as: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local 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parameter types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CMSS10"/>
              </a:rPr>
              <a:t>return types </a:t>
            </a:r>
            <a:endParaRPr lang="en-US" sz="2000" b="1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array element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targets of pointers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MSS1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field types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solidFill>
                  <a:srgbClr val="0000FF"/>
                </a:solidFill>
                <a:effectLst/>
                <a:latin typeface="CMTT10"/>
              </a:rPr>
              <a:t> </a:t>
            </a:r>
            <a:r>
              <a:rPr lang="en-US" sz="2000" dirty="0">
                <a:effectLst/>
                <a:latin typeface="CMSS10"/>
              </a:rPr>
              <a:t>nested within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MSS10"/>
              </a:rPr>
              <a:t>) </a:t>
            </a:r>
            <a:endParaRPr lang="en-US" sz="2000" dirty="0">
              <a:effectLst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C6DDE71-0C8C-F1AE-B312-9EFA4A4147AB}"/>
              </a:ext>
            </a:extLst>
          </p:cNvPr>
          <p:cNvSpPr/>
          <p:nvPr/>
        </p:nvSpPr>
        <p:spPr>
          <a:xfrm flipH="1">
            <a:off x="1070811" y="4127077"/>
            <a:ext cx="1632284" cy="31520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52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688C-7FC7-31D2-BC77-B3643F53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structs and Functions: Copying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4D978-6EC8-B9FC-2D7F-9CA09BA3A29A}"/>
              </a:ext>
            </a:extLst>
          </p:cNvPr>
          <p:cNvSpPr txBox="1"/>
          <p:nvPr/>
        </p:nvSpPr>
        <p:spPr>
          <a:xfrm>
            <a:off x="445639" y="1379623"/>
            <a:ext cx="4381328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stretch1(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p, 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            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p.x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*= 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*= 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stretch1(p,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p.x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//10.000000, 15.000000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717C0-BFD2-0305-001B-AF7007C61973}"/>
              </a:ext>
            </a:extLst>
          </p:cNvPr>
          <p:cNvSpPr txBox="1"/>
          <p:nvPr/>
        </p:nvSpPr>
        <p:spPr>
          <a:xfrm>
            <a:off x="5437420" y="1379623"/>
            <a:ext cx="64345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passing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 as a parameter or returning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, C </a:t>
            </a:r>
            <a:r>
              <a:rPr lang="en-US" sz="2000" b="1" i="1" dirty="0"/>
              <a:t>copies</a:t>
            </a:r>
            <a:r>
              <a:rPr lang="en-US" sz="2000" dirty="0"/>
              <a:t> the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endParaRPr lang="en-US" sz="2000" dirty="0"/>
          </a:p>
          <a:p>
            <a:r>
              <a:rPr lang="en-US" sz="2000" dirty="0"/>
              <a:t>       Unlike arrays, where C copies a </a:t>
            </a:r>
            <a:r>
              <a:rPr lang="en-US" sz="2000" i="1" dirty="0"/>
              <a:t>pointer</a:t>
            </a:r>
            <a:r>
              <a:rPr lang="en-US" sz="2000" dirty="0"/>
              <a:t> to an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832B8-009A-3522-A12C-AE68EA7BC524}"/>
              </a:ext>
            </a:extLst>
          </p:cNvPr>
          <p:cNvSpPr txBox="1"/>
          <p:nvPr/>
        </p:nvSpPr>
        <p:spPr>
          <a:xfrm>
            <a:off x="5437421" y="2917404"/>
            <a:ext cx="6434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Implications: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Called function gets its own independent copy of argument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Calling function does not observe changes to argument made by callee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Safe to return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 made as local variable, since copied before deallocation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Large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 incur copying overhead </a:t>
            </a:r>
          </a:p>
        </p:txBody>
      </p:sp>
    </p:spTree>
    <p:extLst>
      <p:ext uri="{BB962C8B-B14F-4D97-AF65-F5344CB8AC3E}">
        <p14:creationId xmlns:p14="http://schemas.microsoft.com/office/powerpoint/2010/main" val="240146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688C-7FC7-31D2-BC77-B3643F53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structs and Functions: Copying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4D978-6EC8-B9FC-2D7F-9CA09BA3A29A}"/>
              </a:ext>
            </a:extLst>
          </p:cNvPr>
          <p:cNvSpPr txBox="1"/>
          <p:nvPr/>
        </p:nvSpPr>
        <p:spPr>
          <a:xfrm>
            <a:off x="445639" y="1379623"/>
            <a:ext cx="4734255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stretch2(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p,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    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p.x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*= 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*= m;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 = {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p = stretch2(p,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p.x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//20.000000, 30.000000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97D90-FCA9-2BBF-E706-30C6EDE28698}"/>
              </a:ext>
            </a:extLst>
          </p:cNvPr>
          <p:cNvSpPr txBox="1"/>
          <p:nvPr/>
        </p:nvSpPr>
        <p:spPr>
          <a:xfrm>
            <a:off x="5437420" y="1379623"/>
            <a:ext cx="64345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passing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 as a parameter or returning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, C </a:t>
            </a:r>
            <a:r>
              <a:rPr lang="en-US" sz="2000" b="1" i="1" dirty="0"/>
              <a:t>copies</a:t>
            </a:r>
            <a:r>
              <a:rPr lang="en-US" sz="2000" dirty="0"/>
              <a:t> the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endParaRPr lang="en-US" sz="2000" dirty="0"/>
          </a:p>
          <a:p>
            <a:r>
              <a:rPr lang="en-US" sz="2000" dirty="0"/>
              <a:t>       Unlike arrays, where C copies a </a:t>
            </a:r>
            <a:r>
              <a:rPr lang="en-US" sz="2000" i="1" dirty="0"/>
              <a:t>pointer</a:t>
            </a:r>
            <a:r>
              <a:rPr lang="en-US" sz="2000" dirty="0"/>
              <a:t> to an array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ED2731-04B4-DB31-AB39-AA03C8E87521}"/>
              </a:ext>
            </a:extLst>
          </p:cNvPr>
          <p:cNvSpPr txBox="1"/>
          <p:nvPr/>
        </p:nvSpPr>
        <p:spPr>
          <a:xfrm>
            <a:off x="5437421" y="2917404"/>
            <a:ext cx="6434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Implications: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Called function gets its own independent copy of argument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Calling function does not observe changes to argument made by callee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Safe to return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 made as local variable, since copied before deallocation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Large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 incur copying overhead </a:t>
            </a:r>
          </a:p>
        </p:txBody>
      </p:sp>
    </p:spTree>
    <p:extLst>
      <p:ext uri="{BB962C8B-B14F-4D97-AF65-F5344CB8AC3E}">
        <p14:creationId xmlns:p14="http://schemas.microsoft.com/office/powerpoint/2010/main" val="1078568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C9D7-8A33-EA1C-81C1-6F59B3738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structs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43A59-AB09-69C7-A1A6-636C312ECAFB}"/>
              </a:ext>
            </a:extLst>
          </p:cNvPr>
          <p:cNvSpPr txBox="1"/>
          <p:nvPr/>
        </p:nvSpPr>
        <p:spPr>
          <a:xfrm>
            <a:off x="838200" y="1427747"/>
            <a:ext cx="43370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 make pointers to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avoid copying overhead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gain pass-by-reference semantics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1ECFBB-58CD-CB90-CB19-68D8BCF4FBFB}"/>
              </a:ext>
            </a:extLst>
          </p:cNvPr>
          <p:cNvSpPr txBox="1"/>
          <p:nvPr/>
        </p:nvSpPr>
        <p:spPr>
          <a:xfrm>
            <a:off x="838200" y="2708854"/>
            <a:ext cx="924964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MSS10"/>
              </a:rPr>
              <a:t>W</a:t>
            </a:r>
            <a:r>
              <a:rPr lang="en-US" sz="2000" dirty="0">
                <a:effectLst/>
                <a:latin typeface="CMSS10"/>
              </a:rPr>
              <a:t>orks like other pointers: </a:t>
            </a:r>
          </a:p>
          <a:p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 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 point p2 = {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B42419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20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,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B42419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30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};</a:t>
            </a:r>
            <a:endParaRPr lang="en-US" dirty="0">
              <a:solidFill>
                <a:srgbClr val="2FB41D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  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p3 = &amp;p2;</a:t>
            </a: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  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p4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point*)malloc(</a:t>
            </a:r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point));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F268D-1FC5-684B-9700-59E62D6A1076}"/>
              </a:ext>
            </a:extLst>
          </p:cNvPr>
          <p:cNvSpPr txBox="1"/>
          <p:nvPr/>
        </p:nvSpPr>
        <p:spPr>
          <a:xfrm>
            <a:off x="898358" y="4058653"/>
            <a:ext cx="62694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Field access needs to take into account the dereferencing: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(*p3).x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7.8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p3-&gt;x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7.18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8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//equivalent to above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0D7D70-BBCD-3F1B-2F93-258195F35BEA}"/>
              </a:ext>
            </a:extLst>
          </p:cNvPr>
          <p:cNvSpPr txBox="1"/>
          <p:nvPr/>
        </p:nvSpPr>
        <p:spPr>
          <a:xfrm>
            <a:off x="898358" y="5169436"/>
            <a:ext cx="78199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-&gt; notation: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Shortcut for clumsier use of both * and . with careful </a:t>
            </a:r>
            <a:r>
              <a:rPr lang="en-US" sz="2000" dirty="0" err="1"/>
              <a:t>parenthesization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the value to the </a:t>
            </a:r>
            <a:r>
              <a:rPr lang="en-US" sz="2000" i="1" dirty="0"/>
              <a:t>left </a:t>
            </a:r>
            <a:r>
              <a:rPr lang="en-US" sz="2000" dirty="0"/>
              <a:t>of the -&gt; is a pointer, use -&gt;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Irrelevant whether the type of the field to the right of -&gt; is a pointer </a:t>
            </a:r>
          </a:p>
        </p:txBody>
      </p:sp>
    </p:spTree>
    <p:extLst>
      <p:ext uri="{BB962C8B-B14F-4D97-AF65-F5344CB8AC3E}">
        <p14:creationId xmlns:p14="http://schemas.microsoft.com/office/powerpoint/2010/main" val="287031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B536-AD87-D063-12E6-444C8D82C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structs Helper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35D5B7-A7C4-29DE-FDF0-ECCD9FD9852B}"/>
              </a:ext>
            </a:extLst>
          </p:cNvPr>
          <p:cNvSpPr txBox="1"/>
          <p:nvPr/>
        </p:nvSpPr>
        <p:spPr>
          <a:xfrm>
            <a:off x="838200" y="1187116"/>
            <a:ext cx="8331127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point_new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res 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point*)malloc(</a:t>
            </a:r>
            <a:r>
              <a:rPr lang="en-US" sz="16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point));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(res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point_new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: cannot allocate point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exit(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res-&gt;x = x;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res-&gt;y = 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point_free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p)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free(p);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point_show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p)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"(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6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)"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p-&gt;x, p-&gt;y);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point_copy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p)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point_new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(p-&gt;x, p-&gt;y);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3572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D83A-5226-5B7F-A391-37546BC8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struct (I)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7B4B2-A22F-0A82-F548-D2921FB754EA}"/>
              </a:ext>
            </a:extLst>
          </p:cNvPr>
          <p:cNvSpPr txBox="1"/>
          <p:nvPr/>
        </p:nvSpPr>
        <p:spPr>
          <a:xfrm>
            <a:off x="838200" y="1331494"/>
            <a:ext cx="3252814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center;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radius;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foo()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c;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c.center.x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10.5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c.center.y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18.2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c.radius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4.6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2751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D83A-5226-5B7F-A391-37546BC8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struct (II)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7B4B2-A22F-0A82-F548-D2921FB754EA}"/>
              </a:ext>
            </a:extLst>
          </p:cNvPr>
          <p:cNvSpPr txBox="1"/>
          <p:nvPr/>
        </p:nvSpPr>
        <p:spPr>
          <a:xfrm>
            <a:off x="838200" y="1331494"/>
            <a:ext cx="8133958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center;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radius;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foo()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c;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c.center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point*)malloc(</a:t>
            </a:r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c.center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10.5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c.center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18.2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c.radius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4.6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429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D83A-5226-5B7F-A391-37546BC8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struct (III)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7B4B2-A22F-0A82-F548-D2921FB754EA}"/>
              </a:ext>
            </a:extLst>
          </p:cNvPr>
          <p:cNvSpPr txBox="1"/>
          <p:nvPr/>
        </p:nvSpPr>
        <p:spPr>
          <a:xfrm>
            <a:off x="838200" y="1331494"/>
            <a:ext cx="9528571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center;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radius;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foo()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circle* c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circle*)malloc(</a:t>
            </a:r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center.x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10.5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center.y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18.2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c-&gt;radius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4.6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3934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D83A-5226-5B7F-A391-37546BC8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struct (IV)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7B4B2-A22F-0A82-F548-D2921FB754EA}"/>
              </a:ext>
            </a:extLst>
          </p:cNvPr>
          <p:cNvSpPr txBox="1"/>
          <p:nvPr/>
        </p:nvSpPr>
        <p:spPr>
          <a:xfrm>
            <a:off x="838200" y="1331494"/>
            <a:ext cx="9528571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y;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center;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radius;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foo()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circle* c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circle*)malloc(</a:t>
            </a:r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circle));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c-&gt;center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point*)malloc(</a:t>
            </a:r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point));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c-&gt;center-&gt;x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10.5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center-&gt;y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18.2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c-&gt;radius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4.6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3856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4DD95-1769-3AC7-E0A4-58B3E62D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of structs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FD21B-7FAC-0FDF-E939-6F81708EB425}"/>
              </a:ext>
            </a:extLst>
          </p:cNvPr>
          <p:cNvSpPr txBox="1"/>
          <p:nvPr/>
        </p:nvSpPr>
        <p:spPr>
          <a:xfrm>
            <a:off x="930442" y="1540041"/>
            <a:ext cx="99469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Can have arrays of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s:</a:t>
            </a: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  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ps1[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  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ps2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point*)malloc(</a:t>
            </a:r>
            <a:r>
              <a:rPr lang="en-US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point) *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D12C0-11D5-2F61-A124-EEEA723F5D46}"/>
              </a:ext>
            </a:extLst>
          </p:cNvPr>
          <p:cNvSpPr txBox="1"/>
          <p:nvPr/>
        </p:nvSpPr>
        <p:spPr>
          <a:xfrm>
            <a:off x="930442" y="2944396"/>
            <a:ext cx="519597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Access an array element to get 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 value: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ps2[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midpoint(ps1[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ps1[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7245F-83EF-0960-B76A-6B0FD20118E7}"/>
              </a:ext>
            </a:extLst>
          </p:cNvPr>
          <p:cNvSpPr txBox="1"/>
          <p:nvPr/>
        </p:nvSpPr>
        <p:spPr>
          <a:xfrm>
            <a:off x="930442" y="4363853"/>
            <a:ext cx="63799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MSS10"/>
              </a:rPr>
              <a:t>Access an array element, then a field within that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MSS10"/>
              </a:rPr>
              <a:t>: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ps2[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].x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9.0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800" dirty="0">
              <a:effectLst/>
              <a:latin typeface="CMSS10"/>
            </a:endParaRPr>
          </a:p>
        </p:txBody>
      </p:sp>
    </p:spTree>
    <p:extLst>
      <p:ext uri="{BB962C8B-B14F-4D97-AF65-F5344CB8AC3E}">
        <p14:creationId xmlns:p14="http://schemas.microsoft.com/office/powerpoint/2010/main" val="1185389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4DD95-1769-3AC7-E0A4-58B3E62D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of struct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FD21B-7FAC-0FDF-E939-6F81708EB425}"/>
              </a:ext>
            </a:extLst>
          </p:cNvPr>
          <p:cNvSpPr txBox="1"/>
          <p:nvPr/>
        </p:nvSpPr>
        <p:spPr>
          <a:xfrm>
            <a:off x="930442" y="1540041"/>
            <a:ext cx="105047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Can have arrays of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/>
              <a:t> pointers:</a:t>
            </a: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sz="1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ps3[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point** ps4 = (</a:t>
            </a:r>
            <a:r>
              <a:rPr lang="en-US" sz="1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point**)malloc(</a:t>
            </a:r>
            <a:r>
              <a:rPr lang="en-US" sz="18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8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point*) * 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D12C0-11D5-2F61-A124-EEEA723F5D46}"/>
              </a:ext>
            </a:extLst>
          </p:cNvPr>
          <p:cNvSpPr txBox="1"/>
          <p:nvPr/>
        </p:nvSpPr>
        <p:spPr>
          <a:xfrm>
            <a:off x="930442" y="2944396"/>
            <a:ext cx="562365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Access an array element to get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pointer 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*ps4[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midpoint(*ps3[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*ps3[</a:t>
            </a:r>
            <a:r>
              <a:rPr lang="en-US" sz="18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7245F-83EF-0960-B76A-6B0FD20118E7}"/>
              </a:ext>
            </a:extLst>
          </p:cNvPr>
          <p:cNvSpPr txBox="1"/>
          <p:nvPr/>
        </p:nvSpPr>
        <p:spPr>
          <a:xfrm>
            <a:off x="930442" y="4363853"/>
            <a:ext cx="67434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Access and dereference an array element to get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value</a:t>
            </a:r>
          </a:p>
          <a:p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ps4[3]-&gt;x = 9.3;</a:t>
            </a:r>
            <a:endParaRPr lang="en-US" sz="18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US" sz="1800" dirty="0">
              <a:effectLst/>
              <a:latin typeface="CMSS10"/>
            </a:endParaRPr>
          </a:p>
        </p:txBody>
      </p:sp>
    </p:spTree>
    <p:extLst>
      <p:ext uri="{BB962C8B-B14F-4D97-AF65-F5344CB8AC3E}">
        <p14:creationId xmlns:p14="http://schemas.microsoft.com/office/powerpoint/2010/main" val="3456759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002F-837E-5A09-94FA-FCF92CF6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of struct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B4B5D-4517-33CF-B60A-11D2C105476D}"/>
              </a:ext>
            </a:extLst>
          </p:cNvPr>
          <p:cNvSpPr txBox="1"/>
          <p:nvPr/>
        </p:nvSpPr>
        <p:spPr>
          <a:xfrm>
            <a:off x="838200" y="4026069"/>
            <a:ext cx="6763390" cy="26314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foo(){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ps3[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ps3[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point_new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point_show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(ps3[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point** ps4 = 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point**) 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                   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malloc(</a:t>
            </a:r>
            <a:r>
              <a:rPr lang="en-US" sz="15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point*) *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  for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++)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ps4[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point_new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*ps4[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midpoint(*ps3[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], *ps3[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01A24AF3-9D14-BE7F-026A-93C88FBD4B12}"/>
              </a:ext>
            </a:extLst>
          </p:cNvPr>
          <p:cNvSpPr/>
          <p:nvPr/>
        </p:nvSpPr>
        <p:spPr>
          <a:xfrm>
            <a:off x="4545460" y="4185966"/>
            <a:ext cx="3101080" cy="1003247"/>
          </a:xfrm>
          <a:prstGeom prst="wedgeRoundRectCallout">
            <a:avLst>
              <a:gd name="adj1" fmla="val -83554"/>
              <a:gd name="adj2" fmla="val 5112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Access an array element to get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pointer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40C556-A1BA-767A-3529-C77DED21B718}"/>
              </a:ext>
            </a:extLst>
          </p:cNvPr>
          <p:cNvSpPr txBox="1"/>
          <p:nvPr/>
        </p:nvSpPr>
        <p:spPr>
          <a:xfrm>
            <a:off x="838200" y="1222294"/>
            <a:ext cx="4801314" cy="26314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// helper functions</a:t>
            </a:r>
          </a:p>
          <a:p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midpoint(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p1, </a:t>
            </a:r>
          </a:p>
          <a:p>
            <a:r>
              <a:rPr lang="en-US" sz="1500" dirty="0">
                <a:solidFill>
                  <a:srgbClr val="000000"/>
                </a:solidFill>
                <a:latin typeface="Menlo" panose="020B0609030804020204" pitchFamily="49" charset="0"/>
              </a:rPr>
              <a:t>                     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p2) 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 res;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res.x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(p1.x + p2.x)/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res.y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(p1.y + p2.y)/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5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point_show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point* p) {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5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"(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5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5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en-US" sz="1500" dirty="0" err="1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lf</a:t>
            </a:r>
            <a:r>
              <a:rPr lang="en-US" sz="15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)"</a:t>
            </a:r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p-&gt;x, p-&gt;y);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5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8E92CF7-B875-904F-129F-5B7C09DA7E26}"/>
              </a:ext>
            </a:extLst>
          </p:cNvPr>
          <p:cNvSpPr/>
          <p:nvPr/>
        </p:nvSpPr>
        <p:spPr>
          <a:xfrm flipH="1">
            <a:off x="1018202" y="4959830"/>
            <a:ext cx="2366682" cy="32988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ular Callout 21">
            <a:extLst>
              <a:ext uri="{FF2B5EF4-FFF2-40B4-BE49-F238E27FC236}">
                <a16:creationId xmlns:a16="http://schemas.microsoft.com/office/drawing/2014/main" id="{ED1AD077-50FE-5EFE-5C0C-C16D7357F09B}"/>
              </a:ext>
            </a:extLst>
          </p:cNvPr>
          <p:cNvSpPr/>
          <p:nvPr/>
        </p:nvSpPr>
        <p:spPr>
          <a:xfrm>
            <a:off x="6647084" y="5758441"/>
            <a:ext cx="3748200" cy="1003247"/>
          </a:xfrm>
          <a:prstGeom prst="wedgeRoundRectCallout">
            <a:avLst>
              <a:gd name="adj1" fmla="val -79933"/>
              <a:gd name="adj2" fmla="val 1914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Access and dereference an array element to get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value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BDD4CFF-5D18-34B7-1691-E2CEEF2FBD2B}"/>
              </a:ext>
            </a:extLst>
          </p:cNvPr>
          <p:cNvSpPr/>
          <p:nvPr/>
        </p:nvSpPr>
        <p:spPr>
          <a:xfrm flipH="1">
            <a:off x="1059007" y="6095122"/>
            <a:ext cx="4347182" cy="32988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090B56EB-7C77-0DBF-0C0C-661957AAE0BB}"/>
              </a:ext>
            </a:extLst>
          </p:cNvPr>
          <p:cNvSpPr/>
          <p:nvPr/>
        </p:nvSpPr>
        <p:spPr>
          <a:xfrm>
            <a:off x="8363481" y="3524445"/>
            <a:ext cx="3427466" cy="1003247"/>
          </a:xfrm>
          <a:prstGeom prst="wedgeRoundRectCallout">
            <a:avLst>
              <a:gd name="adj1" fmla="val -41135"/>
              <a:gd name="adj2" fmla="val 3673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Access an array element, then a field within that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FB41D"/>
                </a:solidFill>
                <a:effectLst/>
                <a:uLnTx/>
                <a:uFillTx/>
                <a:latin typeface="Menlo" panose="020B0609030804020204" pitchFamily="49" charset="0"/>
                <a:ea typeface="+mn-ea"/>
                <a:cs typeface="+mn-cs"/>
              </a:rPr>
              <a:t>struct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ps4[3]-&gt;x = 9.3;</a:t>
            </a:r>
            <a:endParaRPr lang="en-US" sz="2000" dirty="0"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952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7874-FE7D-CBCB-9B75-AB1C28707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3EC4D-C0E0-21ED-6642-471358FFE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structs bundles multiple values in one entity</a:t>
            </a:r>
          </a:p>
          <a:p>
            <a:endParaRPr lang="en-US" dirty="0"/>
          </a:p>
          <a:p>
            <a:r>
              <a:rPr lang="en-US" dirty="0"/>
              <a:t>How to use structs as parameter type, return type, field, array element,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struct vs. struct pointer</a:t>
            </a:r>
          </a:p>
          <a:p>
            <a:pPr lvl="1"/>
            <a:r>
              <a:rPr lang="en-US" dirty="0"/>
              <a:t>Difference between . and -&gt;</a:t>
            </a:r>
          </a:p>
        </p:txBody>
      </p:sp>
    </p:spTree>
    <p:extLst>
      <p:ext uri="{BB962C8B-B14F-4D97-AF65-F5344CB8AC3E}">
        <p14:creationId xmlns:p14="http://schemas.microsoft.com/office/powerpoint/2010/main" val="554112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19240</TotalTime>
  <Words>2631</Words>
  <Application>Microsoft Macintosh PowerPoint</Application>
  <PresentationFormat>Widescreen</PresentationFormat>
  <Paragraphs>401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CMSS10</vt:lpstr>
      <vt:lpstr>CMTT10</vt:lpstr>
      <vt:lpstr>Arial</vt:lpstr>
      <vt:lpstr>Calibri</vt:lpstr>
      <vt:lpstr>Calibri Light</vt:lpstr>
      <vt:lpstr>Menlo</vt:lpstr>
      <vt:lpstr>Wingdings</vt:lpstr>
      <vt:lpstr>Office Theme</vt:lpstr>
      <vt:lpstr>structs  CMSC 14300: System Programming I 11th Lecture</vt:lpstr>
      <vt:lpstr>Example: Calculate the midpoint on a 2D space</vt:lpstr>
      <vt:lpstr>structs: Bundling Together Data</vt:lpstr>
      <vt:lpstr>Defining a struct</vt:lpstr>
      <vt:lpstr>structs as local variables</vt:lpstr>
      <vt:lpstr>Working with structs</vt:lpstr>
      <vt:lpstr>Working with structs</vt:lpstr>
      <vt:lpstr>Working with structs</vt:lpstr>
      <vt:lpstr>structs and Functions: Copying</vt:lpstr>
      <vt:lpstr>structs and Functions: Copying</vt:lpstr>
      <vt:lpstr>Pointers to structs</vt:lpstr>
      <vt:lpstr>structs Helper Functions</vt:lpstr>
      <vt:lpstr>Nested struct (I)</vt:lpstr>
      <vt:lpstr>Nested struct (II)</vt:lpstr>
      <vt:lpstr>Nested struct (III)</vt:lpstr>
      <vt:lpstr>Nested struct (IV)</vt:lpstr>
      <vt:lpstr>Arrays of structs</vt:lpstr>
      <vt:lpstr>Arrays of struct Pointers</vt:lpstr>
      <vt:lpstr>Arrays of struct Pointers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1039</cp:revision>
  <dcterms:created xsi:type="dcterms:W3CDTF">2023-03-12T16:00:37Z</dcterms:created>
  <dcterms:modified xsi:type="dcterms:W3CDTF">2023-04-12T18:14:40Z</dcterms:modified>
</cp:coreProperties>
</file>