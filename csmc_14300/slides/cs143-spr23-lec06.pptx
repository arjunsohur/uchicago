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310" r:id="rId3"/>
    <p:sldId id="287" r:id="rId4"/>
    <p:sldId id="289" r:id="rId5"/>
    <p:sldId id="288" r:id="rId6"/>
    <p:sldId id="258" r:id="rId7"/>
    <p:sldId id="291" r:id="rId8"/>
    <p:sldId id="292" r:id="rId9"/>
    <p:sldId id="313" r:id="rId10"/>
    <p:sldId id="283" r:id="rId11"/>
    <p:sldId id="294" r:id="rId12"/>
    <p:sldId id="295" r:id="rId13"/>
    <p:sldId id="297" r:id="rId14"/>
    <p:sldId id="300" r:id="rId15"/>
    <p:sldId id="301" r:id="rId16"/>
    <p:sldId id="302" r:id="rId17"/>
    <p:sldId id="285" r:id="rId18"/>
    <p:sldId id="303" r:id="rId19"/>
    <p:sldId id="304" r:id="rId20"/>
    <p:sldId id="305" r:id="rId21"/>
    <p:sldId id="306" r:id="rId22"/>
    <p:sldId id="307" r:id="rId23"/>
    <p:sldId id="277" r:id="rId24"/>
    <p:sldId id="309" r:id="rId25"/>
    <p:sldId id="284" r:id="rId26"/>
    <p:sldId id="308" r:id="rId27"/>
    <p:sldId id="290" r:id="rId28"/>
    <p:sldId id="278" r:id="rId29"/>
    <p:sldId id="298" r:id="rId30"/>
    <p:sldId id="299" r:id="rId31"/>
    <p:sldId id="293" r:id="rId32"/>
    <p:sldId id="31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D1CF"/>
    <a:srgbClr val="0432FF"/>
    <a:srgbClr val="B592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26"/>
    <p:restoredTop sz="80824"/>
  </p:normalViewPr>
  <p:slideViewPr>
    <p:cSldViewPr snapToGrid="0">
      <p:cViewPr>
        <p:scale>
          <a:sx n="155" d="100"/>
          <a:sy n="155" d="100"/>
        </p:scale>
        <p:origin x="144" y="-32"/>
      </p:cViewPr>
      <p:guideLst/>
    </p:cSldViewPr>
  </p:slideViewPr>
  <p:notesTextViewPr>
    <p:cViewPr>
      <p:scale>
        <a:sx n="1" d="1"/>
        <a:sy n="1" d="1"/>
      </p:scale>
      <p:origin x="0" y="0"/>
    </p:cViewPr>
  </p:notesTextViewPr>
  <p:notesViewPr>
    <p:cSldViewPr snapToGrid="0">
      <p:cViewPr varScale="1">
        <p:scale>
          <a:sx n="142" d="100"/>
          <a:sy n="142" d="100"/>
        </p:scale>
        <p:origin x="3960"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53F169-2198-DE43-9383-BED4C1AFCE25}" type="datetimeFigureOut">
              <a:rPr lang="en-US" smtClean="0"/>
              <a:t>3/30/23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2C28D5-7AAA-A440-BCD5-500991AF41B5}" type="slidenum">
              <a:rPr lang="en-US" smtClean="0"/>
              <a:t>‹#›</a:t>
            </a:fld>
            <a:endParaRPr lang="en-US"/>
          </a:p>
        </p:txBody>
      </p:sp>
    </p:spTree>
    <p:extLst>
      <p:ext uri="{BB962C8B-B14F-4D97-AF65-F5344CB8AC3E}">
        <p14:creationId xmlns:p14="http://schemas.microsoft.com/office/powerpoint/2010/main" val="4189680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t>Hint: int is 4 bytes</a:t>
            </a:r>
          </a:p>
        </p:txBody>
      </p:sp>
      <p:sp>
        <p:nvSpPr>
          <p:cNvPr id="4" name="Slide Number Placeholder 3"/>
          <p:cNvSpPr>
            <a:spLocks noGrp="1"/>
          </p:cNvSpPr>
          <p:nvPr>
            <p:ph type="sldNum" sz="quarter" idx="5"/>
          </p:nvPr>
        </p:nvSpPr>
        <p:spPr/>
        <p:txBody>
          <a:bodyPr/>
          <a:lstStyle/>
          <a:p>
            <a:fld id="{452C28D5-7AAA-A440-BCD5-500991AF41B5}" type="slidenum">
              <a:rPr lang="en-US" smtClean="0"/>
              <a:t>7</a:t>
            </a:fld>
            <a:endParaRPr lang="en-US"/>
          </a:p>
        </p:txBody>
      </p:sp>
    </p:spTree>
    <p:extLst>
      <p:ext uri="{BB962C8B-B14F-4D97-AF65-F5344CB8AC3E}">
        <p14:creationId xmlns:p14="http://schemas.microsoft.com/office/powerpoint/2010/main" val="1785128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2C28D5-7AAA-A440-BCD5-500991AF41B5}" type="slidenum">
              <a:rPr lang="en-US" smtClean="0"/>
              <a:t>10</a:t>
            </a:fld>
            <a:endParaRPr lang="en-US"/>
          </a:p>
        </p:txBody>
      </p:sp>
    </p:spTree>
    <p:extLst>
      <p:ext uri="{BB962C8B-B14F-4D97-AF65-F5344CB8AC3E}">
        <p14:creationId xmlns:p14="http://schemas.microsoft.com/office/powerpoint/2010/main" val="2689008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t>Hint: int is 4 bytes</a:t>
            </a:r>
          </a:p>
        </p:txBody>
      </p:sp>
      <p:sp>
        <p:nvSpPr>
          <p:cNvPr id="4" name="Slide Number Placeholder 3"/>
          <p:cNvSpPr>
            <a:spLocks noGrp="1"/>
          </p:cNvSpPr>
          <p:nvPr>
            <p:ph type="sldNum" sz="quarter" idx="5"/>
          </p:nvPr>
        </p:nvSpPr>
        <p:spPr/>
        <p:txBody>
          <a:bodyPr/>
          <a:lstStyle/>
          <a:p>
            <a:fld id="{452C28D5-7AAA-A440-BCD5-500991AF41B5}" type="slidenum">
              <a:rPr lang="en-US" smtClean="0"/>
              <a:t>32</a:t>
            </a:fld>
            <a:endParaRPr lang="en-US"/>
          </a:p>
        </p:txBody>
      </p:sp>
    </p:spTree>
    <p:extLst>
      <p:ext uri="{BB962C8B-B14F-4D97-AF65-F5344CB8AC3E}">
        <p14:creationId xmlns:p14="http://schemas.microsoft.com/office/powerpoint/2010/main" val="2023121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D6493-2476-93E9-B539-6FEFD693FA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8B6265-6663-685B-0D67-32A300D1E7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0973AC-C4D7-2CD8-59B9-8F0369621E22}"/>
              </a:ext>
            </a:extLst>
          </p:cNvPr>
          <p:cNvSpPr>
            <a:spLocks noGrp="1"/>
          </p:cNvSpPr>
          <p:nvPr>
            <p:ph type="dt" sz="half" idx="10"/>
          </p:nvPr>
        </p:nvSpPr>
        <p:spPr/>
        <p:txBody>
          <a:bodyPr/>
          <a:lstStyle/>
          <a:p>
            <a:fld id="{4F799191-DA8B-834D-8515-0165619110D1}" type="datetimeFigureOut">
              <a:rPr lang="en-US" smtClean="0"/>
              <a:t>3/30/23</a:t>
            </a:fld>
            <a:endParaRPr lang="en-US"/>
          </a:p>
        </p:txBody>
      </p:sp>
      <p:sp>
        <p:nvSpPr>
          <p:cNvPr id="5" name="Footer Placeholder 4">
            <a:extLst>
              <a:ext uri="{FF2B5EF4-FFF2-40B4-BE49-F238E27FC236}">
                <a16:creationId xmlns:a16="http://schemas.microsoft.com/office/drawing/2014/main" id="{797CEC3C-9C7C-6C2F-A149-61BF90BADE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4FC2BA-FDA7-D836-7F7E-11EC7EA3E7D6}"/>
              </a:ext>
            </a:extLst>
          </p:cNvPr>
          <p:cNvSpPr>
            <a:spLocks noGrp="1"/>
          </p:cNvSpPr>
          <p:nvPr>
            <p:ph type="sldNum" sz="quarter" idx="12"/>
          </p:nvPr>
        </p:nvSpPr>
        <p:spPr/>
        <p:txBody>
          <a:bodyPr/>
          <a:lstStyle/>
          <a:p>
            <a:fld id="{925D6C15-EF3C-4448-AD26-0168B8F9D9DB}" type="slidenum">
              <a:rPr lang="en-US" smtClean="0"/>
              <a:t>‹#›</a:t>
            </a:fld>
            <a:endParaRPr lang="en-US"/>
          </a:p>
        </p:txBody>
      </p:sp>
    </p:spTree>
    <p:extLst>
      <p:ext uri="{BB962C8B-B14F-4D97-AF65-F5344CB8AC3E}">
        <p14:creationId xmlns:p14="http://schemas.microsoft.com/office/powerpoint/2010/main" val="2722390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0B075-03A3-FA86-B7F8-D311B3620DFA}"/>
              </a:ext>
            </a:extLst>
          </p:cNvPr>
          <p:cNvSpPr>
            <a:spLocks noGrp="1"/>
          </p:cNvSpPr>
          <p:nvPr>
            <p:ph type="title"/>
          </p:nvPr>
        </p:nvSpPr>
        <p:spPr>
          <a:xfrm>
            <a:off x="838200" y="365125"/>
            <a:ext cx="10515600" cy="79717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93CE385-2161-0088-C06C-4B4A6B7FF7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B462E8-303B-5403-3582-618C446E398C}"/>
              </a:ext>
            </a:extLst>
          </p:cNvPr>
          <p:cNvSpPr>
            <a:spLocks noGrp="1"/>
          </p:cNvSpPr>
          <p:nvPr>
            <p:ph type="dt" sz="half" idx="10"/>
          </p:nvPr>
        </p:nvSpPr>
        <p:spPr/>
        <p:txBody>
          <a:bodyPr/>
          <a:lstStyle/>
          <a:p>
            <a:fld id="{4F799191-DA8B-834D-8515-0165619110D1}" type="datetimeFigureOut">
              <a:rPr lang="en-US" smtClean="0"/>
              <a:t>3/30/23</a:t>
            </a:fld>
            <a:endParaRPr lang="en-US"/>
          </a:p>
        </p:txBody>
      </p:sp>
      <p:sp>
        <p:nvSpPr>
          <p:cNvPr id="5" name="Footer Placeholder 4">
            <a:extLst>
              <a:ext uri="{FF2B5EF4-FFF2-40B4-BE49-F238E27FC236}">
                <a16:creationId xmlns:a16="http://schemas.microsoft.com/office/drawing/2014/main" id="{E36D7485-BD1F-CD51-FE23-21B47F35D2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1C25C6-1258-538E-FF42-9D9DF41066AA}"/>
              </a:ext>
            </a:extLst>
          </p:cNvPr>
          <p:cNvSpPr>
            <a:spLocks noGrp="1"/>
          </p:cNvSpPr>
          <p:nvPr>
            <p:ph type="sldNum" sz="quarter" idx="12"/>
          </p:nvPr>
        </p:nvSpPr>
        <p:spPr/>
        <p:txBody>
          <a:bodyPr/>
          <a:lstStyle/>
          <a:p>
            <a:fld id="{925D6C15-EF3C-4448-AD26-0168B8F9D9DB}" type="slidenum">
              <a:rPr lang="en-US" smtClean="0"/>
              <a:t>‹#›</a:t>
            </a:fld>
            <a:endParaRPr lang="en-US"/>
          </a:p>
        </p:txBody>
      </p:sp>
    </p:spTree>
    <p:extLst>
      <p:ext uri="{BB962C8B-B14F-4D97-AF65-F5344CB8AC3E}">
        <p14:creationId xmlns:p14="http://schemas.microsoft.com/office/powerpoint/2010/main" val="231795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27316-4858-30BC-055B-124573C2EB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8A639A-B191-327A-6978-62EECF4B0E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0B25BB-C316-ECCB-BF4D-C3D1D131365F}"/>
              </a:ext>
            </a:extLst>
          </p:cNvPr>
          <p:cNvSpPr>
            <a:spLocks noGrp="1"/>
          </p:cNvSpPr>
          <p:nvPr>
            <p:ph type="dt" sz="half" idx="10"/>
          </p:nvPr>
        </p:nvSpPr>
        <p:spPr/>
        <p:txBody>
          <a:bodyPr/>
          <a:lstStyle/>
          <a:p>
            <a:fld id="{4F799191-DA8B-834D-8515-0165619110D1}" type="datetimeFigureOut">
              <a:rPr lang="en-US" smtClean="0"/>
              <a:t>3/30/23</a:t>
            </a:fld>
            <a:endParaRPr lang="en-US"/>
          </a:p>
        </p:txBody>
      </p:sp>
      <p:sp>
        <p:nvSpPr>
          <p:cNvPr id="5" name="Footer Placeholder 4">
            <a:extLst>
              <a:ext uri="{FF2B5EF4-FFF2-40B4-BE49-F238E27FC236}">
                <a16:creationId xmlns:a16="http://schemas.microsoft.com/office/drawing/2014/main" id="{F44B2548-ED1B-4668-17CD-F31AE604E0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4F702F-018C-965A-1676-349EA4F55306}"/>
              </a:ext>
            </a:extLst>
          </p:cNvPr>
          <p:cNvSpPr>
            <a:spLocks noGrp="1"/>
          </p:cNvSpPr>
          <p:nvPr>
            <p:ph type="sldNum" sz="quarter" idx="12"/>
          </p:nvPr>
        </p:nvSpPr>
        <p:spPr/>
        <p:txBody>
          <a:bodyPr/>
          <a:lstStyle/>
          <a:p>
            <a:fld id="{925D6C15-EF3C-4448-AD26-0168B8F9D9DB}" type="slidenum">
              <a:rPr lang="en-US" smtClean="0"/>
              <a:t>‹#›</a:t>
            </a:fld>
            <a:endParaRPr lang="en-US"/>
          </a:p>
        </p:txBody>
      </p:sp>
    </p:spTree>
    <p:extLst>
      <p:ext uri="{BB962C8B-B14F-4D97-AF65-F5344CB8AC3E}">
        <p14:creationId xmlns:p14="http://schemas.microsoft.com/office/powerpoint/2010/main" val="3854715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9BB08-3A02-1789-20AC-966C0B74D0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303AE7-6E47-C852-258C-0093063D05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1DB2F4-5118-F931-1661-8C225D35D9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0C3D44-75A5-E98B-BAC7-9AE0294AC461}"/>
              </a:ext>
            </a:extLst>
          </p:cNvPr>
          <p:cNvSpPr>
            <a:spLocks noGrp="1"/>
          </p:cNvSpPr>
          <p:nvPr>
            <p:ph type="dt" sz="half" idx="10"/>
          </p:nvPr>
        </p:nvSpPr>
        <p:spPr/>
        <p:txBody>
          <a:bodyPr/>
          <a:lstStyle/>
          <a:p>
            <a:fld id="{4F799191-DA8B-834D-8515-0165619110D1}" type="datetimeFigureOut">
              <a:rPr lang="en-US" smtClean="0"/>
              <a:t>3/30/23</a:t>
            </a:fld>
            <a:endParaRPr lang="en-US"/>
          </a:p>
        </p:txBody>
      </p:sp>
      <p:sp>
        <p:nvSpPr>
          <p:cNvPr id="6" name="Footer Placeholder 5">
            <a:extLst>
              <a:ext uri="{FF2B5EF4-FFF2-40B4-BE49-F238E27FC236}">
                <a16:creationId xmlns:a16="http://schemas.microsoft.com/office/drawing/2014/main" id="{29494225-9A87-1DA2-9198-24E2AD0C95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DB31FB-4778-D85E-90C0-DA68EEAB990E}"/>
              </a:ext>
            </a:extLst>
          </p:cNvPr>
          <p:cNvSpPr>
            <a:spLocks noGrp="1"/>
          </p:cNvSpPr>
          <p:nvPr>
            <p:ph type="sldNum" sz="quarter" idx="12"/>
          </p:nvPr>
        </p:nvSpPr>
        <p:spPr/>
        <p:txBody>
          <a:bodyPr/>
          <a:lstStyle/>
          <a:p>
            <a:fld id="{925D6C15-EF3C-4448-AD26-0168B8F9D9DB}" type="slidenum">
              <a:rPr lang="en-US" smtClean="0"/>
              <a:t>‹#›</a:t>
            </a:fld>
            <a:endParaRPr lang="en-US"/>
          </a:p>
        </p:txBody>
      </p:sp>
    </p:spTree>
    <p:extLst>
      <p:ext uri="{BB962C8B-B14F-4D97-AF65-F5344CB8AC3E}">
        <p14:creationId xmlns:p14="http://schemas.microsoft.com/office/powerpoint/2010/main" val="548468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6E9-2839-97CB-4D1A-A5C8320136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B3EECC-A052-DB25-D3E9-6ECA815909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B415DF-3550-F497-50FA-3A7C892EA4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2575B5-D73E-0E68-4DA6-0248BFFE64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C03FB7-11FD-90ED-77F9-A302DEDB4B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1F8A68-B0D0-6E96-0A84-980AA8A9BCD0}"/>
              </a:ext>
            </a:extLst>
          </p:cNvPr>
          <p:cNvSpPr>
            <a:spLocks noGrp="1"/>
          </p:cNvSpPr>
          <p:nvPr>
            <p:ph type="dt" sz="half" idx="10"/>
          </p:nvPr>
        </p:nvSpPr>
        <p:spPr/>
        <p:txBody>
          <a:bodyPr/>
          <a:lstStyle/>
          <a:p>
            <a:fld id="{4F799191-DA8B-834D-8515-0165619110D1}" type="datetimeFigureOut">
              <a:rPr lang="en-US" smtClean="0"/>
              <a:t>3/30/23</a:t>
            </a:fld>
            <a:endParaRPr lang="en-US"/>
          </a:p>
        </p:txBody>
      </p:sp>
      <p:sp>
        <p:nvSpPr>
          <p:cNvPr id="8" name="Footer Placeholder 7">
            <a:extLst>
              <a:ext uri="{FF2B5EF4-FFF2-40B4-BE49-F238E27FC236}">
                <a16:creationId xmlns:a16="http://schemas.microsoft.com/office/drawing/2014/main" id="{5BCFB583-8D53-40A4-90E8-0106762733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B0730B-A18E-3D24-DCA4-DEE6491A1A10}"/>
              </a:ext>
            </a:extLst>
          </p:cNvPr>
          <p:cNvSpPr>
            <a:spLocks noGrp="1"/>
          </p:cNvSpPr>
          <p:nvPr>
            <p:ph type="sldNum" sz="quarter" idx="12"/>
          </p:nvPr>
        </p:nvSpPr>
        <p:spPr/>
        <p:txBody>
          <a:bodyPr/>
          <a:lstStyle/>
          <a:p>
            <a:fld id="{925D6C15-EF3C-4448-AD26-0168B8F9D9DB}" type="slidenum">
              <a:rPr lang="en-US" smtClean="0"/>
              <a:t>‹#›</a:t>
            </a:fld>
            <a:endParaRPr lang="en-US"/>
          </a:p>
        </p:txBody>
      </p:sp>
    </p:spTree>
    <p:extLst>
      <p:ext uri="{BB962C8B-B14F-4D97-AF65-F5344CB8AC3E}">
        <p14:creationId xmlns:p14="http://schemas.microsoft.com/office/powerpoint/2010/main" val="1512723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6C52F-88D0-DECE-0B74-4AA230B758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D7AD8EC-E6CA-09B1-E885-D8875529AC00}"/>
              </a:ext>
            </a:extLst>
          </p:cNvPr>
          <p:cNvSpPr>
            <a:spLocks noGrp="1"/>
          </p:cNvSpPr>
          <p:nvPr>
            <p:ph type="dt" sz="half" idx="10"/>
          </p:nvPr>
        </p:nvSpPr>
        <p:spPr/>
        <p:txBody>
          <a:bodyPr/>
          <a:lstStyle/>
          <a:p>
            <a:fld id="{4F799191-DA8B-834D-8515-0165619110D1}" type="datetimeFigureOut">
              <a:rPr lang="en-US" smtClean="0"/>
              <a:t>3/30/23</a:t>
            </a:fld>
            <a:endParaRPr lang="en-US"/>
          </a:p>
        </p:txBody>
      </p:sp>
      <p:sp>
        <p:nvSpPr>
          <p:cNvPr id="4" name="Footer Placeholder 3">
            <a:extLst>
              <a:ext uri="{FF2B5EF4-FFF2-40B4-BE49-F238E27FC236}">
                <a16:creationId xmlns:a16="http://schemas.microsoft.com/office/drawing/2014/main" id="{A893AF39-5DF7-362E-8D4C-A245D6ADEA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EC6545-2C3D-D645-9C01-AEF8545B5353}"/>
              </a:ext>
            </a:extLst>
          </p:cNvPr>
          <p:cNvSpPr>
            <a:spLocks noGrp="1"/>
          </p:cNvSpPr>
          <p:nvPr>
            <p:ph type="sldNum" sz="quarter" idx="12"/>
          </p:nvPr>
        </p:nvSpPr>
        <p:spPr/>
        <p:txBody>
          <a:bodyPr/>
          <a:lstStyle/>
          <a:p>
            <a:fld id="{925D6C15-EF3C-4448-AD26-0168B8F9D9DB}" type="slidenum">
              <a:rPr lang="en-US" smtClean="0"/>
              <a:t>‹#›</a:t>
            </a:fld>
            <a:endParaRPr lang="en-US"/>
          </a:p>
        </p:txBody>
      </p:sp>
    </p:spTree>
    <p:extLst>
      <p:ext uri="{BB962C8B-B14F-4D97-AF65-F5344CB8AC3E}">
        <p14:creationId xmlns:p14="http://schemas.microsoft.com/office/powerpoint/2010/main" val="183679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0903B2-65E4-BF8E-0848-6C395032D780}"/>
              </a:ext>
            </a:extLst>
          </p:cNvPr>
          <p:cNvSpPr>
            <a:spLocks noGrp="1"/>
          </p:cNvSpPr>
          <p:nvPr>
            <p:ph type="dt" sz="half" idx="10"/>
          </p:nvPr>
        </p:nvSpPr>
        <p:spPr/>
        <p:txBody>
          <a:bodyPr/>
          <a:lstStyle/>
          <a:p>
            <a:fld id="{4F799191-DA8B-834D-8515-0165619110D1}" type="datetimeFigureOut">
              <a:rPr lang="en-US" smtClean="0"/>
              <a:t>3/30/23</a:t>
            </a:fld>
            <a:endParaRPr lang="en-US"/>
          </a:p>
        </p:txBody>
      </p:sp>
      <p:sp>
        <p:nvSpPr>
          <p:cNvPr id="3" name="Footer Placeholder 2">
            <a:extLst>
              <a:ext uri="{FF2B5EF4-FFF2-40B4-BE49-F238E27FC236}">
                <a16:creationId xmlns:a16="http://schemas.microsoft.com/office/drawing/2014/main" id="{23C0B6EE-E685-7C69-4126-140308D5D7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DB4CAE-3EE7-E34B-95F3-125BA85C390F}"/>
              </a:ext>
            </a:extLst>
          </p:cNvPr>
          <p:cNvSpPr>
            <a:spLocks noGrp="1"/>
          </p:cNvSpPr>
          <p:nvPr>
            <p:ph type="sldNum" sz="quarter" idx="12"/>
          </p:nvPr>
        </p:nvSpPr>
        <p:spPr/>
        <p:txBody>
          <a:bodyPr/>
          <a:lstStyle/>
          <a:p>
            <a:fld id="{925D6C15-EF3C-4448-AD26-0168B8F9D9DB}" type="slidenum">
              <a:rPr lang="en-US" smtClean="0"/>
              <a:t>‹#›</a:t>
            </a:fld>
            <a:endParaRPr lang="en-US"/>
          </a:p>
        </p:txBody>
      </p:sp>
    </p:spTree>
    <p:extLst>
      <p:ext uri="{BB962C8B-B14F-4D97-AF65-F5344CB8AC3E}">
        <p14:creationId xmlns:p14="http://schemas.microsoft.com/office/powerpoint/2010/main" val="2530903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64D97-9411-4DB6-6EBD-01C93CDE43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99C1A7B-3AEB-9D4C-FF90-9FC82BBEDD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8F3502-B1D2-7567-4197-0F851DBC1F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B52E46-B510-8C10-AEC4-919A1A605547}"/>
              </a:ext>
            </a:extLst>
          </p:cNvPr>
          <p:cNvSpPr>
            <a:spLocks noGrp="1"/>
          </p:cNvSpPr>
          <p:nvPr>
            <p:ph type="dt" sz="half" idx="10"/>
          </p:nvPr>
        </p:nvSpPr>
        <p:spPr/>
        <p:txBody>
          <a:bodyPr/>
          <a:lstStyle/>
          <a:p>
            <a:fld id="{4F799191-DA8B-834D-8515-0165619110D1}" type="datetimeFigureOut">
              <a:rPr lang="en-US" smtClean="0"/>
              <a:t>3/30/23</a:t>
            </a:fld>
            <a:endParaRPr lang="en-US"/>
          </a:p>
        </p:txBody>
      </p:sp>
      <p:sp>
        <p:nvSpPr>
          <p:cNvPr id="6" name="Footer Placeholder 5">
            <a:extLst>
              <a:ext uri="{FF2B5EF4-FFF2-40B4-BE49-F238E27FC236}">
                <a16:creationId xmlns:a16="http://schemas.microsoft.com/office/drawing/2014/main" id="{F7CDA79E-A724-4A2C-A553-8B305ED557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FBDD05-00C1-74CA-A04D-24B20A7AEC15}"/>
              </a:ext>
            </a:extLst>
          </p:cNvPr>
          <p:cNvSpPr>
            <a:spLocks noGrp="1"/>
          </p:cNvSpPr>
          <p:nvPr>
            <p:ph type="sldNum" sz="quarter" idx="12"/>
          </p:nvPr>
        </p:nvSpPr>
        <p:spPr/>
        <p:txBody>
          <a:bodyPr/>
          <a:lstStyle/>
          <a:p>
            <a:fld id="{925D6C15-EF3C-4448-AD26-0168B8F9D9DB}" type="slidenum">
              <a:rPr lang="en-US" smtClean="0"/>
              <a:t>‹#›</a:t>
            </a:fld>
            <a:endParaRPr lang="en-US"/>
          </a:p>
        </p:txBody>
      </p:sp>
    </p:spTree>
    <p:extLst>
      <p:ext uri="{BB962C8B-B14F-4D97-AF65-F5344CB8AC3E}">
        <p14:creationId xmlns:p14="http://schemas.microsoft.com/office/powerpoint/2010/main" val="361363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FD8E1-4084-A7A6-AC62-A6D3B1AEF8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EBF6B4-B75E-1C3F-8C26-684764EF51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D8E4C6C-AE41-8CD7-452E-AC2AF898E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F18251-593F-A35D-DF75-B54E453A6851}"/>
              </a:ext>
            </a:extLst>
          </p:cNvPr>
          <p:cNvSpPr>
            <a:spLocks noGrp="1"/>
          </p:cNvSpPr>
          <p:nvPr>
            <p:ph type="dt" sz="half" idx="10"/>
          </p:nvPr>
        </p:nvSpPr>
        <p:spPr/>
        <p:txBody>
          <a:bodyPr/>
          <a:lstStyle/>
          <a:p>
            <a:fld id="{4F799191-DA8B-834D-8515-0165619110D1}" type="datetimeFigureOut">
              <a:rPr lang="en-US" smtClean="0"/>
              <a:t>3/30/23</a:t>
            </a:fld>
            <a:endParaRPr lang="en-US"/>
          </a:p>
        </p:txBody>
      </p:sp>
      <p:sp>
        <p:nvSpPr>
          <p:cNvPr id="6" name="Footer Placeholder 5">
            <a:extLst>
              <a:ext uri="{FF2B5EF4-FFF2-40B4-BE49-F238E27FC236}">
                <a16:creationId xmlns:a16="http://schemas.microsoft.com/office/drawing/2014/main" id="{626E3CFE-4382-B365-4D25-29E6BF68EA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E65313-4F5A-B1B7-BB09-70D9562DD22D}"/>
              </a:ext>
            </a:extLst>
          </p:cNvPr>
          <p:cNvSpPr>
            <a:spLocks noGrp="1"/>
          </p:cNvSpPr>
          <p:nvPr>
            <p:ph type="sldNum" sz="quarter" idx="12"/>
          </p:nvPr>
        </p:nvSpPr>
        <p:spPr/>
        <p:txBody>
          <a:bodyPr/>
          <a:lstStyle/>
          <a:p>
            <a:fld id="{925D6C15-EF3C-4448-AD26-0168B8F9D9DB}" type="slidenum">
              <a:rPr lang="en-US" smtClean="0"/>
              <a:t>‹#›</a:t>
            </a:fld>
            <a:endParaRPr lang="en-US"/>
          </a:p>
        </p:txBody>
      </p:sp>
    </p:spTree>
    <p:extLst>
      <p:ext uri="{BB962C8B-B14F-4D97-AF65-F5344CB8AC3E}">
        <p14:creationId xmlns:p14="http://schemas.microsoft.com/office/powerpoint/2010/main" val="1689652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86E39-4054-8A15-83C3-9FC82AE986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E3AD267-2FB2-FF75-996B-E53FD34FC1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A5DA04-68C0-7F32-D3E9-20620D4A81E6}"/>
              </a:ext>
            </a:extLst>
          </p:cNvPr>
          <p:cNvSpPr>
            <a:spLocks noGrp="1"/>
          </p:cNvSpPr>
          <p:nvPr>
            <p:ph type="dt" sz="half" idx="10"/>
          </p:nvPr>
        </p:nvSpPr>
        <p:spPr/>
        <p:txBody>
          <a:bodyPr/>
          <a:lstStyle/>
          <a:p>
            <a:fld id="{4F799191-DA8B-834D-8515-0165619110D1}" type="datetimeFigureOut">
              <a:rPr lang="en-US" smtClean="0"/>
              <a:t>3/30/23</a:t>
            </a:fld>
            <a:endParaRPr lang="en-US"/>
          </a:p>
        </p:txBody>
      </p:sp>
      <p:sp>
        <p:nvSpPr>
          <p:cNvPr id="5" name="Footer Placeholder 4">
            <a:extLst>
              <a:ext uri="{FF2B5EF4-FFF2-40B4-BE49-F238E27FC236}">
                <a16:creationId xmlns:a16="http://schemas.microsoft.com/office/drawing/2014/main" id="{B3C70689-1A91-87E6-3351-6E09CC990C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DE03F9-C455-32B8-120B-607D292F04C1}"/>
              </a:ext>
            </a:extLst>
          </p:cNvPr>
          <p:cNvSpPr>
            <a:spLocks noGrp="1"/>
          </p:cNvSpPr>
          <p:nvPr>
            <p:ph type="sldNum" sz="quarter" idx="12"/>
          </p:nvPr>
        </p:nvSpPr>
        <p:spPr/>
        <p:txBody>
          <a:bodyPr/>
          <a:lstStyle/>
          <a:p>
            <a:fld id="{925D6C15-EF3C-4448-AD26-0168B8F9D9DB}" type="slidenum">
              <a:rPr lang="en-US" smtClean="0"/>
              <a:t>‹#›</a:t>
            </a:fld>
            <a:endParaRPr lang="en-US"/>
          </a:p>
        </p:txBody>
      </p:sp>
    </p:spTree>
    <p:extLst>
      <p:ext uri="{BB962C8B-B14F-4D97-AF65-F5344CB8AC3E}">
        <p14:creationId xmlns:p14="http://schemas.microsoft.com/office/powerpoint/2010/main" val="992462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83B5D7-80EE-B154-4817-85CC2962742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797980-2812-EA0A-3248-5ECDDAD48A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20C7A2-85CE-898E-77D7-B23E6707752D}"/>
              </a:ext>
            </a:extLst>
          </p:cNvPr>
          <p:cNvSpPr>
            <a:spLocks noGrp="1"/>
          </p:cNvSpPr>
          <p:nvPr>
            <p:ph type="dt" sz="half" idx="10"/>
          </p:nvPr>
        </p:nvSpPr>
        <p:spPr/>
        <p:txBody>
          <a:bodyPr/>
          <a:lstStyle/>
          <a:p>
            <a:fld id="{4F799191-DA8B-834D-8515-0165619110D1}" type="datetimeFigureOut">
              <a:rPr lang="en-US" smtClean="0"/>
              <a:t>3/30/23</a:t>
            </a:fld>
            <a:endParaRPr lang="en-US"/>
          </a:p>
        </p:txBody>
      </p:sp>
      <p:sp>
        <p:nvSpPr>
          <p:cNvPr id="5" name="Footer Placeholder 4">
            <a:extLst>
              <a:ext uri="{FF2B5EF4-FFF2-40B4-BE49-F238E27FC236}">
                <a16:creationId xmlns:a16="http://schemas.microsoft.com/office/drawing/2014/main" id="{AF8A95D8-5872-BC66-DD62-CB752D4CD2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078490-7E14-AF79-1A2C-2D9238015070}"/>
              </a:ext>
            </a:extLst>
          </p:cNvPr>
          <p:cNvSpPr>
            <a:spLocks noGrp="1"/>
          </p:cNvSpPr>
          <p:nvPr>
            <p:ph type="sldNum" sz="quarter" idx="12"/>
          </p:nvPr>
        </p:nvSpPr>
        <p:spPr/>
        <p:txBody>
          <a:bodyPr/>
          <a:lstStyle/>
          <a:p>
            <a:fld id="{925D6C15-EF3C-4448-AD26-0168B8F9D9DB}" type="slidenum">
              <a:rPr lang="en-US" smtClean="0"/>
              <a:t>‹#›</a:t>
            </a:fld>
            <a:endParaRPr lang="en-US"/>
          </a:p>
        </p:txBody>
      </p:sp>
    </p:spTree>
    <p:extLst>
      <p:ext uri="{BB962C8B-B14F-4D97-AF65-F5344CB8AC3E}">
        <p14:creationId xmlns:p14="http://schemas.microsoft.com/office/powerpoint/2010/main" val="262230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462C29-C3B1-5C75-6B98-5E8299403AB5}"/>
              </a:ext>
            </a:extLst>
          </p:cNvPr>
          <p:cNvSpPr>
            <a:spLocks noGrp="1"/>
          </p:cNvSpPr>
          <p:nvPr>
            <p:ph type="title"/>
          </p:nvPr>
        </p:nvSpPr>
        <p:spPr>
          <a:xfrm>
            <a:off x="838200" y="365125"/>
            <a:ext cx="10515600" cy="643279"/>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A3713F3-1ECF-6977-0C5F-4D3C0FCB17BF}"/>
              </a:ext>
            </a:extLst>
          </p:cNvPr>
          <p:cNvSpPr>
            <a:spLocks noGrp="1"/>
          </p:cNvSpPr>
          <p:nvPr>
            <p:ph type="body" idx="1"/>
          </p:nvPr>
        </p:nvSpPr>
        <p:spPr>
          <a:xfrm>
            <a:off x="838200" y="1341690"/>
            <a:ext cx="10515600" cy="48352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92030F0-2085-C3AB-C299-84A59592F4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799191-DA8B-834D-8515-0165619110D1}" type="datetimeFigureOut">
              <a:rPr lang="en-US" smtClean="0"/>
              <a:t>3/30/23</a:t>
            </a:fld>
            <a:endParaRPr lang="en-US"/>
          </a:p>
        </p:txBody>
      </p:sp>
      <p:sp>
        <p:nvSpPr>
          <p:cNvPr id="5" name="Footer Placeholder 4">
            <a:extLst>
              <a:ext uri="{FF2B5EF4-FFF2-40B4-BE49-F238E27FC236}">
                <a16:creationId xmlns:a16="http://schemas.microsoft.com/office/drawing/2014/main" id="{F75F843C-135A-9E50-77B7-0146DD4B71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EC269D5-0268-159A-99CD-0955D179F1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5D6C15-EF3C-4448-AD26-0168B8F9D9DB}" type="slidenum">
              <a:rPr lang="en-US" smtClean="0"/>
              <a:t>‹#›</a:t>
            </a:fld>
            <a:endParaRPr lang="en-US"/>
          </a:p>
        </p:txBody>
      </p:sp>
    </p:spTree>
    <p:extLst>
      <p:ext uri="{BB962C8B-B14F-4D97-AF65-F5344CB8AC3E}">
        <p14:creationId xmlns:p14="http://schemas.microsoft.com/office/powerpoint/2010/main" val="3579595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xxx/xxx.pdf" TargetMode="External"/><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1.sv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13.png"/></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65645-EB28-9C39-979C-0D1D57197BEA}"/>
              </a:ext>
            </a:extLst>
          </p:cNvPr>
          <p:cNvSpPr>
            <a:spLocks noGrp="1"/>
          </p:cNvSpPr>
          <p:nvPr>
            <p:ph type="ctrTitle"/>
          </p:nvPr>
        </p:nvSpPr>
        <p:spPr/>
        <p:txBody>
          <a:bodyPr>
            <a:noAutofit/>
          </a:bodyPr>
          <a:lstStyle/>
          <a:p>
            <a:pPr algn="l" fontAlgn="base">
              <a:lnSpc>
                <a:spcPct val="100000"/>
              </a:lnSpc>
              <a:spcAft>
                <a:spcPct val="0"/>
              </a:spcAft>
              <a:defRPr/>
            </a:pPr>
            <a:r>
              <a:rPr kumimoji="0" lang="en-US" sz="4400" b="1" i="0" u="none" strike="noStrike" kern="0" cap="none" spc="0" normalizeH="0" baseline="0" noProof="0" dirty="0">
                <a:ln>
                  <a:noFill/>
                </a:ln>
                <a:solidFill>
                  <a:schemeClr val="tx1"/>
                </a:solidFill>
                <a:effectLst/>
                <a:uLnTx/>
                <a:uFillTx/>
                <a:latin typeface="Calibri" pitchFamily="34" charset="0"/>
                <a:ea typeface="+mj-ea"/>
                <a:cs typeface="+mj-cs"/>
              </a:rPr>
              <a:t>Pointers I</a:t>
            </a:r>
            <a:br>
              <a:rPr kumimoji="0" lang="en-US" sz="4400" b="1" i="0" u="none" strike="noStrike" kern="0" cap="none" spc="0" normalizeH="0" baseline="0" noProof="0" dirty="0">
                <a:ln>
                  <a:noFill/>
                </a:ln>
                <a:solidFill>
                  <a:schemeClr val="tx1"/>
                </a:solidFill>
                <a:effectLst/>
                <a:uLnTx/>
                <a:uFillTx/>
                <a:latin typeface="Calibri" pitchFamily="34" charset="0"/>
                <a:ea typeface="+mj-ea"/>
                <a:cs typeface="+mj-cs"/>
              </a:rPr>
            </a:br>
            <a:br>
              <a:rPr kumimoji="0" lang="en-US" sz="4400" b="1" i="0" u="none" strike="noStrike" kern="0" cap="none" spc="0" normalizeH="0" baseline="0" noProof="0" dirty="0">
                <a:ln>
                  <a:noFill/>
                </a:ln>
                <a:solidFill>
                  <a:schemeClr val="tx1"/>
                </a:solidFill>
                <a:effectLst/>
                <a:uLnTx/>
                <a:uFillTx/>
                <a:latin typeface="Calibri" pitchFamily="34" charset="0"/>
                <a:ea typeface="+mj-ea"/>
                <a:cs typeface="+mj-cs"/>
              </a:rPr>
            </a:br>
            <a:r>
              <a:rPr kumimoji="0" lang="en-US" sz="2800" b="0" i="0" u="none" strike="noStrike" kern="0" cap="none" spc="0" normalizeH="0" baseline="0" noProof="0" dirty="0">
                <a:ln>
                  <a:noFill/>
                </a:ln>
                <a:solidFill>
                  <a:schemeClr val="tx1"/>
                </a:solidFill>
                <a:effectLst/>
                <a:uLnTx/>
                <a:uFillTx/>
                <a:latin typeface="Calibri" pitchFamily="34" charset="0"/>
                <a:ea typeface="+mj-ea"/>
                <a:cs typeface="+mj-cs"/>
              </a:rPr>
              <a:t>CMSC 14300: System Programming I</a:t>
            </a:r>
            <a:br>
              <a:rPr kumimoji="0" lang="en-US" sz="4400" b="0" i="0" u="none" strike="noStrike" kern="0" cap="none" spc="0" normalizeH="0" baseline="0" noProof="0" dirty="0">
                <a:ln>
                  <a:noFill/>
                </a:ln>
                <a:solidFill>
                  <a:schemeClr val="tx1"/>
                </a:solidFill>
                <a:effectLst/>
                <a:uLnTx/>
                <a:uFillTx/>
                <a:latin typeface="Calibri" pitchFamily="34" charset="0"/>
                <a:ea typeface="+mj-ea"/>
                <a:cs typeface="+mj-cs"/>
              </a:rPr>
            </a:br>
            <a:r>
              <a:rPr lang="en-US" sz="2800" kern="0" dirty="0">
                <a:solidFill>
                  <a:schemeClr val="tx1"/>
                </a:solidFill>
                <a:latin typeface="Calibri" pitchFamily="34" charset="0"/>
              </a:rPr>
              <a:t>6</a:t>
            </a:r>
            <a:r>
              <a:rPr kumimoji="0" lang="en-US" sz="2800" b="0" i="0" u="none" strike="noStrike" kern="0" cap="none" spc="0" normalizeH="0" baseline="30000" noProof="0" dirty="0" err="1">
                <a:ln>
                  <a:noFill/>
                </a:ln>
                <a:solidFill>
                  <a:schemeClr val="tx1"/>
                </a:solidFill>
                <a:effectLst/>
                <a:uLnTx/>
                <a:uFillTx/>
                <a:latin typeface="Calibri" pitchFamily="34" charset="0"/>
                <a:ea typeface="+mj-ea"/>
                <a:cs typeface="+mj-cs"/>
              </a:rPr>
              <a:t>th</a:t>
            </a:r>
            <a:r>
              <a:rPr kumimoji="0" lang="en-US" sz="2800" b="0" i="0" u="none" strike="noStrike" kern="0" cap="none" spc="0" normalizeH="0" baseline="0" noProof="0" dirty="0">
                <a:ln>
                  <a:noFill/>
                </a:ln>
                <a:solidFill>
                  <a:schemeClr val="tx1"/>
                </a:solidFill>
                <a:effectLst/>
                <a:uLnTx/>
                <a:uFillTx/>
                <a:latin typeface="Calibri" pitchFamily="34" charset="0"/>
                <a:ea typeface="+mj-ea"/>
                <a:cs typeface="+mj-cs"/>
              </a:rPr>
              <a:t> Lecture</a:t>
            </a:r>
          </a:p>
        </p:txBody>
      </p:sp>
      <p:sp>
        <p:nvSpPr>
          <p:cNvPr id="3" name="Subtitle 2">
            <a:extLst>
              <a:ext uri="{FF2B5EF4-FFF2-40B4-BE49-F238E27FC236}">
                <a16:creationId xmlns:a16="http://schemas.microsoft.com/office/drawing/2014/main" id="{24AE83B3-0C44-0224-7BE7-EDCAE9DDCC5E}"/>
              </a:ext>
            </a:extLst>
          </p:cNvPr>
          <p:cNvSpPr>
            <a:spLocks noGrp="1"/>
          </p:cNvSpPr>
          <p:nvPr>
            <p:ph type="subTitle" idx="1"/>
          </p:nvPr>
        </p:nvSpPr>
        <p:spPr>
          <a:xfrm>
            <a:off x="1524000" y="3602037"/>
            <a:ext cx="9144000" cy="2387599"/>
          </a:xfrm>
        </p:spPr>
        <p:txBody>
          <a:bodyPr>
            <a:normAutofit/>
          </a:bodyPr>
          <a:lstStyle/>
          <a:p>
            <a:pPr algn="l"/>
            <a:endParaRPr lang="en-US" dirty="0"/>
          </a:p>
          <a:p>
            <a:pPr algn="l"/>
            <a:r>
              <a:rPr lang="en-US" dirty="0"/>
              <a:t>Instructor: </a:t>
            </a:r>
          </a:p>
          <a:p>
            <a:pPr algn="l"/>
            <a:r>
              <a:rPr lang="en-US" dirty="0"/>
              <a:t>Prof. Adam Shaw</a:t>
            </a:r>
          </a:p>
          <a:p>
            <a:pPr algn="l"/>
            <a:r>
              <a:rPr lang="en-US" dirty="0"/>
              <a:t>Prof. Junchen Jiang</a:t>
            </a:r>
          </a:p>
        </p:txBody>
      </p:sp>
    </p:spTree>
    <p:extLst>
      <p:ext uri="{BB962C8B-B14F-4D97-AF65-F5344CB8AC3E}">
        <p14:creationId xmlns:p14="http://schemas.microsoft.com/office/powerpoint/2010/main" val="1374811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ight Arrow 32">
            <a:extLst>
              <a:ext uri="{FF2B5EF4-FFF2-40B4-BE49-F238E27FC236}">
                <a16:creationId xmlns:a16="http://schemas.microsoft.com/office/drawing/2014/main" id="{76DDFE06-DAEE-2410-3BFB-27969A5B16DC}"/>
              </a:ext>
            </a:extLst>
          </p:cNvPr>
          <p:cNvSpPr/>
          <p:nvPr/>
        </p:nvSpPr>
        <p:spPr>
          <a:xfrm rot="5400000">
            <a:off x="867567" y="3815288"/>
            <a:ext cx="1360075" cy="838200"/>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D9A639-8952-0EDE-0E73-CF9540D99702}"/>
              </a:ext>
            </a:extLst>
          </p:cNvPr>
          <p:cNvSpPr>
            <a:spLocks noGrp="1"/>
          </p:cNvSpPr>
          <p:nvPr>
            <p:ph type="title"/>
          </p:nvPr>
        </p:nvSpPr>
        <p:spPr/>
        <p:txBody>
          <a:bodyPr/>
          <a:lstStyle/>
          <a:p>
            <a:r>
              <a:rPr lang="en-US" dirty="0"/>
              <a:t>Motivating Example (I)</a:t>
            </a:r>
          </a:p>
        </p:txBody>
      </p:sp>
      <p:pic>
        <p:nvPicPr>
          <p:cNvPr id="7" name="Graphic 6" descr="User with solid fill">
            <a:extLst>
              <a:ext uri="{FF2B5EF4-FFF2-40B4-BE49-F238E27FC236}">
                <a16:creationId xmlns:a16="http://schemas.microsoft.com/office/drawing/2014/main" id="{EFA1AEB6-3CFF-73A4-5F58-4E30576B53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6110" y="4862756"/>
            <a:ext cx="1154060" cy="1154060"/>
          </a:xfrm>
          <a:prstGeom prst="rect">
            <a:avLst/>
          </a:prstGeom>
        </p:spPr>
      </p:pic>
      <p:pic>
        <p:nvPicPr>
          <p:cNvPr id="8" name="Graphic 7" descr="User with solid fill">
            <a:extLst>
              <a:ext uri="{FF2B5EF4-FFF2-40B4-BE49-F238E27FC236}">
                <a16:creationId xmlns:a16="http://schemas.microsoft.com/office/drawing/2014/main" id="{086BBA5D-213D-75B4-02E2-1649ED5489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6110" y="2400290"/>
            <a:ext cx="1154060" cy="1154060"/>
          </a:xfrm>
          <a:prstGeom prst="rect">
            <a:avLst/>
          </a:prstGeom>
        </p:spPr>
      </p:pic>
      <p:grpSp>
        <p:nvGrpSpPr>
          <p:cNvPr id="24" name="Group 23">
            <a:extLst>
              <a:ext uri="{FF2B5EF4-FFF2-40B4-BE49-F238E27FC236}">
                <a16:creationId xmlns:a16="http://schemas.microsoft.com/office/drawing/2014/main" id="{0E4C3244-2B76-8DB8-7923-25882A2B47B4}"/>
              </a:ext>
            </a:extLst>
          </p:cNvPr>
          <p:cNvGrpSpPr/>
          <p:nvPr/>
        </p:nvGrpSpPr>
        <p:grpSpPr>
          <a:xfrm>
            <a:off x="1965859" y="3941837"/>
            <a:ext cx="1540780" cy="1040064"/>
            <a:chOff x="5638800" y="2971800"/>
            <a:chExt cx="1540780" cy="1040064"/>
          </a:xfrm>
          <a:effectLst>
            <a:outerShdw blurRad="50800" dist="38100" dir="2700000" algn="tl" rotWithShape="0">
              <a:prstClr val="black">
                <a:alpha val="40000"/>
              </a:prstClr>
            </a:outerShdw>
          </a:effectLst>
        </p:grpSpPr>
        <p:pic>
          <p:nvPicPr>
            <p:cNvPr id="20" name="Graphic 19" descr="Email with solid fill">
              <a:extLst>
                <a:ext uri="{FF2B5EF4-FFF2-40B4-BE49-F238E27FC236}">
                  <a16:creationId xmlns:a16="http://schemas.microsoft.com/office/drawing/2014/main" id="{B40808BF-28CB-42F0-3FCE-B43956DDCA5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38800" y="2971800"/>
              <a:ext cx="914400" cy="914400"/>
            </a:xfrm>
            <a:prstGeom prst="rect">
              <a:avLst/>
            </a:prstGeom>
          </p:spPr>
        </p:pic>
        <p:pic>
          <p:nvPicPr>
            <p:cNvPr id="22" name="Graphic 21" descr="Paperclip with solid fill">
              <a:extLst>
                <a:ext uri="{FF2B5EF4-FFF2-40B4-BE49-F238E27FC236}">
                  <a16:creationId xmlns:a16="http://schemas.microsoft.com/office/drawing/2014/main" id="{34FE6593-9879-EDFF-5FCA-1E2B14B8B41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974416">
              <a:off x="6265180" y="3097464"/>
              <a:ext cx="914400" cy="914400"/>
            </a:xfrm>
            <a:prstGeom prst="rect">
              <a:avLst/>
            </a:prstGeom>
          </p:spPr>
        </p:pic>
      </p:grpSp>
      <p:sp>
        <p:nvSpPr>
          <p:cNvPr id="25" name="Folded Corner 24">
            <a:extLst>
              <a:ext uri="{FF2B5EF4-FFF2-40B4-BE49-F238E27FC236}">
                <a16:creationId xmlns:a16="http://schemas.microsoft.com/office/drawing/2014/main" id="{0686D068-799C-389F-84A1-72622B45EA78}"/>
              </a:ext>
            </a:extLst>
          </p:cNvPr>
          <p:cNvSpPr/>
          <p:nvPr/>
        </p:nvSpPr>
        <p:spPr>
          <a:xfrm>
            <a:off x="2259798" y="2884461"/>
            <a:ext cx="3088340" cy="1032693"/>
          </a:xfrm>
          <a:prstGeom prst="foldedCorner">
            <a:avLst/>
          </a:prstGeom>
          <a:solidFill>
            <a:schemeClr val="bg1">
              <a:lumMod val="85000"/>
            </a:schemeClr>
          </a:solidFill>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sz="2000" dirty="0">
                <a:solidFill>
                  <a:schemeClr val="tx1"/>
                </a:solidFill>
              </a:rPr>
              <a:t>"I'm attaching the latest draft to this email. Look forward to your feedback."</a:t>
            </a:r>
          </a:p>
        </p:txBody>
      </p:sp>
      <p:sp>
        <p:nvSpPr>
          <p:cNvPr id="26" name="Folded Corner 25">
            <a:extLst>
              <a:ext uri="{FF2B5EF4-FFF2-40B4-BE49-F238E27FC236}">
                <a16:creationId xmlns:a16="http://schemas.microsoft.com/office/drawing/2014/main" id="{5F980F2F-A5FC-10F3-49EC-ED88E7545189}"/>
              </a:ext>
            </a:extLst>
          </p:cNvPr>
          <p:cNvSpPr/>
          <p:nvPr/>
        </p:nvSpPr>
        <p:spPr>
          <a:xfrm>
            <a:off x="6177546" y="4099072"/>
            <a:ext cx="3455727" cy="1032693"/>
          </a:xfrm>
          <a:prstGeom prst="foldedCorner">
            <a:avLst/>
          </a:prstGeom>
          <a:solidFill>
            <a:schemeClr val="bg1">
              <a:lumMod val="85000"/>
            </a:schemeClr>
          </a:solidFill>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sz="2000" dirty="0">
                <a:solidFill>
                  <a:schemeClr val="tx1"/>
                </a:solidFill>
              </a:rPr>
              <a:t>"The latest draft is here: </a:t>
            </a:r>
            <a:r>
              <a:rPr lang="en-US" sz="2000" dirty="0">
                <a:solidFill>
                  <a:schemeClr val="tx1"/>
                </a:solidFill>
                <a:hlinkClick r:id="rId8"/>
              </a:rPr>
              <a:t>http://xxx/xxx.pdf</a:t>
            </a:r>
            <a:r>
              <a:rPr lang="en-US" sz="2000" dirty="0">
                <a:solidFill>
                  <a:schemeClr val="tx1"/>
                </a:solidFill>
              </a:rPr>
              <a:t>. Look forward to your feedback." </a:t>
            </a:r>
          </a:p>
        </p:txBody>
      </p:sp>
      <p:sp>
        <p:nvSpPr>
          <p:cNvPr id="27" name="TextBox 26">
            <a:extLst>
              <a:ext uri="{FF2B5EF4-FFF2-40B4-BE49-F238E27FC236}">
                <a16:creationId xmlns:a16="http://schemas.microsoft.com/office/drawing/2014/main" id="{8AF94A15-54ED-67D7-C662-7273A6F508B9}"/>
              </a:ext>
            </a:extLst>
          </p:cNvPr>
          <p:cNvSpPr txBox="1"/>
          <p:nvPr/>
        </p:nvSpPr>
        <p:spPr>
          <a:xfrm>
            <a:off x="321181" y="1482243"/>
            <a:ext cx="11204069" cy="461665"/>
          </a:xfrm>
          <a:prstGeom prst="rect">
            <a:avLst/>
          </a:prstGeom>
          <a:noFill/>
        </p:spPr>
        <p:txBody>
          <a:bodyPr wrap="square" rtlCol="0">
            <a:spAutoFit/>
          </a:bodyPr>
          <a:lstStyle/>
          <a:p>
            <a:r>
              <a:rPr lang="en-US" sz="2400" i="1" dirty="0"/>
              <a:t>Imagine you are writing a manuscript and want your friend to review </a:t>
            </a:r>
            <a:r>
              <a:rPr lang="en-US" sz="2400" b="1" i="1" dirty="0"/>
              <a:t>the latest draft.</a:t>
            </a:r>
          </a:p>
        </p:txBody>
      </p:sp>
      <p:sp>
        <p:nvSpPr>
          <p:cNvPr id="35" name="TextBox 34">
            <a:extLst>
              <a:ext uri="{FF2B5EF4-FFF2-40B4-BE49-F238E27FC236}">
                <a16:creationId xmlns:a16="http://schemas.microsoft.com/office/drawing/2014/main" id="{8EA7799F-2750-D12E-EDB7-EA91408173ED}"/>
              </a:ext>
            </a:extLst>
          </p:cNvPr>
          <p:cNvSpPr txBox="1"/>
          <p:nvPr/>
        </p:nvSpPr>
        <p:spPr>
          <a:xfrm>
            <a:off x="3346212" y="6131465"/>
            <a:ext cx="4970400" cy="523220"/>
          </a:xfrm>
          <a:prstGeom prst="rect">
            <a:avLst/>
          </a:prstGeom>
          <a:noFill/>
        </p:spPr>
        <p:txBody>
          <a:bodyPr wrap="none" rtlCol="0">
            <a:spAutoFit/>
          </a:bodyPr>
          <a:lstStyle/>
          <a:p>
            <a:r>
              <a:rPr lang="en-US" sz="2800" b="1" dirty="0">
                <a:solidFill>
                  <a:schemeClr val="accent2"/>
                </a:solidFill>
              </a:rPr>
              <a:t>Which one do you prefer? Why?</a:t>
            </a:r>
          </a:p>
        </p:txBody>
      </p:sp>
      <p:sp>
        <p:nvSpPr>
          <p:cNvPr id="36" name="TextBox 35">
            <a:extLst>
              <a:ext uri="{FF2B5EF4-FFF2-40B4-BE49-F238E27FC236}">
                <a16:creationId xmlns:a16="http://schemas.microsoft.com/office/drawing/2014/main" id="{3D9BFFCB-5AB6-0878-2FBB-1A432CC263CC}"/>
              </a:ext>
            </a:extLst>
          </p:cNvPr>
          <p:cNvSpPr txBox="1"/>
          <p:nvPr/>
        </p:nvSpPr>
        <p:spPr>
          <a:xfrm>
            <a:off x="1046110" y="1932770"/>
            <a:ext cx="3268844" cy="461665"/>
          </a:xfrm>
          <a:prstGeom prst="rect">
            <a:avLst/>
          </a:prstGeom>
          <a:noFill/>
        </p:spPr>
        <p:txBody>
          <a:bodyPr wrap="none" rtlCol="0">
            <a:spAutoFit/>
          </a:bodyPr>
          <a:lstStyle/>
          <a:p>
            <a:r>
              <a:rPr lang="en-US" sz="2400" b="1" dirty="0"/>
              <a:t>Option 1: Send the draft</a:t>
            </a:r>
          </a:p>
        </p:txBody>
      </p:sp>
      <p:sp>
        <p:nvSpPr>
          <p:cNvPr id="3" name="Right Arrow 2">
            <a:extLst>
              <a:ext uri="{FF2B5EF4-FFF2-40B4-BE49-F238E27FC236}">
                <a16:creationId xmlns:a16="http://schemas.microsoft.com/office/drawing/2014/main" id="{635F441D-0B18-E85E-0E23-63DC195491B3}"/>
              </a:ext>
            </a:extLst>
          </p:cNvPr>
          <p:cNvSpPr/>
          <p:nvPr/>
        </p:nvSpPr>
        <p:spPr>
          <a:xfrm rot="5400000">
            <a:off x="9382753" y="3815288"/>
            <a:ext cx="1360075" cy="838200"/>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descr="User with solid fill">
            <a:extLst>
              <a:ext uri="{FF2B5EF4-FFF2-40B4-BE49-F238E27FC236}">
                <a16:creationId xmlns:a16="http://schemas.microsoft.com/office/drawing/2014/main" id="{9E8384AF-26FC-5DA1-0C75-17DFD60E75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61296" y="4862756"/>
            <a:ext cx="1154060" cy="1154060"/>
          </a:xfrm>
          <a:prstGeom prst="rect">
            <a:avLst/>
          </a:prstGeom>
        </p:spPr>
      </p:pic>
      <p:pic>
        <p:nvPicPr>
          <p:cNvPr id="5" name="Graphic 4" descr="User with solid fill">
            <a:extLst>
              <a:ext uri="{FF2B5EF4-FFF2-40B4-BE49-F238E27FC236}">
                <a16:creationId xmlns:a16="http://schemas.microsoft.com/office/drawing/2014/main" id="{67C2FAB1-A559-82DD-DF14-06DF14DEE5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61296" y="2400290"/>
            <a:ext cx="1154060" cy="1154060"/>
          </a:xfrm>
          <a:prstGeom prst="rect">
            <a:avLst/>
          </a:prstGeom>
        </p:spPr>
      </p:pic>
      <p:pic>
        <p:nvPicPr>
          <p:cNvPr id="9" name="Graphic 8" descr="Email with solid fill">
            <a:extLst>
              <a:ext uri="{FF2B5EF4-FFF2-40B4-BE49-F238E27FC236}">
                <a16:creationId xmlns:a16="http://schemas.microsoft.com/office/drawing/2014/main" id="{EEE9ADF2-E057-B634-148B-8F6AC11CBEB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18873" y="3097150"/>
            <a:ext cx="914400" cy="914400"/>
          </a:xfrm>
          <a:prstGeom prst="rect">
            <a:avLst/>
          </a:prstGeom>
          <a:effectLst>
            <a:outerShdw blurRad="50800" dist="38100" dir="2700000" algn="tl" rotWithShape="0">
              <a:prstClr val="black">
                <a:alpha val="40000"/>
              </a:prstClr>
            </a:outerShdw>
          </a:effectLst>
        </p:spPr>
      </p:pic>
      <p:sp>
        <p:nvSpPr>
          <p:cNvPr id="11" name="TextBox 10">
            <a:extLst>
              <a:ext uri="{FF2B5EF4-FFF2-40B4-BE49-F238E27FC236}">
                <a16:creationId xmlns:a16="http://schemas.microsoft.com/office/drawing/2014/main" id="{08108D84-CB2A-874D-811D-6DD0680752E0}"/>
              </a:ext>
            </a:extLst>
          </p:cNvPr>
          <p:cNvSpPr txBox="1"/>
          <p:nvPr/>
        </p:nvSpPr>
        <p:spPr>
          <a:xfrm>
            <a:off x="8144690" y="1941267"/>
            <a:ext cx="2833211" cy="461665"/>
          </a:xfrm>
          <a:prstGeom prst="rect">
            <a:avLst/>
          </a:prstGeom>
          <a:noFill/>
        </p:spPr>
        <p:txBody>
          <a:bodyPr wrap="none" rtlCol="0">
            <a:spAutoFit/>
          </a:bodyPr>
          <a:lstStyle/>
          <a:p>
            <a:r>
              <a:rPr lang="en-US" sz="2400" b="1" dirty="0"/>
              <a:t>Option 2: Send a link</a:t>
            </a:r>
          </a:p>
        </p:txBody>
      </p:sp>
      <p:cxnSp>
        <p:nvCxnSpPr>
          <p:cNvPr id="13" name="Straight Connector 12">
            <a:extLst>
              <a:ext uri="{FF2B5EF4-FFF2-40B4-BE49-F238E27FC236}">
                <a16:creationId xmlns:a16="http://schemas.microsoft.com/office/drawing/2014/main" id="{7073714E-82EA-3325-EDB9-F31E39054564}"/>
              </a:ext>
            </a:extLst>
          </p:cNvPr>
          <p:cNvCxnSpPr/>
          <p:nvPr/>
        </p:nvCxnSpPr>
        <p:spPr>
          <a:xfrm>
            <a:off x="5678424" y="2172099"/>
            <a:ext cx="0" cy="3716637"/>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09814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5" grpId="0" animBg="1"/>
      <p:bldP spid="26" grpId="0" animBg="1"/>
      <p:bldP spid="35" grpId="0"/>
      <p:bldP spid="36" grpId="0"/>
      <p:bldP spid="3" grpId="0" animBg="1"/>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Meet Our New Home Page - The New York Times">
            <a:extLst>
              <a:ext uri="{FF2B5EF4-FFF2-40B4-BE49-F238E27FC236}">
                <a16:creationId xmlns:a16="http://schemas.microsoft.com/office/drawing/2014/main" id="{DA83E599-2588-B7A6-BCC2-88C85D453D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3712" y="2616754"/>
            <a:ext cx="3256749" cy="186720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44DF589-D7E7-0B9E-5F70-486BD37A6952}"/>
              </a:ext>
            </a:extLst>
          </p:cNvPr>
          <p:cNvSpPr>
            <a:spLocks noGrp="1"/>
          </p:cNvSpPr>
          <p:nvPr>
            <p:ph type="title"/>
          </p:nvPr>
        </p:nvSpPr>
        <p:spPr/>
        <p:txBody>
          <a:bodyPr/>
          <a:lstStyle/>
          <a:p>
            <a:r>
              <a:rPr lang="en-US" dirty="0"/>
              <a:t>Motivating Example (II)</a:t>
            </a:r>
          </a:p>
        </p:txBody>
      </p:sp>
      <p:sp>
        <p:nvSpPr>
          <p:cNvPr id="4" name="TextBox 3">
            <a:extLst>
              <a:ext uri="{FF2B5EF4-FFF2-40B4-BE49-F238E27FC236}">
                <a16:creationId xmlns:a16="http://schemas.microsoft.com/office/drawing/2014/main" id="{0D37D817-D6BB-941D-62AD-8467D194935B}"/>
              </a:ext>
            </a:extLst>
          </p:cNvPr>
          <p:cNvSpPr txBox="1"/>
          <p:nvPr/>
        </p:nvSpPr>
        <p:spPr>
          <a:xfrm>
            <a:off x="4131181" y="1368979"/>
            <a:ext cx="3654526" cy="523220"/>
          </a:xfrm>
          <a:prstGeom prst="rect">
            <a:avLst/>
          </a:prstGeom>
          <a:noFill/>
        </p:spPr>
        <p:txBody>
          <a:bodyPr wrap="square" rtlCol="0">
            <a:spAutoFit/>
          </a:bodyPr>
          <a:lstStyle/>
          <a:p>
            <a:r>
              <a:rPr lang="en-US" sz="2800" i="1" dirty="0"/>
              <a:t>How do you get news?</a:t>
            </a:r>
            <a:endParaRPr lang="en-US" sz="2800" b="1" i="1" dirty="0"/>
          </a:p>
        </p:txBody>
      </p:sp>
      <p:pic>
        <p:nvPicPr>
          <p:cNvPr id="6" name="Graphic 5" descr="Newspaper with solid fill">
            <a:extLst>
              <a:ext uri="{FF2B5EF4-FFF2-40B4-BE49-F238E27FC236}">
                <a16:creationId xmlns:a16="http://schemas.microsoft.com/office/drawing/2014/main" id="{C9F77335-89AC-56DF-7AA6-99D998178E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0339" y="2419350"/>
            <a:ext cx="901987" cy="901987"/>
          </a:xfrm>
          <a:prstGeom prst="rect">
            <a:avLst/>
          </a:prstGeom>
        </p:spPr>
      </p:pic>
      <p:pic>
        <p:nvPicPr>
          <p:cNvPr id="9" name="Graphic 8" descr="User with solid fill">
            <a:extLst>
              <a:ext uri="{FF2B5EF4-FFF2-40B4-BE49-F238E27FC236}">
                <a16:creationId xmlns:a16="http://schemas.microsoft.com/office/drawing/2014/main" id="{838401B7-2872-9533-14F2-3AF1F87015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63399" y="2870343"/>
            <a:ext cx="1238250" cy="1238250"/>
          </a:xfrm>
          <a:prstGeom prst="rect">
            <a:avLst/>
          </a:prstGeom>
        </p:spPr>
      </p:pic>
      <p:pic>
        <p:nvPicPr>
          <p:cNvPr id="10" name="Graphic 9" descr="Newspaper with solid fill">
            <a:extLst>
              <a:ext uri="{FF2B5EF4-FFF2-40B4-BE49-F238E27FC236}">
                <a16:creationId xmlns:a16="http://schemas.microsoft.com/office/drawing/2014/main" id="{4B568046-EF64-991B-B187-38CECABB8E2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0339" y="3362325"/>
            <a:ext cx="901987" cy="901987"/>
          </a:xfrm>
          <a:prstGeom prst="rect">
            <a:avLst/>
          </a:prstGeom>
        </p:spPr>
      </p:pic>
      <p:pic>
        <p:nvPicPr>
          <p:cNvPr id="11" name="Graphic 10" descr="Newspaper with solid fill">
            <a:extLst>
              <a:ext uri="{FF2B5EF4-FFF2-40B4-BE49-F238E27FC236}">
                <a16:creationId xmlns:a16="http://schemas.microsoft.com/office/drawing/2014/main" id="{AF64C7D6-1BB7-4EBA-8241-9B2E8C1ED5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9864" y="4276725"/>
            <a:ext cx="901987" cy="901987"/>
          </a:xfrm>
          <a:prstGeom prst="rect">
            <a:avLst/>
          </a:prstGeom>
        </p:spPr>
      </p:pic>
      <p:sp>
        <p:nvSpPr>
          <p:cNvPr id="12" name="TextBox 11">
            <a:extLst>
              <a:ext uri="{FF2B5EF4-FFF2-40B4-BE49-F238E27FC236}">
                <a16:creationId xmlns:a16="http://schemas.microsoft.com/office/drawing/2014/main" id="{79243FC9-A239-E3BE-BEC7-168DAC8203F3}"/>
              </a:ext>
            </a:extLst>
          </p:cNvPr>
          <p:cNvSpPr txBox="1"/>
          <p:nvPr/>
        </p:nvSpPr>
        <p:spPr>
          <a:xfrm rot="5400000">
            <a:off x="1065739" y="5083370"/>
            <a:ext cx="468398" cy="584775"/>
          </a:xfrm>
          <a:prstGeom prst="rect">
            <a:avLst/>
          </a:prstGeom>
          <a:noFill/>
        </p:spPr>
        <p:txBody>
          <a:bodyPr wrap="none" rtlCol="0">
            <a:spAutoFit/>
          </a:bodyPr>
          <a:lstStyle/>
          <a:p>
            <a:r>
              <a:rPr lang="en-US" sz="3200" dirty="0"/>
              <a:t>…</a:t>
            </a:r>
          </a:p>
        </p:txBody>
      </p:sp>
      <p:cxnSp>
        <p:nvCxnSpPr>
          <p:cNvPr id="14" name="Straight Arrow Connector 13">
            <a:extLst>
              <a:ext uri="{FF2B5EF4-FFF2-40B4-BE49-F238E27FC236}">
                <a16:creationId xmlns:a16="http://schemas.microsoft.com/office/drawing/2014/main" id="{26B6A9E9-9F26-4A62-6950-EEE6F926D26C}"/>
              </a:ext>
            </a:extLst>
          </p:cNvPr>
          <p:cNvCxnSpPr/>
          <p:nvPr/>
        </p:nvCxnSpPr>
        <p:spPr>
          <a:xfrm>
            <a:off x="1806099" y="2870343"/>
            <a:ext cx="1257300" cy="45099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78E6B4F-24D9-465E-F7A7-C8DD672F7D07}"/>
              </a:ext>
            </a:extLst>
          </p:cNvPr>
          <p:cNvCxnSpPr>
            <a:cxnSpLocks/>
          </p:cNvCxnSpPr>
          <p:nvPr/>
        </p:nvCxnSpPr>
        <p:spPr>
          <a:xfrm flipV="1">
            <a:off x="1806099" y="3651948"/>
            <a:ext cx="1257300" cy="16137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C8F17D9-CBE2-D4CA-D2D4-3F62121B020A}"/>
              </a:ext>
            </a:extLst>
          </p:cNvPr>
          <p:cNvCxnSpPr>
            <a:cxnSpLocks/>
          </p:cNvCxnSpPr>
          <p:nvPr/>
        </p:nvCxnSpPr>
        <p:spPr>
          <a:xfrm flipV="1">
            <a:off x="1806099" y="3812214"/>
            <a:ext cx="1266825" cy="91550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5119F6F-2F5A-EF34-868B-44A5D2BE36E9}"/>
              </a:ext>
            </a:extLst>
          </p:cNvPr>
          <p:cNvSpPr txBox="1"/>
          <p:nvPr/>
        </p:nvSpPr>
        <p:spPr>
          <a:xfrm>
            <a:off x="1923763" y="4800541"/>
            <a:ext cx="3654526" cy="830997"/>
          </a:xfrm>
          <a:prstGeom prst="rect">
            <a:avLst/>
          </a:prstGeom>
          <a:noFill/>
        </p:spPr>
        <p:txBody>
          <a:bodyPr wrap="square" rtlCol="0">
            <a:spAutoFit/>
          </a:bodyPr>
          <a:lstStyle/>
          <a:p>
            <a:r>
              <a:rPr lang="en-US" sz="2400" dirty="0"/>
              <a:t>Newspapers are delivered to you every day</a:t>
            </a:r>
          </a:p>
        </p:txBody>
      </p:sp>
      <p:sp>
        <p:nvSpPr>
          <p:cNvPr id="22" name="TextBox 21">
            <a:extLst>
              <a:ext uri="{FF2B5EF4-FFF2-40B4-BE49-F238E27FC236}">
                <a16:creationId xmlns:a16="http://schemas.microsoft.com/office/drawing/2014/main" id="{C01799DA-FA02-8413-97F5-C52C656F3019}"/>
              </a:ext>
            </a:extLst>
          </p:cNvPr>
          <p:cNvSpPr txBox="1"/>
          <p:nvPr/>
        </p:nvSpPr>
        <p:spPr>
          <a:xfrm>
            <a:off x="1352081" y="1886858"/>
            <a:ext cx="1366593" cy="461665"/>
          </a:xfrm>
          <a:prstGeom prst="rect">
            <a:avLst/>
          </a:prstGeom>
          <a:noFill/>
        </p:spPr>
        <p:txBody>
          <a:bodyPr wrap="none" rtlCol="0">
            <a:spAutoFit/>
          </a:bodyPr>
          <a:lstStyle/>
          <a:p>
            <a:r>
              <a:rPr lang="en-US" sz="2400" b="1" dirty="0"/>
              <a:t>Old days:</a:t>
            </a:r>
          </a:p>
        </p:txBody>
      </p:sp>
      <p:sp>
        <p:nvSpPr>
          <p:cNvPr id="24" name="TextBox 23">
            <a:extLst>
              <a:ext uri="{FF2B5EF4-FFF2-40B4-BE49-F238E27FC236}">
                <a16:creationId xmlns:a16="http://schemas.microsoft.com/office/drawing/2014/main" id="{F82FFB1E-1350-C676-497E-119A9386BAA7}"/>
              </a:ext>
            </a:extLst>
          </p:cNvPr>
          <p:cNvSpPr txBox="1"/>
          <p:nvPr/>
        </p:nvSpPr>
        <p:spPr>
          <a:xfrm>
            <a:off x="8804493" y="1886858"/>
            <a:ext cx="1139607" cy="461665"/>
          </a:xfrm>
          <a:prstGeom prst="rect">
            <a:avLst/>
          </a:prstGeom>
          <a:noFill/>
        </p:spPr>
        <p:txBody>
          <a:bodyPr wrap="none" rtlCol="0">
            <a:spAutoFit/>
          </a:bodyPr>
          <a:lstStyle/>
          <a:p>
            <a:r>
              <a:rPr lang="en-US" sz="2400" b="1" dirty="0"/>
              <a:t>Todays:</a:t>
            </a:r>
          </a:p>
        </p:txBody>
      </p:sp>
      <p:pic>
        <p:nvPicPr>
          <p:cNvPr id="25" name="Graphic 24" descr="User with solid fill">
            <a:extLst>
              <a:ext uri="{FF2B5EF4-FFF2-40B4-BE49-F238E27FC236}">
                <a16:creationId xmlns:a16="http://schemas.microsoft.com/office/drawing/2014/main" id="{629FA27A-74C6-64AD-82C1-46B50AFDC84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800" y="2870343"/>
            <a:ext cx="1238250" cy="1238250"/>
          </a:xfrm>
          <a:prstGeom prst="rect">
            <a:avLst/>
          </a:prstGeom>
        </p:spPr>
      </p:pic>
      <p:cxnSp>
        <p:nvCxnSpPr>
          <p:cNvPr id="26" name="Straight Arrow Connector 25">
            <a:extLst>
              <a:ext uri="{FF2B5EF4-FFF2-40B4-BE49-F238E27FC236}">
                <a16:creationId xmlns:a16="http://schemas.microsoft.com/office/drawing/2014/main" id="{4FA35C1E-DFB9-179E-F886-731E65FBA4CD}"/>
              </a:ext>
            </a:extLst>
          </p:cNvPr>
          <p:cNvCxnSpPr>
            <a:cxnSpLocks/>
          </p:cNvCxnSpPr>
          <p:nvPr/>
        </p:nvCxnSpPr>
        <p:spPr>
          <a:xfrm>
            <a:off x="9624143" y="3496105"/>
            <a:ext cx="967657"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5DA70A-121D-2399-BABA-7808CD054DEA}"/>
              </a:ext>
            </a:extLst>
          </p:cNvPr>
          <p:cNvSpPr txBox="1"/>
          <p:nvPr/>
        </p:nvSpPr>
        <p:spPr>
          <a:xfrm>
            <a:off x="7549961" y="4800541"/>
            <a:ext cx="3943349" cy="830997"/>
          </a:xfrm>
          <a:prstGeom prst="rect">
            <a:avLst/>
          </a:prstGeom>
          <a:noFill/>
        </p:spPr>
        <p:txBody>
          <a:bodyPr wrap="square" rtlCol="0">
            <a:spAutoFit/>
          </a:bodyPr>
          <a:lstStyle/>
          <a:p>
            <a:r>
              <a:rPr lang="en-US" sz="2400" dirty="0"/>
              <a:t>Go to a website which always has the latest news</a:t>
            </a:r>
          </a:p>
        </p:txBody>
      </p:sp>
      <p:sp>
        <p:nvSpPr>
          <p:cNvPr id="30" name="TextBox 29">
            <a:extLst>
              <a:ext uri="{FF2B5EF4-FFF2-40B4-BE49-F238E27FC236}">
                <a16:creationId xmlns:a16="http://schemas.microsoft.com/office/drawing/2014/main" id="{14D7AA43-E06A-729C-6F8C-371B8B6CE044}"/>
              </a:ext>
            </a:extLst>
          </p:cNvPr>
          <p:cNvSpPr txBox="1"/>
          <p:nvPr/>
        </p:nvSpPr>
        <p:spPr>
          <a:xfrm>
            <a:off x="3963920" y="6061876"/>
            <a:ext cx="4193905" cy="523220"/>
          </a:xfrm>
          <a:prstGeom prst="rect">
            <a:avLst/>
          </a:prstGeom>
          <a:noFill/>
        </p:spPr>
        <p:txBody>
          <a:bodyPr wrap="none" rtlCol="0">
            <a:spAutoFit/>
          </a:bodyPr>
          <a:lstStyle/>
          <a:p>
            <a:r>
              <a:rPr lang="en-US" sz="2800" b="1" dirty="0">
                <a:solidFill>
                  <a:schemeClr val="accent2"/>
                </a:solidFill>
              </a:rPr>
              <a:t>Which one is better? Why?</a:t>
            </a:r>
          </a:p>
        </p:txBody>
      </p:sp>
      <p:cxnSp>
        <p:nvCxnSpPr>
          <p:cNvPr id="31" name="Straight Connector 30">
            <a:extLst>
              <a:ext uri="{FF2B5EF4-FFF2-40B4-BE49-F238E27FC236}">
                <a16:creationId xmlns:a16="http://schemas.microsoft.com/office/drawing/2014/main" id="{A51BCFC9-EC51-811E-1013-53207F4F3DA3}"/>
              </a:ext>
            </a:extLst>
          </p:cNvPr>
          <p:cNvCxnSpPr/>
          <p:nvPr/>
        </p:nvCxnSpPr>
        <p:spPr>
          <a:xfrm>
            <a:off x="5797296" y="2172099"/>
            <a:ext cx="0" cy="3716637"/>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24419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FB9BA-9FB0-27F3-84C1-08F8CB5A2E1C}"/>
              </a:ext>
            </a:extLst>
          </p:cNvPr>
          <p:cNvSpPr>
            <a:spLocks noGrp="1"/>
          </p:cNvSpPr>
          <p:nvPr>
            <p:ph type="title"/>
          </p:nvPr>
        </p:nvSpPr>
        <p:spPr/>
        <p:txBody>
          <a:bodyPr/>
          <a:lstStyle/>
          <a:p>
            <a:r>
              <a:rPr lang="en-US" dirty="0"/>
              <a:t>Motivating Example (III)</a:t>
            </a:r>
          </a:p>
        </p:txBody>
      </p:sp>
      <p:pic>
        <p:nvPicPr>
          <p:cNvPr id="27" name="Graphic 26" descr="User with solid fill">
            <a:extLst>
              <a:ext uri="{FF2B5EF4-FFF2-40B4-BE49-F238E27FC236}">
                <a16:creationId xmlns:a16="http://schemas.microsoft.com/office/drawing/2014/main" id="{5C178341-D251-1503-C376-70A2B9FF50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82616" y="2902925"/>
            <a:ext cx="1238250" cy="1238250"/>
          </a:xfrm>
          <a:prstGeom prst="rect">
            <a:avLst/>
          </a:prstGeom>
        </p:spPr>
      </p:pic>
      <p:pic>
        <p:nvPicPr>
          <p:cNvPr id="28" name="Graphic 27" descr="Server with solid fill">
            <a:extLst>
              <a:ext uri="{FF2B5EF4-FFF2-40B4-BE49-F238E27FC236}">
                <a16:creationId xmlns:a16="http://schemas.microsoft.com/office/drawing/2014/main" id="{738AEDC6-CDB9-0AB5-440C-2D8D7B9BAAB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9992" y="3064850"/>
            <a:ext cx="914400" cy="914400"/>
          </a:xfrm>
          <a:prstGeom prst="rect">
            <a:avLst/>
          </a:prstGeom>
        </p:spPr>
      </p:pic>
      <p:cxnSp>
        <p:nvCxnSpPr>
          <p:cNvPr id="29" name="Straight Arrow Connector 28">
            <a:extLst>
              <a:ext uri="{FF2B5EF4-FFF2-40B4-BE49-F238E27FC236}">
                <a16:creationId xmlns:a16="http://schemas.microsoft.com/office/drawing/2014/main" id="{968FE091-6CA3-CFC9-578E-5DC1B95EBF4B}"/>
              </a:ext>
            </a:extLst>
          </p:cNvPr>
          <p:cNvCxnSpPr>
            <a:cxnSpLocks/>
            <a:stCxn id="27" idx="1"/>
            <a:endCxn id="28" idx="3"/>
          </p:cNvCxnSpPr>
          <p:nvPr/>
        </p:nvCxnSpPr>
        <p:spPr>
          <a:xfrm flipH="1">
            <a:off x="1874392" y="3522050"/>
            <a:ext cx="3308224"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C2B08AF-7F95-C87D-E1FD-5835E73AD3E2}"/>
              </a:ext>
            </a:extLst>
          </p:cNvPr>
          <p:cNvSpPr txBox="1"/>
          <p:nvPr/>
        </p:nvSpPr>
        <p:spPr>
          <a:xfrm>
            <a:off x="1886944" y="3005982"/>
            <a:ext cx="3270447" cy="338554"/>
          </a:xfrm>
          <a:prstGeom prst="rect">
            <a:avLst/>
          </a:prstGeom>
          <a:noFill/>
        </p:spPr>
        <p:txBody>
          <a:bodyPr wrap="none" rtlCol="0">
            <a:spAutoFit/>
          </a:bodyPr>
          <a:lstStyle/>
          <a:p>
            <a:r>
              <a:rPr lang="en-US" sz="1600" dirty="0" err="1">
                <a:solidFill>
                  <a:srgbClr val="000000"/>
                </a:solidFill>
                <a:effectLst/>
                <a:latin typeface="Menlo" panose="020B0609030804020204" pitchFamily="49" charset="0"/>
              </a:rPr>
              <a:t>ssh</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linux.cs.uchicago.edu</a:t>
            </a:r>
            <a:endParaRPr lang="en-US" sz="1600" dirty="0">
              <a:solidFill>
                <a:srgbClr val="000000"/>
              </a:solidFill>
              <a:effectLst/>
              <a:latin typeface="Menlo" panose="020B0609030804020204" pitchFamily="49" charset="0"/>
            </a:endParaRPr>
          </a:p>
        </p:txBody>
      </p:sp>
      <p:pic>
        <p:nvPicPr>
          <p:cNvPr id="33" name="Picture 32">
            <a:extLst>
              <a:ext uri="{FF2B5EF4-FFF2-40B4-BE49-F238E27FC236}">
                <a16:creationId xmlns:a16="http://schemas.microsoft.com/office/drawing/2014/main" id="{AE2E8E1A-78A9-86B1-B8EA-DB8C04999209}"/>
              </a:ext>
            </a:extLst>
          </p:cNvPr>
          <p:cNvPicPr>
            <a:picLocks noChangeAspect="1"/>
          </p:cNvPicPr>
          <p:nvPr/>
        </p:nvPicPr>
        <p:blipFill>
          <a:blip r:embed="rId6">
            <a:grayscl/>
          </a:blip>
          <a:stretch>
            <a:fillRect/>
          </a:stretch>
        </p:blipFill>
        <p:spPr>
          <a:xfrm>
            <a:off x="6376416" y="2810850"/>
            <a:ext cx="2860358" cy="400050"/>
          </a:xfrm>
          <a:prstGeom prst="rect">
            <a:avLst/>
          </a:prstGeom>
          <a:ln>
            <a:solidFill>
              <a:schemeClr val="tx1"/>
            </a:solidFill>
          </a:ln>
          <a:effectLst>
            <a:outerShdw blurRad="50800" dist="38100" dir="2700000" algn="tl" rotWithShape="0">
              <a:prstClr val="black">
                <a:alpha val="40000"/>
              </a:prstClr>
            </a:outerShdw>
          </a:effectLst>
        </p:spPr>
      </p:pic>
      <p:pic>
        <p:nvPicPr>
          <p:cNvPr id="34" name="Picture 33">
            <a:extLst>
              <a:ext uri="{FF2B5EF4-FFF2-40B4-BE49-F238E27FC236}">
                <a16:creationId xmlns:a16="http://schemas.microsoft.com/office/drawing/2014/main" id="{E86F7395-CE1C-C499-34B6-99D1AE0BF954}"/>
              </a:ext>
            </a:extLst>
          </p:cNvPr>
          <p:cNvPicPr>
            <a:picLocks noChangeAspect="1"/>
          </p:cNvPicPr>
          <p:nvPr/>
        </p:nvPicPr>
        <p:blipFill>
          <a:blip r:embed="rId7">
            <a:grayscl/>
          </a:blip>
          <a:stretch>
            <a:fillRect/>
          </a:stretch>
        </p:blipFill>
        <p:spPr>
          <a:xfrm>
            <a:off x="6376416" y="3742182"/>
            <a:ext cx="2880360" cy="400050"/>
          </a:xfrm>
          <a:prstGeom prst="rect">
            <a:avLst/>
          </a:prstGeom>
          <a:ln>
            <a:solidFill>
              <a:schemeClr val="tx1"/>
            </a:solidFill>
          </a:ln>
          <a:effectLst>
            <a:outerShdw blurRad="50800" dist="38100" dir="2700000" algn="tl" rotWithShape="0">
              <a:prstClr val="black">
                <a:alpha val="40000"/>
              </a:prstClr>
            </a:outerShdw>
          </a:effectLst>
        </p:spPr>
      </p:pic>
      <p:sp>
        <p:nvSpPr>
          <p:cNvPr id="35" name="Rectangle 34">
            <a:extLst>
              <a:ext uri="{FF2B5EF4-FFF2-40B4-BE49-F238E27FC236}">
                <a16:creationId xmlns:a16="http://schemas.microsoft.com/office/drawing/2014/main" id="{AB9C29F9-32DB-4E74-B6B3-3B2FFF4B517D}"/>
              </a:ext>
            </a:extLst>
          </p:cNvPr>
          <p:cNvSpPr/>
          <p:nvPr/>
        </p:nvSpPr>
        <p:spPr>
          <a:xfrm>
            <a:off x="7720710" y="3001561"/>
            <a:ext cx="1536065" cy="20933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A9D05C9-2FED-30E2-B33F-C076F96C70E9}"/>
              </a:ext>
            </a:extLst>
          </p:cNvPr>
          <p:cNvSpPr/>
          <p:nvPr/>
        </p:nvSpPr>
        <p:spPr>
          <a:xfrm>
            <a:off x="7720709" y="3931836"/>
            <a:ext cx="1536065" cy="20933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474E84B-D7F3-D948-3869-ABF9A54EB36F}"/>
              </a:ext>
            </a:extLst>
          </p:cNvPr>
          <p:cNvSpPr/>
          <p:nvPr/>
        </p:nvSpPr>
        <p:spPr>
          <a:xfrm>
            <a:off x="7314311" y="2770845"/>
            <a:ext cx="631825" cy="22935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08B4963-9E63-B56B-A490-43A530E1E001}"/>
              </a:ext>
            </a:extLst>
          </p:cNvPr>
          <p:cNvSpPr/>
          <p:nvPr/>
        </p:nvSpPr>
        <p:spPr>
          <a:xfrm>
            <a:off x="7314311" y="3702014"/>
            <a:ext cx="631825" cy="22935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0E0EA2F0-30D9-C681-2D38-01E08AEBADE0}"/>
              </a:ext>
            </a:extLst>
          </p:cNvPr>
          <p:cNvSpPr txBox="1"/>
          <p:nvPr/>
        </p:nvSpPr>
        <p:spPr>
          <a:xfrm>
            <a:off x="546931" y="1975076"/>
            <a:ext cx="10325285" cy="461665"/>
          </a:xfrm>
          <a:prstGeom prst="rect">
            <a:avLst/>
          </a:prstGeom>
          <a:noFill/>
        </p:spPr>
        <p:txBody>
          <a:bodyPr wrap="square" rtlCol="0">
            <a:spAutoFit/>
          </a:bodyPr>
          <a:lstStyle/>
          <a:p>
            <a:r>
              <a:rPr lang="en-US" sz="2400" i="1" dirty="0"/>
              <a:t>Same </a:t>
            </a:r>
            <a:r>
              <a:rPr lang="en-US" sz="2400" i="1" dirty="0" err="1"/>
              <a:t>ssh</a:t>
            </a:r>
            <a:r>
              <a:rPr lang="en-US" sz="2400" i="1" dirty="0"/>
              <a:t> server name returns different physical machines (different IP addresses)</a:t>
            </a:r>
          </a:p>
        </p:txBody>
      </p:sp>
      <p:sp>
        <p:nvSpPr>
          <p:cNvPr id="40" name="TextBox 39">
            <a:extLst>
              <a:ext uri="{FF2B5EF4-FFF2-40B4-BE49-F238E27FC236}">
                <a16:creationId xmlns:a16="http://schemas.microsoft.com/office/drawing/2014/main" id="{24107568-B049-1D50-96BE-09A85961A10B}"/>
              </a:ext>
            </a:extLst>
          </p:cNvPr>
          <p:cNvSpPr txBox="1"/>
          <p:nvPr/>
        </p:nvSpPr>
        <p:spPr>
          <a:xfrm>
            <a:off x="1785224" y="5185006"/>
            <a:ext cx="1114344" cy="523220"/>
          </a:xfrm>
          <a:prstGeom prst="rect">
            <a:avLst/>
          </a:prstGeom>
          <a:noFill/>
        </p:spPr>
        <p:txBody>
          <a:bodyPr wrap="none" rtlCol="0">
            <a:spAutoFit/>
          </a:bodyPr>
          <a:lstStyle/>
          <a:p>
            <a:r>
              <a:rPr lang="en-US" sz="2800" b="1" dirty="0"/>
              <a:t>Why? </a:t>
            </a:r>
          </a:p>
        </p:txBody>
      </p:sp>
      <p:sp>
        <p:nvSpPr>
          <p:cNvPr id="41" name="TextBox 40">
            <a:extLst>
              <a:ext uri="{FF2B5EF4-FFF2-40B4-BE49-F238E27FC236}">
                <a16:creationId xmlns:a16="http://schemas.microsoft.com/office/drawing/2014/main" id="{4B4B840B-7A31-22B6-8D8A-2D5E6B361BE9}"/>
              </a:ext>
            </a:extLst>
          </p:cNvPr>
          <p:cNvSpPr txBox="1"/>
          <p:nvPr/>
        </p:nvSpPr>
        <p:spPr>
          <a:xfrm>
            <a:off x="1840375" y="5903089"/>
            <a:ext cx="7021602" cy="523220"/>
          </a:xfrm>
          <a:prstGeom prst="rect">
            <a:avLst/>
          </a:prstGeom>
          <a:noFill/>
        </p:spPr>
        <p:txBody>
          <a:bodyPr wrap="none" rtlCol="0">
            <a:spAutoFit/>
          </a:bodyPr>
          <a:lstStyle/>
          <a:p>
            <a:r>
              <a:rPr lang="en-US" sz="2800" b="1" dirty="0"/>
              <a:t>To load balance requests, tolerate failures, </a:t>
            </a:r>
            <a:r>
              <a:rPr lang="en-US" sz="2800" b="1" dirty="0" err="1"/>
              <a:t>etc</a:t>
            </a:r>
            <a:endParaRPr lang="en-US" sz="2800" b="1" dirty="0"/>
          </a:p>
        </p:txBody>
      </p:sp>
    </p:spTree>
    <p:extLst>
      <p:ext uri="{BB962C8B-B14F-4D97-AF65-F5344CB8AC3E}">
        <p14:creationId xmlns:p14="http://schemas.microsoft.com/office/powerpoint/2010/main" val="1832097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E1ADA-6281-062D-02CF-7E4BDDCCFA3C}"/>
              </a:ext>
            </a:extLst>
          </p:cNvPr>
          <p:cNvSpPr>
            <a:spLocks noGrp="1"/>
          </p:cNvSpPr>
          <p:nvPr>
            <p:ph type="title"/>
          </p:nvPr>
        </p:nvSpPr>
        <p:spPr/>
        <p:txBody>
          <a:bodyPr/>
          <a:lstStyle/>
          <a:p>
            <a:r>
              <a:rPr lang="en-US" dirty="0"/>
              <a:t>Key concept: Indirection</a:t>
            </a:r>
          </a:p>
        </p:txBody>
      </p:sp>
      <p:sp>
        <p:nvSpPr>
          <p:cNvPr id="3" name="Content Placeholder 2">
            <a:extLst>
              <a:ext uri="{FF2B5EF4-FFF2-40B4-BE49-F238E27FC236}">
                <a16:creationId xmlns:a16="http://schemas.microsoft.com/office/drawing/2014/main" id="{07ED6CA8-1BC5-A931-4E6F-7F9A32B4EEB5}"/>
              </a:ext>
            </a:extLst>
          </p:cNvPr>
          <p:cNvSpPr>
            <a:spLocks noGrp="1"/>
          </p:cNvSpPr>
          <p:nvPr>
            <p:ph idx="1"/>
          </p:nvPr>
        </p:nvSpPr>
        <p:spPr/>
        <p:txBody>
          <a:bodyPr/>
          <a:lstStyle/>
          <a:p>
            <a:r>
              <a:rPr lang="en-US" dirty="0"/>
              <a:t>The ability to reference something using a name, instead of the value itself</a:t>
            </a:r>
          </a:p>
          <a:p>
            <a:r>
              <a:rPr lang="en-US" dirty="0"/>
              <a:t>Examples: </a:t>
            </a:r>
          </a:p>
          <a:p>
            <a:pPr lvl="1"/>
            <a:r>
              <a:rPr lang="en-US" dirty="0"/>
              <a:t>Link of a changing document (http://xxx/</a:t>
            </a:r>
            <a:r>
              <a:rPr lang="en-US" dirty="0" err="1"/>
              <a:t>mylatestdraft.pdf</a:t>
            </a:r>
            <a:r>
              <a:rPr lang="en-US" dirty="0"/>
              <a:t>)</a:t>
            </a:r>
          </a:p>
          <a:p>
            <a:pPr lvl="1"/>
            <a:r>
              <a:rPr lang="en-US" dirty="0"/>
              <a:t>News website (https://</a:t>
            </a:r>
            <a:r>
              <a:rPr lang="en-US" dirty="0" err="1"/>
              <a:t>www.nytimes.com</a:t>
            </a:r>
            <a:r>
              <a:rPr lang="en-US" dirty="0"/>
              <a:t>/)</a:t>
            </a:r>
          </a:p>
          <a:p>
            <a:pPr lvl="1"/>
            <a:r>
              <a:rPr lang="en-US" dirty="0"/>
              <a:t>Service name (</a:t>
            </a:r>
            <a:r>
              <a:rPr lang="en-US" dirty="0" err="1"/>
              <a:t>linux.cs.uchicago.edu</a:t>
            </a:r>
            <a:r>
              <a:rPr lang="en-US" dirty="0"/>
              <a:t>)</a:t>
            </a:r>
          </a:p>
          <a:p>
            <a:endParaRPr lang="en-US" dirty="0"/>
          </a:p>
          <a:p>
            <a:r>
              <a:rPr lang="en-US" dirty="0"/>
              <a:t>Allowing changes to be made without changing the reference</a:t>
            </a:r>
          </a:p>
          <a:p>
            <a:endParaRPr lang="en-US" dirty="0"/>
          </a:p>
          <a:p>
            <a:r>
              <a:rPr lang="en-US" dirty="0"/>
              <a:t>Yet, the most common form of indirection in programming is the act of manipulating a value through its </a:t>
            </a:r>
            <a:r>
              <a:rPr lang="en-US" b="1" dirty="0"/>
              <a:t>memory address </a:t>
            </a:r>
            <a:r>
              <a:rPr lang="en-US" dirty="0"/>
              <a:t>(i.e., </a:t>
            </a:r>
            <a:r>
              <a:rPr lang="en-US" b="1" dirty="0"/>
              <a:t>a </a:t>
            </a:r>
            <a:r>
              <a:rPr lang="en-US" b="1" u="sng" dirty="0"/>
              <a:t>pointer</a:t>
            </a:r>
            <a:r>
              <a:rPr lang="en-US" dirty="0"/>
              <a:t>).</a:t>
            </a:r>
          </a:p>
        </p:txBody>
      </p:sp>
    </p:spTree>
    <p:extLst>
      <p:ext uri="{BB962C8B-B14F-4D97-AF65-F5344CB8AC3E}">
        <p14:creationId xmlns:p14="http://schemas.microsoft.com/office/powerpoint/2010/main" val="917346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635CC-3602-F2CD-6605-1E9411987208}"/>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1A6FEE51-BA05-8560-0ECD-07AA002E58E7}"/>
              </a:ext>
            </a:extLst>
          </p:cNvPr>
          <p:cNvSpPr>
            <a:spLocks noGrp="1"/>
          </p:cNvSpPr>
          <p:nvPr>
            <p:ph idx="1"/>
          </p:nvPr>
        </p:nvSpPr>
        <p:spPr/>
        <p:txBody>
          <a:bodyPr/>
          <a:lstStyle/>
          <a:p>
            <a:r>
              <a:rPr lang="en-US" dirty="0"/>
              <a:t>Pointers</a:t>
            </a:r>
          </a:p>
          <a:p>
            <a:r>
              <a:rPr lang="en-US" dirty="0"/>
              <a:t>Call Stack</a:t>
            </a:r>
          </a:p>
          <a:p>
            <a:r>
              <a:rPr lang="en-US" dirty="0"/>
              <a:t>Malloc, Heap, and Free</a:t>
            </a:r>
          </a:p>
          <a:p>
            <a:r>
              <a:rPr lang="en-US" dirty="0"/>
              <a:t>Bit Print Example (char*)</a:t>
            </a:r>
          </a:p>
        </p:txBody>
      </p:sp>
    </p:spTree>
    <p:extLst>
      <p:ext uri="{BB962C8B-B14F-4D97-AF65-F5344CB8AC3E}">
        <p14:creationId xmlns:p14="http://schemas.microsoft.com/office/powerpoint/2010/main" val="3701171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080C8-F6B4-3CE9-A5D3-FCE78C286CC2}"/>
              </a:ext>
            </a:extLst>
          </p:cNvPr>
          <p:cNvSpPr>
            <a:spLocks noGrp="1"/>
          </p:cNvSpPr>
          <p:nvPr>
            <p:ph type="title"/>
          </p:nvPr>
        </p:nvSpPr>
        <p:spPr/>
        <p:txBody>
          <a:bodyPr/>
          <a:lstStyle/>
          <a:p>
            <a:r>
              <a:rPr lang="en-US" dirty="0"/>
              <a:t>Memory address</a:t>
            </a:r>
          </a:p>
        </p:txBody>
      </p:sp>
      <p:sp>
        <p:nvSpPr>
          <p:cNvPr id="3" name="Content Placeholder 2">
            <a:extLst>
              <a:ext uri="{FF2B5EF4-FFF2-40B4-BE49-F238E27FC236}">
                <a16:creationId xmlns:a16="http://schemas.microsoft.com/office/drawing/2014/main" id="{6D5646DB-A570-149D-2612-D97ED6C21A5A}"/>
              </a:ext>
            </a:extLst>
          </p:cNvPr>
          <p:cNvSpPr>
            <a:spLocks noGrp="1"/>
          </p:cNvSpPr>
          <p:nvPr>
            <p:ph idx="1"/>
          </p:nvPr>
        </p:nvSpPr>
        <p:spPr>
          <a:xfrm>
            <a:off x="838200" y="1341691"/>
            <a:ext cx="10436352" cy="3108389"/>
          </a:xfrm>
        </p:spPr>
        <p:txBody>
          <a:bodyPr>
            <a:normAutofit/>
          </a:bodyPr>
          <a:lstStyle/>
          <a:p>
            <a:r>
              <a:rPr lang="en-US" dirty="0"/>
              <a:t>A byte is the smallest addressable unit of memory. </a:t>
            </a:r>
          </a:p>
          <a:p>
            <a:endParaRPr lang="en-US" dirty="0"/>
          </a:p>
          <a:p>
            <a:r>
              <a:rPr lang="en-US" dirty="0"/>
              <a:t>Every byte in memory has a (unique) address. </a:t>
            </a:r>
          </a:p>
          <a:p>
            <a:endParaRPr lang="en-US" dirty="0"/>
          </a:p>
          <a:p>
            <a:r>
              <a:rPr lang="en-US" dirty="0"/>
              <a:t>Memory is a long array of bytes. Addresses are assigned in order from 0 to some upper limit (e.g., 4 billion for 4 GB). </a:t>
            </a:r>
          </a:p>
          <a:p>
            <a:endParaRPr lang="en-US" dirty="0"/>
          </a:p>
        </p:txBody>
      </p:sp>
      <p:grpSp>
        <p:nvGrpSpPr>
          <p:cNvPr id="23" name="Group 22">
            <a:extLst>
              <a:ext uri="{FF2B5EF4-FFF2-40B4-BE49-F238E27FC236}">
                <a16:creationId xmlns:a16="http://schemas.microsoft.com/office/drawing/2014/main" id="{E9F044A2-1334-3B53-1941-A8933AA48E26}"/>
              </a:ext>
            </a:extLst>
          </p:cNvPr>
          <p:cNvGrpSpPr/>
          <p:nvPr/>
        </p:nvGrpSpPr>
        <p:grpSpPr>
          <a:xfrm>
            <a:off x="8499437" y="4177607"/>
            <a:ext cx="896130" cy="2033799"/>
            <a:chOff x="7211641" y="2964924"/>
            <a:chExt cx="896130" cy="2033799"/>
          </a:xfrm>
        </p:grpSpPr>
        <p:sp>
          <p:nvSpPr>
            <p:cNvPr id="24" name="Rectangle 23">
              <a:extLst>
                <a:ext uri="{FF2B5EF4-FFF2-40B4-BE49-F238E27FC236}">
                  <a16:creationId xmlns:a16="http://schemas.microsoft.com/office/drawing/2014/main" id="{F4B8AF88-BB4E-38BD-7BEE-58B14B770F67}"/>
                </a:ext>
              </a:extLst>
            </p:cNvPr>
            <p:cNvSpPr/>
            <p:nvPr/>
          </p:nvSpPr>
          <p:spPr>
            <a:xfrm>
              <a:off x="7211641" y="2964924"/>
              <a:ext cx="896130" cy="20337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TextBox 24">
              <a:extLst>
                <a:ext uri="{FF2B5EF4-FFF2-40B4-BE49-F238E27FC236}">
                  <a16:creationId xmlns:a16="http://schemas.microsoft.com/office/drawing/2014/main" id="{9AD56A10-43F6-AAE1-FC11-54087A118A95}"/>
                </a:ext>
              </a:extLst>
            </p:cNvPr>
            <p:cNvSpPr txBox="1"/>
            <p:nvPr/>
          </p:nvSpPr>
          <p:spPr>
            <a:xfrm rot="5400000">
              <a:off x="7460773" y="4441247"/>
              <a:ext cx="397866" cy="461665"/>
            </a:xfrm>
            <a:prstGeom prst="rect">
              <a:avLst/>
            </a:prstGeom>
            <a:noFill/>
          </p:spPr>
          <p:txBody>
            <a:bodyPr wrap="none" rtlCol="0">
              <a:spAutoFit/>
            </a:bodyPr>
            <a:lstStyle/>
            <a:p>
              <a:r>
                <a:rPr lang="en-US" sz="2400" dirty="0"/>
                <a:t>…</a:t>
              </a:r>
            </a:p>
          </p:txBody>
        </p:sp>
        <p:sp>
          <p:nvSpPr>
            <p:cNvPr id="26" name="TextBox 25">
              <a:extLst>
                <a:ext uri="{FF2B5EF4-FFF2-40B4-BE49-F238E27FC236}">
                  <a16:creationId xmlns:a16="http://schemas.microsoft.com/office/drawing/2014/main" id="{14033CF6-9E38-7F39-8CFA-8B089B532B13}"/>
                </a:ext>
              </a:extLst>
            </p:cNvPr>
            <p:cNvSpPr txBox="1"/>
            <p:nvPr/>
          </p:nvSpPr>
          <p:spPr>
            <a:xfrm rot="5400000">
              <a:off x="7464004" y="2990901"/>
              <a:ext cx="397866" cy="461665"/>
            </a:xfrm>
            <a:prstGeom prst="rect">
              <a:avLst/>
            </a:prstGeom>
            <a:noFill/>
          </p:spPr>
          <p:txBody>
            <a:bodyPr wrap="none" rtlCol="0">
              <a:spAutoFit/>
            </a:bodyPr>
            <a:lstStyle/>
            <a:p>
              <a:r>
                <a:rPr lang="en-US" sz="2400" dirty="0"/>
                <a:t>…</a:t>
              </a:r>
            </a:p>
          </p:txBody>
        </p:sp>
      </p:grpSp>
      <p:sp>
        <p:nvSpPr>
          <p:cNvPr id="27" name="TextBox 26">
            <a:extLst>
              <a:ext uri="{FF2B5EF4-FFF2-40B4-BE49-F238E27FC236}">
                <a16:creationId xmlns:a16="http://schemas.microsoft.com/office/drawing/2014/main" id="{8871969F-D1E7-DAC5-CF2A-0E34CDE624DD}"/>
              </a:ext>
            </a:extLst>
          </p:cNvPr>
          <p:cNvSpPr txBox="1"/>
          <p:nvPr/>
        </p:nvSpPr>
        <p:spPr>
          <a:xfrm>
            <a:off x="8447010" y="3730331"/>
            <a:ext cx="1078821" cy="400110"/>
          </a:xfrm>
          <a:prstGeom prst="rect">
            <a:avLst/>
          </a:prstGeom>
          <a:noFill/>
        </p:spPr>
        <p:txBody>
          <a:bodyPr wrap="none" rtlCol="0">
            <a:spAutoFit/>
          </a:bodyPr>
          <a:lstStyle/>
          <a:p>
            <a:r>
              <a:rPr lang="en-US" sz="2000" dirty="0"/>
              <a:t>Memory</a:t>
            </a:r>
          </a:p>
        </p:txBody>
      </p:sp>
      <p:sp>
        <p:nvSpPr>
          <p:cNvPr id="28" name="TextBox 27">
            <a:extLst>
              <a:ext uri="{FF2B5EF4-FFF2-40B4-BE49-F238E27FC236}">
                <a16:creationId xmlns:a16="http://schemas.microsoft.com/office/drawing/2014/main" id="{EB92162B-4BA5-CA1B-8C17-F7AB21C612AC}"/>
              </a:ext>
            </a:extLst>
          </p:cNvPr>
          <p:cNvSpPr txBox="1"/>
          <p:nvPr/>
        </p:nvSpPr>
        <p:spPr>
          <a:xfrm>
            <a:off x="9397620" y="5948912"/>
            <a:ext cx="2186111" cy="369332"/>
          </a:xfrm>
          <a:prstGeom prst="rect">
            <a:avLst/>
          </a:prstGeom>
          <a:noFill/>
        </p:spPr>
        <p:txBody>
          <a:bodyPr wrap="none" rtlCol="0">
            <a:spAutoFit/>
          </a:bodyPr>
          <a:lstStyle/>
          <a:p>
            <a:r>
              <a:rPr lang="en-US" dirty="0"/>
              <a:t>Low address (</a:t>
            </a:r>
            <a:r>
              <a:rPr lang="en-US" sz="1400" dirty="0">
                <a:latin typeface="Menlo" panose="020B0609030804020204" pitchFamily="49" charset="0"/>
                <a:ea typeface="Menlo" panose="020B0609030804020204" pitchFamily="49" charset="0"/>
                <a:cs typeface="Menlo" panose="020B0609030804020204" pitchFamily="49" charset="0"/>
              </a:rPr>
              <a:t>000…00</a:t>
            </a:r>
            <a:r>
              <a:rPr lang="en-US" dirty="0"/>
              <a:t>)</a:t>
            </a:r>
          </a:p>
        </p:txBody>
      </p:sp>
      <p:sp>
        <p:nvSpPr>
          <p:cNvPr id="29" name="TextBox 28">
            <a:extLst>
              <a:ext uri="{FF2B5EF4-FFF2-40B4-BE49-F238E27FC236}">
                <a16:creationId xmlns:a16="http://schemas.microsoft.com/office/drawing/2014/main" id="{FE33D3D5-4212-50E6-AAA1-93C9593950ED}"/>
              </a:ext>
            </a:extLst>
          </p:cNvPr>
          <p:cNvSpPr txBox="1"/>
          <p:nvPr/>
        </p:nvSpPr>
        <p:spPr>
          <a:xfrm>
            <a:off x="9486916" y="3992941"/>
            <a:ext cx="2230291" cy="369332"/>
          </a:xfrm>
          <a:prstGeom prst="rect">
            <a:avLst/>
          </a:prstGeom>
          <a:noFill/>
        </p:spPr>
        <p:txBody>
          <a:bodyPr wrap="none" rtlCol="0">
            <a:spAutoFit/>
          </a:bodyPr>
          <a:lstStyle/>
          <a:p>
            <a:r>
              <a:rPr lang="en-US" dirty="0"/>
              <a:t>High address (</a:t>
            </a:r>
            <a:r>
              <a:rPr lang="en-US" sz="1400" dirty="0" err="1">
                <a:latin typeface="Menlo" panose="020B0609030804020204" pitchFamily="49" charset="0"/>
                <a:ea typeface="Menlo" panose="020B0609030804020204" pitchFamily="49" charset="0"/>
                <a:cs typeface="Menlo" panose="020B0609030804020204" pitchFamily="49" charset="0"/>
              </a:rPr>
              <a:t>fff</a:t>
            </a:r>
            <a:r>
              <a:rPr lang="en-US" sz="1400" dirty="0">
                <a:latin typeface="Menlo" panose="020B0609030804020204" pitchFamily="49" charset="0"/>
                <a:ea typeface="Menlo" panose="020B0609030804020204" pitchFamily="49" charset="0"/>
                <a:cs typeface="Menlo" panose="020B0609030804020204" pitchFamily="49" charset="0"/>
              </a:rPr>
              <a:t>…ff</a:t>
            </a:r>
            <a:r>
              <a:rPr lang="en-US" dirty="0"/>
              <a:t>)</a:t>
            </a:r>
          </a:p>
        </p:txBody>
      </p:sp>
      <p:sp>
        <p:nvSpPr>
          <p:cNvPr id="30" name="TextBox 29">
            <a:extLst>
              <a:ext uri="{FF2B5EF4-FFF2-40B4-BE49-F238E27FC236}">
                <a16:creationId xmlns:a16="http://schemas.microsoft.com/office/drawing/2014/main" id="{4970E4D9-E119-B77B-287C-E8692BF78031}"/>
              </a:ext>
            </a:extLst>
          </p:cNvPr>
          <p:cNvSpPr txBox="1"/>
          <p:nvPr/>
        </p:nvSpPr>
        <p:spPr>
          <a:xfrm rot="5400000">
            <a:off x="8748569" y="4928757"/>
            <a:ext cx="397866" cy="461665"/>
          </a:xfrm>
          <a:prstGeom prst="rect">
            <a:avLst/>
          </a:prstGeom>
          <a:noFill/>
        </p:spPr>
        <p:txBody>
          <a:bodyPr wrap="none" rtlCol="0">
            <a:spAutoFit/>
          </a:bodyPr>
          <a:lstStyle/>
          <a:p>
            <a:r>
              <a:rPr lang="en-US" sz="2400" dirty="0"/>
              <a:t>…</a:t>
            </a:r>
          </a:p>
        </p:txBody>
      </p:sp>
    </p:spTree>
    <p:extLst>
      <p:ext uri="{BB962C8B-B14F-4D97-AF65-F5344CB8AC3E}">
        <p14:creationId xmlns:p14="http://schemas.microsoft.com/office/powerpoint/2010/main" val="4097088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36793-840B-F574-CE2E-E1AB12784394}"/>
              </a:ext>
            </a:extLst>
          </p:cNvPr>
          <p:cNvSpPr>
            <a:spLocks noGrp="1"/>
          </p:cNvSpPr>
          <p:nvPr>
            <p:ph type="title"/>
          </p:nvPr>
        </p:nvSpPr>
        <p:spPr/>
        <p:txBody>
          <a:bodyPr/>
          <a:lstStyle/>
          <a:p>
            <a:r>
              <a:rPr lang="en-US" dirty="0"/>
              <a:t>Pointer</a:t>
            </a:r>
          </a:p>
        </p:txBody>
      </p:sp>
      <p:sp>
        <p:nvSpPr>
          <p:cNvPr id="4" name="TextBox 3">
            <a:extLst>
              <a:ext uri="{FF2B5EF4-FFF2-40B4-BE49-F238E27FC236}">
                <a16:creationId xmlns:a16="http://schemas.microsoft.com/office/drawing/2014/main" id="{45FEEC61-9D05-6406-2EB1-0474FC9D99FF}"/>
              </a:ext>
            </a:extLst>
          </p:cNvPr>
          <p:cNvSpPr txBox="1"/>
          <p:nvPr/>
        </p:nvSpPr>
        <p:spPr>
          <a:xfrm>
            <a:off x="741680" y="1929761"/>
            <a:ext cx="5161280" cy="646331"/>
          </a:xfrm>
          <a:prstGeom prst="rect">
            <a:avLst/>
          </a:prstGeom>
          <a:noFill/>
        </p:spPr>
        <p:txBody>
          <a:bodyPr wrap="square" rtlCol="0">
            <a:spAutoFit/>
          </a:bodyPr>
          <a:lstStyle/>
          <a:p>
            <a:r>
              <a:rPr lang="en-US" dirty="0"/>
              <a:t>"</a:t>
            </a:r>
            <a:r>
              <a:rPr lang="en-US" sz="1600" dirty="0">
                <a:latin typeface="Menlo" panose="020B0609030804020204" pitchFamily="49" charset="0"/>
                <a:ea typeface="Menlo" panose="020B0609030804020204" pitchFamily="49" charset="0"/>
                <a:cs typeface="Menlo" panose="020B0609030804020204" pitchFamily="49" charset="0"/>
              </a:rPr>
              <a:t>type *</a:t>
            </a:r>
            <a:r>
              <a:rPr lang="en-US" dirty="0"/>
              <a:t>" declare a pointer to </a:t>
            </a:r>
            <a:r>
              <a:rPr lang="en-US" sz="1600" dirty="0">
                <a:latin typeface="Menlo" panose="020B0609030804020204" pitchFamily="49" charset="0"/>
                <a:ea typeface="Menlo" panose="020B0609030804020204" pitchFamily="49" charset="0"/>
                <a:cs typeface="Menlo" panose="020B0609030804020204" pitchFamily="49" charset="0"/>
              </a:rPr>
              <a:t>type</a:t>
            </a:r>
            <a:r>
              <a:rPr lang="en-US" dirty="0"/>
              <a:t> variable</a:t>
            </a:r>
          </a:p>
          <a:p>
            <a:r>
              <a:rPr lang="en-US" dirty="0"/>
              <a:t>A pointer to an </a:t>
            </a:r>
            <a:r>
              <a:rPr lang="en-US" sz="1600" dirty="0">
                <a:latin typeface="Menlo" panose="020B0609030804020204" pitchFamily="49" charset="0"/>
                <a:ea typeface="Menlo" panose="020B0609030804020204" pitchFamily="49" charset="0"/>
                <a:cs typeface="Menlo" panose="020B0609030804020204" pitchFamily="49" charset="0"/>
              </a:rPr>
              <a:t>int</a:t>
            </a:r>
            <a:r>
              <a:rPr lang="en-US" dirty="0"/>
              <a:t> (stores the address of an </a:t>
            </a:r>
            <a:r>
              <a:rPr lang="en-US" sz="1600" dirty="0">
                <a:latin typeface="Menlo" panose="020B0609030804020204" pitchFamily="49" charset="0"/>
                <a:ea typeface="Menlo" panose="020B0609030804020204" pitchFamily="49" charset="0"/>
                <a:cs typeface="Menlo" panose="020B0609030804020204" pitchFamily="49" charset="0"/>
              </a:rPr>
              <a:t>int</a:t>
            </a:r>
            <a:r>
              <a:rPr lang="en-US" dirty="0"/>
              <a:t>):</a:t>
            </a:r>
          </a:p>
        </p:txBody>
      </p:sp>
      <p:sp>
        <p:nvSpPr>
          <p:cNvPr id="8" name="TextBox 7">
            <a:extLst>
              <a:ext uri="{FF2B5EF4-FFF2-40B4-BE49-F238E27FC236}">
                <a16:creationId xmlns:a16="http://schemas.microsoft.com/office/drawing/2014/main" id="{91C9D4C0-0C25-D40C-CBE3-9506B089204E}"/>
              </a:ext>
            </a:extLst>
          </p:cNvPr>
          <p:cNvSpPr txBox="1"/>
          <p:nvPr/>
        </p:nvSpPr>
        <p:spPr>
          <a:xfrm>
            <a:off x="416560" y="1291999"/>
            <a:ext cx="11358880" cy="400110"/>
          </a:xfrm>
          <a:prstGeom prst="rect">
            <a:avLst/>
          </a:prstGeom>
          <a:noFill/>
        </p:spPr>
        <p:txBody>
          <a:bodyPr wrap="square">
            <a:spAutoFit/>
          </a:bodyPr>
          <a:lstStyle/>
          <a:p>
            <a:pPr marL="0" indent="0">
              <a:buNone/>
            </a:pPr>
            <a:r>
              <a:rPr lang="en-US" sz="2000" dirty="0"/>
              <a:t>Pointers are a special type of data that store the location (address) of something in memory (“pointing to”).  </a:t>
            </a:r>
          </a:p>
        </p:txBody>
      </p:sp>
      <p:sp>
        <p:nvSpPr>
          <p:cNvPr id="9" name="TextBox 8">
            <a:extLst>
              <a:ext uri="{FF2B5EF4-FFF2-40B4-BE49-F238E27FC236}">
                <a16:creationId xmlns:a16="http://schemas.microsoft.com/office/drawing/2014/main" id="{038320ED-FBA0-21A6-86FB-CC71F496A436}"/>
              </a:ext>
            </a:extLst>
          </p:cNvPr>
          <p:cNvSpPr txBox="1"/>
          <p:nvPr/>
        </p:nvSpPr>
        <p:spPr>
          <a:xfrm>
            <a:off x="741680" y="2567206"/>
            <a:ext cx="1048685" cy="338554"/>
          </a:xfrm>
          <a:prstGeom prst="rect">
            <a:avLst/>
          </a:prstGeom>
          <a:noFill/>
        </p:spPr>
        <p:txBody>
          <a:bodyPr wrap="none" rtlCol="0">
            <a:spAutoFit/>
          </a:bodyPr>
          <a:lstStyle/>
          <a:p>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*p;</a:t>
            </a:r>
          </a:p>
        </p:txBody>
      </p:sp>
      <p:sp>
        <p:nvSpPr>
          <p:cNvPr id="10" name="TextBox 9">
            <a:extLst>
              <a:ext uri="{FF2B5EF4-FFF2-40B4-BE49-F238E27FC236}">
                <a16:creationId xmlns:a16="http://schemas.microsoft.com/office/drawing/2014/main" id="{654DA2E4-AD38-AFE8-2B6E-0738502EB294}"/>
              </a:ext>
            </a:extLst>
          </p:cNvPr>
          <p:cNvSpPr txBox="1"/>
          <p:nvPr/>
        </p:nvSpPr>
        <p:spPr>
          <a:xfrm>
            <a:off x="2752209" y="2567206"/>
            <a:ext cx="1048685" cy="338554"/>
          </a:xfrm>
          <a:prstGeom prst="rect">
            <a:avLst/>
          </a:prstGeom>
          <a:noFill/>
        </p:spPr>
        <p:txBody>
          <a:bodyPr wrap="none" rtlCol="0">
            <a:spAutoFit/>
          </a:bodyPr>
          <a:lstStyle/>
          <a:p>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p;</a:t>
            </a:r>
          </a:p>
        </p:txBody>
      </p:sp>
      <p:sp>
        <p:nvSpPr>
          <p:cNvPr id="11" name="TextBox 10">
            <a:extLst>
              <a:ext uri="{FF2B5EF4-FFF2-40B4-BE49-F238E27FC236}">
                <a16:creationId xmlns:a16="http://schemas.microsoft.com/office/drawing/2014/main" id="{EA83A7E5-0C43-A443-3802-26CDEE756A66}"/>
              </a:ext>
            </a:extLst>
          </p:cNvPr>
          <p:cNvSpPr txBox="1"/>
          <p:nvPr/>
        </p:nvSpPr>
        <p:spPr>
          <a:xfrm>
            <a:off x="1981200" y="2551817"/>
            <a:ext cx="386644" cy="369332"/>
          </a:xfrm>
          <a:prstGeom prst="rect">
            <a:avLst/>
          </a:prstGeom>
          <a:noFill/>
        </p:spPr>
        <p:txBody>
          <a:bodyPr wrap="none" rtlCol="0">
            <a:spAutoFit/>
          </a:bodyPr>
          <a:lstStyle/>
          <a:p>
            <a:r>
              <a:rPr lang="en-US" dirty="0"/>
              <a:t>or</a:t>
            </a:r>
          </a:p>
        </p:txBody>
      </p:sp>
      <p:sp>
        <p:nvSpPr>
          <p:cNvPr id="12" name="TextBox 11">
            <a:extLst>
              <a:ext uri="{FF2B5EF4-FFF2-40B4-BE49-F238E27FC236}">
                <a16:creationId xmlns:a16="http://schemas.microsoft.com/office/drawing/2014/main" id="{1C7693AF-832E-EE39-D431-E890932CC24B}"/>
              </a:ext>
            </a:extLst>
          </p:cNvPr>
          <p:cNvSpPr txBox="1"/>
          <p:nvPr/>
        </p:nvSpPr>
        <p:spPr>
          <a:xfrm>
            <a:off x="741680" y="3195043"/>
            <a:ext cx="5787482" cy="369332"/>
          </a:xfrm>
          <a:prstGeom prst="rect">
            <a:avLst/>
          </a:prstGeom>
          <a:noFill/>
        </p:spPr>
        <p:txBody>
          <a:bodyPr wrap="none" rtlCol="0">
            <a:spAutoFit/>
          </a:bodyPr>
          <a:lstStyle/>
          <a:p>
            <a:r>
              <a:rPr lang="en-US" dirty="0">
                <a:effectLst/>
              </a:rPr>
              <a:t>To determine the address of a variable, use the </a:t>
            </a:r>
            <a:r>
              <a:rPr lang="en-US" dirty="0">
                <a:effectLst/>
                <a:latin typeface="Menlo" panose="020B0609030804020204" pitchFamily="49" charset="0"/>
                <a:ea typeface="Menlo" panose="020B0609030804020204" pitchFamily="49" charset="0"/>
                <a:cs typeface="Menlo" panose="020B0609030804020204" pitchFamily="49" charset="0"/>
              </a:rPr>
              <a:t>&amp;</a:t>
            </a:r>
            <a:r>
              <a:rPr lang="en-US" dirty="0">
                <a:effectLst/>
              </a:rPr>
              <a:t> operator: </a:t>
            </a:r>
          </a:p>
        </p:txBody>
      </p:sp>
      <p:sp>
        <p:nvSpPr>
          <p:cNvPr id="13" name="TextBox 12">
            <a:extLst>
              <a:ext uri="{FF2B5EF4-FFF2-40B4-BE49-F238E27FC236}">
                <a16:creationId xmlns:a16="http://schemas.microsoft.com/office/drawing/2014/main" id="{15149486-208A-7069-8E39-75D6C480535D}"/>
              </a:ext>
            </a:extLst>
          </p:cNvPr>
          <p:cNvSpPr txBox="1"/>
          <p:nvPr/>
        </p:nvSpPr>
        <p:spPr>
          <a:xfrm>
            <a:off x="465865" y="3492701"/>
            <a:ext cx="4504759" cy="584775"/>
          </a:xfrm>
          <a:prstGeom prst="rect">
            <a:avLst/>
          </a:prstGeom>
          <a:noFill/>
        </p:spPr>
        <p:txBody>
          <a:bodyPr wrap="none" rtlCol="0">
            <a:spAutoFit/>
          </a:bodyPr>
          <a:lstStyle/>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i</a:t>
            </a:r>
            <a:r>
              <a:rPr lang="en-US" sz="1600" dirty="0">
                <a:solidFill>
                  <a:srgbClr val="000000"/>
                </a:solidFill>
                <a:effectLst/>
                <a:latin typeface="Menlo" panose="020B0609030804020204" pitchFamily="49" charset="0"/>
              </a:rPr>
              <a:t> = </a:t>
            </a:r>
            <a:r>
              <a:rPr lang="en-US" sz="1600" dirty="0">
                <a:solidFill>
                  <a:srgbClr val="B42419"/>
                </a:solidFill>
                <a:effectLst/>
                <a:latin typeface="Menlo" panose="020B0609030804020204" pitchFamily="49" charset="0"/>
              </a:rPr>
              <a:t>7</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*p = &amp;</a:t>
            </a:r>
            <a:r>
              <a:rPr lang="en-US" sz="1600" dirty="0" err="1">
                <a:solidFill>
                  <a:srgbClr val="000000"/>
                </a:solidFill>
                <a:effectLst/>
                <a:latin typeface="Menlo" panose="020B0609030804020204" pitchFamily="49" charset="0"/>
              </a:rPr>
              <a:t>i</a:t>
            </a:r>
            <a:r>
              <a:rPr lang="en-US" sz="1600" dirty="0">
                <a:solidFill>
                  <a:srgbClr val="000000"/>
                </a:solidFill>
                <a:effectLst/>
                <a:latin typeface="Menlo" panose="020B0609030804020204" pitchFamily="49" charset="0"/>
              </a:rPr>
              <a:t>; </a:t>
            </a:r>
            <a:r>
              <a:rPr lang="en-US" sz="1600" dirty="0">
                <a:solidFill>
                  <a:srgbClr val="400BD9"/>
                </a:solidFill>
                <a:effectLst/>
                <a:latin typeface="Menlo" panose="020B0609030804020204" pitchFamily="49" charset="0"/>
              </a:rPr>
              <a:t>// p now points to </a:t>
            </a:r>
            <a:r>
              <a:rPr lang="en-US" sz="1600" dirty="0" err="1">
                <a:solidFill>
                  <a:srgbClr val="400BD9"/>
                </a:solidFill>
                <a:effectLst/>
                <a:latin typeface="Menlo" panose="020B0609030804020204" pitchFamily="49" charset="0"/>
              </a:rPr>
              <a:t>i</a:t>
            </a:r>
            <a:endParaRPr lang="en-US" sz="1600" dirty="0">
              <a:solidFill>
                <a:srgbClr val="400BD9"/>
              </a:solidFill>
              <a:effectLst/>
              <a:latin typeface="Menlo" panose="020B0609030804020204" pitchFamily="49" charset="0"/>
            </a:endParaRPr>
          </a:p>
        </p:txBody>
      </p:sp>
      <p:sp>
        <p:nvSpPr>
          <p:cNvPr id="14" name="TextBox 13">
            <a:extLst>
              <a:ext uri="{FF2B5EF4-FFF2-40B4-BE49-F238E27FC236}">
                <a16:creationId xmlns:a16="http://schemas.microsoft.com/office/drawing/2014/main" id="{B59FCC90-1E5D-0FD1-8A6E-C0E041DFA8BB}"/>
              </a:ext>
            </a:extLst>
          </p:cNvPr>
          <p:cNvSpPr txBox="1"/>
          <p:nvPr/>
        </p:nvSpPr>
        <p:spPr>
          <a:xfrm>
            <a:off x="741680" y="4256486"/>
            <a:ext cx="5253874" cy="369332"/>
          </a:xfrm>
          <a:prstGeom prst="rect">
            <a:avLst/>
          </a:prstGeom>
          <a:noFill/>
        </p:spPr>
        <p:txBody>
          <a:bodyPr wrap="none" rtlCol="0">
            <a:spAutoFit/>
          </a:bodyPr>
          <a:lstStyle/>
          <a:p>
            <a:r>
              <a:rPr lang="en-US" dirty="0"/>
              <a:t>To access the address, use the variable name directly: </a:t>
            </a:r>
          </a:p>
        </p:txBody>
      </p:sp>
      <p:sp>
        <p:nvSpPr>
          <p:cNvPr id="15" name="TextBox 14">
            <a:extLst>
              <a:ext uri="{FF2B5EF4-FFF2-40B4-BE49-F238E27FC236}">
                <a16:creationId xmlns:a16="http://schemas.microsoft.com/office/drawing/2014/main" id="{307DAB57-482E-07F1-D3CD-AE3C778BED13}"/>
              </a:ext>
            </a:extLst>
          </p:cNvPr>
          <p:cNvSpPr txBox="1"/>
          <p:nvPr/>
        </p:nvSpPr>
        <p:spPr>
          <a:xfrm>
            <a:off x="465865" y="4624138"/>
            <a:ext cx="7220246" cy="338554"/>
          </a:xfrm>
          <a:prstGeom prst="rect">
            <a:avLst/>
          </a:prstGeom>
          <a:noFill/>
        </p:spPr>
        <p:txBody>
          <a:bodyPr wrap="none" rtlCol="0">
            <a:spAutoFit/>
          </a:bodyPr>
          <a:lstStyle/>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*q = p; </a:t>
            </a:r>
            <a:r>
              <a:rPr lang="en-US" sz="1600" dirty="0">
                <a:solidFill>
                  <a:srgbClr val="400BD9"/>
                </a:solidFill>
                <a:effectLst/>
                <a:latin typeface="Menlo" panose="020B0609030804020204" pitchFamily="49" charset="0"/>
              </a:rPr>
              <a:t>// q now points to what p points to, i.e. </a:t>
            </a:r>
            <a:r>
              <a:rPr lang="en-US" sz="1600" dirty="0" err="1">
                <a:solidFill>
                  <a:srgbClr val="400BD9"/>
                </a:solidFill>
                <a:effectLst/>
                <a:latin typeface="Menlo" panose="020B0609030804020204" pitchFamily="49" charset="0"/>
              </a:rPr>
              <a:t>i</a:t>
            </a:r>
            <a:endParaRPr lang="en-US" sz="1600" dirty="0">
              <a:solidFill>
                <a:srgbClr val="400BD9"/>
              </a:solidFill>
              <a:effectLst/>
              <a:latin typeface="Menlo" panose="020B0609030804020204" pitchFamily="49" charset="0"/>
            </a:endParaRPr>
          </a:p>
        </p:txBody>
      </p:sp>
      <p:sp>
        <p:nvSpPr>
          <p:cNvPr id="16" name="TextBox 15">
            <a:extLst>
              <a:ext uri="{FF2B5EF4-FFF2-40B4-BE49-F238E27FC236}">
                <a16:creationId xmlns:a16="http://schemas.microsoft.com/office/drawing/2014/main" id="{A328D36F-DC2E-E6A5-1A44-BD871CE23D4F}"/>
              </a:ext>
            </a:extLst>
          </p:cNvPr>
          <p:cNvSpPr txBox="1"/>
          <p:nvPr/>
        </p:nvSpPr>
        <p:spPr>
          <a:xfrm>
            <a:off x="741680" y="5194223"/>
            <a:ext cx="7702943" cy="369332"/>
          </a:xfrm>
          <a:prstGeom prst="rect">
            <a:avLst/>
          </a:prstGeom>
          <a:noFill/>
        </p:spPr>
        <p:txBody>
          <a:bodyPr wrap="none" rtlCol="0">
            <a:spAutoFit/>
          </a:bodyPr>
          <a:lstStyle/>
          <a:p>
            <a:r>
              <a:rPr lang="en-US" dirty="0"/>
              <a:t>To do something with the value that a pointer is pointing to, use the </a:t>
            </a:r>
            <a:r>
              <a:rPr lang="en-US" sz="1600" dirty="0">
                <a:latin typeface="Menlo" panose="020B0609030804020204" pitchFamily="49" charset="0"/>
                <a:ea typeface="Menlo" panose="020B0609030804020204" pitchFamily="49" charset="0"/>
                <a:cs typeface="Menlo" panose="020B0609030804020204" pitchFamily="49" charset="0"/>
              </a:rPr>
              <a:t>*</a:t>
            </a:r>
            <a:r>
              <a:rPr lang="en-US" dirty="0"/>
              <a:t> operator: </a:t>
            </a:r>
          </a:p>
        </p:txBody>
      </p:sp>
      <p:sp>
        <p:nvSpPr>
          <p:cNvPr id="17" name="TextBox 16">
            <a:extLst>
              <a:ext uri="{FF2B5EF4-FFF2-40B4-BE49-F238E27FC236}">
                <a16:creationId xmlns:a16="http://schemas.microsoft.com/office/drawing/2014/main" id="{E836EA99-471C-0B11-8CC9-917FC76FBB1B}"/>
              </a:ext>
            </a:extLst>
          </p:cNvPr>
          <p:cNvSpPr txBox="1"/>
          <p:nvPr/>
        </p:nvSpPr>
        <p:spPr>
          <a:xfrm>
            <a:off x="465865" y="5506216"/>
            <a:ext cx="5739072" cy="584775"/>
          </a:xfrm>
          <a:prstGeom prst="rect">
            <a:avLst/>
          </a:prstGeom>
          <a:noFill/>
        </p:spPr>
        <p:txBody>
          <a:bodyPr wrap="none" rtlCol="0">
            <a:spAutoFit/>
          </a:bodyPr>
          <a:lstStyle/>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j = *q; </a:t>
            </a:r>
            <a:r>
              <a:rPr lang="en-US" sz="1600" dirty="0">
                <a:solidFill>
                  <a:srgbClr val="400BD9"/>
                </a:solidFill>
                <a:effectLst/>
                <a:latin typeface="Menlo" panose="020B0609030804020204" pitchFamily="49" charset="0"/>
              </a:rPr>
              <a:t>// sets j to 7</a:t>
            </a:r>
          </a:p>
          <a:p>
            <a:r>
              <a:rPr lang="en-US" sz="1600" dirty="0">
                <a:solidFill>
                  <a:srgbClr val="000000"/>
                </a:solidFill>
                <a:effectLst/>
                <a:latin typeface="Menlo" panose="020B0609030804020204" pitchFamily="49" charset="0"/>
              </a:rPr>
              <a:t>  *p = </a:t>
            </a:r>
            <a:r>
              <a:rPr lang="en-US" sz="1600" dirty="0">
                <a:solidFill>
                  <a:srgbClr val="B42419"/>
                </a:solidFill>
                <a:effectLst/>
                <a:latin typeface="Menlo" panose="020B0609030804020204" pitchFamily="49" charset="0"/>
              </a:rPr>
              <a:t>13</a:t>
            </a:r>
            <a:r>
              <a:rPr lang="en-US" sz="1600" dirty="0">
                <a:solidFill>
                  <a:srgbClr val="000000"/>
                </a:solidFill>
                <a:effectLst/>
                <a:latin typeface="Menlo" panose="020B0609030804020204" pitchFamily="49" charset="0"/>
              </a:rPr>
              <a:t>; </a:t>
            </a:r>
            <a:r>
              <a:rPr lang="en-US" sz="1600" dirty="0">
                <a:solidFill>
                  <a:srgbClr val="400BD9"/>
                </a:solidFill>
                <a:effectLst/>
                <a:latin typeface="Menlo" panose="020B0609030804020204" pitchFamily="49" charset="0"/>
              </a:rPr>
              <a:t>// sets </a:t>
            </a:r>
            <a:r>
              <a:rPr lang="en-US" sz="1600" dirty="0" err="1">
                <a:solidFill>
                  <a:srgbClr val="400BD9"/>
                </a:solidFill>
                <a:effectLst/>
                <a:latin typeface="Menlo" panose="020B0609030804020204" pitchFamily="49" charset="0"/>
              </a:rPr>
              <a:t>i</a:t>
            </a:r>
            <a:r>
              <a:rPr lang="en-US" sz="1600" dirty="0">
                <a:solidFill>
                  <a:srgbClr val="400BD9"/>
                </a:solidFill>
                <a:effectLst/>
                <a:latin typeface="Menlo" panose="020B0609030804020204" pitchFamily="49" charset="0"/>
              </a:rPr>
              <a:t> to 13; note j is still 7</a:t>
            </a:r>
          </a:p>
        </p:txBody>
      </p:sp>
      <p:sp>
        <p:nvSpPr>
          <p:cNvPr id="18" name="TextBox 17">
            <a:extLst>
              <a:ext uri="{FF2B5EF4-FFF2-40B4-BE49-F238E27FC236}">
                <a16:creationId xmlns:a16="http://schemas.microsoft.com/office/drawing/2014/main" id="{C0E5A8ED-5610-5970-E7F3-02408B04571F}"/>
              </a:ext>
            </a:extLst>
          </p:cNvPr>
          <p:cNvSpPr txBox="1"/>
          <p:nvPr/>
        </p:nvSpPr>
        <p:spPr>
          <a:xfrm>
            <a:off x="741680" y="6128487"/>
            <a:ext cx="4490973" cy="369332"/>
          </a:xfrm>
          <a:prstGeom prst="rect">
            <a:avLst/>
          </a:prstGeom>
          <a:noFill/>
        </p:spPr>
        <p:txBody>
          <a:bodyPr wrap="none" rtlCol="0">
            <a:spAutoFit/>
          </a:bodyPr>
          <a:lstStyle/>
          <a:p>
            <a:r>
              <a:rPr lang="en-US" dirty="0"/>
              <a:t>Using the </a:t>
            </a:r>
            <a:r>
              <a:rPr lang="en-US" sz="1600" dirty="0">
                <a:latin typeface="Menlo" panose="020B0609030804020204" pitchFamily="49" charset="0"/>
                <a:ea typeface="Menlo" panose="020B0609030804020204" pitchFamily="49" charset="0"/>
                <a:cs typeface="Menlo" panose="020B0609030804020204" pitchFamily="49" charset="0"/>
              </a:rPr>
              <a:t>*</a:t>
            </a:r>
            <a:r>
              <a:rPr lang="en-US" dirty="0"/>
              <a:t> operator is called “dereferencing.”</a:t>
            </a:r>
          </a:p>
        </p:txBody>
      </p:sp>
      <p:sp>
        <p:nvSpPr>
          <p:cNvPr id="22" name="Rounded Rectangle 21">
            <a:extLst>
              <a:ext uri="{FF2B5EF4-FFF2-40B4-BE49-F238E27FC236}">
                <a16:creationId xmlns:a16="http://schemas.microsoft.com/office/drawing/2014/main" id="{4F3CC4D5-409A-CBBF-234A-D3675B446D37}"/>
              </a:ext>
            </a:extLst>
          </p:cNvPr>
          <p:cNvSpPr/>
          <p:nvPr/>
        </p:nvSpPr>
        <p:spPr>
          <a:xfrm>
            <a:off x="1432560" y="1929761"/>
            <a:ext cx="264160" cy="32316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CA6278FF-5C22-0062-6060-71EC2ADF9BCD}"/>
              </a:ext>
            </a:extLst>
          </p:cNvPr>
          <p:cNvSpPr/>
          <p:nvPr/>
        </p:nvSpPr>
        <p:spPr>
          <a:xfrm>
            <a:off x="7144105" y="5234970"/>
            <a:ext cx="264160" cy="32316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4760058-BC3C-5DB4-074B-635FAB5C6D35}"/>
              </a:ext>
            </a:extLst>
          </p:cNvPr>
          <p:cNvSpPr txBox="1"/>
          <p:nvPr/>
        </p:nvSpPr>
        <p:spPr>
          <a:xfrm>
            <a:off x="7711511" y="3056543"/>
            <a:ext cx="3272572" cy="646331"/>
          </a:xfrm>
          <a:prstGeom prst="rect">
            <a:avLst/>
          </a:prstGeom>
          <a:noFill/>
        </p:spPr>
        <p:txBody>
          <a:bodyPr wrap="square" rtlCol="0">
            <a:spAutoFit/>
          </a:bodyPr>
          <a:lstStyle/>
          <a:p>
            <a:r>
              <a:rPr lang="en-US" sz="1800" dirty="0">
                <a:effectLst/>
                <a:latin typeface="CMSS10"/>
              </a:rPr>
              <a:t>The </a:t>
            </a:r>
            <a:r>
              <a:rPr lang="en-US" sz="1800" dirty="0">
                <a:effectLst/>
                <a:latin typeface="CMTT10"/>
              </a:rPr>
              <a:t>* </a:t>
            </a:r>
            <a:r>
              <a:rPr lang="en-US" sz="1800" dirty="0">
                <a:effectLst/>
                <a:latin typeface="CMSS10"/>
              </a:rPr>
              <a:t>operator in an expression is different than the </a:t>
            </a:r>
            <a:r>
              <a:rPr lang="en-US" sz="1800" dirty="0">
                <a:effectLst/>
                <a:latin typeface="CMTT10"/>
              </a:rPr>
              <a:t>* </a:t>
            </a:r>
            <a:r>
              <a:rPr lang="en-US" sz="1800" dirty="0">
                <a:effectLst/>
                <a:latin typeface="CMSS10"/>
              </a:rPr>
              <a:t>in a type. </a:t>
            </a:r>
            <a:endParaRPr lang="en-US" dirty="0">
              <a:effectLst/>
            </a:endParaRPr>
          </a:p>
        </p:txBody>
      </p:sp>
      <p:cxnSp>
        <p:nvCxnSpPr>
          <p:cNvPr id="25" name="Straight Arrow Connector 24">
            <a:extLst>
              <a:ext uri="{FF2B5EF4-FFF2-40B4-BE49-F238E27FC236}">
                <a16:creationId xmlns:a16="http://schemas.microsoft.com/office/drawing/2014/main" id="{B311BE8D-9C9F-F499-CF12-A3324AE045A1}"/>
              </a:ext>
            </a:extLst>
          </p:cNvPr>
          <p:cNvCxnSpPr>
            <a:cxnSpLocks/>
            <a:endCxn id="23" idx="0"/>
          </p:cNvCxnSpPr>
          <p:nvPr/>
        </p:nvCxnSpPr>
        <p:spPr>
          <a:xfrm flipH="1">
            <a:off x="7276185" y="3702874"/>
            <a:ext cx="872135" cy="1532096"/>
          </a:xfrm>
          <a:prstGeom prst="straightConnector1">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9C1D0A77-0A37-1E20-50DF-BB9C05D653AE}"/>
              </a:ext>
            </a:extLst>
          </p:cNvPr>
          <p:cNvCxnSpPr>
            <a:cxnSpLocks/>
            <a:endCxn id="22" idx="3"/>
          </p:cNvCxnSpPr>
          <p:nvPr/>
        </p:nvCxnSpPr>
        <p:spPr>
          <a:xfrm flipH="1" flipV="1">
            <a:off x="1696720" y="2091344"/>
            <a:ext cx="6258560" cy="965199"/>
          </a:xfrm>
          <a:prstGeom prst="straightConnector1">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12495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P spid="12" grpId="0"/>
      <p:bldP spid="13" grpId="0"/>
      <p:bldP spid="14" grpId="0"/>
      <p:bldP spid="15" grpId="0"/>
      <p:bldP spid="16" grpId="0"/>
      <p:bldP spid="17" grpId="0"/>
      <p:bldP spid="18" grpId="0"/>
      <p:bldP spid="22" grpId="0" animBg="1"/>
      <p:bldP spid="23" grpId="0" animBg="1"/>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CAAF-629C-EEB1-BB6F-0D1676082EAE}"/>
              </a:ext>
            </a:extLst>
          </p:cNvPr>
          <p:cNvSpPr>
            <a:spLocks noGrp="1"/>
          </p:cNvSpPr>
          <p:nvPr>
            <p:ph type="title"/>
          </p:nvPr>
        </p:nvSpPr>
        <p:spPr/>
        <p:txBody>
          <a:bodyPr>
            <a:normAutofit/>
          </a:bodyPr>
          <a:lstStyle/>
          <a:p>
            <a:r>
              <a:rPr lang="en-US" dirty="0"/>
              <a:t>Addresses vs. Values </a:t>
            </a:r>
          </a:p>
        </p:txBody>
      </p:sp>
      <p:sp>
        <p:nvSpPr>
          <p:cNvPr id="4" name="TextBox 3">
            <a:extLst>
              <a:ext uri="{FF2B5EF4-FFF2-40B4-BE49-F238E27FC236}">
                <a16:creationId xmlns:a16="http://schemas.microsoft.com/office/drawing/2014/main" id="{B3CAB61A-C972-CCF9-B767-6A64B4759EC3}"/>
              </a:ext>
            </a:extLst>
          </p:cNvPr>
          <p:cNvSpPr txBox="1"/>
          <p:nvPr/>
        </p:nvSpPr>
        <p:spPr>
          <a:xfrm>
            <a:off x="975360" y="1445768"/>
            <a:ext cx="3213829" cy="400110"/>
          </a:xfrm>
          <a:prstGeom prst="rect">
            <a:avLst/>
          </a:prstGeom>
          <a:noFill/>
        </p:spPr>
        <p:txBody>
          <a:bodyPr wrap="none" rtlCol="0">
            <a:spAutoFit/>
          </a:bodyPr>
          <a:lstStyle/>
          <a:p>
            <a:r>
              <a:rPr lang="en-US" sz="2000" dirty="0"/>
              <a:t>Consider the following code: </a:t>
            </a:r>
          </a:p>
        </p:txBody>
      </p:sp>
      <p:sp>
        <p:nvSpPr>
          <p:cNvPr id="5" name="TextBox 4">
            <a:extLst>
              <a:ext uri="{FF2B5EF4-FFF2-40B4-BE49-F238E27FC236}">
                <a16:creationId xmlns:a16="http://schemas.microsoft.com/office/drawing/2014/main" id="{AD264174-7A92-1538-7AB4-C1212E4D2521}"/>
              </a:ext>
            </a:extLst>
          </p:cNvPr>
          <p:cNvSpPr txBox="1"/>
          <p:nvPr/>
        </p:nvSpPr>
        <p:spPr>
          <a:xfrm>
            <a:off x="701040" y="1956020"/>
            <a:ext cx="6232796" cy="830997"/>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none" rtlCol="0">
            <a:spAutoFit/>
          </a:bodyPr>
          <a:lstStyle/>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 = </a:t>
            </a:r>
            <a:r>
              <a:rPr lang="en-US" sz="1600" dirty="0">
                <a:solidFill>
                  <a:srgbClr val="B42419"/>
                </a:solidFill>
                <a:effectLst/>
                <a:latin typeface="Menlo" panose="020B0609030804020204" pitchFamily="49" charset="0"/>
              </a:rPr>
              <a:t>7</a:t>
            </a:r>
            <a:r>
              <a:rPr lang="en-US" sz="1600" dirty="0">
                <a:solidFill>
                  <a:srgbClr val="000000"/>
                </a:solidFill>
                <a:effectLst/>
                <a:latin typeface="Menlo" panose="020B0609030804020204" pitchFamily="49" charset="0"/>
              </a:rPr>
              <a:t>, b = </a:t>
            </a:r>
            <a:r>
              <a:rPr lang="en-US" sz="1600" dirty="0">
                <a:solidFill>
                  <a:srgbClr val="B42419"/>
                </a:solidFill>
                <a:effectLst/>
                <a:latin typeface="Menlo" panose="020B0609030804020204" pitchFamily="49" charset="0"/>
              </a:rPr>
              <a:t>7</a:t>
            </a:r>
            <a:r>
              <a:rPr lang="en-US" sz="1600" dirty="0">
                <a:solidFill>
                  <a:srgbClr val="000000"/>
                </a:solidFill>
                <a:effectLst/>
                <a:latin typeface="Menlo" panose="020B0609030804020204" pitchFamily="49" charset="0"/>
              </a:rPr>
              <a:t>, c = </a:t>
            </a:r>
            <a:r>
              <a:rPr lang="en-US" sz="1600" dirty="0" err="1">
                <a:solidFill>
                  <a:srgbClr val="000000"/>
                </a:solidFill>
                <a:effectLst/>
                <a:latin typeface="Menlo" panose="020B0609030804020204" pitchFamily="49" charset="0"/>
              </a:rPr>
              <a:t>a+b</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*ap = &amp;a, *bp = &amp;b, *cp = &amp;c;</a:t>
            </a:r>
          </a:p>
          <a:p>
            <a:r>
              <a:rPr lang="en-US" sz="1600" dirty="0">
                <a:solidFill>
                  <a:srgbClr val="000000"/>
                </a:solidFill>
                <a:effectLst/>
                <a:latin typeface="Menlo" panose="020B0609030804020204" pitchFamily="49" charset="0"/>
              </a:rPr>
              <a:t>  </a:t>
            </a:r>
            <a:r>
              <a:rPr lang="en-US" sz="1600" dirty="0">
                <a:solidFill>
                  <a:srgbClr val="400BD9"/>
                </a:solidFill>
                <a:effectLst/>
                <a:latin typeface="Menlo" panose="020B0609030804020204" pitchFamily="49" charset="0"/>
              </a:rPr>
              <a:t>//Note: must place * before each variable name.</a:t>
            </a:r>
          </a:p>
        </p:txBody>
      </p:sp>
      <p:sp>
        <p:nvSpPr>
          <p:cNvPr id="7" name="TextBox 6">
            <a:extLst>
              <a:ext uri="{FF2B5EF4-FFF2-40B4-BE49-F238E27FC236}">
                <a16:creationId xmlns:a16="http://schemas.microsoft.com/office/drawing/2014/main" id="{F625AC52-8C66-94C5-C635-75DF76CD86C9}"/>
              </a:ext>
            </a:extLst>
          </p:cNvPr>
          <p:cNvSpPr txBox="1"/>
          <p:nvPr/>
        </p:nvSpPr>
        <p:spPr>
          <a:xfrm>
            <a:off x="1176528" y="2981359"/>
            <a:ext cx="3611694" cy="400110"/>
          </a:xfrm>
          <a:prstGeom prst="rect">
            <a:avLst/>
          </a:prstGeom>
          <a:noFill/>
        </p:spPr>
        <p:txBody>
          <a:bodyPr wrap="none" rtlCol="0">
            <a:spAutoFit/>
          </a:bodyPr>
          <a:lstStyle/>
          <a:p>
            <a:r>
              <a:rPr lang="en-US" sz="2000" dirty="0"/>
              <a:t>Which of the following are true? </a:t>
            </a:r>
          </a:p>
        </p:txBody>
      </p:sp>
      <p:sp>
        <p:nvSpPr>
          <p:cNvPr id="3" name="TextBox 2">
            <a:extLst>
              <a:ext uri="{FF2B5EF4-FFF2-40B4-BE49-F238E27FC236}">
                <a16:creationId xmlns:a16="http://schemas.microsoft.com/office/drawing/2014/main" id="{DEAE77AB-B624-1F8F-B4B6-6B691480BC03}"/>
              </a:ext>
            </a:extLst>
          </p:cNvPr>
          <p:cNvSpPr txBox="1"/>
          <p:nvPr/>
        </p:nvSpPr>
        <p:spPr>
          <a:xfrm>
            <a:off x="2578690" y="5695711"/>
            <a:ext cx="3517310" cy="830997"/>
          </a:xfrm>
          <a:prstGeom prst="rect">
            <a:avLst/>
          </a:prstGeom>
          <a:noFill/>
        </p:spPr>
        <p:txBody>
          <a:bodyPr wrap="none" rtlCol="0">
            <a:spAutoFit/>
          </a:bodyPr>
          <a:lstStyle/>
          <a:p>
            <a:r>
              <a:rPr lang="en-US" sz="1600" dirty="0">
                <a:solidFill>
                  <a:srgbClr val="000000"/>
                </a:solidFill>
                <a:effectLst/>
                <a:latin typeface="Menlo" panose="020B0609030804020204" pitchFamily="49" charset="0"/>
              </a:rPr>
              <a:t>a: 7, address: 0x16f23b618</a:t>
            </a:r>
          </a:p>
          <a:p>
            <a:r>
              <a:rPr lang="en-US" sz="1600" dirty="0">
                <a:solidFill>
                  <a:srgbClr val="000000"/>
                </a:solidFill>
                <a:effectLst/>
                <a:latin typeface="Menlo" panose="020B0609030804020204" pitchFamily="49" charset="0"/>
              </a:rPr>
              <a:t>b: 7, address: 0x16f23b614</a:t>
            </a:r>
          </a:p>
          <a:p>
            <a:r>
              <a:rPr lang="en-US" sz="1600" dirty="0">
                <a:solidFill>
                  <a:srgbClr val="000000"/>
                </a:solidFill>
                <a:effectLst/>
                <a:latin typeface="Menlo" panose="020B0609030804020204" pitchFamily="49" charset="0"/>
              </a:rPr>
              <a:t>c: 14, address: 0x16f23b610</a:t>
            </a:r>
          </a:p>
        </p:txBody>
      </p:sp>
      <p:sp>
        <p:nvSpPr>
          <p:cNvPr id="10" name="TextBox 9">
            <a:extLst>
              <a:ext uri="{FF2B5EF4-FFF2-40B4-BE49-F238E27FC236}">
                <a16:creationId xmlns:a16="http://schemas.microsoft.com/office/drawing/2014/main" id="{C8EA6675-13D8-CBF5-0422-490A70D2614E}"/>
              </a:ext>
            </a:extLst>
          </p:cNvPr>
          <p:cNvSpPr txBox="1"/>
          <p:nvPr/>
        </p:nvSpPr>
        <p:spPr>
          <a:xfrm>
            <a:off x="701040" y="4761307"/>
            <a:ext cx="5121915" cy="830997"/>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none" rtlCol="0">
            <a:spAutoFit/>
          </a:bodyPr>
          <a:lstStyle/>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"a: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address: </a:t>
            </a:r>
            <a:r>
              <a:rPr lang="en-US" sz="1600" dirty="0">
                <a:solidFill>
                  <a:srgbClr val="C814C9"/>
                </a:solidFill>
                <a:effectLst/>
                <a:latin typeface="Menlo" panose="020B0609030804020204" pitchFamily="49" charset="0"/>
              </a:rPr>
              <a:t>%p\n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 ap);</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"b: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address: </a:t>
            </a:r>
            <a:r>
              <a:rPr lang="en-US" sz="1600" dirty="0">
                <a:solidFill>
                  <a:srgbClr val="C814C9"/>
                </a:solidFill>
                <a:effectLst/>
                <a:latin typeface="Menlo" panose="020B0609030804020204" pitchFamily="49" charset="0"/>
              </a:rPr>
              <a:t>%p\n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b, bp);</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"c: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address: </a:t>
            </a:r>
            <a:r>
              <a:rPr lang="en-US" sz="1600" dirty="0">
                <a:solidFill>
                  <a:srgbClr val="C814C9"/>
                </a:solidFill>
                <a:effectLst/>
                <a:latin typeface="Menlo" panose="020B0609030804020204" pitchFamily="49" charset="0"/>
              </a:rPr>
              <a:t>%p\n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c, cp);</a:t>
            </a:r>
          </a:p>
        </p:txBody>
      </p:sp>
      <p:grpSp>
        <p:nvGrpSpPr>
          <p:cNvPr id="11" name="Group 10">
            <a:extLst>
              <a:ext uri="{FF2B5EF4-FFF2-40B4-BE49-F238E27FC236}">
                <a16:creationId xmlns:a16="http://schemas.microsoft.com/office/drawing/2014/main" id="{3E46DDFA-9FA9-928A-4588-9357A678298B}"/>
              </a:ext>
            </a:extLst>
          </p:cNvPr>
          <p:cNvGrpSpPr/>
          <p:nvPr/>
        </p:nvGrpSpPr>
        <p:grpSpPr>
          <a:xfrm>
            <a:off x="6599090" y="4678811"/>
            <a:ext cx="896130" cy="2033799"/>
            <a:chOff x="7211641" y="2964924"/>
            <a:chExt cx="896130" cy="2033799"/>
          </a:xfrm>
        </p:grpSpPr>
        <p:sp>
          <p:nvSpPr>
            <p:cNvPr id="12" name="Rectangle 11">
              <a:extLst>
                <a:ext uri="{FF2B5EF4-FFF2-40B4-BE49-F238E27FC236}">
                  <a16:creationId xmlns:a16="http://schemas.microsoft.com/office/drawing/2014/main" id="{29BBF472-0063-3DD8-1F53-93B3D7CCE28B}"/>
                </a:ext>
              </a:extLst>
            </p:cNvPr>
            <p:cNvSpPr/>
            <p:nvPr/>
          </p:nvSpPr>
          <p:spPr>
            <a:xfrm>
              <a:off x="7211641" y="2964924"/>
              <a:ext cx="896130" cy="20337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C2F6D1CF-14FA-F265-E3B7-72A8255B2F2F}"/>
                </a:ext>
              </a:extLst>
            </p:cNvPr>
            <p:cNvSpPr txBox="1"/>
            <p:nvPr/>
          </p:nvSpPr>
          <p:spPr>
            <a:xfrm rot="5400000">
              <a:off x="7460773" y="4441247"/>
              <a:ext cx="397866" cy="461665"/>
            </a:xfrm>
            <a:prstGeom prst="rect">
              <a:avLst/>
            </a:prstGeom>
            <a:noFill/>
          </p:spPr>
          <p:txBody>
            <a:bodyPr wrap="none" rtlCol="0">
              <a:spAutoFit/>
            </a:bodyPr>
            <a:lstStyle/>
            <a:p>
              <a:r>
                <a:rPr lang="en-US" sz="2400" dirty="0"/>
                <a:t>…</a:t>
              </a:r>
            </a:p>
          </p:txBody>
        </p:sp>
        <p:sp>
          <p:nvSpPr>
            <p:cNvPr id="14" name="TextBox 13">
              <a:extLst>
                <a:ext uri="{FF2B5EF4-FFF2-40B4-BE49-F238E27FC236}">
                  <a16:creationId xmlns:a16="http://schemas.microsoft.com/office/drawing/2014/main" id="{AEDF81E6-3E11-5470-4FEB-9D423827F3A1}"/>
                </a:ext>
              </a:extLst>
            </p:cNvPr>
            <p:cNvSpPr txBox="1"/>
            <p:nvPr/>
          </p:nvSpPr>
          <p:spPr>
            <a:xfrm rot="5400000">
              <a:off x="7464004" y="2990901"/>
              <a:ext cx="397866" cy="461665"/>
            </a:xfrm>
            <a:prstGeom prst="rect">
              <a:avLst/>
            </a:prstGeom>
            <a:noFill/>
          </p:spPr>
          <p:txBody>
            <a:bodyPr wrap="none" rtlCol="0">
              <a:spAutoFit/>
            </a:bodyPr>
            <a:lstStyle/>
            <a:p>
              <a:r>
                <a:rPr lang="en-US" sz="2400" dirty="0"/>
                <a:t>…</a:t>
              </a:r>
            </a:p>
          </p:txBody>
        </p:sp>
      </p:grpSp>
      <p:sp>
        <p:nvSpPr>
          <p:cNvPr id="15" name="Rectangle 14">
            <a:extLst>
              <a:ext uri="{FF2B5EF4-FFF2-40B4-BE49-F238E27FC236}">
                <a16:creationId xmlns:a16="http://schemas.microsoft.com/office/drawing/2014/main" id="{BBE36B9B-86C5-C2C3-B49D-2948383CE7E3}"/>
              </a:ext>
            </a:extLst>
          </p:cNvPr>
          <p:cNvSpPr/>
          <p:nvPr/>
        </p:nvSpPr>
        <p:spPr>
          <a:xfrm>
            <a:off x="6599091" y="5187487"/>
            <a:ext cx="896129" cy="2480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7</a:t>
            </a:r>
          </a:p>
        </p:txBody>
      </p:sp>
      <p:sp>
        <p:nvSpPr>
          <p:cNvPr id="16" name="Rectangle 15">
            <a:extLst>
              <a:ext uri="{FF2B5EF4-FFF2-40B4-BE49-F238E27FC236}">
                <a16:creationId xmlns:a16="http://schemas.microsoft.com/office/drawing/2014/main" id="{4419BE12-0D20-A393-9955-F4ECFED10C3B}"/>
              </a:ext>
            </a:extLst>
          </p:cNvPr>
          <p:cNvSpPr/>
          <p:nvPr/>
        </p:nvSpPr>
        <p:spPr>
          <a:xfrm>
            <a:off x="6599091" y="5430271"/>
            <a:ext cx="896129" cy="2480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7</a:t>
            </a:r>
          </a:p>
        </p:txBody>
      </p:sp>
      <p:sp>
        <p:nvSpPr>
          <p:cNvPr id="17" name="Rectangle 16">
            <a:extLst>
              <a:ext uri="{FF2B5EF4-FFF2-40B4-BE49-F238E27FC236}">
                <a16:creationId xmlns:a16="http://schemas.microsoft.com/office/drawing/2014/main" id="{53BE3749-9935-A00B-0FD5-698CFEC103CA}"/>
              </a:ext>
            </a:extLst>
          </p:cNvPr>
          <p:cNvSpPr/>
          <p:nvPr/>
        </p:nvSpPr>
        <p:spPr>
          <a:xfrm>
            <a:off x="6599091" y="5678841"/>
            <a:ext cx="896129" cy="2480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14</a:t>
            </a:r>
          </a:p>
        </p:txBody>
      </p:sp>
      <p:sp>
        <p:nvSpPr>
          <p:cNvPr id="18" name="TextBox 17">
            <a:extLst>
              <a:ext uri="{FF2B5EF4-FFF2-40B4-BE49-F238E27FC236}">
                <a16:creationId xmlns:a16="http://schemas.microsoft.com/office/drawing/2014/main" id="{39FCD7B1-BD2F-48E1-68B8-AB863EDDEC55}"/>
              </a:ext>
            </a:extLst>
          </p:cNvPr>
          <p:cNvSpPr txBox="1"/>
          <p:nvPr/>
        </p:nvSpPr>
        <p:spPr>
          <a:xfrm>
            <a:off x="6546663" y="4231535"/>
            <a:ext cx="1078821" cy="400110"/>
          </a:xfrm>
          <a:prstGeom prst="rect">
            <a:avLst/>
          </a:prstGeom>
          <a:noFill/>
        </p:spPr>
        <p:txBody>
          <a:bodyPr wrap="none" rtlCol="0">
            <a:spAutoFit/>
          </a:bodyPr>
          <a:lstStyle/>
          <a:p>
            <a:r>
              <a:rPr lang="en-US" sz="2000" dirty="0"/>
              <a:t>Memory</a:t>
            </a:r>
          </a:p>
        </p:txBody>
      </p:sp>
      <p:sp>
        <p:nvSpPr>
          <p:cNvPr id="19" name="TextBox 18">
            <a:extLst>
              <a:ext uri="{FF2B5EF4-FFF2-40B4-BE49-F238E27FC236}">
                <a16:creationId xmlns:a16="http://schemas.microsoft.com/office/drawing/2014/main" id="{9F94C649-DFA2-2AD4-4D07-BDDCE87ABB8D}"/>
              </a:ext>
            </a:extLst>
          </p:cNvPr>
          <p:cNvSpPr txBox="1"/>
          <p:nvPr/>
        </p:nvSpPr>
        <p:spPr>
          <a:xfrm>
            <a:off x="7497273" y="6450116"/>
            <a:ext cx="2186111" cy="369332"/>
          </a:xfrm>
          <a:prstGeom prst="rect">
            <a:avLst/>
          </a:prstGeom>
          <a:noFill/>
        </p:spPr>
        <p:txBody>
          <a:bodyPr wrap="none" rtlCol="0">
            <a:spAutoFit/>
          </a:bodyPr>
          <a:lstStyle/>
          <a:p>
            <a:r>
              <a:rPr lang="en-US" dirty="0"/>
              <a:t>Low address (</a:t>
            </a:r>
            <a:r>
              <a:rPr lang="en-US" sz="1400" dirty="0">
                <a:latin typeface="Menlo" panose="020B0609030804020204" pitchFamily="49" charset="0"/>
                <a:ea typeface="Menlo" panose="020B0609030804020204" pitchFamily="49" charset="0"/>
                <a:cs typeface="Menlo" panose="020B0609030804020204" pitchFamily="49" charset="0"/>
              </a:rPr>
              <a:t>000…00</a:t>
            </a:r>
            <a:r>
              <a:rPr lang="en-US" dirty="0"/>
              <a:t>)</a:t>
            </a:r>
          </a:p>
        </p:txBody>
      </p:sp>
      <p:sp>
        <p:nvSpPr>
          <p:cNvPr id="20" name="TextBox 19">
            <a:extLst>
              <a:ext uri="{FF2B5EF4-FFF2-40B4-BE49-F238E27FC236}">
                <a16:creationId xmlns:a16="http://schemas.microsoft.com/office/drawing/2014/main" id="{80B04603-D9E9-FAD5-A91E-3FE4A5712D81}"/>
              </a:ext>
            </a:extLst>
          </p:cNvPr>
          <p:cNvSpPr txBox="1"/>
          <p:nvPr/>
        </p:nvSpPr>
        <p:spPr>
          <a:xfrm>
            <a:off x="7586569" y="4494145"/>
            <a:ext cx="2230291" cy="369332"/>
          </a:xfrm>
          <a:prstGeom prst="rect">
            <a:avLst/>
          </a:prstGeom>
          <a:noFill/>
        </p:spPr>
        <p:txBody>
          <a:bodyPr wrap="none" rtlCol="0">
            <a:spAutoFit/>
          </a:bodyPr>
          <a:lstStyle/>
          <a:p>
            <a:r>
              <a:rPr lang="en-US" dirty="0"/>
              <a:t>High address (</a:t>
            </a:r>
            <a:r>
              <a:rPr lang="en-US" sz="1400" dirty="0" err="1">
                <a:latin typeface="Menlo" panose="020B0609030804020204" pitchFamily="49" charset="0"/>
                <a:ea typeface="Menlo" panose="020B0609030804020204" pitchFamily="49" charset="0"/>
                <a:cs typeface="Menlo" panose="020B0609030804020204" pitchFamily="49" charset="0"/>
              </a:rPr>
              <a:t>fff</a:t>
            </a:r>
            <a:r>
              <a:rPr lang="en-US" sz="1400" dirty="0">
                <a:latin typeface="Menlo" panose="020B0609030804020204" pitchFamily="49" charset="0"/>
                <a:ea typeface="Menlo" panose="020B0609030804020204" pitchFamily="49" charset="0"/>
                <a:cs typeface="Menlo" panose="020B0609030804020204" pitchFamily="49" charset="0"/>
              </a:rPr>
              <a:t>…ff</a:t>
            </a:r>
            <a:r>
              <a:rPr lang="en-US" dirty="0"/>
              <a:t>)</a:t>
            </a:r>
          </a:p>
        </p:txBody>
      </p:sp>
      <p:grpSp>
        <p:nvGrpSpPr>
          <p:cNvPr id="21" name="Group 20">
            <a:extLst>
              <a:ext uri="{FF2B5EF4-FFF2-40B4-BE49-F238E27FC236}">
                <a16:creationId xmlns:a16="http://schemas.microsoft.com/office/drawing/2014/main" id="{5C8E827D-20CB-4AE6-9C72-65C037F561CB}"/>
              </a:ext>
            </a:extLst>
          </p:cNvPr>
          <p:cNvGrpSpPr/>
          <p:nvPr/>
        </p:nvGrpSpPr>
        <p:grpSpPr>
          <a:xfrm flipV="1">
            <a:off x="6051885" y="5292655"/>
            <a:ext cx="547205" cy="1097283"/>
            <a:chOff x="7289800" y="3715700"/>
            <a:chExt cx="1365086" cy="1289157"/>
          </a:xfrm>
        </p:grpSpPr>
        <p:cxnSp>
          <p:nvCxnSpPr>
            <p:cNvPr id="22" name="Straight Arrow Connector 21">
              <a:extLst>
                <a:ext uri="{FF2B5EF4-FFF2-40B4-BE49-F238E27FC236}">
                  <a16:creationId xmlns:a16="http://schemas.microsoft.com/office/drawing/2014/main" id="{8AAD71B5-4AE7-F0AD-693E-798C007240B5}"/>
                </a:ext>
              </a:extLst>
            </p:cNvPr>
            <p:cNvCxnSpPr>
              <a:cxnSpLocks/>
            </p:cNvCxnSpPr>
            <p:nvPr/>
          </p:nvCxnSpPr>
          <p:spPr>
            <a:xfrm>
              <a:off x="7289800" y="3715700"/>
              <a:ext cx="1365086" cy="638773"/>
            </a:xfrm>
            <a:prstGeom prst="straightConnector1">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FAAE8A56-4107-157F-A0AF-8D4A6D7827C0}"/>
                </a:ext>
              </a:extLst>
            </p:cNvPr>
            <p:cNvCxnSpPr>
              <a:cxnSpLocks/>
            </p:cNvCxnSpPr>
            <p:nvPr/>
          </p:nvCxnSpPr>
          <p:spPr>
            <a:xfrm>
              <a:off x="7289800" y="4047181"/>
              <a:ext cx="1365086" cy="615375"/>
            </a:xfrm>
            <a:prstGeom prst="straightConnector1">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61BDBE1A-6F31-DFA4-4BB9-0770CA1AA15B}"/>
                </a:ext>
              </a:extLst>
            </p:cNvPr>
            <p:cNvCxnSpPr>
              <a:cxnSpLocks/>
            </p:cNvCxnSpPr>
            <p:nvPr/>
          </p:nvCxnSpPr>
          <p:spPr>
            <a:xfrm>
              <a:off x="7289800" y="4389482"/>
              <a:ext cx="1365086" cy="615375"/>
            </a:xfrm>
            <a:prstGeom prst="straightConnector1">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grpSp>
      <p:sp>
        <p:nvSpPr>
          <p:cNvPr id="25" name="TextBox 24">
            <a:extLst>
              <a:ext uri="{FF2B5EF4-FFF2-40B4-BE49-F238E27FC236}">
                <a16:creationId xmlns:a16="http://schemas.microsoft.com/office/drawing/2014/main" id="{8E071E87-5763-8FDC-801E-CE5125B73584}"/>
              </a:ext>
            </a:extLst>
          </p:cNvPr>
          <p:cNvSpPr txBox="1"/>
          <p:nvPr/>
        </p:nvSpPr>
        <p:spPr>
          <a:xfrm>
            <a:off x="6326581" y="3618626"/>
            <a:ext cx="4750265" cy="400110"/>
          </a:xfrm>
          <a:prstGeom prst="rect">
            <a:avLst/>
          </a:prstGeom>
          <a:noFill/>
        </p:spPr>
        <p:txBody>
          <a:bodyPr wrap="square" rtlCol="0">
            <a:spAutoFit/>
          </a:bodyPr>
          <a:lstStyle/>
          <a:p>
            <a:r>
              <a:rPr lang="en-US" sz="2000" b="1" i="1" dirty="0"/>
              <a:t>Q: Why do the addresses have gaps of 4?</a:t>
            </a:r>
          </a:p>
        </p:txBody>
      </p:sp>
      <p:sp>
        <p:nvSpPr>
          <p:cNvPr id="26" name="TextBox 25">
            <a:extLst>
              <a:ext uri="{FF2B5EF4-FFF2-40B4-BE49-F238E27FC236}">
                <a16:creationId xmlns:a16="http://schemas.microsoft.com/office/drawing/2014/main" id="{1033A090-B0B6-3B60-3805-D873FEC2F71A}"/>
              </a:ext>
            </a:extLst>
          </p:cNvPr>
          <p:cNvSpPr txBox="1"/>
          <p:nvPr/>
        </p:nvSpPr>
        <p:spPr>
          <a:xfrm>
            <a:off x="1176528" y="3336608"/>
            <a:ext cx="1021433" cy="369332"/>
          </a:xfrm>
          <a:prstGeom prst="rect">
            <a:avLst/>
          </a:prstGeom>
          <a:noFill/>
        </p:spPr>
        <p:txBody>
          <a:bodyPr wrap="none" rtlCol="0">
            <a:spAutoFit/>
          </a:bodyPr>
          <a:lstStyle/>
          <a:p>
            <a:r>
              <a:rPr lang="en-US" dirty="0">
                <a:latin typeface="Menlo" panose="020B0609030804020204" pitchFamily="49" charset="0"/>
                <a:ea typeface="Menlo" panose="020B0609030804020204" pitchFamily="49" charset="0"/>
                <a:cs typeface="Menlo" panose="020B0609030804020204" pitchFamily="49" charset="0"/>
              </a:rPr>
              <a:t>a == b</a:t>
            </a:r>
          </a:p>
        </p:txBody>
      </p:sp>
      <p:sp>
        <p:nvSpPr>
          <p:cNvPr id="28" name="TextBox 27">
            <a:extLst>
              <a:ext uri="{FF2B5EF4-FFF2-40B4-BE49-F238E27FC236}">
                <a16:creationId xmlns:a16="http://schemas.microsoft.com/office/drawing/2014/main" id="{DF760453-EFB1-97BB-D48E-CE4927C890B0}"/>
              </a:ext>
            </a:extLst>
          </p:cNvPr>
          <p:cNvSpPr txBox="1"/>
          <p:nvPr/>
        </p:nvSpPr>
        <p:spPr>
          <a:xfrm>
            <a:off x="2803807" y="3336608"/>
            <a:ext cx="742511" cy="369332"/>
          </a:xfrm>
          <a:prstGeom prst="rect">
            <a:avLst/>
          </a:prstGeom>
          <a:noFill/>
        </p:spPr>
        <p:txBody>
          <a:bodyPr wrap="none" rtlCol="0">
            <a:spAutoFit/>
          </a:bodyPr>
          <a:lstStyle/>
          <a:p>
            <a:r>
              <a:rPr lang="en-US" dirty="0">
                <a:latin typeface="Menlo" panose="020B0609030804020204" pitchFamily="49" charset="0"/>
                <a:ea typeface="Menlo" panose="020B0609030804020204" pitchFamily="49" charset="0"/>
                <a:cs typeface="Menlo" panose="020B0609030804020204" pitchFamily="49" charset="0"/>
              </a:rPr>
              <a:t>True</a:t>
            </a:r>
          </a:p>
        </p:txBody>
      </p:sp>
      <p:sp>
        <p:nvSpPr>
          <p:cNvPr id="29" name="TextBox 28">
            <a:extLst>
              <a:ext uri="{FF2B5EF4-FFF2-40B4-BE49-F238E27FC236}">
                <a16:creationId xmlns:a16="http://schemas.microsoft.com/office/drawing/2014/main" id="{7BB4A3DC-263B-7421-6DF4-F959212D16C6}"/>
              </a:ext>
            </a:extLst>
          </p:cNvPr>
          <p:cNvSpPr txBox="1"/>
          <p:nvPr/>
        </p:nvSpPr>
        <p:spPr>
          <a:xfrm>
            <a:off x="1176528" y="3622882"/>
            <a:ext cx="1300356" cy="369332"/>
          </a:xfrm>
          <a:prstGeom prst="rect">
            <a:avLst/>
          </a:prstGeom>
          <a:noFill/>
        </p:spPr>
        <p:txBody>
          <a:bodyPr wrap="none" rtlCol="0">
            <a:spAutoFit/>
          </a:bodyPr>
          <a:lstStyle/>
          <a:p>
            <a:r>
              <a:rPr lang="en-US" dirty="0">
                <a:latin typeface="Menlo" panose="020B0609030804020204" pitchFamily="49" charset="0"/>
                <a:ea typeface="Menlo" panose="020B0609030804020204" pitchFamily="49" charset="0"/>
                <a:cs typeface="Menlo" panose="020B0609030804020204" pitchFamily="49" charset="0"/>
              </a:rPr>
              <a:t>ap == bp</a:t>
            </a:r>
          </a:p>
        </p:txBody>
      </p:sp>
      <p:sp>
        <p:nvSpPr>
          <p:cNvPr id="30" name="TextBox 29">
            <a:extLst>
              <a:ext uri="{FF2B5EF4-FFF2-40B4-BE49-F238E27FC236}">
                <a16:creationId xmlns:a16="http://schemas.microsoft.com/office/drawing/2014/main" id="{3D538F9F-6A63-5D64-77C6-73836A825C9A}"/>
              </a:ext>
            </a:extLst>
          </p:cNvPr>
          <p:cNvSpPr txBox="1"/>
          <p:nvPr/>
        </p:nvSpPr>
        <p:spPr>
          <a:xfrm>
            <a:off x="2803807" y="3622882"/>
            <a:ext cx="881973" cy="369332"/>
          </a:xfrm>
          <a:prstGeom prst="rect">
            <a:avLst/>
          </a:prstGeom>
          <a:noFill/>
        </p:spPr>
        <p:txBody>
          <a:bodyPr wrap="none" rtlCol="0">
            <a:spAutoFit/>
          </a:bodyPr>
          <a:lstStyle/>
          <a:p>
            <a:r>
              <a:rPr lang="en-US" dirty="0">
                <a:latin typeface="Menlo" panose="020B0609030804020204" pitchFamily="49" charset="0"/>
                <a:ea typeface="Menlo" panose="020B0609030804020204" pitchFamily="49" charset="0"/>
                <a:cs typeface="Menlo" panose="020B0609030804020204" pitchFamily="49" charset="0"/>
              </a:rPr>
              <a:t>False</a:t>
            </a:r>
          </a:p>
        </p:txBody>
      </p:sp>
      <p:sp>
        <p:nvSpPr>
          <p:cNvPr id="33" name="TextBox 32">
            <a:extLst>
              <a:ext uri="{FF2B5EF4-FFF2-40B4-BE49-F238E27FC236}">
                <a16:creationId xmlns:a16="http://schemas.microsoft.com/office/drawing/2014/main" id="{6412656A-61FF-76E6-7C3D-A1887B906459}"/>
              </a:ext>
            </a:extLst>
          </p:cNvPr>
          <p:cNvSpPr txBox="1"/>
          <p:nvPr/>
        </p:nvSpPr>
        <p:spPr>
          <a:xfrm>
            <a:off x="1176528" y="3919287"/>
            <a:ext cx="1300356" cy="369332"/>
          </a:xfrm>
          <a:prstGeom prst="rect">
            <a:avLst/>
          </a:prstGeom>
          <a:noFill/>
        </p:spPr>
        <p:txBody>
          <a:bodyPr wrap="none" rtlCol="0">
            <a:spAutoFit/>
          </a:bodyPr>
          <a:lstStyle/>
          <a:p>
            <a:r>
              <a:rPr lang="en-US" dirty="0">
                <a:latin typeface="Menlo" panose="020B0609030804020204" pitchFamily="49" charset="0"/>
                <a:ea typeface="Menlo" panose="020B0609030804020204" pitchFamily="49" charset="0"/>
                <a:cs typeface="Menlo" panose="020B0609030804020204" pitchFamily="49" charset="0"/>
              </a:rPr>
              <a:t>ap == cp</a:t>
            </a:r>
          </a:p>
        </p:txBody>
      </p:sp>
      <p:sp>
        <p:nvSpPr>
          <p:cNvPr id="34" name="TextBox 33">
            <a:extLst>
              <a:ext uri="{FF2B5EF4-FFF2-40B4-BE49-F238E27FC236}">
                <a16:creationId xmlns:a16="http://schemas.microsoft.com/office/drawing/2014/main" id="{F22C6449-8FB9-EA33-D0E1-53A0E8F41185}"/>
              </a:ext>
            </a:extLst>
          </p:cNvPr>
          <p:cNvSpPr txBox="1"/>
          <p:nvPr/>
        </p:nvSpPr>
        <p:spPr>
          <a:xfrm>
            <a:off x="2803807" y="3919287"/>
            <a:ext cx="881973" cy="369332"/>
          </a:xfrm>
          <a:prstGeom prst="rect">
            <a:avLst/>
          </a:prstGeom>
          <a:noFill/>
        </p:spPr>
        <p:txBody>
          <a:bodyPr wrap="none" rtlCol="0">
            <a:spAutoFit/>
          </a:bodyPr>
          <a:lstStyle/>
          <a:p>
            <a:r>
              <a:rPr lang="en-US" dirty="0">
                <a:latin typeface="Menlo" panose="020B0609030804020204" pitchFamily="49" charset="0"/>
                <a:ea typeface="Menlo" panose="020B0609030804020204" pitchFamily="49" charset="0"/>
                <a:cs typeface="Menlo" panose="020B0609030804020204" pitchFamily="49" charset="0"/>
              </a:rPr>
              <a:t>False</a:t>
            </a:r>
          </a:p>
        </p:txBody>
      </p:sp>
      <p:sp>
        <p:nvSpPr>
          <p:cNvPr id="35" name="TextBox 34">
            <a:extLst>
              <a:ext uri="{FF2B5EF4-FFF2-40B4-BE49-F238E27FC236}">
                <a16:creationId xmlns:a16="http://schemas.microsoft.com/office/drawing/2014/main" id="{5A7B339A-55B7-FA76-1058-8B2B99144372}"/>
              </a:ext>
            </a:extLst>
          </p:cNvPr>
          <p:cNvSpPr txBox="1"/>
          <p:nvPr/>
        </p:nvSpPr>
        <p:spPr>
          <a:xfrm>
            <a:off x="1176528" y="4231535"/>
            <a:ext cx="1579278" cy="369332"/>
          </a:xfrm>
          <a:prstGeom prst="rect">
            <a:avLst/>
          </a:prstGeom>
          <a:noFill/>
        </p:spPr>
        <p:txBody>
          <a:bodyPr wrap="none" rtlCol="0">
            <a:spAutoFit/>
          </a:bodyPr>
          <a:lstStyle/>
          <a:p>
            <a:r>
              <a:rPr lang="en-US" dirty="0">
                <a:latin typeface="Menlo" panose="020B0609030804020204" pitchFamily="49" charset="0"/>
                <a:ea typeface="Menlo" panose="020B0609030804020204" pitchFamily="49" charset="0"/>
                <a:cs typeface="Menlo" panose="020B0609030804020204" pitchFamily="49" charset="0"/>
              </a:rPr>
              <a:t>*ap == *bp</a:t>
            </a:r>
          </a:p>
        </p:txBody>
      </p:sp>
      <p:sp>
        <p:nvSpPr>
          <p:cNvPr id="36" name="TextBox 35">
            <a:extLst>
              <a:ext uri="{FF2B5EF4-FFF2-40B4-BE49-F238E27FC236}">
                <a16:creationId xmlns:a16="http://schemas.microsoft.com/office/drawing/2014/main" id="{CE4AFB39-B283-7DD8-DDCB-75D669E475F0}"/>
              </a:ext>
            </a:extLst>
          </p:cNvPr>
          <p:cNvSpPr txBox="1"/>
          <p:nvPr/>
        </p:nvSpPr>
        <p:spPr>
          <a:xfrm>
            <a:off x="2803807" y="4231535"/>
            <a:ext cx="742511" cy="369332"/>
          </a:xfrm>
          <a:prstGeom prst="rect">
            <a:avLst/>
          </a:prstGeom>
          <a:noFill/>
        </p:spPr>
        <p:txBody>
          <a:bodyPr wrap="none" rtlCol="0">
            <a:spAutoFit/>
          </a:bodyPr>
          <a:lstStyle/>
          <a:p>
            <a:r>
              <a:rPr lang="en-US" dirty="0">
                <a:latin typeface="Menlo" panose="020B0609030804020204" pitchFamily="49" charset="0"/>
                <a:ea typeface="Menlo" panose="020B0609030804020204" pitchFamily="49" charset="0"/>
                <a:cs typeface="Menlo" panose="020B0609030804020204" pitchFamily="49" charset="0"/>
              </a:rPr>
              <a:t>True</a:t>
            </a:r>
          </a:p>
        </p:txBody>
      </p:sp>
    </p:spTree>
    <p:extLst>
      <p:ext uri="{BB962C8B-B14F-4D97-AF65-F5344CB8AC3E}">
        <p14:creationId xmlns:p14="http://schemas.microsoft.com/office/powerpoint/2010/main" val="1832306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animBg="1"/>
      <p:bldP spid="15" grpId="0" animBg="1"/>
      <p:bldP spid="16" grpId="0" animBg="1"/>
      <p:bldP spid="17" grpId="0" animBg="1"/>
      <p:bldP spid="18" grpId="0"/>
      <p:bldP spid="19" grpId="0"/>
      <p:bldP spid="20" grpId="0"/>
      <p:bldP spid="25" grpId="0"/>
      <p:bldP spid="26" grpId="0"/>
      <p:bldP spid="28" grpId="0"/>
      <p:bldP spid="29" grpId="0"/>
      <p:bldP spid="30" grpId="0"/>
      <p:bldP spid="33" grpId="0"/>
      <p:bldP spid="34" grpId="0"/>
      <p:bldP spid="35" grpId="0"/>
      <p:bldP spid="3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6D491-BE18-0C0A-69FD-7C3227C3FA3E}"/>
              </a:ext>
            </a:extLst>
          </p:cNvPr>
          <p:cNvSpPr>
            <a:spLocks noGrp="1"/>
          </p:cNvSpPr>
          <p:nvPr>
            <p:ph type="title"/>
          </p:nvPr>
        </p:nvSpPr>
        <p:spPr/>
        <p:txBody>
          <a:bodyPr/>
          <a:lstStyle/>
          <a:p>
            <a:r>
              <a:rPr lang="en-US" dirty="0"/>
              <a:t>Pass-by-Value</a:t>
            </a:r>
          </a:p>
        </p:txBody>
      </p:sp>
      <p:sp>
        <p:nvSpPr>
          <p:cNvPr id="6" name="TextBox 5">
            <a:extLst>
              <a:ext uri="{FF2B5EF4-FFF2-40B4-BE49-F238E27FC236}">
                <a16:creationId xmlns:a16="http://schemas.microsoft.com/office/drawing/2014/main" id="{4DE67E90-3C6B-8E32-7804-1827EB3CD3C0}"/>
              </a:ext>
            </a:extLst>
          </p:cNvPr>
          <p:cNvSpPr txBox="1"/>
          <p:nvPr/>
        </p:nvSpPr>
        <p:spPr>
          <a:xfrm>
            <a:off x="462462" y="1505394"/>
            <a:ext cx="5562418" cy="4278094"/>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rtlCol="0">
            <a:spAutoFit/>
          </a:bodyPr>
          <a:lstStyle/>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stdio.h</a:t>
            </a:r>
            <a:r>
              <a:rPr lang="en-US" sz="1600" dirty="0">
                <a:solidFill>
                  <a:srgbClr val="B42419"/>
                </a:solidFill>
                <a:effectLst/>
                <a:latin typeface="Menlo" panose="020B0609030804020204" pitchFamily="49" charset="0"/>
              </a:rPr>
              <a:t>&gt;</a:t>
            </a:r>
            <a:endParaRPr lang="en-US" sz="1600" dirty="0">
              <a:solidFill>
                <a:srgbClr val="C814C9"/>
              </a:solidFill>
              <a:effectLst/>
              <a:latin typeface="Menlo" panose="020B0609030804020204" pitchFamily="49" charset="0"/>
            </a:endParaRPr>
          </a:p>
          <a:p>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void</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swapA</a:t>
            </a:r>
            <a:r>
              <a:rPr lang="en-US" sz="1600" dirty="0">
                <a:solidFill>
                  <a:srgbClr val="000000"/>
                </a:solidFill>
                <a:effectLst/>
                <a:latin typeface="Menlo" panose="020B0609030804020204" pitchFamily="49" charset="0"/>
              </a:rPr>
              <a:t>(</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x,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y){</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tmp</a:t>
            </a:r>
            <a:r>
              <a:rPr lang="en-US" sz="1600" dirty="0">
                <a:solidFill>
                  <a:srgbClr val="000000"/>
                </a:solidFill>
                <a:effectLst/>
                <a:latin typeface="Menlo" panose="020B0609030804020204" pitchFamily="49" charset="0"/>
              </a:rPr>
              <a:t>=x;</a:t>
            </a:r>
          </a:p>
          <a:p>
            <a:r>
              <a:rPr lang="en-US" sz="1600" dirty="0">
                <a:solidFill>
                  <a:srgbClr val="000000"/>
                </a:solidFill>
                <a:effectLst/>
                <a:latin typeface="Menlo" panose="020B0609030804020204" pitchFamily="49" charset="0"/>
              </a:rPr>
              <a:t>  x = y;</a:t>
            </a:r>
          </a:p>
          <a:p>
            <a:r>
              <a:rPr lang="en-US" sz="1600" dirty="0">
                <a:solidFill>
                  <a:srgbClr val="000000"/>
                </a:solidFill>
                <a:effectLst/>
                <a:latin typeface="Menlo" panose="020B0609030804020204" pitchFamily="49" charset="0"/>
              </a:rPr>
              <a:t>  y = </a:t>
            </a:r>
            <a:r>
              <a:rPr lang="en-US" sz="1600" dirty="0" err="1">
                <a:solidFill>
                  <a:srgbClr val="000000"/>
                </a:solidFill>
                <a:effectLst/>
                <a:latin typeface="Menlo" panose="020B0609030804020204" pitchFamily="49" charset="0"/>
              </a:rPr>
              <a:t>tmp</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"in </a:t>
            </a:r>
            <a:r>
              <a:rPr lang="en-US" sz="1600" dirty="0" err="1">
                <a:solidFill>
                  <a:srgbClr val="B42419"/>
                </a:solidFill>
                <a:effectLst/>
                <a:latin typeface="Menlo" panose="020B0609030804020204" pitchFamily="49" charset="0"/>
              </a:rPr>
              <a:t>swapA</a:t>
            </a:r>
            <a:r>
              <a:rPr lang="en-US" sz="1600" dirty="0">
                <a:solidFill>
                  <a:srgbClr val="B42419"/>
                </a:solidFill>
                <a:effectLst/>
                <a:latin typeface="Menlo" panose="020B0609030804020204" pitchFamily="49" charset="0"/>
              </a:rPr>
              <a:t>: x =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y = </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t>
            </a:r>
          </a:p>
          <a:p>
            <a:r>
              <a:rPr lang="en-US" sz="1600" dirty="0">
                <a:solidFill>
                  <a:srgbClr val="000000"/>
                </a:solidFill>
                <a:latin typeface="Menlo" panose="020B0609030804020204" pitchFamily="49" charset="0"/>
              </a:rPr>
              <a:t>	</a:t>
            </a:r>
            <a:r>
              <a:rPr lang="en-US" sz="1600" dirty="0">
                <a:solidFill>
                  <a:srgbClr val="000000"/>
                </a:solidFill>
                <a:effectLst/>
                <a:latin typeface="Menlo" panose="020B0609030804020204" pitchFamily="49" charset="0"/>
              </a:rPr>
              <a:t>x, y);</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p>
          <a:p>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main() {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 = </a:t>
            </a:r>
            <a:r>
              <a:rPr lang="en-US" sz="1600" dirty="0">
                <a:solidFill>
                  <a:srgbClr val="B42419"/>
                </a:solidFill>
                <a:effectLst/>
                <a:latin typeface="Menlo" panose="020B0609030804020204" pitchFamily="49" charset="0"/>
              </a:rPr>
              <a:t>7</a:t>
            </a:r>
            <a:r>
              <a:rPr lang="en-US" sz="1600" dirty="0">
                <a:solidFill>
                  <a:srgbClr val="000000"/>
                </a:solidFill>
                <a:effectLst/>
                <a:latin typeface="Menlo" panose="020B0609030804020204" pitchFamily="49" charset="0"/>
              </a:rPr>
              <a:t>, b = </a:t>
            </a:r>
            <a:r>
              <a:rPr lang="en-US" sz="1600" dirty="0">
                <a:solidFill>
                  <a:srgbClr val="B42419"/>
                </a:solidFill>
                <a:effectLst/>
                <a:latin typeface="Menlo" panose="020B0609030804020204" pitchFamily="49" charset="0"/>
              </a:rPr>
              <a:t>13</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swapA</a:t>
            </a:r>
            <a:r>
              <a:rPr lang="en-US" sz="1600" dirty="0">
                <a:solidFill>
                  <a:srgbClr val="000000"/>
                </a:solidFill>
                <a:effectLst/>
                <a:latin typeface="Menlo" panose="020B0609030804020204" pitchFamily="49" charset="0"/>
              </a:rPr>
              <a:t>(a, b);</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"in main: a =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b = </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t>
            </a:r>
          </a:p>
          <a:p>
            <a:r>
              <a:rPr lang="en-US" sz="1600" dirty="0">
                <a:solidFill>
                  <a:srgbClr val="000000"/>
                </a:solidFill>
                <a:latin typeface="Menlo" panose="020B0609030804020204" pitchFamily="49" charset="0"/>
              </a:rPr>
              <a:t>	</a:t>
            </a:r>
            <a:r>
              <a:rPr lang="en-US" sz="1600" dirty="0">
                <a:solidFill>
                  <a:srgbClr val="000000"/>
                </a:solidFill>
                <a:effectLst/>
                <a:latin typeface="Menlo" panose="020B0609030804020204" pitchFamily="49" charset="0"/>
              </a:rPr>
              <a:t>a, b);</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0</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a:t>
            </a:r>
          </a:p>
        </p:txBody>
      </p:sp>
      <p:sp>
        <p:nvSpPr>
          <p:cNvPr id="7" name="TextBox 6">
            <a:extLst>
              <a:ext uri="{FF2B5EF4-FFF2-40B4-BE49-F238E27FC236}">
                <a16:creationId xmlns:a16="http://schemas.microsoft.com/office/drawing/2014/main" id="{4191987C-4D18-C466-BD3E-F1EAA57D11E5}"/>
              </a:ext>
            </a:extLst>
          </p:cNvPr>
          <p:cNvSpPr txBox="1"/>
          <p:nvPr/>
        </p:nvSpPr>
        <p:spPr>
          <a:xfrm>
            <a:off x="6756400" y="1818640"/>
            <a:ext cx="3023585" cy="830997"/>
          </a:xfrm>
          <a:prstGeom prst="rect">
            <a:avLst/>
          </a:prstGeom>
          <a:noFill/>
        </p:spPr>
        <p:txBody>
          <a:bodyPr wrap="none" rtlCol="0">
            <a:spAutoFit/>
          </a:bodyPr>
          <a:lstStyle/>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a.out</a:t>
            </a:r>
            <a:r>
              <a:rPr lang="en-US" sz="1600" dirty="0">
                <a:solidFill>
                  <a:srgbClr val="000000"/>
                </a:solidFill>
                <a:effectLst/>
                <a:latin typeface="Menlo" panose="020B0609030804020204" pitchFamily="49" charset="0"/>
              </a:rPr>
              <a:t>      </a:t>
            </a:r>
          </a:p>
          <a:p>
            <a:r>
              <a:rPr lang="en-US" sz="1600" dirty="0">
                <a:solidFill>
                  <a:srgbClr val="000000"/>
                </a:solidFill>
                <a:effectLst/>
                <a:latin typeface="Menlo" panose="020B0609030804020204" pitchFamily="49" charset="0"/>
              </a:rPr>
              <a:t>in </a:t>
            </a:r>
            <a:r>
              <a:rPr lang="en-US" sz="1600" dirty="0" err="1">
                <a:solidFill>
                  <a:srgbClr val="000000"/>
                </a:solidFill>
                <a:effectLst/>
                <a:latin typeface="Menlo" panose="020B0609030804020204" pitchFamily="49" charset="0"/>
              </a:rPr>
              <a:t>swapA</a:t>
            </a:r>
            <a:r>
              <a:rPr lang="en-US" sz="1600" dirty="0">
                <a:solidFill>
                  <a:srgbClr val="000000"/>
                </a:solidFill>
                <a:effectLst/>
                <a:latin typeface="Menlo" panose="020B0609030804020204" pitchFamily="49" charset="0"/>
              </a:rPr>
              <a:t>: x = 13, y = 7</a:t>
            </a:r>
          </a:p>
          <a:p>
            <a:r>
              <a:rPr lang="en-US" sz="1600" dirty="0">
                <a:solidFill>
                  <a:srgbClr val="000000"/>
                </a:solidFill>
                <a:effectLst/>
                <a:latin typeface="Menlo" panose="020B0609030804020204" pitchFamily="49" charset="0"/>
              </a:rPr>
              <a:t>in main: a = 7, b = 13</a:t>
            </a:r>
          </a:p>
        </p:txBody>
      </p:sp>
      <p:sp>
        <p:nvSpPr>
          <p:cNvPr id="8" name="TextBox 7">
            <a:extLst>
              <a:ext uri="{FF2B5EF4-FFF2-40B4-BE49-F238E27FC236}">
                <a16:creationId xmlns:a16="http://schemas.microsoft.com/office/drawing/2014/main" id="{C3CF025D-B3CB-6C9A-0A38-17B44F069233}"/>
              </a:ext>
            </a:extLst>
          </p:cNvPr>
          <p:cNvSpPr txBox="1"/>
          <p:nvPr/>
        </p:nvSpPr>
        <p:spPr>
          <a:xfrm>
            <a:off x="6634480" y="1402080"/>
            <a:ext cx="931665" cy="400110"/>
          </a:xfrm>
          <a:prstGeom prst="rect">
            <a:avLst/>
          </a:prstGeom>
          <a:noFill/>
        </p:spPr>
        <p:txBody>
          <a:bodyPr wrap="none" rtlCol="0">
            <a:spAutoFit/>
          </a:bodyPr>
          <a:lstStyle/>
          <a:p>
            <a:r>
              <a:rPr lang="en-US" sz="2000" dirty="0"/>
              <a:t>Output</a:t>
            </a:r>
          </a:p>
        </p:txBody>
      </p:sp>
      <p:sp>
        <p:nvSpPr>
          <p:cNvPr id="9" name="TextBox 8">
            <a:extLst>
              <a:ext uri="{FF2B5EF4-FFF2-40B4-BE49-F238E27FC236}">
                <a16:creationId xmlns:a16="http://schemas.microsoft.com/office/drawing/2014/main" id="{93EC0AE1-DF96-7619-ED79-48C835BD8122}"/>
              </a:ext>
            </a:extLst>
          </p:cNvPr>
          <p:cNvSpPr txBox="1"/>
          <p:nvPr/>
        </p:nvSpPr>
        <p:spPr>
          <a:xfrm>
            <a:off x="6751320" y="2973753"/>
            <a:ext cx="4719320" cy="646331"/>
          </a:xfrm>
          <a:prstGeom prst="rect">
            <a:avLst/>
          </a:prstGeom>
          <a:noFill/>
        </p:spPr>
        <p:txBody>
          <a:bodyPr wrap="square" rtlCol="0">
            <a:spAutoFit/>
          </a:bodyPr>
          <a:lstStyle/>
          <a:p>
            <a:r>
              <a:rPr lang="en-US" dirty="0"/>
              <a:t>Parameters are local variables that are initialized to a copy of the arguments. </a:t>
            </a:r>
          </a:p>
        </p:txBody>
      </p:sp>
      <p:sp>
        <p:nvSpPr>
          <p:cNvPr id="10" name="TextBox 9">
            <a:extLst>
              <a:ext uri="{FF2B5EF4-FFF2-40B4-BE49-F238E27FC236}">
                <a16:creationId xmlns:a16="http://schemas.microsoft.com/office/drawing/2014/main" id="{7815F7FA-2FAF-382D-0363-D49CACDEA1D3}"/>
              </a:ext>
            </a:extLst>
          </p:cNvPr>
          <p:cNvSpPr txBox="1"/>
          <p:nvPr/>
        </p:nvSpPr>
        <p:spPr>
          <a:xfrm>
            <a:off x="6751320" y="3885585"/>
            <a:ext cx="4719320" cy="646331"/>
          </a:xfrm>
          <a:prstGeom prst="rect">
            <a:avLst/>
          </a:prstGeom>
          <a:noFill/>
        </p:spPr>
        <p:txBody>
          <a:bodyPr wrap="square" rtlCol="0">
            <a:spAutoFit/>
          </a:bodyPr>
          <a:lstStyle/>
          <a:p>
            <a:r>
              <a:rPr lang="en-US" dirty="0"/>
              <a:t>Changing a parameter does not change the independent copy in the calling function. </a:t>
            </a:r>
          </a:p>
        </p:txBody>
      </p:sp>
      <p:sp>
        <p:nvSpPr>
          <p:cNvPr id="11" name="TextBox 10">
            <a:extLst>
              <a:ext uri="{FF2B5EF4-FFF2-40B4-BE49-F238E27FC236}">
                <a16:creationId xmlns:a16="http://schemas.microsoft.com/office/drawing/2014/main" id="{0D02B85C-35A3-4010-33A8-6A0CAE795382}"/>
              </a:ext>
            </a:extLst>
          </p:cNvPr>
          <p:cNvSpPr txBox="1"/>
          <p:nvPr/>
        </p:nvSpPr>
        <p:spPr>
          <a:xfrm>
            <a:off x="6756400" y="4850462"/>
            <a:ext cx="4714240" cy="646331"/>
          </a:xfrm>
          <a:prstGeom prst="rect">
            <a:avLst/>
          </a:prstGeom>
          <a:noFill/>
        </p:spPr>
        <p:txBody>
          <a:bodyPr wrap="square" rtlCol="0">
            <a:spAutoFit/>
          </a:bodyPr>
          <a:lstStyle/>
          <a:p>
            <a:r>
              <a:rPr lang="en-US" dirty="0"/>
              <a:t>There are two copies of 7 and two copies of 13 in memory. </a:t>
            </a:r>
          </a:p>
        </p:txBody>
      </p:sp>
      <p:sp>
        <p:nvSpPr>
          <p:cNvPr id="13" name="Rectangle 12">
            <a:extLst>
              <a:ext uri="{FF2B5EF4-FFF2-40B4-BE49-F238E27FC236}">
                <a16:creationId xmlns:a16="http://schemas.microsoft.com/office/drawing/2014/main" id="{01F8CD3A-F739-EDA3-425C-448E8687E915}"/>
              </a:ext>
            </a:extLst>
          </p:cNvPr>
          <p:cNvSpPr/>
          <p:nvPr/>
        </p:nvSpPr>
        <p:spPr>
          <a:xfrm>
            <a:off x="3688079" y="3700918"/>
            <a:ext cx="741681" cy="369333"/>
          </a:xfrm>
          <a:prstGeom prst="rect">
            <a:avLst/>
          </a:prstGeom>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a=7</a:t>
            </a:r>
          </a:p>
        </p:txBody>
      </p:sp>
      <p:sp>
        <p:nvSpPr>
          <p:cNvPr id="30" name="Rectangle 29">
            <a:extLst>
              <a:ext uri="{FF2B5EF4-FFF2-40B4-BE49-F238E27FC236}">
                <a16:creationId xmlns:a16="http://schemas.microsoft.com/office/drawing/2014/main" id="{CC25D78A-736D-3A94-E069-73D0925E67C8}"/>
              </a:ext>
            </a:extLst>
          </p:cNvPr>
          <p:cNvSpPr/>
          <p:nvPr/>
        </p:nvSpPr>
        <p:spPr>
          <a:xfrm>
            <a:off x="4856116" y="3700918"/>
            <a:ext cx="741681" cy="369333"/>
          </a:xfrm>
          <a:prstGeom prst="rect">
            <a:avLst/>
          </a:prstGeom>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b=13</a:t>
            </a:r>
          </a:p>
        </p:txBody>
      </p:sp>
      <p:sp>
        <p:nvSpPr>
          <p:cNvPr id="31" name="Rectangle 30">
            <a:extLst>
              <a:ext uri="{FF2B5EF4-FFF2-40B4-BE49-F238E27FC236}">
                <a16:creationId xmlns:a16="http://schemas.microsoft.com/office/drawing/2014/main" id="{FF04F077-F172-4ABA-8509-F7ADE329C6BD}"/>
              </a:ext>
            </a:extLst>
          </p:cNvPr>
          <p:cNvSpPr/>
          <p:nvPr/>
        </p:nvSpPr>
        <p:spPr>
          <a:xfrm>
            <a:off x="3963125" y="1942956"/>
            <a:ext cx="741681" cy="369333"/>
          </a:xfrm>
          <a:prstGeom prst="rect">
            <a:avLst/>
          </a:prstGeom>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x=7</a:t>
            </a:r>
          </a:p>
        </p:txBody>
      </p:sp>
      <p:sp>
        <p:nvSpPr>
          <p:cNvPr id="32" name="Rectangle 31">
            <a:extLst>
              <a:ext uri="{FF2B5EF4-FFF2-40B4-BE49-F238E27FC236}">
                <a16:creationId xmlns:a16="http://schemas.microsoft.com/office/drawing/2014/main" id="{5C4AFE9E-FBD5-7AE1-B0E8-80325B08CFC8}"/>
              </a:ext>
            </a:extLst>
          </p:cNvPr>
          <p:cNvSpPr/>
          <p:nvPr/>
        </p:nvSpPr>
        <p:spPr>
          <a:xfrm>
            <a:off x="4938122" y="1942956"/>
            <a:ext cx="741681" cy="369333"/>
          </a:xfrm>
          <a:prstGeom prst="rect">
            <a:avLst/>
          </a:prstGeom>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y=13</a:t>
            </a:r>
          </a:p>
        </p:txBody>
      </p:sp>
      <p:sp>
        <p:nvSpPr>
          <p:cNvPr id="33" name="Rectangle 32">
            <a:extLst>
              <a:ext uri="{FF2B5EF4-FFF2-40B4-BE49-F238E27FC236}">
                <a16:creationId xmlns:a16="http://schemas.microsoft.com/office/drawing/2014/main" id="{72CB1A7B-B57A-2557-CC05-A9A3A33E23A5}"/>
              </a:ext>
            </a:extLst>
          </p:cNvPr>
          <p:cNvSpPr/>
          <p:nvPr/>
        </p:nvSpPr>
        <p:spPr>
          <a:xfrm>
            <a:off x="4486729" y="2418568"/>
            <a:ext cx="934721" cy="369333"/>
          </a:xfrm>
          <a:prstGeom prst="rect">
            <a:avLst/>
          </a:prstGeom>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err="1">
                <a:latin typeface="Menlo" panose="020B0609030804020204" pitchFamily="49" charset="0"/>
                <a:ea typeface="Menlo" panose="020B0609030804020204" pitchFamily="49" charset="0"/>
                <a:cs typeface="Menlo" panose="020B0609030804020204" pitchFamily="49" charset="0"/>
              </a:rPr>
              <a:t>tmp</a:t>
            </a:r>
            <a:r>
              <a:rPr lang="en-US" dirty="0">
                <a:latin typeface="Menlo" panose="020B0609030804020204" pitchFamily="49" charset="0"/>
                <a:ea typeface="Menlo" panose="020B0609030804020204" pitchFamily="49" charset="0"/>
                <a:cs typeface="Menlo" panose="020B0609030804020204" pitchFamily="49" charset="0"/>
              </a:rPr>
              <a:t>=7</a:t>
            </a:r>
          </a:p>
        </p:txBody>
      </p:sp>
      <p:sp>
        <p:nvSpPr>
          <p:cNvPr id="37" name="Rectangle 36">
            <a:extLst>
              <a:ext uri="{FF2B5EF4-FFF2-40B4-BE49-F238E27FC236}">
                <a16:creationId xmlns:a16="http://schemas.microsoft.com/office/drawing/2014/main" id="{26C2AB08-1061-B0A7-A72B-C94DD24220DA}"/>
              </a:ext>
            </a:extLst>
          </p:cNvPr>
          <p:cNvSpPr/>
          <p:nvPr/>
        </p:nvSpPr>
        <p:spPr>
          <a:xfrm>
            <a:off x="3963124" y="1942956"/>
            <a:ext cx="741681" cy="369333"/>
          </a:xfrm>
          <a:prstGeom prst="rect">
            <a:avLst/>
          </a:prstGeom>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x=13</a:t>
            </a:r>
          </a:p>
        </p:txBody>
      </p:sp>
      <p:sp>
        <p:nvSpPr>
          <p:cNvPr id="38" name="Rectangle 37">
            <a:extLst>
              <a:ext uri="{FF2B5EF4-FFF2-40B4-BE49-F238E27FC236}">
                <a16:creationId xmlns:a16="http://schemas.microsoft.com/office/drawing/2014/main" id="{F5276759-6AAA-0CCB-0507-71A78998E9D9}"/>
              </a:ext>
            </a:extLst>
          </p:cNvPr>
          <p:cNvSpPr/>
          <p:nvPr/>
        </p:nvSpPr>
        <p:spPr>
          <a:xfrm>
            <a:off x="4938122" y="1942956"/>
            <a:ext cx="741681" cy="369333"/>
          </a:xfrm>
          <a:prstGeom prst="rect">
            <a:avLst/>
          </a:prstGeom>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y=7</a:t>
            </a:r>
          </a:p>
        </p:txBody>
      </p:sp>
      <p:sp>
        <p:nvSpPr>
          <p:cNvPr id="39" name="Rounded Rectangle 38">
            <a:extLst>
              <a:ext uri="{FF2B5EF4-FFF2-40B4-BE49-F238E27FC236}">
                <a16:creationId xmlns:a16="http://schemas.microsoft.com/office/drawing/2014/main" id="{D6FB3B84-DAB2-31FB-FC87-64B62F68C4AE}"/>
              </a:ext>
            </a:extLst>
          </p:cNvPr>
          <p:cNvSpPr/>
          <p:nvPr/>
        </p:nvSpPr>
        <p:spPr>
          <a:xfrm>
            <a:off x="736781" y="4199746"/>
            <a:ext cx="2418262"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40">
            <a:extLst>
              <a:ext uri="{FF2B5EF4-FFF2-40B4-BE49-F238E27FC236}">
                <a16:creationId xmlns:a16="http://schemas.microsoft.com/office/drawing/2014/main" id="{53C3D6ED-30B1-B9FD-CB02-8147E7A3DCAB}"/>
              </a:ext>
            </a:extLst>
          </p:cNvPr>
          <p:cNvSpPr/>
          <p:nvPr/>
        </p:nvSpPr>
        <p:spPr>
          <a:xfrm>
            <a:off x="736781" y="4465786"/>
            <a:ext cx="2418262"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a:extLst>
              <a:ext uri="{FF2B5EF4-FFF2-40B4-BE49-F238E27FC236}">
                <a16:creationId xmlns:a16="http://schemas.microsoft.com/office/drawing/2014/main" id="{A058701F-7234-DB76-800F-F8140F8E2621}"/>
              </a:ext>
            </a:extLst>
          </p:cNvPr>
          <p:cNvSpPr/>
          <p:nvPr/>
        </p:nvSpPr>
        <p:spPr>
          <a:xfrm>
            <a:off x="1113426" y="1992957"/>
            <a:ext cx="2418262"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ounded Rectangle 42">
            <a:extLst>
              <a:ext uri="{FF2B5EF4-FFF2-40B4-BE49-F238E27FC236}">
                <a16:creationId xmlns:a16="http://schemas.microsoft.com/office/drawing/2014/main" id="{72D7FDB7-F2CD-BCB6-4D46-C85569C56924}"/>
              </a:ext>
            </a:extLst>
          </p:cNvPr>
          <p:cNvSpPr/>
          <p:nvPr/>
        </p:nvSpPr>
        <p:spPr>
          <a:xfrm>
            <a:off x="741860" y="2258997"/>
            <a:ext cx="147302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ounded Rectangle 43">
            <a:extLst>
              <a:ext uri="{FF2B5EF4-FFF2-40B4-BE49-F238E27FC236}">
                <a16:creationId xmlns:a16="http://schemas.microsoft.com/office/drawing/2014/main" id="{BDD7DC76-19AB-E147-0FA3-146709587AAF}"/>
              </a:ext>
            </a:extLst>
          </p:cNvPr>
          <p:cNvSpPr/>
          <p:nvPr/>
        </p:nvSpPr>
        <p:spPr>
          <a:xfrm>
            <a:off x="741860" y="2514354"/>
            <a:ext cx="147302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 Rectangle 44">
            <a:extLst>
              <a:ext uri="{FF2B5EF4-FFF2-40B4-BE49-F238E27FC236}">
                <a16:creationId xmlns:a16="http://schemas.microsoft.com/office/drawing/2014/main" id="{C2F526B9-CD31-5D7A-4248-EDE54DAFA64C}"/>
              </a:ext>
            </a:extLst>
          </p:cNvPr>
          <p:cNvSpPr/>
          <p:nvPr/>
        </p:nvSpPr>
        <p:spPr>
          <a:xfrm>
            <a:off x="741860" y="2742974"/>
            <a:ext cx="147302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ounded Rectangle 45">
            <a:extLst>
              <a:ext uri="{FF2B5EF4-FFF2-40B4-BE49-F238E27FC236}">
                <a16:creationId xmlns:a16="http://schemas.microsoft.com/office/drawing/2014/main" id="{70540B4B-DB47-801A-E995-C1E45E519F5A}"/>
              </a:ext>
            </a:extLst>
          </p:cNvPr>
          <p:cNvSpPr/>
          <p:nvPr/>
        </p:nvSpPr>
        <p:spPr>
          <a:xfrm>
            <a:off x="736780" y="4691651"/>
            <a:ext cx="4338139" cy="562524"/>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ounded Rectangle 46">
            <a:extLst>
              <a:ext uri="{FF2B5EF4-FFF2-40B4-BE49-F238E27FC236}">
                <a16:creationId xmlns:a16="http://schemas.microsoft.com/office/drawing/2014/main" id="{7DB65D89-DE72-B0DF-CDB7-B7C274897851}"/>
              </a:ext>
            </a:extLst>
          </p:cNvPr>
          <p:cNvSpPr/>
          <p:nvPr/>
        </p:nvSpPr>
        <p:spPr>
          <a:xfrm>
            <a:off x="736780" y="3017277"/>
            <a:ext cx="4475300" cy="53375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9995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dissolve">
                                      <p:cBhvr>
                                        <p:cTn id="11" dur="500"/>
                                        <p:tgtEl>
                                          <p:spTgt spid="13"/>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dissolve">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dissolve">
                                      <p:cBhvr>
                                        <p:cTn id="20" dur="500"/>
                                        <p:tgtEl>
                                          <p:spTgt spid="41"/>
                                        </p:tgtEl>
                                      </p:cBhvr>
                                    </p:animEffect>
                                  </p:childTnLst>
                                </p:cTn>
                              </p:par>
                              <p:par>
                                <p:cTn id="21" presetID="1" presetClass="exit" presetSubtype="0" fill="hold" grpId="1" nodeType="withEffect">
                                  <p:stCondLst>
                                    <p:cond delay="0"/>
                                  </p:stCondLst>
                                  <p:childTnLst>
                                    <p:set>
                                      <p:cBhvr>
                                        <p:cTn id="22" dur="1" fill="hold">
                                          <p:stCondLst>
                                            <p:cond delay="0"/>
                                          </p:stCondLst>
                                        </p:cTn>
                                        <p:tgtEl>
                                          <p:spTgt spid="3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dissolve">
                                      <p:cBhvr>
                                        <p:cTn id="27" dur="500"/>
                                        <p:tgtEl>
                                          <p:spTgt spid="42"/>
                                        </p:tgtEl>
                                      </p:cBhvr>
                                    </p:animEffect>
                                  </p:childTnLst>
                                </p:cTn>
                              </p:par>
                              <p:par>
                                <p:cTn id="28" presetID="1" presetClass="exit" presetSubtype="0" fill="hold" grpId="1" nodeType="withEffect">
                                  <p:stCondLst>
                                    <p:cond delay="0"/>
                                  </p:stCondLst>
                                  <p:childTnLst>
                                    <p:set>
                                      <p:cBhvr>
                                        <p:cTn id="29" dur="1" fill="hold">
                                          <p:stCondLst>
                                            <p:cond delay="0"/>
                                          </p:stCondLst>
                                        </p:cTn>
                                        <p:tgtEl>
                                          <p:spTgt spid="41"/>
                                        </p:tgtEl>
                                        <p:attrNameLst>
                                          <p:attrName>style.visibility</p:attrName>
                                        </p:attrNameLst>
                                      </p:cBhvr>
                                      <p:to>
                                        <p:strVal val="hidden"/>
                                      </p:to>
                                    </p:set>
                                  </p:childTnLst>
                                </p:cTn>
                              </p:par>
                            </p:childTnLst>
                          </p:cTn>
                        </p:par>
                        <p:par>
                          <p:cTn id="30" fill="hold">
                            <p:stCondLst>
                              <p:cond delay="500"/>
                            </p:stCondLst>
                            <p:childTnLst>
                              <p:par>
                                <p:cTn id="31" presetID="9" presetClass="entr" presetSubtype="0" fill="hold" grpId="0" nodeType="after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dissolve">
                                      <p:cBhvr>
                                        <p:cTn id="33" dur="500"/>
                                        <p:tgtEl>
                                          <p:spTgt spid="31"/>
                                        </p:tgtEl>
                                      </p:cBhvr>
                                    </p:animEffect>
                                  </p:childTnLst>
                                </p:cTn>
                              </p:par>
                            </p:childTnLst>
                          </p:cTn>
                        </p:par>
                        <p:par>
                          <p:cTn id="34" fill="hold">
                            <p:stCondLst>
                              <p:cond delay="1000"/>
                            </p:stCondLst>
                            <p:childTnLst>
                              <p:par>
                                <p:cTn id="35" presetID="9" presetClass="entr" presetSubtype="0" fill="hold" grpId="0" nodeType="after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dissolve">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dissolve">
                                      <p:cBhvr>
                                        <p:cTn id="42" dur="500"/>
                                        <p:tgtEl>
                                          <p:spTgt spid="43"/>
                                        </p:tgtEl>
                                      </p:cBhvr>
                                    </p:animEffect>
                                  </p:childTnLst>
                                </p:cTn>
                              </p:par>
                              <p:par>
                                <p:cTn id="43" presetID="1" presetClass="exit" presetSubtype="0" fill="hold" grpId="1" nodeType="withEffect">
                                  <p:stCondLst>
                                    <p:cond delay="0"/>
                                  </p:stCondLst>
                                  <p:childTnLst>
                                    <p:set>
                                      <p:cBhvr>
                                        <p:cTn id="44" dur="1" fill="hold">
                                          <p:stCondLst>
                                            <p:cond delay="0"/>
                                          </p:stCondLst>
                                        </p:cTn>
                                        <p:tgtEl>
                                          <p:spTgt spid="42"/>
                                        </p:tgtEl>
                                        <p:attrNameLst>
                                          <p:attrName>style.visibility</p:attrName>
                                        </p:attrNameLst>
                                      </p:cBhvr>
                                      <p:to>
                                        <p:strVal val="hidden"/>
                                      </p:to>
                                    </p:set>
                                  </p:childTnLst>
                                </p:cTn>
                              </p:par>
                            </p:childTnLst>
                          </p:cTn>
                        </p:par>
                        <p:par>
                          <p:cTn id="45" fill="hold">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dissolve">
                                      <p:cBhvr>
                                        <p:cTn id="48" dur="500"/>
                                        <p:tgtEl>
                                          <p:spTgt spid="33"/>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44"/>
                                        </p:tgtEl>
                                        <p:attrNameLst>
                                          <p:attrName>style.visibility</p:attrName>
                                        </p:attrNameLst>
                                      </p:cBhvr>
                                      <p:to>
                                        <p:strVal val="visible"/>
                                      </p:to>
                                    </p:set>
                                    <p:animEffect transition="in" filter="dissolve">
                                      <p:cBhvr>
                                        <p:cTn id="53" dur="500"/>
                                        <p:tgtEl>
                                          <p:spTgt spid="44"/>
                                        </p:tgtEl>
                                      </p:cBhvr>
                                    </p:animEffect>
                                  </p:childTnLst>
                                </p:cTn>
                              </p:par>
                              <p:par>
                                <p:cTn id="54" presetID="1" presetClass="exit" presetSubtype="0" fill="hold" grpId="1" nodeType="withEffect">
                                  <p:stCondLst>
                                    <p:cond delay="0"/>
                                  </p:stCondLst>
                                  <p:childTnLst>
                                    <p:set>
                                      <p:cBhvr>
                                        <p:cTn id="55" dur="1" fill="hold">
                                          <p:stCondLst>
                                            <p:cond delay="0"/>
                                          </p:stCondLst>
                                        </p:cTn>
                                        <p:tgtEl>
                                          <p:spTgt spid="43"/>
                                        </p:tgtEl>
                                        <p:attrNameLst>
                                          <p:attrName>style.visibility</p:attrName>
                                        </p:attrNameLst>
                                      </p:cBhvr>
                                      <p:to>
                                        <p:strVal val="hidden"/>
                                      </p:to>
                                    </p:set>
                                  </p:childTnLst>
                                </p:cTn>
                              </p:par>
                            </p:childTnLst>
                          </p:cTn>
                        </p:par>
                        <p:par>
                          <p:cTn id="56" fill="hold">
                            <p:stCondLst>
                              <p:cond delay="500"/>
                            </p:stCondLst>
                            <p:childTnLst>
                              <p:par>
                                <p:cTn id="57" presetID="9" presetClass="entr" presetSubtype="0" fill="hold" grpId="0" nodeType="after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dissolve">
                                      <p:cBhvr>
                                        <p:cTn id="59" dur="500"/>
                                        <p:tgtEl>
                                          <p:spTgt spid="37"/>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dissolve">
                                      <p:cBhvr>
                                        <p:cTn id="64" dur="500"/>
                                        <p:tgtEl>
                                          <p:spTgt spid="45"/>
                                        </p:tgtEl>
                                      </p:cBhvr>
                                    </p:animEffect>
                                  </p:childTnLst>
                                </p:cTn>
                              </p:par>
                              <p:par>
                                <p:cTn id="65" presetID="1" presetClass="exit" presetSubtype="0" fill="hold" grpId="1" nodeType="withEffect">
                                  <p:stCondLst>
                                    <p:cond delay="0"/>
                                  </p:stCondLst>
                                  <p:childTnLst>
                                    <p:set>
                                      <p:cBhvr>
                                        <p:cTn id="66" dur="1" fill="hold">
                                          <p:stCondLst>
                                            <p:cond delay="0"/>
                                          </p:stCondLst>
                                        </p:cTn>
                                        <p:tgtEl>
                                          <p:spTgt spid="44"/>
                                        </p:tgtEl>
                                        <p:attrNameLst>
                                          <p:attrName>style.visibility</p:attrName>
                                        </p:attrNameLst>
                                      </p:cBhvr>
                                      <p:to>
                                        <p:strVal val="hidden"/>
                                      </p:to>
                                    </p:set>
                                  </p:childTnLst>
                                </p:cTn>
                              </p:par>
                            </p:childTnLst>
                          </p:cTn>
                        </p:par>
                        <p:par>
                          <p:cTn id="67" fill="hold">
                            <p:stCondLst>
                              <p:cond delay="500"/>
                            </p:stCondLst>
                            <p:childTnLst>
                              <p:par>
                                <p:cTn id="68" presetID="9" presetClass="entr" presetSubtype="0" fill="hold" grpId="0" nodeType="after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dissolve">
                                      <p:cBhvr>
                                        <p:cTn id="70" dur="500"/>
                                        <p:tgtEl>
                                          <p:spTgt spid="38"/>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47"/>
                                        </p:tgtEl>
                                        <p:attrNameLst>
                                          <p:attrName>style.visibility</p:attrName>
                                        </p:attrNameLst>
                                      </p:cBhvr>
                                      <p:to>
                                        <p:strVal val="visible"/>
                                      </p:to>
                                    </p:set>
                                    <p:animEffect transition="in" filter="dissolve">
                                      <p:cBhvr>
                                        <p:cTn id="75" dur="500"/>
                                        <p:tgtEl>
                                          <p:spTgt spid="47"/>
                                        </p:tgtEl>
                                      </p:cBhvr>
                                    </p:animEffect>
                                  </p:childTnLst>
                                </p:cTn>
                              </p:par>
                              <p:par>
                                <p:cTn id="76" presetID="1" presetClass="exit" presetSubtype="0" fill="hold" grpId="1" nodeType="withEffect">
                                  <p:stCondLst>
                                    <p:cond delay="0"/>
                                  </p:stCondLst>
                                  <p:childTnLst>
                                    <p:set>
                                      <p:cBhvr>
                                        <p:cTn id="77" dur="1" fill="hold">
                                          <p:stCondLst>
                                            <p:cond delay="0"/>
                                          </p:stCondLst>
                                        </p:cTn>
                                        <p:tgtEl>
                                          <p:spTgt spid="45"/>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dissolve">
                                      <p:cBhvr>
                                        <p:cTn id="82" dur="500"/>
                                        <p:tgtEl>
                                          <p:spTgt spid="46"/>
                                        </p:tgtEl>
                                      </p:cBhvr>
                                    </p:animEffect>
                                  </p:childTnLst>
                                </p:cTn>
                              </p:par>
                              <p:par>
                                <p:cTn id="83" presetID="1" presetClass="exit" presetSubtype="0" fill="hold" grpId="1" nodeType="withEffect">
                                  <p:stCondLst>
                                    <p:cond delay="0"/>
                                  </p:stCondLst>
                                  <p:childTnLst>
                                    <p:set>
                                      <p:cBhvr>
                                        <p:cTn id="84" dur="1" fill="hold">
                                          <p:stCondLst>
                                            <p:cond delay="0"/>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30" grpId="0" animBg="1"/>
      <p:bldP spid="31" grpId="0" animBg="1"/>
      <p:bldP spid="32" grpId="0" animBg="1"/>
      <p:bldP spid="33" grpId="0" animBg="1"/>
      <p:bldP spid="37" grpId="0" animBg="1"/>
      <p:bldP spid="38" grpId="0" animBg="1"/>
      <p:bldP spid="39" grpId="0" animBg="1"/>
      <p:bldP spid="39" grpId="1" animBg="1"/>
      <p:bldP spid="41" grpId="0" animBg="1"/>
      <p:bldP spid="41" grpId="1" animBg="1"/>
      <p:bldP spid="42" grpId="0" animBg="1"/>
      <p:bldP spid="42" grpId="1" animBg="1"/>
      <p:bldP spid="43" grpId="0" animBg="1"/>
      <p:bldP spid="43" grpId="1" animBg="1"/>
      <p:bldP spid="44" grpId="0" animBg="1"/>
      <p:bldP spid="44" grpId="1" animBg="1"/>
      <p:bldP spid="45" grpId="0" animBg="1"/>
      <p:bldP spid="45" grpId="1" animBg="1"/>
      <p:bldP spid="46" grpId="0" animBg="1"/>
      <p:bldP spid="47" grpId="0" animBg="1"/>
      <p:bldP spid="47"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B3471-8B90-7D9C-0B40-AF32807557A3}"/>
              </a:ext>
            </a:extLst>
          </p:cNvPr>
          <p:cNvSpPr>
            <a:spLocks noGrp="1"/>
          </p:cNvSpPr>
          <p:nvPr>
            <p:ph type="title"/>
          </p:nvPr>
        </p:nvSpPr>
        <p:spPr/>
        <p:txBody>
          <a:bodyPr>
            <a:normAutofit/>
          </a:bodyPr>
          <a:lstStyle/>
          <a:p>
            <a:r>
              <a:rPr lang="en-US" dirty="0"/>
              <a:t>Pass-by-Reference </a:t>
            </a:r>
          </a:p>
        </p:txBody>
      </p:sp>
      <p:sp>
        <p:nvSpPr>
          <p:cNvPr id="5" name="TextBox 4">
            <a:extLst>
              <a:ext uri="{FF2B5EF4-FFF2-40B4-BE49-F238E27FC236}">
                <a16:creationId xmlns:a16="http://schemas.microsoft.com/office/drawing/2014/main" id="{396F35D9-13E4-3A3F-9DC8-6F8FDE4528C1}"/>
              </a:ext>
            </a:extLst>
          </p:cNvPr>
          <p:cNvSpPr txBox="1"/>
          <p:nvPr/>
        </p:nvSpPr>
        <p:spPr>
          <a:xfrm>
            <a:off x="6756400" y="1818640"/>
            <a:ext cx="3270447" cy="830997"/>
          </a:xfrm>
          <a:prstGeom prst="rect">
            <a:avLst/>
          </a:prstGeom>
          <a:noFill/>
        </p:spPr>
        <p:txBody>
          <a:bodyPr wrap="none" rtlCol="0">
            <a:spAutoFit/>
          </a:bodyPr>
          <a:lstStyle/>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a.out</a:t>
            </a:r>
            <a:r>
              <a:rPr lang="en-US" sz="1600" dirty="0">
                <a:solidFill>
                  <a:srgbClr val="000000"/>
                </a:solidFill>
                <a:effectLst/>
                <a:latin typeface="Menlo" panose="020B0609030804020204" pitchFamily="49" charset="0"/>
              </a:rPr>
              <a:t>      </a:t>
            </a:r>
          </a:p>
          <a:p>
            <a:r>
              <a:rPr lang="en-US" sz="1600" dirty="0">
                <a:solidFill>
                  <a:srgbClr val="000000"/>
                </a:solidFill>
                <a:effectLst/>
                <a:latin typeface="Menlo" panose="020B0609030804020204" pitchFamily="49" charset="0"/>
              </a:rPr>
              <a:t>in </a:t>
            </a:r>
            <a:r>
              <a:rPr lang="en-US" sz="1600" dirty="0" err="1">
                <a:solidFill>
                  <a:srgbClr val="000000"/>
                </a:solidFill>
                <a:effectLst/>
                <a:latin typeface="Menlo" panose="020B0609030804020204" pitchFamily="49" charset="0"/>
              </a:rPr>
              <a:t>swapB</a:t>
            </a:r>
            <a:r>
              <a:rPr lang="en-US" sz="1600" dirty="0">
                <a:solidFill>
                  <a:srgbClr val="000000"/>
                </a:solidFill>
                <a:effectLst/>
                <a:latin typeface="Menlo" panose="020B0609030804020204" pitchFamily="49" charset="0"/>
              </a:rPr>
              <a:t>: *x = 13, *y = 7</a:t>
            </a:r>
          </a:p>
          <a:p>
            <a:r>
              <a:rPr lang="en-US" sz="1600" dirty="0">
                <a:solidFill>
                  <a:srgbClr val="000000"/>
                </a:solidFill>
                <a:effectLst/>
                <a:latin typeface="Menlo" panose="020B0609030804020204" pitchFamily="49" charset="0"/>
              </a:rPr>
              <a:t>in main: a = 13, b = 7</a:t>
            </a:r>
          </a:p>
        </p:txBody>
      </p:sp>
      <p:sp>
        <p:nvSpPr>
          <p:cNvPr id="6" name="TextBox 5">
            <a:extLst>
              <a:ext uri="{FF2B5EF4-FFF2-40B4-BE49-F238E27FC236}">
                <a16:creationId xmlns:a16="http://schemas.microsoft.com/office/drawing/2014/main" id="{7851BBBA-6FB9-D60D-2E6B-E87652649D99}"/>
              </a:ext>
            </a:extLst>
          </p:cNvPr>
          <p:cNvSpPr txBox="1"/>
          <p:nvPr/>
        </p:nvSpPr>
        <p:spPr>
          <a:xfrm>
            <a:off x="6634480" y="1402080"/>
            <a:ext cx="931665" cy="400110"/>
          </a:xfrm>
          <a:prstGeom prst="rect">
            <a:avLst/>
          </a:prstGeom>
          <a:noFill/>
        </p:spPr>
        <p:txBody>
          <a:bodyPr wrap="none" rtlCol="0">
            <a:spAutoFit/>
          </a:bodyPr>
          <a:lstStyle/>
          <a:p>
            <a:r>
              <a:rPr lang="en-US" sz="2000" dirty="0"/>
              <a:t>Output</a:t>
            </a:r>
          </a:p>
        </p:txBody>
      </p:sp>
      <p:sp>
        <p:nvSpPr>
          <p:cNvPr id="7" name="TextBox 6">
            <a:extLst>
              <a:ext uri="{FF2B5EF4-FFF2-40B4-BE49-F238E27FC236}">
                <a16:creationId xmlns:a16="http://schemas.microsoft.com/office/drawing/2014/main" id="{DD2613A5-9D05-4FA9-75DE-5491AAF84D9F}"/>
              </a:ext>
            </a:extLst>
          </p:cNvPr>
          <p:cNvSpPr txBox="1"/>
          <p:nvPr/>
        </p:nvSpPr>
        <p:spPr>
          <a:xfrm>
            <a:off x="6751320" y="3105833"/>
            <a:ext cx="5109540" cy="646331"/>
          </a:xfrm>
          <a:prstGeom prst="rect">
            <a:avLst/>
          </a:prstGeom>
          <a:noFill/>
        </p:spPr>
        <p:txBody>
          <a:bodyPr wrap="square" rtlCol="0">
            <a:spAutoFit/>
          </a:bodyPr>
          <a:lstStyle/>
          <a:p>
            <a:r>
              <a:rPr lang="en-US" sz="1800" dirty="0">
                <a:effectLst/>
              </a:rPr>
              <a:t>Parameters are local variables that are initialized to a copy of the arguments.</a:t>
            </a:r>
            <a:endParaRPr lang="en-US" dirty="0">
              <a:effectLst/>
            </a:endParaRPr>
          </a:p>
        </p:txBody>
      </p:sp>
      <p:sp>
        <p:nvSpPr>
          <p:cNvPr id="8" name="TextBox 7">
            <a:extLst>
              <a:ext uri="{FF2B5EF4-FFF2-40B4-BE49-F238E27FC236}">
                <a16:creationId xmlns:a16="http://schemas.microsoft.com/office/drawing/2014/main" id="{42808403-310B-8A75-13F4-2E41D5B2B490}"/>
              </a:ext>
            </a:extLst>
          </p:cNvPr>
          <p:cNvSpPr txBox="1"/>
          <p:nvPr/>
        </p:nvSpPr>
        <p:spPr>
          <a:xfrm>
            <a:off x="6751320" y="4119265"/>
            <a:ext cx="4719320" cy="369332"/>
          </a:xfrm>
          <a:prstGeom prst="rect">
            <a:avLst/>
          </a:prstGeom>
          <a:noFill/>
        </p:spPr>
        <p:txBody>
          <a:bodyPr wrap="square" rtlCol="0">
            <a:spAutoFit/>
          </a:bodyPr>
          <a:lstStyle/>
          <a:p>
            <a:r>
              <a:rPr lang="en-US" sz="1800" dirty="0">
                <a:effectLst/>
              </a:rPr>
              <a:t>Changing </a:t>
            </a:r>
            <a:r>
              <a:rPr lang="en-US" sz="1600" dirty="0">
                <a:effectLst/>
                <a:latin typeface="Menlo" panose="020B0609030804020204" pitchFamily="49" charset="0"/>
                <a:ea typeface="Menlo" panose="020B0609030804020204" pitchFamily="49" charset="0"/>
                <a:cs typeface="Menlo" panose="020B0609030804020204" pitchFamily="49" charset="0"/>
              </a:rPr>
              <a:t>*x</a:t>
            </a:r>
            <a:r>
              <a:rPr lang="en-US" sz="1800" dirty="0">
                <a:effectLst/>
              </a:rPr>
              <a:t> does not change </a:t>
            </a:r>
            <a:r>
              <a:rPr lang="en-US" sz="1600" dirty="0">
                <a:effectLst/>
                <a:latin typeface="Menlo" panose="020B0609030804020204" pitchFamily="49" charset="0"/>
                <a:ea typeface="Menlo" panose="020B0609030804020204" pitchFamily="49" charset="0"/>
                <a:cs typeface="Menlo" panose="020B0609030804020204" pitchFamily="49" charset="0"/>
              </a:rPr>
              <a:t>x</a:t>
            </a:r>
            <a:r>
              <a:rPr lang="en-US" sz="1800" dirty="0">
                <a:effectLst/>
              </a:rPr>
              <a:t>. </a:t>
            </a:r>
            <a:endParaRPr lang="en-US" dirty="0">
              <a:effectLst/>
            </a:endParaRPr>
          </a:p>
        </p:txBody>
      </p:sp>
      <p:sp>
        <p:nvSpPr>
          <p:cNvPr id="9" name="TextBox 8">
            <a:extLst>
              <a:ext uri="{FF2B5EF4-FFF2-40B4-BE49-F238E27FC236}">
                <a16:creationId xmlns:a16="http://schemas.microsoft.com/office/drawing/2014/main" id="{66AC00E4-5EDA-EEAE-0199-9AC796A5F3D1}"/>
              </a:ext>
            </a:extLst>
          </p:cNvPr>
          <p:cNvSpPr txBox="1"/>
          <p:nvPr/>
        </p:nvSpPr>
        <p:spPr>
          <a:xfrm>
            <a:off x="6751320" y="4675492"/>
            <a:ext cx="5109540" cy="923330"/>
          </a:xfrm>
          <a:prstGeom prst="rect">
            <a:avLst/>
          </a:prstGeom>
          <a:noFill/>
        </p:spPr>
        <p:txBody>
          <a:bodyPr wrap="square" rtlCol="0">
            <a:spAutoFit/>
          </a:bodyPr>
          <a:lstStyle/>
          <a:p>
            <a:r>
              <a:rPr lang="en-US" dirty="0"/>
              <a:t>When main gives </a:t>
            </a:r>
            <a:r>
              <a:rPr lang="en-US" sz="1600" dirty="0" err="1">
                <a:latin typeface="Menlo" panose="020B0609030804020204" pitchFamily="49" charset="0"/>
                <a:ea typeface="Menlo" panose="020B0609030804020204" pitchFamily="49" charset="0"/>
                <a:cs typeface="Menlo" panose="020B0609030804020204" pitchFamily="49" charset="0"/>
              </a:rPr>
              <a:t>swapB</a:t>
            </a:r>
            <a:r>
              <a:rPr lang="en-US" dirty="0"/>
              <a:t> the value </a:t>
            </a:r>
            <a:r>
              <a:rPr lang="en-US" sz="1600" dirty="0">
                <a:latin typeface="Menlo" panose="020B0609030804020204" pitchFamily="49" charset="0"/>
                <a:ea typeface="Menlo" panose="020B0609030804020204" pitchFamily="49" charset="0"/>
                <a:cs typeface="Menlo" panose="020B0609030804020204" pitchFamily="49" charset="0"/>
              </a:rPr>
              <a:t>&amp;a</a:t>
            </a:r>
            <a:r>
              <a:rPr lang="en-US" dirty="0"/>
              <a:t>, it allows </a:t>
            </a:r>
            <a:r>
              <a:rPr lang="en-US" sz="1600" dirty="0" err="1">
                <a:latin typeface="Menlo" panose="020B0609030804020204" pitchFamily="49" charset="0"/>
                <a:ea typeface="Menlo" panose="020B0609030804020204" pitchFamily="49" charset="0"/>
                <a:cs typeface="Menlo" panose="020B0609030804020204" pitchFamily="49" charset="0"/>
              </a:rPr>
              <a:t>swapB</a:t>
            </a:r>
            <a:r>
              <a:rPr lang="en-US" dirty="0"/>
              <a:t> to reach into main’s region of memory, and change the value of </a:t>
            </a:r>
            <a:r>
              <a:rPr lang="en-US" sz="1600" dirty="0">
                <a:latin typeface="Menlo" panose="020B0609030804020204" pitchFamily="49" charset="0"/>
                <a:ea typeface="Menlo" panose="020B0609030804020204" pitchFamily="49" charset="0"/>
                <a:cs typeface="Menlo" panose="020B0609030804020204" pitchFamily="49" charset="0"/>
              </a:rPr>
              <a:t>a</a:t>
            </a:r>
            <a:r>
              <a:rPr lang="en-US" dirty="0"/>
              <a:t>. </a:t>
            </a:r>
          </a:p>
        </p:txBody>
      </p:sp>
      <p:sp>
        <p:nvSpPr>
          <p:cNvPr id="10" name="TextBox 9">
            <a:extLst>
              <a:ext uri="{FF2B5EF4-FFF2-40B4-BE49-F238E27FC236}">
                <a16:creationId xmlns:a16="http://schemas.microsoft.com/office/drawing/2014/main" id="{EA17EB1F-E1F2-0648-42D8-E05B748E8ABB}"/>
              </a:ext>
            </a:extLst>
          </p:cNvPr>
          <p:cNvSpPr txBox="1"/>
          <p:nvPr/>
        </p:nvSpPr>
        <p:spPr>
          <a:xfrm>
            <a:off x="462463" y="1505394"/>
            <a:ext cx="5559552" cy="4278094"/>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stdio.h</a:t>
            </a:r>
            <a:r>
              <a:rPr lang="en-US" sz="1600" dirty="0">
                <a:solidFill>
                  <a:srgbClr val="B42419"/>
                </a:solidFill>
                <a:effectLst/>
                <a:latin typeface="Menlo" panose="020B0609030804020204" pitchFamily="49" charset="0"/>
              </a:rPr>
              <a:t>&gt;</a:t>
            </a:r>
            <a:br>
              <a:rPr lang="en-US" sz="1600" dirty="0">
                <a:solidFill>
                  <a:srgbClr val="000000"/>
                </a:solidFill>
                <a:effectLst/>
                <a:latin typeface="Menlo" panose="020B0609030804020204" pitchFamily="49" charset="0"/>
              </a:rPr>
            </a:br>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void</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swapB</a:t>
            </a:r>
            <a:r>
              <a:rPr lang="en-US" sz="1600" dirty="0">
                <a:solidFill>
                  <a:srgbClr val="000000"/>
                </a:solidFill>
                <a:effectLst/>
                <a:latin typeface="Menlo" panose="020B0609030804020204" pitchFamily="49" charset="0"/>
              </a:rPr>
              <a:t>(</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x,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y)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tmp</a:t>
            </a:r>
            <a:r>
              <a:rPr lang="en-US" sz="1600" dirty="0">
                <a:solidFill>
                  <a:srgbClr val="000000"/>
                </a:solidFill>
                <a:effectLst/>
                <a:latin typeface="Menlo" panose="020B0609030804020204" pitchFamily="49" charset="0"/>
              </a:rPr>
              <a:t>=*x;</a:t>
            </a:r>
          </a:p>
          <a:p>
            <a:r>
              <a:rPr lang="en-US" sz="1600" dirty="0">
                <a:solidFill>
                  <a:srgbClr val="000000"/>
                </a:solidFill>
                <a:effectLst/>
                <a:latin typeface="Menlo" panose="020B0609030804020204" pitchFamily="49" charset="0"/>
              </a:rPr>
              <a:t>  *x=*y;</a:t>
            </a:r>
          </a:p>
          <a:p>
            <a:r>
              <a:rPr lang="en-US" sz="1600" dirty="0">
                <a:solidFill>
                  <a:srgbClr val="000000"/>
                </a:solidFill>
                <a:latin typeface="Menlo" panose="020B0609030804020204" pitchFamily="49" charset="0"/>
              </a:rPr>
              <a:t> </a:t>
            </a:r>
            <a:r>
              <a:rPr lang="en-US" sz="1600" dirty="0">
                <a:solidFill>
                  <a:srgbClr val="000000"/>
                </a:solidFill>
                <a:effectLst/>
                <a:latin typeface="Menlo" panose="020B0609030804020204" pitchFamily="49" charset="0"/>
              </a:rPr>
              <a:t> *y = </a:t>
            </a:r>
            <a:r>
              <a:rPr lang="en-US" sz="1600" dirty="0" err="1">
                <a:solidFill>
                  <a:srgbClr val="000000"/>
                </a:solidFill>
                <a:effectLst/>
                <a:latin typeface="Menlo" panose="020B0609030804020204" pitchFamily="49" charset="0"/>
              </a:rPr>
              <a:t>tmp</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"in </a:t>
            </a:r>
            <a:r>
              <a:rPr lang="en-US" sz="1600" dirty="0" err="1">
                <a:solidFill>
                  <a:srgbClr val="B42419"/>
                </a:solidFill>
                <a:effectLst/>
                <a:latin typeface="Menlo" panose="020B0609030804020204" pitchFamily="49" charset="0"/>
              </a:rPr>
              <a:t>swapB</a:t>
            </a:r>
            <a:r>
              <a:rPr lang="en-US" sz="1600" dirty="0">
                <a:solidFill>
                  <a:srgbClr val="B42419"/>
                </a:solidFill>
                <a:effectLst/>
                <a:latin typeface="Menlo" panose="020B0609030804020204" pitchFamily="49" charset="0"/>
              </a:rPr>
              <a:t>: *x =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*y = </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t>
            </a:r>
          </a:p>
          <a:p>
            <a:r>
              <a:rPr lang="en-US" sz="1600" dirty="0">
                <a:solidFill>
                  <a:srgbClr val="000000"/>
                </a:solidFill>
                <a:latin typeface="Menlo" panose="020B0609030804020204" pitchFamily="49" charset="0"/>
              </a:rPr>
              <a:t>	</a:t>
            </a:r>
            <a:r>
              <a:rPr lang="en-US" sz="1600" dirty="0">
                <a:solidFill>
                  <a:srgbClr val="000000"/>
                </a:solidFill>
                <a:effectLst/>
                <a:latin typeface="Menlo" panose="020B0609030804020204" pitchFamily="49" charset="0"/>
              </a:rPr>
              <a:t>*x, *y);</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br>
              <a:rPr lang="en-US" sz="1600" dirty="0">
                <a:solidFill>
                  <a:srgbClr val="000000"/>
                </a:solidFill>
                <a:effectLst/>
                <a:latin typeface="Menlo" panose="020B0609030804020204" pitchFamily="49" charset="0"/>
              </a:rPr>
            </a:br>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main()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 = </a:t>
            </a:r>
            <a:r>
              <a:rPr lang="en-US" sz="1600" dirty="0">
                <a:solidFill>
                  <a:srgbClr val="B42419"/>
                </a:solidFill>
                <a:effectLst/>
                <a:latin typeface="Menlo" panose="020B0609030804020204" pitchFamily="49" charset="0"/>
              </a:rPr>
              <a:t>7</a:t>
            </a:r>
            <a:r>
              <a:rPr lang="en-US" sz="1600" dirty="0">
                <a:solidFill>
                  <a:srgbClr val="000000"/>
                </a:solidFill>
                <a:effectLst/>
                <a:latin typeface="Menlo" panose="020B0609030804020204" pitchFamily="49" charset="0"/>
              </a:rPr>
              <a:t>, b = </a:t>
            </a:r>
            <a:r>
              <a:rPr lang="en-US" sz="1600" dirty="0">
                <a:solidFill>
                  <a:srgbClr val="B42419"/>
                </a:solidFill>
                <a:effectLst/>
                <a:latin typeface="Menlo" panose="020B0609030804020204" pitchFamily="49" charset="0"/>
              </a:rPr>
              <a:t>13</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swapB</a:t>
            </a:r>
            <a:r>
              <a:rPr lang="en-US" sz="1600" dirty="0">
                <a:solidFill>
                  <a:srgbClr val="000000"/>
                </a:solidFill>
                <a:effectLst/>
                <a:latin typeface="Menlo" panose="020B0609030804020204" pitchFamily="49" charset="0"/>
              </a:rPr>
              <a:t>(&amp;a, &amp;b);</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"in main: a =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b = </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t>
            </a:r>
          </a:p>
          <a:p>
            <a:r>
              <a:rPr lang="en-US" sz="1600" dirty="0">
                <a:solidFill>
                  <a:srgbClr val="000000"/>
                </a:solidFill>
                <a:latin typeface="Menlo" panose="020B0609030804020204" pitchFamily="49" charset="0"/>
              </a:rPr>
              <a:t>	</a:t>
            </a:r>
            <a:r>
              <a:rPr lang="en-US" sz="1600" dirty="0">
                <a:solidFill>
                  <a:srgbClr val="000000"/>
                </a:solidFill>
                <a:effectLst/>
                <a:latin typeface="Menlo" panose="020B0609030804020204" pitchFamily="49" charset="0"/>
              </a:rPr>
              <a:t>a, b);</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0</a:t>
            </a:r>
            <a:r>
              <a:rPr lang="en-US" sz="1600" dirty="0">
                <a:solidFill>
                  <a:srgbClr val="000000"/>
                </a:solidFill>
                <a:effectLst/>
                <a:latin typeface="Menlo" panose="020B0609030804020204" pitchFamily="49" charset="0"/>
              </a:rPr>
              <a:t>;</a:t>
            </a:r>
            <a:endParaRPr lang="en-US" sz="1600" dirty="0">
              <a:solidFill>
                <a:srgbClr val="C1651C"/>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p>
        </p:txBody>
      </p:sp>
      <p:sp>
        <p:nvSpPr>
          <p:cNvPr id="11" name="TextBox 10">
            <a:extLst>
              <a:ext uri="{FF2B5EF4-FFF2-40B4-BE49-F238E27FC236}">
                <a16:creationId xmlns:a16="http://schemas.microsoft.com/office/drawing/2014/main" id="{33268A91-20A7-0065-78C2-FB8448414147}"/>
              </a:ext>
            </a:extLst>
          </p:cNvPr>
          <p:cNvSpPr txBox="1"/>
          <p:nvPr/>
        </p:nvSpPr>
        <p:spPr>
          <a:xfrm>
            <a:off x="6751320" y="5902960"/>
            <a:ext cx="5109540" cy="369332"/>
          </a:xfrm>
          <a:prstGeom prst="rect">
            <a:avLst/>
          </a:prstGeom>
          <a:noFill/>
        </p:spPr>
        <p:txBody>
          <a:bodyPr wrap="none" rtlCol="0">
            <a:spAutoFit/>
          </a:bodyPr>
          <a:lstStyle/>
          <a:p>
            <a:r>
              <a:rPr lang="en-US" sz="1800" dirty="0">
                <a:effectLst/>
              </a:rPr>
              <a:t>There is only one copy of 7 and only one copy of 13. </a:t>
            </a:r>
            <a:endParaRPr lang="en-US" dirty="0">
              <a:effectLst/>
            </a:endParaRPr>
          </a:p>
        </p:txBody>
      </p:sp>
      <p:sp>
        <p:nvSpPr>
          <p:cNvPr id="12" name="Rectangle 11">
            <a:extLst>
              <a:ext uri="{FF2B5EF4-FFF2-40B4-BE49-F238E27FC236}">
                <a16:creationId xmlns:a16="http://schemas.microsoft.com/office/drawing/2014/main" id="{AC3813AB-E03D-EF52-D000-CD12898018F4}"/>
              </a:ext>
            </a:extLst>
          </p:cNvPr>
          <p:cNvSpPr/>
          <p:nvPr/>
        </p:nvSpPr>
        <p:spPr>
          <a:xfrm>
            <a:off x="3688079" y="3700918"/>
            <a:ext cx="741681" cy="369333"/>
          </a:xfrm>
          <a:prstGeom prst="rect">
            <a:avLst/>
          </a:prstGeom>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a=7</a:t>
            </a:r>
          </a:p>
        </p:txBody>
      </p:sp>
      <p:sp>
        <p:nvSpPr>
          <p:cNvPr id="13" name="Rectangle 12">
            <a:extLst>
              <a:ext uri="{FF2B5EF4-FFF2-40B4-BE49-F238E27FC236}">
                <a16:creationId xmlns:a16="http://schemas.microsoft.com/office/drawing/2014/main" id="{C961DB34-09A8-D36A-C49E-757B221BEA5E}"/>
              </a:ext>
            </a:extLst>
          </p:cNvPr>
          <p:cNvSpPr/>
          <p:nvPr/>
        </p:nvSpPr>
        <p:spPr>
          <a:xfrm>
            <a:off x="4856116" y="3700918"/>
            <a:ext cx="741681" cy="369333"/>
          </a:xfrm>
          <a:prstGeom prst="rect">
            <a:avLst/>
          </a:prstGeom>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b=13</a:t>
            </a:r>
          </a:p>
        </p:txBody>
      </p:sp>
      <p:sp>
        <p:nvSpPr>
          <p:cNvPr id="14" name="Rectangle 13">
            <a:extLst>
              <a:ext uri="{FF2B5EF4-FFF2-40B4-BE49-F238E27FC236}">
                <a16:creationId xmlns:a16="http://schemas.microsoft.com/office/drawing/2014/main" id="{C420A718-E0F1-1215-C6CF-2205BAE15CCB}"/>
              </a:ext>
            </a:extLst>
          </p:cNvPr>
          <p:cNvSpPr/>
          <p:nvPr/>
        </p:nvSpPr>
        <p:spPr>
          <a:xfrm>
            <a:off x="4278085" y="1942956"/>
            <a:ext cx="741681" cy="369333"/>
          </a:xfrm>
          <a:prstGeom prst="rect">
            <a:avLst/>
          </a:prstGeom>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x</a:t>
            </a:r>
          </a:p>
        </p:txBody>
      </p:sp>
      <p:sp>
        <p:nvSpPr>
          <p:cNvPr id="15" name="Rectangle 14">
            <a:extLst>
              <a:ext uri="{FF2B5EF4-FFF2-40B4-BE49-F238E27FC236}">
                <a16:creationId xmlns:a16="http://schemas.microsoft.com/office/drawing/2014/main" id="{3076E283-721B-5DBE-7B1E-CB944C0BD712}"/>
              </a:ext>
            </a:extLst>
          </p:cNvPr>
          <p:cNvSpPr/>
          <p:nvPr/>
        </p:nvSpPr>
        <p:spPr>
          <a:xfrm>
            <a:off x="5253082" y="1942956"/>
            <a:ext cx="741681" cy="369333"/>
          </a:xfrm>
          <a:prstGeom prst="rect">
            <a:avLst/>
          </a:prstGeom>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y</a:t>
            </a:r>
          </a:p>
        </p:txBody>
      </p:sp>
      <p:sp>
        <p:nvSpPr>
          <p:cNvPr id="16" name="Rectangle 15">
            <a:extLst>
              <a:ext uri="{FF2B5EF4-FFF2-40B4-BE49-F238E27FC236}">
                <a16:creationId xmlns:a16="http://schemas.microsoft.com/office/drawing/2014/main" id="{CEC62EAC-B54B-66DD-7A22-8667337FA99B}"/>
              </a:ext>
            </a:extLst>
          </p:cNvPr>
          <p:cNvSpPr/>
          <p:nvPr/>
        </p:nvSpPr>
        <p:spPr>
          <a:xfrm>
            <a:off x="4801689" y="2418568"/>
            <a:ext cx="934721" cy="369333"/>
          </a:xfrm>
          <a:prstGeom prst="rect">
            <a:avLst/>
          </a:prstGeom>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err="1">
                <a:latin typeface="Menlo" panose="020B0609030804020204" pitchFamily="49" charset="0"/>
                <a:ea typeface="Menlo" panose="020B0609030804020204" pitchFamily="49" charset="0"/>
                <a:cs typeface="Menlo" panose="020B0609030804020204" pitchFamily="49" charset="0"/>
              </a:rPr>
              <a:t>tmp</a:t>
            </a:r>
            <a:r>
              <a:rPr lang="en-US" dirty="0">
                <a:latin typeface="Menlo" panose="020B0609030804020204" pitchFamily="49" charset="0"/>
                <a:ea typeface="Menlo" panose="020B0609030804020204" pitchFamily="49" charset="0"/>
                <a:cs typeface="Menlo" panose="020B0609030804020204" pitchFamily="49" charset="0"/>
              </a:rPr>
              <a:t>=7</a:t>
            </a:r>
          </a:p>
        </p:txBody>
      </p:sp>
      <p:sp>
        <p:nvSpPr>
          <p:cNvPr id="17" name="Rectangle 16">
            <a:extLst>
              <a:ext uri="{FF2B5EF4-FFF2-40B4-BE49-F238E27FC236}">
                <a16:creationId xmlns:a16="http://schemas.microsoft.com/office/drawing/2014/main" id="{270D7513-7262-D26B-8D82-1C8172EEFED1}"/>
              </a:ext>
            </a:extLst>
          </p:cNvPr>
          <p:cNvSpPr/>
          <p:nvPr/>
        </p:nvSpPr>
        <p:spPr>
          <a:xfrm>
            <a:off x="3688079" y="3700767"/>
            <a:ext cx="741681" cy="369333"/>
          </a:xfrm>
          <a:prstGeom prst="rect">
            <a:avLst/>
          </a:prstGeom>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a=13</a:t>
            </a:r>
          </a:p>
        </p:txBody>
      </p:sp>
      <p:sp>
        <p:nvSpPr>
          <p:cNvPr id="18" name="Rectangle 17">
            <a:extLst>
              <a:ext uri="{FF2B5EF4-FFF2-40B4-BE49-F238E27FC236}">
                <a16:creationId xmlns:a16="http://schemas.microsoft.com/office/drawing/2014/main" id="{F456AEAF-5142-C3A3-A75A-6AA735E58C88}"/>
              </a:ext>
            </a:extLst>
          </p:cNvPr>
          <p:cNvSpPr/>
          <p:nvPr/>
        </p:nvSpPr>
        <p:spPr>
          <a:xfrm>
            <a:off x="4856117" y="3700767"/>
            <a:ext cx="741681" cy="369333"/>
          </a:xfrm>
          <a:prstGeom prst="rect">
            <a:avLst/>
          </a:prstGeom>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b=7</a:t>
            </a:r>
          </a:p>
        </p:txBody>
      </p:sp>
      <p:sp>
        <p:nvSpPr>
          <p:cNvPr id="19" name="Rounded Rectangle 18">
            <a:extLst>
              <a:ext uri="{FF2B5EF4-FFF2-40B4-BE49-F238E27FC236}">
                <a16:creationId xmlns:a16="http://schemas.microsoft.com/office/drawing/2014/main" id="{FD8D27D8-2310-263D-C3C1-9A3DC758E4E0}"/>
              </a:ext>
            </a:extLst>
          </p:cNvPr>
          <p:cNvSpPr/>
          <p:nvPr/>
        </p:nvSpPr>
        <p:spPr>
          <a:xfrm>
            <a:off x="736781" y="4199746"/>
            <a:ext cx="2418262"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CEB14E4C-0A71-09AD-2E52-AD22138F1AEC}"/>
              </a:ext>
            </a:extLst>
          </p:cNvPr>
          <p:cNvSpPr/>
          <p:nvPr/>
        </p:nvSpPr>
        <p:spPr>
          <a:xfrm>
            <a:off x="736781" y="4465786"/>
            <a:ext cx="2418262"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a:extLst>
              <a:ext uri="{FF2B5EF4-FFF2-40B4-BE49-F238E27FC236}">
                <a16:creationId xmlns:a16="http://schemas.microsoft.com/office/drawing/2014/main" id="{30CD4449-BFF6-BEB8-5A75-6E24FA46AD6A}"/>
              </a:ext>
            </a:extLst>
          </p:cNvPr>
          <p:cNvSpPr/>
          <p:nvPr/>
        </p:nvSpPr>
        <p:spPr>
          <a:xfrm>
            <a:off x="1113426" y="1992957"/>
            <a:ext cx="2616382"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A5841DD9-199B-584B-3CFF-DF93CA11F6F1}"/>
              </a:ext>
            </a:extLst>
          </p:cNvPr>
          <p:cNvSpPr/>
          <p:nvPr/>
        </p:nvSpPr>
        <p:spPr>
          <a:xfrm>
            <a:off x="741860" y="2258997"/>
            <a:ext cx="147302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B8C69D45-F4E5-3EFC-11DB-D4BA12236B97}"/>
              </a:ext>
            </a:extLst>
          </p:cNvPr>
          <p:cNvSpPr/>
          <p:nvPr/>
        </p:nvSpPr>
        <p:spPr>
          <a:xfrm>
            <a:off x="741860" y="2514354"/>
            <a:ext cx="147302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a:extLst>
              <a:ext uri="{FF2B5EF4-FFF2-40B4-BE49-F238E27FC236}">
                <a16:creationId xmlns:a16="http://schemas.microsoft.com/office/drawing/2014/main" id="{4235CF07-247C-23BF-4CE4-10DBA5FBD685}"/>
              </a:ext>
            </a:extLst>
          </p:cNvPr>
          <p:cNvSpPr/>
          <p:nvPr/>
        </p:nvSpPr>
        <p:spPr>
          <a:xfrm>
            <a:off x="741860" y="2742974"/>
            <a:ext cx="147302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Curved Connector 31">
            <a:extLst>
              <a:ext uri="{FF2B5EF4-FFF2-40B4-BE49-F238E27FC236}">
                <a16:creationId xmlns:a16="http://schemas.microsoft.com/office/drawing/2014/main" id="{9DF514E9-5327-149B-6F04-94190658C875}"/>
              </a:ext>
            </a:extLst>
          </p:cNvPr>
          <p:cNvCxnSpPr>
            <a:stCxn id="14" idx="1"/>
            <a:endCxn id="17" idx="0"/>
          </p:cNvCxnSpPr>
          <p:nvPr/>
        </p:nvCxnSpPr>
        <p:spPr>
          <a:xfrm rot="10800000" flipV="1">
            <a:off x="4058921" y="2127623"/>
            <a:ext cx="219165" cy="1573144"/>
          </a:xfrm>
          <a:prstGeom prst="curvedConnector2">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cxnSp>
        <p:nvCxnSpPr>
          <p:cNvPr id="33" name="Curved Connector 32">
            <a:extLst>
              <a:ext uri="{FF2B5EF4-FFF2-40B4-BE49-F238E27FC236}">
                <a16:creationId xmlns:a16="http://schemas.microsoft.com/office/drawing/2014/main" id="{7B632DF9-1EFE-AB3E-EFCB-C4BBFAE9880B}"/>
              </a:ext>
            </a:extLst>
          </p:cNvPr>
          <p:cNvCxnSpPr>
            <a:cxnSpLocks/>
            <a:stCxn id="15" idx="3"/>
            <a:endCxn id="18" idx="0"/>
          </p:cNvCxnSpPr>
          <p:nvPr/>
        </p:nvCxnSpPr>
        <p:spPr>
          <a:xfrm flipH="1">
            <a:off x="5226958" y="2127623"/>
            <a:ext cx="767805" cy="1573144"/>
          </a:xfrm>
          <a:prstGeom prst="curvedConnector4">
            <a:avLst>
              <a:gd name="adj1" fmla="val -29773"/>
              <a:gd name="adj2" fmla="val 55869"/>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sp>
        <p:nvSpPr>
          <p:cNvPr id="36" name="Rounded Rectangle 35">
            <a:extLst>
              <a:ext uri="{FF2B5EF4-FFF2-40B4-BE49-F238E27FC236}">
                <a16:creationId xmlns:a16="http://schemas.microsoft.com/office/drawing/2014/main" id="{9FAD990C-6F3E-D022-B5BF-813115D62A10}"/>
              </a:ext>
            </a:extLst>
          </p:cNvPr>
          <p:cNvSpPr/>
          <p:nvPr/>
        </p:nvSpPr>
        <p:spPr>
          <a:xfrm>
            <a:off x="736780" y="4691651"/>
            <a:ext cx="4338139" cy="562524"/>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ed Rectangle 36">
            <a:extLst>
              <a:ext uri="{FF2B5EF4-FFF2-40B4-BE49-F238E27FC236}">
                <a16:creationId xmlns:a16="http://schemas.microsoft.com/office/drawing/2014/main" id="{9D4F91CB-E416-685D-66A5-CC43D9BECB2D}"/>
              </a:ext>
            </a:extLst>
          </p:cNvPr>
          <p:cNvSpPr/>
          <p:nvPr/>
        </p:nvSpPr>
        <p:spPr>
          <a:xfrm>
            <a:off x="736780" y="3017277"/>
            <a:ext cx="4475300" cy="53375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1813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dissolve">
                                      <p:cBhvr>
                                        <p:cTn id="11" dur="500"/>
                                        <p:tgtEl>
                                          <p:spTgt spid="12"/>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dissolv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dissolve">
                                      <p:cBhvr>
                                        <p:cTn id="20" dur="500"/>
                                        <p:tgtEl>
                                          <p:spTgt spid="20"/>
                                        </p:tgtEl>
                                      </p:cBhvr>
                                    </p:animEffect>
                                  </p:childTnLst>
                                </p:cTn>
                              </p:par>
                              <p:par>
                                <p:cTn id="21" presetID="1" presetClass="exit" presetSubtype="0" fill="hold" grpId="1" nodeType="withEffect">
                                  <p:stCondLst>
                                    <p:cond delay="0"/>
                                  </p:stCondLst>
                                  <p:childTnLst>
                                    <p:set>
                                      <p:cBhvr>
                                        <p:cTn id="22" dur="1" fill="hold">
                                          <p:stCondLst>
                                            <p:cond delay="0"/>
                                          </p:stCondLst>
                                        </p:cTn>
                                        <p:tgtEl>
                                          <p:spTgt spid="1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dissolve">
                                      <p:cBhvr>
                                        <p:cTn id="27" dur="500"/>
                                        <p:tgtEl>
                                          <p:spTgt spid="21"/>
                                        </p:tgtEl>
                                      </p:cBhvr>
                                    </p:animEffect>
                                  </p:childTnLst>
                                </p:cTn>
                              </p:par>
                              <p:par>
                                <p:cTn id="28" presetID="1" presetClass="exit" presetSubtype="0" fill="hold" grpId="1" nodeType="withEffect">
                                  <p:stCondLst>
                                    <p:cond delay="0"/>
                                  </p:stCondLst>
                                  <p:childTnLst>
                                    <p:set>
                                      <p:cBhvr>
                                        <p:cTn id="29" dur="1" fill="hold">
                                          <p:stCondLst>
                                            <p:cond delay="0"/>
                                          </p:stCondLst>
                                        </p:cTn>
                                        <p:tgtEl>
                                          <p:spTgt spid="20"/>
                                        </p:tgtEl>
                                        <p:attrNameLst>
                                          <p:attrName>style.visibility</p:attrName>
                                        </p:attrNameLst>
                                      </p:cBhvr>
                                      <p:to>
                                        <p:strVal val="hidden"/>
                                      </p:to>
                                    </p:set>
                                  </p:childTnLst>
                                </p:cTn>
                              </p:par>
                            </p:childTnLst>
                          </p:cTn>
                        </p:par>
                        <p:par>
                          <p:cTn id="30" fill="hold">
                            <p:stCondLst>
                              <p:cond delay="500"/>
                            </p:stCondLst>
                            <p:childTnLst>
                              <p:par>
                                <p:cTn id="31" presetID="9" presetClass="entr" presetSubtype="0" fill="hold" grpId="0"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dissolve">
                                      <p:cBhvr>
                                        <p:cTn id="33" dur="500"/>
                                        <p:tgtEl>
                                          <p:spTgt spid="14"/>
                                        </p:tgtEl>
                                      </p:cBhvr>
                                    </p:animEffect>
                                  </p:childTnLst>
                                </p:cTn>
                              </p:par>
                              <p:par>
                                <p:cTn id="34" presetID="9" presetClass="entr" presetSubtype="0" fill="hold"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dissolve">
                                      <p:cBhvr>
                                        <p:cTn id="36" dur="500"/>
                                        <p:tgtEl>
                                          <p:spTgt spid="32"/>
                                        </p:tgtEl>
                                      </p:cBhvr>
                                    </p:animEffect>
                                  </p:childTnLst>
                                </p:cTn>
                              </p:par>
                            </p:childTnLst>
                          </p:cTn>
                        </p:par>
                        <p:par>
                          <p:cTn id="37" fill="hold">
                            <p:stCondLst>
                              <p:cond delay="1000"/>
                            </p:stCondLst>
                            <p:childTnLst>
                              <p:par>
                                <p:cTn id="38" presetID="9"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dissolve">
                                      <p:cBhvr>
                                        <p:cTn id="40" dur="500"/>
                                        <p:tgtEl>
                                          <p:spTgt spid="15"/>
                                        </p:tgtEl>
                                      </p:cBhvr>
                                    </p:animEffect>
                                  </p:childTnLst>
                                </p:cTn>
                              </p:par>
                              <p:par>
                                <p:cTn id="41" presetID="9"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dissolve">
                                      <p:cBhvr>
                                        <p:cTn id="43" dur="500"/>
                                        <p:tgtEl>
                                          <p:spTgt spid="33"/>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dissolve">
                                      <p:cBhvr>
                                        <p:cTn id="48" dur="500"/>
                                        <p:tgtEl>
                                          <p:spTgt spid="22"/>
                                        </p:tgtEl>
                                      </p:cBhvr>
                                    </p:animEffect>
                                  </p:childTnLst>
                                </p:cTn>
                              </p:par>
                              <p:par>
                                <p:cTn id="49" presetID="1" presetClass="exit" presetSubtype="0" fill="hold" grpId="1" nodeType="withEffect">
                                  <p:stCondLst>
                                    <p:cond delay="0"/>
                                  </p:stCondLst>
                                  <p:childTnLst>
                                    <p:set>
                                      <p:cBhvr>
                                        <p:cTn id="50" dur="1" fill="hold">
                                          <p:stCondLst>
                                            <p:cond delay="0"/>
                                          </p:stCondLst>
                                        </p:cTn>
                                        <p:tgtEl>
                                          <p:spTgt spid="21"/>
                                        </p:tgtEl>
                                        <p:attrNameLst>
                                          <p:attrName>style.visibility</p:attrName>
                                        </p:attrNameLst>
                                      </p:cBhvr>
                                      <p:to>
                                        <p:strVal val="hidden"/>
                                      </p:to>
                                    </p:set>
                                  </p:childTnLst>
                                </p:cTn>
                              </p:par>
                            </p:childTnLst>
                          </p:cTn>
                        </p:par>
                        <p:par>
                          <p:cTn id="51" fill="hold">
                            <p:stCondLst>
                              <p:cond delay="500"/>
                            </p:stCondLst>
                            <p:childTnLst>
                              <p:par>
                                <p:cTn id="52" presetID="9" presetClass="entr" presetSubtype="0" fill="hold" grpId="0" nodeType="after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dissolve">
                                      <p:cBhvr>
                                        <p:cTn id="54" dur="50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dissolve">
                                      <p:cBhvr>
                                        <p:cTn id="59" dur="500"/>
                                        <p:tgtEl>
                                          <p:spTgt spid="23"/>
                                        </p:tgtEl>
                                      </p:cBhvr>
                                    </p:animEffect>
                                  </p:childTnLst>
                                </p:cTn>
                              </p:par>
                              <p:par>
                                <p:cTn id="60" presetID="1" presetClass="exit" presetSubtype="0" fill="hold" grpId="1" nodeType="withEffect">
                                  <p:stCondLst>
                                    <p:cond delay="0"/>
                                  </p:stCondLst>
                                  <p:childTnLst>
                                    <p:set>
                                      <p:cBhvr>
                                        <p:cTn id="61" dur="1" fill="hold">
                                          <p:stCondLst>
                                            <p:cond delay="0"/>
                                          </p:stCondLst>
                                        </p:cTn>
                                        <p:tgtEl>
                                          <p:spTgt spid="22"/>
                                        </p:tgtEl>
                                        <p:attrNameLst>
                                          <p:attrName>style.visibility</p:attrName>
                                        </p:attrNameLst>
                                      </p:cBhvr>
                                      <p:to>
                                        <p:strVal val="hidden"/>
                                      </p:to>
                                    </p:se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dissolve">
                                      <p:cBhvr>
                                        <p:cTn id="65" dur="500"/>
                                        <p:tgtEl>
                                          <p:spTgt spid="17"/>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dissolve">
                                      <p:cBhvr>
                                        <p:cTn id="70" dur="500"/>
                                        <p:tgtEl>
                                          <p:spTgt spid="24"/>
                                        </p:tgtEl>
                                      </p:cBhvr>
                                    </p:animEffect>
                                  </p:childTnLst>
                                </p:cTn>
                              </p:par>
                              <p:par>
                                <p:cTn id="71" presetID="1" presetClass="exit" presetSubtype="0" fill="hold" grpId="1" nodeType="withEffect">
                                  <p:stCondLst>
                                    <p:cond delay="0"/>
                                  </p:stCondLst>
                                  <p:childTnLst>
                                    <p:set>
                                      <p:cBhvr>
                                        <p:cTn id="72" dur="1" fill="hold">
                                          <p:stCondLst>
                                            <p:cond delay="0"/>
                                          </p:stCondLst>
                                        </p:cTn>
                                        <p:tgtEl>
                                          <p:spTgt spid="23"/>
                                        </p:tgtEl>
                                        <p:attrNameLst>
                                          <p:attrName>style.visibility</p:attrName>
                                        </p:attrNameLst>
                                      </p:cBhvr>
                                      <p:to>
                                        <p:strVal val="hidden"/>
                                      </p:to>
                                    </p:set>
                                  </p:childTnLst>
                                </p:cTn>
                              </p:par>
                            </p:childTnLst>
                          </p:cTn>
                        </p:par>
                        <p:par>
                          <p:cTn id="73" fill="hold">
                            <p:stCondLst>
                              <p:cond delay="500"/>
                            </p:stCondLst>
                            <p:childTnLst>
                              <p:par>
                                <p:cTn id="74" presetID="9" presetClass="entr" presetSubtype="0" fill="hold" grpId="0" nodeType="after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dissolve">
                                      <p:cBhvr>
                                        <p:cTn id="76" dur="500"/>
                                        <p:tgtEl>
                                          <p:spTgt spid="18"/>
                                        </p:tgtEl>
                                      </p:cBhvr>
                                    </p:animEffect>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grpId="0" nodeType="clickEffect">
                                  <p:stCondLst>
                                    <p:cond delay="0"/>
                                  </p:stCondLst>
                                  <p:childTnLst>
                                    <p:set>
                                      <p:cBhvr>
                                        <p:cTn id="80" dur="1" fill="hold">
                                          <p:stCondLst>
                                            <p:cond delay="0"/>
                                          </p:stCondLst>
                                        </p:cTn>
                                        <p:tgtEl>
                                          <p:spTgt spid="37"/>
                                        </p:tgtEl>
                                        <p:attrNameLst>
                                          <p:attrName>style.visibility</p:attrName>
                                        </p:attrNameLst>
                                      </p:cBhvr>
                                      <p:to>
                                        <p:strVal val="visible"/>
                                      </p:to>
                                    </p:set>
                                    <p:animEffect transition="in" filter="dissolve">
                                      <p:cBhvr>
                                        <p:cTn id="81" dur="500"/>
                                        <p:tgtEl>
                                          <p:spTgt spid="37"/>
                                        </p:tgtEl>
                                      </p:cBhvr>
                                    </p:animEffect>
                                  </p:childTnLst>
                                </p:cTn>
                              </p:par>
                              <p:par>
                                <p:cTn id="82" presetID="1" presetClass="exit" presetSubtype="0" fill="hold" grpId="1" nodeType="withEffect">
                                  <p:stCondLst>
                                    <p:cond delay="0"/>
                                  </p:stCondLst>
                                  <p:childTnLst>
                                    <p:set>
                                      <p:cBhvr>
                                        <p:cTn id="83" dur="1" fill="hold">
                                          <p:stCondLst>
                                            <p:cond delay="0"/>
                                          </p:stCondLst>
                                        </p:cTn>
                                        <p:tgtEl>
                                          <p:spTgt spid="24"/>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dissolve">
                                      <p:cBhvr>
                                        <p:cTn id="88" dur="500"/>
                                        <p:tgtEl>
                                          <p:spTgt spid="36"/>
                                        </p:tgtEl>
                                      </p:cBhvr>
                                    </p:animEffect>
                                  </p:childTnLst>
                                </p:cTn>
                              </p:par>
                              <p:par>
                                <p:cTn id="89" presetID="1" presetClass="exit" presetSubtype="0" fill="hold" grpId="1" nodeType="withEffect">
                                  <p:stCondLst>
                                    <p:cond delay="0"/>
                                  </p:stCondLst>
                                  <p:childTnLst>
                                    <p:set>
                                      <p:cBhvr>
                                        <p:cTn id="90"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36" grpId="0" animBg="1"/>
      <p:bldP spid="37" grpId="0" animBg="1"/>
      <p:bldP spid="37"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C76F7-7A87-25B2-80BE-ED76CD291F1B}"/>
              </a:ext>
            </a:extLst>
          </p:cNvPr>
          <p:cNvSpPr>
            <a:spLocks noGrp="1"/>
          </p:cNvSpPr>
          <p:nvPr>
            <p:ph type="title"/>
          </p:nvPr>
        </p:nvSpPr>
        <p:spPr/>
        <p:txBody>
          <a:bodyPr>
            <a:normAutofit/>
          </a:bodyPr>
          <a:lstStyle/>
          <a:p>
            <a:r>
              <a:rPr lang="en-US" dirty="0"/>
              <a:t>“Returning” Multiple Values </a:t>
            </a:r>
          </a:p>
        </p:txBody>
      </p:sp>
      <p:sp>
        <p:nvSpPr>
          <p:cNvPr id="4" name="TextBox 3">
            <a:extLst>
              <a:ext uri="{FF2B5EF4-FFF2-40B4-BE49-F238E27FC236}">
                <a16:creationId xmlns:a16="http://schemas.microsoft.com/office/drawing/2014/main" id="{7748250C-2D4C-BEBE-760B-E4D9459DD1F0}"/>
              </a:ext>
            </a:extLst>
          </p:cNvPr>
          <p:cNvSpPr txBox="1"/>
          <p:nvPr/>
        </p:nvSpPr>
        <p:spPr>
          <a:xfrm>
            <a:off x="838200" y="1391920"/>
            <a:ext cx="9057416" cy="400110"/>
          </a:xfrm>
          <a:prstGeom prst="rect">
            <a:avLst/>
          </a:prstGeom>
          <a:noFill/>
        </p:spPr>
        <p:txBody>
          <a:bodyPr wrap="none" rtlCol="0">
            <a:spAutoFit/>
          </a:bodyPr>
          <a:lstStyle/>
          <a:p>
            <a:r>
              <a:rPr lang="en-US" sz="2000" dirty="0"/>
              <a:t>Functions in C can only return a single value. Pointer parameters offer a workaround. </a:t>
            </a:r>
          </a:p>
        </p:txBody>
      </p:sp>
      <p:sp>
        <p:nvSpPr>
          <p:cNvPr id="5" name="TextBox 4">
            <a:extLst>
              <a:ext uri="{FF2B5EF4-FFF2-40B4-BE49-F238E27FC236}">
                <a16:creationId xmlns:a16="http://schemas.microsoft.com/office/drawing/2014/main" id="{5FE8CE5A-E1B6-D53B-4C00-99D5CE42D4FD}"/>
              </a:ext>
            </a:extLst>
          </p:cNvPr>
          <p:cNvSpPr txBox="1"/>
          <p:nvPr/>
        </p:nvSpPr>
        <p:spPr>
          <a:xfrm>
            <a:off x="838200" y="2021647"/>
            <a:ext cx="5368777" cy="452431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rtlCol="0">
            <a:spAutoFit/>
          </a:bodyPr>
          <a:lstStyle/>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stdio.h</a:t>
            </a:r>
            <a:r>
              <a:rPr lang="en-US" sz="1600" dirty="0">
                <a:solidFill>
                  <a:srgbClr val="B42419"/>
                </a:solidFill>
                <a:effectLst/>
                <a:latin typeface="Menlo" panose="020B0609030804020204" pitchFamily="49" charset="0"/>
              </a:rPr>
              <a:t>&gt;</a:t>
            </a:r>
            <a:endParaRPr lang="en-US" sz="1600" dirty="0">
              <a:solidFill>
                <a:srgbClr val="C814C9"/>
              </a:solidFill>
              <a:effectLst/>
              <a:latin typeface="Menlo" panose="020B0609030804020204" pitchFamily="49" charset="0"/>
            </a:endParaRPr>
          </a:p>
          <a:p>
            <a:r>
              <a:rPr lang="en-US" sz="1600" dirty="0">
                <a:solidFill>
                  <a:srgbClr val="2FB41D"/>
                </a:solidFill>
                <a:effectLst/>
                <a:latin typeface="Menlo" panose="020B0609030804020204" pitchFamily="49" charset="0"/>
              </a:rPr>
              <a:t>void</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vector_add</a:t>
            </a:r>
            <a:r>
              <a:rPr lang="en-US" sz="1600" dirty="0">
                <a:solidFill>
                  <a:srgbClr val="000000"/>
                </a:solidFill>
                <a:effectLst/>
                <a:latin typeface="Menlo" panose="020B0609030804020204" pitchFamily="49" charset="0"/>
              </a:rPr>
              <a:t>(</a:t>
            </a:r>
            <a:r>
              <a:rPr lang="en-US" sz="1600" dirty="0">
                <a:solidFill>
                  <a:srgbClr val="2FB41D"/>
                </a:solidFill>
                <a:effectLst/>
                <a:latin typeface="Menlo" panose="020B0609030804020204" pitchFamily="49" charset="0"/>
              </a:rPr>
              <a:t>float</a:t>
            </a:r>
            <a:r>
              <a:rPr lang="en-US" sz="1600" dirty="0">
                <a:solidFill>
                  <a:srgbClr val="000000"/>
                </a:solidFill>
                <a:effectLst/>
                <a:latin typeface="Menlo" panose="020B0609030804020204" pitchFamily="49" charset="0"/>
              </a:rPr>
              <a:t> x1,</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float</a:t>
            </a:r>
            <a:r>
              <a:rPr lang="en-US" sz="1600" dirty="0">
                <a:solidFill>
                  <a:srgbClr val="000000"/>
                </a:solidFill>
                <a:effectLst/>
                <a:latin typeface="Menlo" panose="020B0609030804020204" pitchFamily="49" charset="0"/>
              </a:rPr>
              <a:t> y1,</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float</a:t>
            </a:r>
            <a:r>
              <a:rPr lang="en-US" sz="1600" dirty="0">
                <a:solidFill>
                  <a:srgbClr val="000000"/>
                </a:solidFill>
                <a:effectLst/>
                <a:latin typeface="Menlo" panose="020B0609030804020204" pitchFamily="49" charset="0"/>
              </a:rPr>
              <a:t> x2,</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float</a:t>
            </a:r>
            <a:r>
              <a:rPr lang="en-US" sz="1600" dirty="0">
                <a:solidFill>
                  <a:srgbClr val="000000"/>
                </a:solidFill>
                <a:effectLst/>
                <a:latin typeface="Menlo" panose="020B0609030804020204" pitchFamily="49" charset="0"/>
              </a:rPr>
              <a:t> y2,</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float</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res_x</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float</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res_y</a:t>
            </a:r>
            <a:r>
              <a:rPr lang="en-US" sz="1600" dirty="0">
                <a:solidFill>
                  <a:srgbClr val="000000"/>
                </a:solidFill>
                <a:effectLst/>
                <a:latin typeface="Menlo" panose="020B0609030804020204" pitchFamily="49" charset="0"/>
              </a:rPr>
              <a:t>) {</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res_x</a:t>
            </a:r>
            <a:r>
              <a:rPr lang="en-US" sz="1600" dirty="0">
                <a:solidFill>
                  <a:srgbClr val="000000"/>
                </a:solidFill>
                <a:effectLst/>
                <a:latin typeface="Menlo" panose="020B0609030804020204" pitchFamily="49" charset="0"/>
              </a:rPr>
              <a:t> = x1 + x2;</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res_y</a:t>
            </a:r>
            <a:r>
              <a:rPr lang="en-US" sz="1600" dirty="0">
                <a:solidFill>
                  <a:srgbClr val="000000"/>
                </a:solidFill>
                <a:effectLst/>
                <a:latin typeface="Menlo" panose="020B0609030804020204" pitchFamily="49" charset="0"/>
              </a:rPr>
              <a:t> = y1 + y2;</a:t>
            </a:r>
          </a:p>
          <a:p>
            <a:r>
              <a:rPr lang="en-US" sz="1600" dirty="0">
                <a:solidFill>
                  <a:srgbClr val="000000"/>
                </a:solidFill>
                <a:effectLst/>
                <a:latin typeface="Menlo" panose="020B0609030804020204" pitchFamily="49" charset="0"/>
              </a:rPr>
              <a:t>}</a:t>
            </a:r>
          </a:p>
          <a:p>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main(</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argc</a:t>
            </a:r>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char</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argv</a:t>
            </a:r>
            <a:r>
              <a:rPr lang="en-US" sz="1600" dirty="0">
                <a:solidFill>
                  <a:srgbClr val="000000"/>
                </a:solidFill>
                <a:effectLst/>
                <a:latin typeface="Menlo" panose="020B0609030804020204" pitchFamily="49" charset="0"/>
              </a:rPr>
              <a:t>)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float</a:t>
            </a:r>
            <a:r>
              <a:rPr lang="en-US" sz="1600" dirty="0">
                <a:solidFill>
                  <a:srgbClr val="000000"/>
                </a:solidFill>
                <a:effectLst/>
                <a:latin typeface="Menlo" panose="020B0609030804020204" pitchFamily="49" charset="0"/>
              </a:rPr>
              <a:t> x3, y3;</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vector_add</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10</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20</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1</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2</a:t>
            </a:r>
            <a:r>
              <a:rPr lang="en-US" sz="1600" dirty="0">
                <a:solidFill>
                  <a:srgbClr val="000000"/>
                </a:solidFill>
                <a:effectLst/>
                <a:latin typeface="Menlo" panose="020B0609030804020204" pitchFamily="49" charset="0"/>
              </a:rPr>
              <a:t>, &amp;x3, &amp;y3);</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"(10, 20) + (1, 2) = (</a:t>
            </a:r>
            <a:r>
              <a:rPr lang="en-US" sz="1600" dirty="0">
                <a:solidFill>
                  <a:srgbClr val="C814C9"/>
                </a:solidFill>
                <a:effectLst/>
                <a:latin typeface="Menlo" panose="020B0609030804020204" pitchFamily="49" charset="0"/>
              </a:rPr>
              <a:t>%f</a:t>
            </a:r>
            <a:r>
              <a:rPr lang="en-US" sz="1600" dirty="0">
                <a:solidFill>
                  <a:srgbClr val="B42419"/>
                </a:solidFill>
                <a:effectLst/>
                <a:latin typeface="Menlo" panose="020B0609030804020204" pitchFamily="49" charset="0"/>
              </a:rPr>
              <a:t>, </a:t>
            </a:r>
            <a:r>
              <a:rPr lang="en-US" sz="1600" dirty="0">
                <a:solidFill>
                  <a:srgbClr val="C814C9"/>
                </a:solidFill>
                <a:effectLst/>
                <a:latin typeface="Menlo" panose="020B0609030804020204" pitchFamily="49" charset="0"/>
              </a:rPr>
              <a:t>%f</a:t>
            </a:r>
            <a:r>
              <a:rPr lang="en-US" sz="1600" dirty="0">
                <a:solidFill>
                  <a:srgbClr val="B42419"/>
                </a:solidFill>
                <a:effectLst/>
                <a:latin typeface="Menlo" panose="020B0609030804020204" pitchFamily="49" charset="0"/>
              </a:rPr>
              <a:t>)</a:t>
            </a:r>
            <a:r>
              <a:rPr lang="en-US" sz="1600" dirty="0">
                <a:solidFill>
                  <a:srgbClr val="C814C9"/>
                </a:solidFill>
                <a:effectLst/>
                <a:latin typeface="Menlo" panose="020B0609030804020204" pitchFamily="49" charset="0"/>
              </a:rPr>
              <a:t>\n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t>
            </a:r>
          </a:p>
          <a:p>
            <a:r>
              <a:rPr lang="en-US" sz="1600" dirty="0">
                <a:solidFill>
                  <a:srgbClr val="000000"/>
                </a:solidFill>
                <a:latin typeface="Menlo" panose="020B0609030804020204" pitchFamily="49" charset="0"/>
              </a:rPr>
              <a:t>	</a:t>
            </a:r>
            <a:r>
              <a:rPr lang="en-US" sz="1600" dirty="0">
                <a:solidFill>
                  <a:srgbClr val="000000"/>
                </a:solidFill>
                <a:effectLst/>
                <a:latin typeface="Menlo" panose="020B0609030804020204" pitchFamily="49" charset="0"/>
              </a:rPr>
              <a:t>x3, y3);</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0</a:t>
            </a:r>
            <a:r>
              <a:rPr lang="en-US" sz="1600" dirty="0">
                <a:solidFill>
                  <a:srgbClr val="000000"/>
                </a:solidFill>
                <a:effectLst/>
                <a:latin typeface="Menlo" panose="020B0609030804020204" pitchFamily="49" charset="0"/>
              </a:rPr>
              <a:t>;</a:t>
            </a:r>
            <a:endParaRPr lang="en-US" sz="1600" dirty="0">
              <a:solidFill>
                <a:srgbClr val="C1651C"/>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p>
        </p:txBody>
      </p:sp>
      <p:sp>
        <p:nvSpPr>
          <p:cNvPr id="6" name="TextBox 5">
            <a:extLst>
              <a:ext uri="{FF2B5EF4-FFF2-40B4-BE49-F238E27FC236}">
                <a16:creationId xmlns:a16="http://schemas.microsoft.com/office/drawing/2014/main" id="{758B0C40-04A7-5FF1-CBC0-7F17BE80B34D}"/>
              </a:ext>
            </a:extLst>
          </p:cNvPr>
          <p:cNvSpPr txBox="1"/>
          <p:nvPr/>
        </p:nvSpPr>
        <p:spPr>
          <a:xfrm>
            <a:off x="6746240" y="2306320"/>
            <a:ext cx="5368777" cy="584775"/>
          </a:xfrm>
          <a:prstGeom prst="rect">
            <a:avLst/>
          </a:prstGeom>
          <a:noFill/>
        </p:spPr>
        <p:txBody>
          <a:bodyPr wrap="none" rtlCol="0">
            <a:spAutoFit/>
          </a:bodyPr>
          <a:lstStyle/>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a.out</a:t>
            </a:r>
            <a:r>
              <a:rPr lang="en-US" sz="1600" dirty="0">
                <a:solidFill>
                  <a:srgbClr val="000000"/>
                </a:solidFill>
                <a:effectLst/>
                <a:latin typeface="Menlo" panose="020B0609030804020204" pitchFamily="49" charset="0"/>
              </a:rPr>
              <a:t>      </a:t>
            </a:r>
          </a:p>
          <a:p>
            <a:r>
              <a:rPr lang="en-US" sz="1600" dirty="0">
                <a:solidFill>
                  <a:srgbClr val="000000"/>
                </a:solidFill>
                <a:effectLst/>
                <a:latin typeface="Menlo" panose="020B0609030804020204" pitchFamily="49" charset="0"/>
              </a:rPr>
              <a:t>(10, 20) + (1, 2) = (11.000000, 22.000000)</a:t>
            </a:r>
          </a:p>
        </p:txBody>
      </p:sp>
      <p:sp>
        <p:nvSpPr>
          <p:cNvPr id="7" name="TextBox 6">
            <a:extLst>
              <a:ext uri="{FF2B5EF4-FFF2-40B4-BE49-F238E27FC236}">
                <a16:creationId xmlns:a16="http://schemas.microsoft.com/office/drawing/2014/main" id="{FD192A2E-BB65-AF0A-1719-9E8C0DA5F021}"/>
              </a:ext>
            </a:extLst>
          </p:cNvPr>
          <p:cNvSpPr txBox="1"/>
          <p:nvPr/>
        </p:nvSpPr>
        <p:spPr>
          <a:xfrm>
            <a:off x="6624320" y="1889760"/>
            <a:ext cx="931665" cy="400110"/>
          </a:xfrm>
          <a:prstGeom prst="rect">
            <a:avLst/>
          </a:prstGeom>
          <a:noFill/>
        </p:spPr>
        <p:txBody>
          <a:bodyPr wrap="none" rtlCol="0">
            <a:spAutoFit/>
          </a:bodyPr>
          <a:lstStyle/>
          <a:p>
            <a:r>
              <a:rPr lang="en-US" sz="2000" dirty="0"/>
              <a:t>Output</a:t>
            </a:r>
          </a:p>
        </p:txBody>
      </p:sp>
      <p:sp>
        <p:nvSpPr>
          <p:cNvPr id="8" name="TextBox 7">
            <a:extLst>
              <a:ext uri="{FF2B5EF4-FFF2-40B4-BE49-F238E27FC236}">
                <a16:creationId xmlns:a16="http://schemas.microsoft.com/office/drawing/2014/main" id="{AD7B44D9-F477-691D-6D68-BB8B3037ED9E}"/>
              </a:ext>
            </a:extLst>
          </p:cNvPr>
          <p:cNvSpPr txBox="1"/>
          <p:nvPr/>
        </p:nvSpPr>
        <p:spPr>
          <a:xfrm>
            <a:off x="6339064" y="3637473"/>
            <a:ext cx="5758688" cy="646331"/>
          </a:xfrm>
          <a:prstGeom prst="rect">
            <a:avLst/>
          </a:prstGeom>
          <a:noFill/>
        </p:spPr>
        <p:txBody>
          <a:bodyPr wrap="square" rtlCol="0">
            <a:spAutoFit/>
          </a:bodyPr>
          <a:lstStyle/>
          <a:p>
            <a:r>
              <a:rPr lang="en-US" sz="1800" dirty="0">
                <a:effectLst/>
                <a:latin typeface="CMSS8"/>
              </a:rPr>
              <a:t>A parameter that is intended to be used as an output rather than an input is informally called an “out-parameter.” </a:t>
            </a:r>
          </a:p>
        </p:txBody>
      </p:sp>
      <p:sp>
        <p:nvSpPr>
          <p:cNvPr id="12" name="Rounded Rectangle 11">
            <a:extLst>
              <a:ext uri="{FF2B5EF4-FFF2-40B4-BE49-F238E27FC236}">
                <a16:creationId xmlns:a16="http://schemas.microsoft.com/office/drawing/2014/main" id="{A240E94B-E039-BF0A-6D37-B1A340A6525D}"/>
              </a:ext>
            </a:extLst>
          </p:cNvPr>
          <p:cNvSpPr/>
          <p:nvPr/>
        </p:nvSpPr>
        <p:spPr>
          <a:xfrm>
            <a:off x="838200" y="2289871"/>
            <a:ext cx="670560" cy="352746"/>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63130F32-B573-9E00-9D8B-1855A59328AE}"/>
              </a:ext>
            </a:extLst>
          </p:cNvPr>
          <p:cNvSpPr/>
          <p:nvPr/>
        </p:nvSpPr>
        <p:spPr>
          <a:xfrm>
            <a:off x="1072896" y="3784264"/>
            <a:ext cx="2209800" cy="499539"/>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7419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635CC-3602-F2CD-6605-1E9411987208}"/>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1A6FEE51-BA05-8560-0ECD-07AA002E58E7}"/>
              </a:ext>
            </a:extLst>
          </p:cNvPr>
          <p:cNvSpPr>
            <a:spLocks noGrp="1"/>
          </p:cNvSpPr>
          <p:nvPr>
            <p:ph idx="1"/>
          </p:nvPr>
        </p:nvSpPr>
        <p:spPr/>
        <p:txBody>
          <a:bodyPr/>
          <a:lstStyle/>
          <a:p>
            <a:r>
              <a:rPr lang="en-US" strike="sngStrike" dirty="0"/>
              <a:t>Pointers</a:t>
            </a:r>
          </a:p>
          <a:p>
            <a:r>
              <a:rPr lang="en-US" dirty="0"/>
              <a:t>Call Stack</a:t>
            </a:r>
          </a:p>
          <a:p>
            <a:r>
              <a:rPr lang="en-US" dirty="0"/>
              <a:t>Malloc, Heap, and Free</a:t>
            </a:r>
          </a:p>
          <a:p>
            <a:r>
              <a:rPr lang="en-US" dirty="0"/>
              <a:t>Bit Print Example (char*)</a:t>
            </a:r>
          </a:p>
        </p:txBody>
      </p:sp>
    </p:spTree>
    <p:extLst>
      <p:ext uri="{BB962C8B-B14F-4D97-AF65-F5344CB8AC3E}">
        <p14:creationId xmlns:p14="http://schemas.microsoft.com/office/powerpoint/2010/main" val="1288334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C115E-DC73-5A9B-6F1D-53F8E3CB13C2}"/>
              </a:ext>
            </a:extLst>
          </p:cNvPr>
          <p:cNvSpPr>
            <a:spLocks noGrp="1"/>
          </p:cNvSpPr>
          <p:nvPr>
            <p:ph type="title"/>
          </p:nvPr>
        </p:nvSpPr>
        <p:spPr/>
        <p:txBody>
          <a:bodyPr/>
          <a:lstStyle/>
          <a:p>
            <a:r>
              <a:rPr lang="en-US" dirty="0"/>
              <a:t>Call Stack</a:t>
            </a:r>
          </a:p>
        </p:txBody>
      </p:sp>
      <p:sp>
        <p:nvSpPr>
          <p:cNvPr id="4" name="Rectangle 23">
            <a:extLst>
              <a:ext uri="{FF2B5EF4-FFF2-40B4-BE49-F238E27FC236}">
                <a16:creationId xmlns:a16="http://schemas.microsoft.com/office/drawing/2014/main" id="{6CBAD1FF-7045-EE53-D9A9-7AB58B7FE595}"/>
              </a:ext>
            </a:extLst>
          </p:cNvPr>
          <p:cNvSpPr>
            <a:spLocks/>
          </p:cNvSpPr>
          <p:nvPr/>
        </p:nvSpPr>
        <p:spPr bwMode="auto">
          <a:xfrm>
            <a:off x="10240200" y="3321980"/>
            <a:ext cx="760413" cy="444500"/>
          </a:xfrm>
          <a:prstGeom prst="rect">
            <a:avLst/>
          </a:prstGeom>
          <a:noFill/>
          <a:ln w="12700" cap="rnd">
            <a:noFill/>
            <a:round/>
            <a:headEnd type="none" w="med" len="med"/>
            <a:tailEnd type="none" w="med" len="med"/>
          </a:ln>
        </p:spPr>
        <p:txBody>
          <a:bodyPr wrap="none" lIns="38100" tIns="38100" rIns="38100" bIns="38100">
            <a:spAutoFit/>
          </a:bodyPr>
          <a:lstStyle/>
          <a:p>
            <a:pPr rtl="0" fontAlgn="base">
              <a:spcBef>
                <a:spcPct val="0"/>
              </a:spcBef>
              <a:spcAft>
                <a:spcPct val="0"/>
              </a:spcAft>
            </a:pPr>
            <a:r>
              <a:rPr lang="en-US" sz="2400" kern="1200" dirty="0">
                <a:solidFill>
                  <a:srgbClr val="000000"/>
                </a:solidFill>
                <a:latin typeface="Calibri Bold" charset="0"/>
                <a:ea typeface="Calibri Bold" charset="0"/>
                <a:cs typeface="Calibri Bold" charset="0"/>
                <a:sym typeface="Calibri Bold" charset="0"/>
              </a:rPr>
              <a:t>Stack</a:t>
            </a:r>
          </a:p>
        </p:txBody>
      </p:sp>
      <p:sp>
        <p:nvSpPr>
          <p:cNvPr id="6" name="Rectangle 4">
            <a:extLst>
              <a:ext uri="{FF2B5EF4-FFF2-40B4-BE49-F238E27FC236}">
                <a16:creationId xmlns:a16="http://schemas.microsoft.com/office/drawing/2014/main" id="{1EF40942-658A-C6DB-4008-70752C4AE434}"/>
              </a:ext>
            </a:extLst>
          </p:cNvPr>
          <p:cNvSpPr>
            <a:spLocks/>
          </p:cNvSpPr>
          <p:nvPr/>
        </p:nvSpPr>
        <p:spPr bwMode="auto">
          <a:xfrm>
            <a:off x="3929380" y="3235730"/>
            <a:ext cx="1536700" cy="22860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rtl="0" fontAlgn="base">
              <a:spcBef>
                <a:spcPct val="0"/>
              </a:spcBef>
              <a:spcAft>
                <a:spcPct val="0"/>
              </a:spcAft>
            </a:pPr>
            <a:r>
              <a:rPr lang="en-US" sz="1800" kern="1200"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f(…)</a:t>
            </a:r>
          </a:p>
          <a:p>
            <a:pPr algn="l" rtl="0" fontAlgn="base">
              <a:spcBef>
                <a:spcPct val="0"/>
              </a:spcBef>
              <a:spcAft>
                <a:spcPct val="0"/>
              </a:spcAft>
            </a:pPr>
            <a:r>
              <a:rPr lang="en-US" sz="1800" kern="1200"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a:t>
            </a:r>
          </a:p>
          <a:p>
            <a:pPr algn="l" rtl="0" fontAlgn="base">
              <a:spcBef>
                <a:spcPct val="0"/>
              </a:spcBef>
              <a:spcAft>
                <a:spcPct val="0"/>
              </a:spcAft>
            </a:pPr>
            <a:r>
              <a:rPr lang="en-US" sz="1800" kern="1200"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  • • •</a:t>
            </a:r>
          </a:p>
          <a:p>
            <a:pPr algn="l" rtl="0" fontAlgn="base">
              <a:spcBef>
                <a:spcPct val="0"/>
              </a:spcBef>
              <a:spcAft>
                <a:spcPct val="0"/>
              </a:spcAft>
            </a:pPr>
            <a:r>
              <a:rPr lang="en-US"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  </a:t>
            </a:r>
            <a:r>
              <a:rPr lang="en-US" sz="1800" kern="1200"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g();</a:t>
            </a:r>
          </a:p>
          <a:p>
            <a:pPr algn="l" rtl="0" fontAlgn="base">
              <a:spcBef>
                <a:spcPct val="0"/>
              </a:spcBef>
              <a:spcAft>
                <a:spcPct val="0"/>
              </a:spcAft>
            </a:pPr>
            <a:r>
              <a:rPr lang="en-US" sz="1800" kern="1200"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  • • •</a:t>
            </a:r>
          </a:p>
          <a:p>
            <a:pPr algn="l" rtl="0" fontAlgn="base">
              <a:spcBef>
                <a:spcPct val="0"/>
              </a:spcBef>
              <a:spcAft>
                <a:spcPct val="0"/>
              </a:spcAft>
            </a:pPr>
            <a:r>
              <a:rPr lang="en-US"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  </a:t>
            </a:r>
            <a:r>
              <a:rPr lang="en-US" sz="1800" kern="1200"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g();</a:t>
            </a:r>
          </a:p>
          <a:p>
            <a:pPr algn="l" rtl="0" fontAlgn="base">
              <a:spcBef>
                <a:spcPct val="0"/>
              </a:spcBef>
              <a:spcAft>
                <a:spcPct val="0"/>
              </a:spcAft>
            </a:pPr>
            <a:r>
              <a:rPr lang="en-US" sz="1800" kern="1200"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  • • •</a:t>
            </a:r>
          </a:p>
          <a:p>
            <a:pPr algn="l" rtl="0" fontAlgn="base">
              <a:spcBef>
                <a:spcPct val="0"/>
              </a:spcBef>
              <a:spcAft>
                <a:spcPct val="0"/>
              </a:spcAft>
            </a:pPr>
            <a:r>
              <a:rPr lang="en-US" sz="1800" kern="1200"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  </a:t>
            </a:r>
          </a:p>
        </p:txBody>
      </p:sp>
      <p:sp>
        <p:nvSpPr>
          <p:cNvPr id="7" name="Rectangle 5">
            <a:extLst>
              <a:ext uri="{FF2B5EF4-FFF2-40B4-BE49-F238E27FC236}">
                <a16:creationId xmlns:a16="http://schemas.microsoft.com/office/drawing/2014/main" id="{A76B1BF2-54BC-AA42-86E2-6E54FC95D725}"/>
              </a:ext>
            </a:extLst>
          </p:cNvPr>
          <p:cNvSpPr>
            <a:spLocks/>
          </p:cNvSpPr>
          <p:nvPr/>
        </p:nvSpPr>
        <p:spPr bwMode="auto">
          <a:xfrm>
            <a:off x="5370830" y="4548276"/>
            <a:ext cx="1612900" cy="1807401"/>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rtl="0" fontAlgn="base">
              <a:spcBef>
                <a:spcPct val="0"/>
              </a:spcBef>
              <a:spcAft>
                <a:spcPct val="0"/>
              </a:spcAft>
            </a:pPr>
            <a:r>
              <a:rPr lang="en-US" sz="1800" kern="1200"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g(…)</a:t>
            </a:r>
          </a:p>
          <a:p>
            <a:pPr algn="l" rtl="0" fontAlgn="base">
              <a:spcBef>
                <a:spcPct val="0"/>
              </a:spcBef>
              <a:spcAft>
                <a:spcPct val="0"/>
              </a:spcAft>
            </a:pPr>
            <a:r>
              <a:rPr lang="en-US" sz="1800" kern="1200"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a:t>
            </a:r>
          </a:p>
          <a:p>
            <a:pPr algn="l" rtl="0" fontAlgn="base">
              <a:spcBef>
                <a:spcPct val="0"/>
              </a:spcBef>
              <a:spcAft>
                <a:spcPct val="0"/>
              </a:spcAft>
            </a:pPr>
            <a:r>
              <a:rPr lang="en-US" sz="1800" kern="1200"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  • </a:t>
            </a:r>
          </a:p>
          <a:p>
            <a:pPr algn="l" rtl="0" fontAlgn="base">
              <a:spcBef>
                <a:spcPct val="0"/>
              </a:spcBef>
              <a:spcAft>
                <a:spcPct val="0"/>
              </a:spcAft>
            </a:pPr>
            <a:r>
              <a:rPr lang="en-US"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  </a:t>
            </a:r>
            <a:r>
              <a:rPr lang="en-US" sz="1800" kern="1200"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a:t>
            </a:r>
          </a:p>
          <a:p>
            <a:pPr fontAlgn="base">
              <a:spcBef>
                <a:spcPct val="0"/>
              </a:spcBef>
              <a:spcAft>
                <a:spcPct val="0"/>
              </a:spcAft>
            </a:pPr>
            <a:r>
              <a:rPr lang="en-US"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  •</a:t>
            </a:r>
          </a:p>
          <a:p>
            <a:pPr fontAlgn="base">
              <a:spcBef>
                <a:spcPct val="0"/>
              </a:spcBef>
              <a:spcAft>
                <a:spcPct val="0"/>
              </a:spcAft>
            </a:pPr>
            <a:r>
              <a:rPr lang="en-US"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a:t>
            </a:r>
            <a:endParaRPr lang="en-US" sz="1800" kern="1200"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endParaRPr>
          </a:p>
        </p:txBody>
      </p:sp>
      <p:sp>
        <p:nvSpPr>
          <p:cNvPr id="13" name="Rounded Rectangle 12">
            <a:extLst>
              <a:ext uri="{FF2B5EF4-FFF2-40B4-BE49-F238E27FC236}">
                <a16:creationId xmlns:a16="http://schemas.microsoft.com/office/drawing/2014/main" id="{9361A396-72A9-F4B8-188B-4B5F19CD5EC3}"/>
              </a:ext>
            </a:extLst>
          </p:cNvPr>
          <p:cNvSpPr/>
          <p:nvPr/>
        </p:nvSpPr>
        <p:spPr>
          <a:xfrm>
            <a:off x="4125140" y="3737018"/>
            <a:ext cx="107678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A92BD563-A499-3189-449A-37E3A57733C1}"/>
              </a:ext>
            </a:extLst>
          </p:cNvPr>
          <p:cNvSpPr/>
          <p:nvPr/>
        </p:nvSpPr>
        <p:spPr>
          <a:xfrm>
            <a:off x="4125140" y="4059369"/>
            <a:ext cx="107678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A447F677-8106-26C5-7CCF-5A5D470BA70E}"/>
              </a:ext>
            </a:extLst>
          </p:cNvPr>
          <p:cNvSpPr/>
          <p:nvPr/>
        </p:nvSpPr>
        <p:spPr>
          <a:xfrm>
            <a:off x="5501423" y="5081801"/>
            <a:ext cx="1073113" cy="881191"/>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23F7DBEA-19E3-CCBC-EFA1-5E1A454514B8}"/>
              </a:ext>
            </a:extLst>
          </p:cNvPr>
          <p:cNvSpPr/>
          <p:nvPr/>
        </p:nvSpPr>
        <p:spPr>
          <a:xfrm>
            <a:off x="4125140" y="4359179"/>
            <a:ext cx="107678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a:extLst>
              <a:ext uri="{FF2B5EF4-FFF2-40B4-BE49-F238E27FC236}">
                <a16:creationId xmlns:a16="http://schemas.microsoft.com/office/drawing/2014/main" id="{ACCF05CE-6726-D890-920B-894A262FB4EA}"/>
              </a:ext>
            </a:extLst>
          </p:cNvPr>
          <p:cNvSpPr/>
          <p:nvPr/>
        </p:nvSpPr>
        <p:spPr>
          <a:xfrm>
            <a:off x="4121875" y="4641771"/>
            <a:ext cx="107678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5EDB2576-82B0-4F0A-FE34-C2DBB66498C2}"/>
              </a:ext>
            </a:extLst>
          </p:cNvPr>
          <p:cNvSpPr/>
          <p:nvPr/>
        </p:nvSpPr>
        <p:spPr>
          <a:xfrm>
            <a:off x="4121875" y="4917863"/>
            <a:ext cx="107678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67ED86D8-D2DF-1D16-240B-4916675B26F6}"/>
              </a:ext>
            </a:extLst>
          </p:cNvPr>
          <p:cNvGrpSpPr/>
          <p:nvPr/>
        </p:nvGrpSpPr>
        <p:grpSpPr>
          <a:xfrm>
            <a:off x="9130068" y="2692970"/>
            <a:ext cx="896130" cy="3979293"/>
            <a:chOff x="7211641" y="3195777"/>
            <a:chExt cx="896130" cy="1802946"/>
          </a:xfrm>
        </p:grpSpPr>
        <p:sp>
          <p:nvSpPr>
            <p:cNvPr id="24" name="Rectangle 23">
              <a:extLst>
                <a:ext uri="{FF2B5EF4-FFF2-40B4-BE49-F238E27FC236}">
                  <a16:creationId xmlns:a16="http://schemas.microsoft.com/office/drawing/2014/main" id="{F51DD606-0A03-8DE0-CB66-83F447D8CA72}"/>
                </a:ext>
              </a:extLst>
            </p:cNvPr>
            <p:cNvSpPr/>
            <p:nvPr/>
          </p:nvSpPr>
          <p:spPr>
            <a:xfrm>
              <a:off x="7211641" y="3195777"/>
              <a:ext cx="896130" cy="180294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TextBox 24">
              <a:extLst>
                <a:ext uri="{FF2B5EF4-FFF2-40B4-BE49-F238E27FC236}">
                  <a16:creationId xmlns:a16="http://schemas.microsoft.com/office/drawing/2014/main" id="{84D94C7B-092A-B8EB-D98F-A41AF73E78F1}"/>
                </a:ext>
              </a:extLst>
            </p:cNvPr>
            <p:cNvSpPr txBox="1"/>
            <p:nvPr/>
          </p:nvSpPr>
          <p:spPr>
            <a:xfrm rot="5400000">
              <a:off x="7536617" y="4510399"/>
              <a:ext cx="246177" cy="461665"/>
            </a:xfrm>
            <a:prstGeom prst="rect">
              <a:avLst/>
            </a:prstGeom>
            <a:noFill/>
          </p:spPr>
          <p:txBody>
            <a:bodyPr wrap="none" rtlCol="0">
              <a:spAutoFit/>
            </a:bodyPr>
            <a:lstStyle/>
            <a:p>
              <a:pPr algn="ctr"/>
              <a:r>
                <a:rPr lang="en-US" sz="2400" dirty="0"/>
                <a:t>…</a:t>
              </a:r>
            </a:p>
          </p:txBody>
        </p:sp>
        <p:sp>
          <p:nvSpPr>
            <p:cNvPr id="26" name="TextBox 25">
              <a:extLst>
                <a:ext uri="{FF2B5EF4-FFF2-40B4-BE49-F238E27FC236}">
                  <a16:creationId xmlns:a16="http://schemas.microsoft.com/office/drawing/2014/main" id="{665C477C-5E59-A35D-B8E8-DC02AC5601DF}"/>
                </a:ext>
              </a:extLst>
            </p:cNvPr>
            <p:cNvSpPr txBox="1"/>
            <p:nvPr/>
          </p:nvSpPr>
          <p:spPr>
            <a:xfrm rot="5400000">
              <a:off x="7539848" y="3088033"/>
              <a:ext cx="246177" cy="461665"/>
            </a:xfrm>
            <a:prstGeom prst="rect">
              <a:avLst/>
            </a:prstGeom>
            <a:noFill/>
          </p:spPr>
          <p:txBody>
            <a:bodyPr wrap="none" rtlCol="0">
              <a:spAutoFit/>
            </a:bodyPr>
            <a:lstStyle/>
            <a:p>
              <a:pPr algn="ctr"/>
              <a:r>
                <a:rPr lang="en-US" sz="2400" dirty="0"/>
                <a:t>…</a:t>
              </a:r>
            </a:p>
          </p:txBody>
        </p:sp>
      </p:grpSp>
      <p:sp>
        <p:nvSpPr>
          <p:cNvPr id="27" name="TextBox 26">
            <a:extLst>
              <a:ext uri="{FF2B5EF4-FFF2-40B4-BE49-F238E27FC236}">
                <a16:creationId xmlns:a16="http://schemas.microsoft.com/office/drawing/2014/main" id="{4C2F6F56-29E7-7D35-718F-5A2448301315}"/>
              </a:ext>
            </a:extLst>
          </p:cNvPr>
          <p:cNvSpPr txBox="1"/>
          <p:nvPr/>
        </p:nvSpPr>
        <p:spPr>
          <a:xfrm>
            <a:off x="10150588" y="6457890"/>
            <a:ext cx="1078821" cy="400110"/>
          </a:xfrm>
          <a:prstGeom prst="rect">
            <a:avLst/>
          </a:prstGeom>
          <a:noFill/>
        </p:spPr>
        <p:txBody>
          <a:bodyPr wrap="none" rtlCol="0">
            <a:spAutoFit/>
          </a:bodyPr>
          <a:lstStyle/>
          <a:p>
            <a:r>
              <a:rPr lang="en-US" sz="2000" dirty="0"/>
              <a:t>Memory</a:t>
            </a:r>
          </a:p>
        </p:txBody>
      </p:sp>
      <p:sp>
        <p:nvSpPr>
          <p:cNvPr id="28" name="Rectangle 5">
            <a:extLst>
              <a:ext uri="{FF2B5EF4-FFF2-40B4-BE49-F238E27FC236}">
                <a16:creationId xmlns:a16="http://schemas.microsoft.com/office/drawing/2014/main" id="{2D2D447C-5E26-8C3C-7B51-1FE8DB69687F}"/>
              </a:ext>
            </a:extLst>
          </p:cNvPr>
          <p:cNvSpPr>
            <a:spLocks/>
          </p:cNvSpPr>
          <p:nvPr/>
        </p:nvSpPr>
        <p:spPr bwMode="auto">
          <a:xfrm>
            <a:off x="9130068" y="3338143"/>
            <a:ext cx="896130" cy="989458"/>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nchor="ctr"/>
          <a:lstStyle/>
          <a:p>
            <a:pPr algn="ctr" fontAlgn="base">
              <a:spcBef>
                <a:spcPct val="0"/>
              </a:spcBef>
              <a:spcAft>
                <a:spcPct val="0"/>
              </a:spcAft>
            </a:pPr>
            <a:r>
              <a:rPr lang="en-US"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f</a:t>
            </a:r>
          </a:p>
        </p:txBody>
      </p:sp>
      <p:sp>
        <p:nvSpPr>
          <p:cNvPr id="29" name="Rectangle 5">
            <a:extLst>
              <a:ext uri="{FF2B5EF4-FFF2-40B4-BE49-F238E27FC236}">
                <a16:creationId xmlns:a16="http://schemas.microsoft.com/office/drawing/2014/main" id="{AB6AC79B-0E34-7D9D-4D88-5AAF6EDB6203}"/>
              </a:ext>
            </a:extLst>
          </p:cNvPr>
          <p:cNvSpPr>
            <a:spLocks/>
          </p:cNvSpPr>
          <p:nvPr/>
        </p:nvSpPr>
        <p:spPr bwMode="auto">
          <a:xfrm>
            <a:off x="9130068" y="4327601"/>
            <a:ext cx="896130" cy="989458"/>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nchor="ctr"/>
          <a:lstStyle/>
          <a:p>
            <a:pPr algn="ctr" fontAlgn="base">
              <a:spcBef>
                <a:spcPct val="0"/>
              </a:spcBef>
              <a:spcAft>
                <a:spcPct val="0"/>
              </a:spcAft>
            </a:pPr>
            <a:r>
              <a:rPr lang="en-US" dirty="0">
                <a:solidFill>
                  <a:srgbClr val="000000"/>
                </a:solidFill>
                <a:latin typeface="Menlo" panose="020B0609030804020204" pitchFamily="49" charset="0"/>
                <a:ea typeface="Menlo" panose="020B0609030804020204" pitchFamily="49" charset="0"/>
                <a:cs typeface="Menlo" panose="020B0609030804020204" pitchFamily="49" charset="0"/>
                <a:sym typeface="Courier New Bold" charset="0"/>
              </a:rPr>
              <a:t>g</a:t>
            </a:r>
          </a:p>
        </p:txBody>
      </p:sp>
      <p:sp>
        <p:nvSpPr>
          <p:cNvPr id="31" name="Rounded Rectangle 30">
            <a:extLst>
              <a:ext uri="{FF2B5EF4-FFF2-40B4-BE49-F238E27FC236}">
                <a16:creationId xmlns:a16="http://schemas.microsoft.com/office/drawing/2014/main" id="{3DC40247-E706-5B59-0550-959CADA00715}"/>
              </a:ext>
            </a:extLst>
          </p:cNvPr>
          <p:cNvSpPr/>
          <p:nvPr/>
        </p:nvSpPr>
        <p:spPr>
          <a:xfrm>
            <a:off x="3961142" y="3237204"/>
            <a:ext cx="107678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267B96D4-DC72-4CC7-3120-8DC81DBB1BAF}"/>
              </a:ext>
            </a:extLst>
          </p:cNvPr>
          <p:cNvSpPr txBox="1"/>
          <p:nvPr/>
        </p:nvSpPr>
        <p:spPr>
          <a:xfrm>
            <a:off x="419013" y="2056435"/>
            <a:ext cx="9731575" cy="707886"/>
          </a:xfrm>
          <a:prstGeom prst="rect">
            <a:avLst/>
          </a:prstGeom>
          <a:noFill/>
        </p:spPr>
        <p:txBody>
          <a:bodyPr wrap="square" rtlCol="0">
            <a:spAutoFit/>
          </a:bodyPr>
          <a:lstStyle/>
          <a:p>
            <a:r>
              <a:rPr lang="en-US" sz="2000" dirty="0"/>
              <a:t>A: Call stack is a data structure in memory stores contains temporary variables for the active subroutines (functions) of a computer program.</a:t>
            </a:r>
          </a:p>
        </p:txBody>
      </p:sp>
      <p:sp>
        <p:nvSpPr>
          <p:cNvPr id="33" name="TextBox 32">
            <a:extLst>
              <a:ext uri="{FF2B5EF4-FFF2-40B4-BE49-F238E27FC236}">
                <a16:creationId xmlns:a16="http://schemas.microsoft.com/office/drawing/2014/main" id="{0B9578D2-8817-7560-C931-4D5D09B9F7A2}"/>
              </a:ext>
            </a:extLst>
          </p:cNvPr>
          <p:cNvSpPr txBox="1"/>
          <p:nvPr/>
        </p:nvSpPr>
        <p:spPr>
          <a:xfrm>
            <a:off x="419012" y="1531968"/>
            <a:ext cx="9731575" cy="400110"/>
          </a:xfrm>
          <a:prstGeom prst="rect">
            <a:avLst/>
          </a:prstGeom>
          <a:noFill/>
        </p:spPr>
        <p:txBody>
          <a:bodyPr wrap="none" rtlCol="0">
            <a:spAutoFit/>
          </a:bodyPr>
          <a:lstStyle/>
          <a:p>
            <a:r>
              <a:rPr lang="en-US" sz="2000" dirty="0"/>
              <a:t>Q: When executing function </a:t>
            </a:r>
            <a:r>
              <a:rPr lang="en-US" dirty="0">
                <a:latin typeface="Menlo" panose="020B0609030804020204" pitchFamily="49" charset="0"/>
                <a:ea typeface="Menlo" panose="020B0609030804020204" pitchFamily="49" charset="0"/>
                <a:cs typeface="Menlo" panose="020B0609030804020204" pitchFamily="49" charset="0"/>
              </a:rPr>
              <a:t>g()</a:t>
            </a:r>
            <a:r>
              <a:rPr lang="en-US" sz="2000" dirty="0"/>
              <a:t>, where are the local variable of caller function </a:t>
            </a:r>
            <a:r>
              <a:rPr lang="en-US" dirty="0">
                <a:latin typeface="Menlo" panose="020B0609030804020204" pitchFamily="49" charset="0"/>
                <a:ea typeface="Menlo" panose="020B0609030804020204" pitchFamily="49" charset="0"/>
                <a:cs typeface="Menlo" panose="020B0609030804020204" pitchFamily="49" charset="0"/>
              </a:rPr>
              <a:t>f()</a:t>
            </a:r>
            <a:r>
              <a:rPr lang="en-US" sz="2000" dirty="0"/>
              <a:t> stored?</a:t>
            </a:r>
          </a:p>
        </p:txBody>
      </p:sp>
      <p:sp>
        <p:nvSpPr>
          <p:cNvPr id="34" name="TextBox 33">
            <a:extLst>
              <a:ext uri="{FF2B5EF4-FFF2-40B4-BE49-F238E27FC236}">
                <a16:creationId xmlns:a16="http://schemas.microsoft.com/office/drawing/2014/main" id="{D0DA87CE-72ED-2809-E21E-A3256443C46A}"/>
              </a:ext>
            </a:extLst>
          </p:cNvPr>
          <p:cNvSpPr txBox="1"/>
          <p:nvPr/>
        </p:nvSpPr>
        <p:spPr>
          <a:xfrm>
            <a:off x="2752344" y="3611880"/>
            <a:ext cx="974947" cy="369332"/>
          </a:xfrm>
          <a:prstGeom prst="rect">
            <a:avLst/>
          </a:prstGeom>
          <a:noFill/>
        </p:spPr>
        <p:txBody>
          <a:bodyPr wrap="none" rtlCol="0">
            <a:spAutoFit/>
          </a:bodyPr>
          <a:lstStyle/>
          <a:p>
            <a:r>
              <a:rPr lang="en-US" dirty="0">
                <a:latin typeface="Menlo" panose="020B0609030804020204" pitchFamily="49" charset="0"/>
                <a:ea typeface="Menlo" panose="020B0609030804020204" pitchFamily="49" charset="0"/>
                <a:cs typeface="Menlo" panose="020B0609030804020204" pitchFamily="49" charset="0"/>
              </a:rPr>
              <a:t>f</a:t>
            </a:r>
            <a:r>
              <a:rPr lang="en-US" dirty="0"/>
              <a:t>: Caller</a:t>
            </a:r>
          </a:p>
        </p:txBody>
      </p:sp>
      <p:sp>
        <p:nvSpPr>
          <p:cNvPr id="35" name="TextBox 34">
            <a:extLst>
              <a:ext uri="{FF2B5EF4-FFF2-40B4-BE49-F238E27FC236}">
                <a16:creationId xmlns:a16="http://schemas.microsoft.com/office/drawing/2014/main" id="{B0BA5501-920F-CE1C-88C7-FCDDF33B15F9}"/>
              </a:ext>
            </a:extLst>
          </p:cNvPr>
          <p:cNvSpPr txBox="1"/>
          <p:nvPr/>
        </p:nvSpPr>
        <p:spPr>
          <a:xfrm>
            <a:off x="7081951" y="4888182"/>
            <a:ext cx="1010213" cy="369332"/>
          </a:xfrm>
          <a:prstGeom prst="rect">
            <a:avLst/>
          </a:prstGeom>
          <a:noFill/>
        </p:spPr>
        <p:txBody>
          <a:bodyPr wrap="none" rtlCol="0">
            <a:spAutoFit/>
          </a:bodyPr>
          <a:lstStyle/>
          <a:p>
            <a:r>
              <a:rPr lang="en-US" dirty="0">
                <a:latin typeface="Menlo" panose="020B0609030804020204" pitchFamily="49" charset="0"/>
                <a:ea typeface="Menlo" panose="020B0609030804020204" pitchFamily="49" charset="0"/>
                <a:cs typeface="Menlo" panose="020B0609030804020204" pitchFamily="49" charset="0"/>
              </a:rPr>
              <a:t>g</a:t>
            </a:r>
            <a:r>
              <a:rPr lang="en-US" dirty="0"/>
              <a:t>: Callee</a:t>
            </a:r>
          </a:p>
        </p:txBody>
      </p:sp>
    </p:spTree>
    <p:extLst>
      <p:ext uri="{BB962C8B-B14F-4D97-AF65-F5344CB8AC3E}">
        <p14:creationId xmlns:p14="http://schemas.microsoft.com/office/powerpoint/2010/main" val="65548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3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4"/>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16"/>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29"/>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xit" presetSubtype="0" fill="hold" grpId="1" nodeType="withEffect">
                                  <p:stCondLst>
                                    <p:cond delay="0"/>
                                  </p:stCondLst>
                                  <p:childTnLst>
                                    <p:set>
                                      <p:cBhvr>
                                        <p:cTn id="58" dur="1" fill="hold">
                                          <p:stCondLst>
                                            <p:cond delay="0"/>
                                          </p:stCondLst>
                                        </p:cTn>
                                        <p:tgtEl>
                                          <p:spTgt spid="19"/>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2" nodeType="click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2" nodeType="clickEffect">
                                  <p:stCondLst>
                                    <p:cond delay="0"/>
                                  </p:stCondLst>
                                  <p:childTnLst>
                                    <p:set>
                                      <p:cBhvr>
                                        <p:cTn id="66" dur="1" fill="hold">
                                          <p:stCondLst>
                                            <p:cond delay="0"/>
                                          </p:stCondLst>
                                        </p:cTn>
                                        <p:tgtEl>
                                          <p:spTgt spid="1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21"/>
                                        </p:tgtEl>
                                        <p:attrNameLst>
                                          <p:attrName>style.visibility</p:attrName>
                                        </p:attrNameLst>
                                      </p:cBhvr>
                                      <p:to>
                                        <p:strVal val="hidden"/>
                                      </p:to>
                                    </p:set>
                                  </p:childTnLst>
                                </p:cTn>
                              </p:par>
                              <p:par>
                                <p:cTn id="71" presetID="1" presetClass="exit" presetSubtype="0" fill="hold" grpId="3" nodeType="withEffect">
                                  <p:stCondLst>
                                    <p:cond delay="0"/>
                                  </p:stCondLst>
                                  <p:childTnLst>
                                    <p:set>
                                      <p:cBhvr>
                                        <p:cTn id="72" dur="1" fill="hold">
                                          <p:stCondLst>
                                            <p:cond delay="0"/>
                                          </p:stCondLst>
                                        </p:cTn>
                                        <p:tgtEl>
                                          <p:spTgt spid="16"/>
                                        </p:tgtEl>
                                        <p:attrNameLst>
                                          <p:attrName>style.visibility</p:attrName>
                                        </p:attrNameLst>
                                      </p:cBhvr>
                                      <p:to>
                                        <p:strVal val="hidden"/>
                                      </p:to>
                                    </p:set>
                                  </p:childTnLst>
                                </p:cTn>
                              </p:par>
                              <p:par>
                                <p:cTn id="73" presetID="1" presetClass="exit" presetSubtype="0" fill="hold" grpId="3" nodeType="withEffect">
                                  <p:stCondLst>
                                    <p:cond delay="0"/>
                                  </p:stCondLst>
                                  <p:childTnLst>
                                    <p:set>
                                      <p:cBhvr>
                                        <p:cTn id="74" dur="1" fill="hold">
                                          <p:stCondLst>
                                            <p:cond delay="0"/>
                                          </p:stCondLst>
                                        </p:cTn>
                                        <p:tgtEl>
                                          <p:spTgt spid="29"/>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animBg="1"/>
      <p:bldP spid="13" grpId="1" animBg="1"/>
      <p:bldP spid="14" grpId="0" animBg="1"/>
      <p:bldP spid="14" grpId="1" animBg="1"/>
      <p:bldP spid="16" grpId="0" animBg="1"/>
      <p:bldP spid="16" grpId="1" animBg="1"/>
      <p:bldP spid="16" grpId="2" animBg="1"/>
      <p:bldP spid="16" grpId="3" animBg="1"/>
      <p:bldP spid="19" grpId="0" animBg="1"/>
      <p:bldP spid="19" grpId="1" animBg="1"/>
      <p:bldP spid="21" grpId="0" animBg="1"/>
      <p:bldP spid="21" grpId="1" animBg="1"/>
      <p:bldP spid="22" grpId="0" animBg="1"/>
      <p:bldP spid="27" grpId="0"/>
      <p:bldP spid="28" grpId="0" animBg="1"/>
      <p:bldP spid="29" grpId="0" animBg="1"/>
      <p:bldP spid="29" grpId="1" animBg="1"/>
      <p:bldP spid="29" grpId="2" animBg="1"/>
      <p:bldP spid="29" grpId="3" animBg="1"/>
      <p:bldP spid="31" grpId="0" animBg="1"/>
      <p:bldP spid="31" grpId="1" animBg="1"/>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8856E-98B4-7106-6E2E-A83C9336D526}"/>
              </a:ext>
            </a:extLst>
          </p:cNvPr>
          <p:cNvSpPr>
            <a:spLocks noGrp="1"/>
          </p:cNvSpPr>
          <p:nvPr>
            <p:ph type="title"/>
          </p:nvPr>
        </p:nvSpPr>
        <p:spPr/>
        <p:txBody>
          <a:bodyPr/>
          <a:lstStyle/>
          <a:p>
            <a:r>
              <a:rPr lang="en-US" dirty="0"/>
              <a:t>Call Stack Example</a:t>
            </a:r>
          </a:p>
        </p:txBody>
      </p:sp>
      <p:sp>
        <p:nvSpPr>
          <p:cNvPr id="4" name="TextBox 3">
            <a:extLst>
              <a:ext uri="{FF2B5EF4-FFF2-40B4-BE49-F238E27FC236}">
                <a16:creationId xmlns:a16="http://schemas.microsoft.com/office/drawing/2014/main" id="{74011B06-F4DD-8A3B-C9CD-C2A1B13BD1A5}"/>
              </a:ext>
            </a:extLst>
          </p:cNvPr>
          <p:cNvSpPr txBox="1"/>
          <p:nvPr/>
        </p:nvSpPr>
        <p:spPr>
          <a:xfrm>
            <a:off x="462462" y="1505394"/>
            <a:ext cx="5562418" cy="4278094"/>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rtlCol="0">
            <a:spAutoFit/>
          </a:bodyPr>
          <a:lstStyle/>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stdio.h</a:t>
            </a:r>
            <a:r>
              <a:rPr lang="en-US" sz="1600" dirty="0">
                <a:solidFill>
                  <a:srgbClr val="B42419"/>
                </a:solidFill>
                <a:effectLst/>
                <a:latin typeface="Menlo" panose="020B0609030804020204" pitchFamily="49" charset="0"/>
              </a:rPr>
              <a:t>&gt;</a:t>
            </a:r>
            <a:endParaRPr lang="en-US" sz="1600" dirty="0">
              <a:solidFill>
                <a:srgbClr val="C814C9"/>
              </a:solidFill>
              <a:effectLst/>
              <a:latin typeface="Menlo" panose="020B0609030804020204" pitchFamily="49" charset="0"/>
            </a:endParaRPr>
          </a:p>
          <a:p>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void</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swapA</a:t>
            </a:r>
            <a:r>
              <a:rPr lang="en-US" sz="1600" dirty="0">
                <a:solidFill>
                  <a:srgbClr val="000000"/>
                </a:solidFill>
                <a:effectLst/>
                <a:latin typeface="Menlo" panose="020B0609030804020204" pitchFamily="49" charset="0"/>
              </a:rPr>
              <a:t>(</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x,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y){</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tmp</a:t>
            </a:r>
            <a:r>
              <a:rPr lang="en-US" sz="1600" dirty="0">
                <a:solidFill>
                  <a:srgbClr val="000000"/>
                </a:solidFill>
                <a:effectLst/>
                <a:latin typeface="Menlo" panose="020B0609030804020204" pitchFamily="49" charset="0"/>
              </a:rPr>
              <a:t>=x;</a:t>
            </a:r>
          </a:p>
          <a:p>
            <a:r>
              <a:rPr lang="en-US" sz="1600" dirty="0">
                <a:solidFill>
                  <a:srgbClr val="000000"/>
                </a:solidFill>
                <a:effectLst/>
                <a:latin typeface="Menlo" panose="020B0609030804020204" pitchFamily="49" charset="0"/>
              </a:rPr>
              <a:t>  x = y;</a:t>
            </a:r>
          </a:p>
          <a:p>
            <a:r>
              <a:rPr lang="en-US" sz="1600" dirty="0">
                <a:solidFill>
                  <a:srgbClr val="000000"/>
                </a:solidFill>
                <a:effectLst/>
                <a:latin typeface="Menlo" panose="020B0609030804020204" pitchFamily="49" charset="0"/>
              </a:rPr>
              <a:t>  y = </a:t>
            </a:r>
            <a:r>
              <a:rPr lang="en-US" sz="1600" dirty="0" err="1">
                <a:solidFill>
                  <a:srgbClr val="000000"/>
                </a:solidFill>
                <a:effectLst/>
                <a:latin typeface="Menlo" panose="020B0609030804020204" pitchFamily="49" charset="0"/>
              </a:rPr>
              <a:t>tmp</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"in </a:t>
            </a:r>
            <a:r>
              <a:rPr lang="en-US" sz="1600" dirty="0" err="1">
                <a:solidFill>
                  <a:srgbClr val="B42419"/>
                </a:solidFill>
                <a:effectLst/>
                <a:latin typeface="Menlo" panose="020B0609030804020204" pitchFamily="49" charset="0"/>
              </a:rPr>
              <a:t>swapA</a:t>
            </a:r>
            <a:r>
              <a:rPr lang="en-US" sz="1600" dirty="0">
                <a:solidFill>
                  <a:srgbClr val="B42419"/>
                </a:solidFill>
                <a:effectLst/>
                <a:latin typeface="Menlo" panose="020B0609030804020204" pitchFamily="49" charset="0"/>
              </a:rPr>
              <a:t>: x =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y = </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t>
            </a:r>
          </a:p>
          <a:p>
            <a:r>
              <a:rPr lang="en-US" sz="1600" dirty="0">
                <a:solidFill>
                  <a:srgbClr val="000000"/>
                </a:solidFill>
                <a:latin typeface="Menlo" panose="020B0609030804020204" pitchFamily="49" charset="0"/>
              </a:rPr>
              <a:t>	</a:t>
            </a:r>
            <a:r>
              <a:rPr lang="en-US" sz="1600" dirty="0">
                <a:solidFill>
                  <a:srgbClr val="000000"/>
                </a:solidFill>
                <a:effectLst/>
                <a:latin typeface="Menlo" panose="020B0609030804020204" pitchFamily="49" charset="0"/>
              </a:rPr>
              <a:t>x, y);</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p>
          <a:p>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main() {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 = </a:t>
            </a:r>
            <a:r>
              <a:rPr lang="en-US" sz="1600" dirty="0">
                <a:solidFill>
                  <a:srgbClr val="B42419"/>
                </a:solidFill>
                <a:effectLst/>
                <a:latin typeface="Menlo" panose="020B0609030804020204" pitchFamily="49" charset="0"/>
              </a:rPr>
              <a:t>7</a:t>
            </a:r>
            <a:r>
              <a:rPr lang="en-US" sz="1600" dirty="0">
                <a:solidFill>
                  <a:srgbClr val="000000"/>
                </a:solidFill>
                <a:effectLst/>
                <a:latin typeface="Menlo" panose="020B0609030804020204" pitchFamily="49" charset="0"/>
              </a:rPr>
              <a:t>, b = </a:t>
            </a:r>
            <a:r>
              <a:rPr lang="en-US" sz="1600" dirty="0">
                <a:solidFill>
                  <a:srgbClr val="B42419"/>
                </a:solidFill>
                <a:effectLst/>
                <a:latin typeface="Menlo" panose="020B0609030804020204" pitchFamily="49" charset="0"/>
              </a:rPr>
              <a:t>13</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swapA</a:t>
            </a:r>
            <a:r>
              <a:rPr lang="en-US" sz="1600" dirty="0">
                <a:solidFill>
                  <a:srgbClr val="000000"/>
                </a:solidFill>
                <a:effectLst/>
                <a:latin typeface="Menlo" panose="020B0609030804020204" pitchFamily="49" charset="0"/>
              </a:rPr>
              <a:t>(a, b);</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"in main: a =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b = </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t>
            </a:r>
          </a:p>
          <a:p>
            <a:r>
              <a:rPr lang="en-US" sz="1600" dirty="0">
                <a:solidFill>
                  <a:srgbClr val="000000"/>
                </a:solidFill>
                <a:latin typeface="Menlo" panose="020B0609030804020204" pitchFamily="49" charset="0"/>
              </a:rPr>
              <a:t>	</a:t>
            </a:r>
            <a:r>
              <a:rPr lang="en-US" sz="1600" dirty="0">
                <a:solidFill>
                  <a:srgbClr val="000000"/>
                </a:solidFill>
                <a:effectLst/>
                <a:latin typeface="Menlo" panose="020B0609030804020204" pitchFamily="49" charset="0"/>
              </a:rPr>
              <a:t>a, b);</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0</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a:t>
            </a:r>
          </a:p>
        </p:txBody>
      </p:sp>
      <p:sp>
        <p:nvSpPr>
          <p:cNvPr id="12" name="Rounded Rectangle 11">
            <a:extLst>
              <a:ext uri="{FF2B5EF4-FFF2-40B4-BE49-F238E27FC236}">
                <a16:creationId xmlns:a16="http://schemas.microsoft.com/office/drawing/2014/main" id="{DBF8AE8A-1FF4-B3A6-E666-8F676B5885E9}"/>
              </a:ext>
            </a:extLst>
          </p:cNvPr>
          <p:cNvSpPr/>
          <p:nvPr/>
        </p:nvSpPr>
        <p:spPr>
          <a:xfrm>
            <a:off x="736781" y="4199746"/>
            <a:ext cx="2418262"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42B3553E-1E0E-792A-EB7A-F2EF3CF49618}"/>
              </a:ext>
            </a:extLst>
          </p:cNvPr>
          <p:cNvSpPr/>
          <p:nvPr/>
        </p:nvSpPr>
        <p:spPr>
          <a:xfrm>
            <a:off x="736781" y="4465786"/>
            <a:ext cx="2418262"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B955D6B8-56CA-244E-BA0B-F0079FD41CAD}"/>
              </a:ext>
            </a:extLst>
          </p:cNvPr>
          <p:cNvSpPr/>
          <p:nvPr/>
        </p:nvSpPr>
        <p:spPr>
          <a:xfrm>
            <a:off x="1113426" y="1992957"/>
            <a:ext cx="2418262"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87A9704B-FAC3-7CB4-8300-05FE51BFCC38}"/>
              </a:ext>
            </a:extLst>
          </p:cNvPr>
          <p:cNvSpPr/>
          <p:nvPr/>
        </p:nvSpPr>
        <p:spPr>
          <a:xfrm>
            <a:off x="741860" y="2258997"/>
            <a:ext cx="147302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9917B737-5171-8B13-59FE-6DAD65347709}"/>
              </a:ext>
            </a:extLst>
          </p:cNvPr>
          <p:cNvSpPr/>
          <p:nvPr/>
        </p:nvSpPr>
        <p:spPr>
          <a:xfrm>
            <a:off x="741860" y="2514354"/>
            <a:ext cx="147302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9F2D7DD7-CBA3-5D63-8AD9-E78BC689B895}"/>
              </a:ext>
            </a:extLst>
          </p:cNvPr>
          <p:cNvSpPr/>
          <p:nvPr/>
        </p:nvSpPr>
        <p:spPr>
          <a:xfrm>
            <a:off x="741860" y="2742974"/>
            <a:ext cx="147302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E08720F-6560-B88B-C093-059160633DF9}"/>
              </a:ext>
            </a:extLst>
          </p:cNvPr>
          <p:cNvGrpSpPr/>
          <p:nvPr/>
        </p:nvGrpSpPr>
        <p:grpSpPr>
          <a:xfrm>
            <a:off x="6964818" y="1793616"/>
            <a:ext cx="896130" cy="4488810"/>
            <a:chOff x="7211641" y="2964924"/>
            <a:chExt cx="896130" cy="2033799"/>
          </a:xfrm>
        </p:grpSpPr>
        <p:sp>
          <p:nvSpPr>
            <p:cNvPr id="19" name="Rectangle 18">
              <a:extLst>
                <a:ext uri="{FF2B5EF4-FFF2-40B4-BE49-F238E27FC236}">
                  <a16:creationId xmlns:a16="http://schemas.microsoft.com/office/drawing/2014/main" id="{FEEBE86B-7E0C-0406-4C6D-537EDB07B31D}"/>
                </a:ext>
              </a:extLst>
            </p:cNvPr>
            <p:cNvSpPr/>
            <p:nvPr/>
          </p:nvSpPr>
          <p:spPr>
            <a:xfrm>
              <a:off x="7211641" y="2964924"/>
              <a:ext cx="896130" cy="20337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169193CF-0870-E858-82B5-92AD7867096F}"/>
                </a:ext>
              </a:extLst>
            </p:cNvPr>
            <p:cNvSpPr txBox="1"/>
            <p:nvPr/>
          </p:nvSpPr>
          <p:spPr>
            <a:xfrm rot="5400000">
              <a:off x="7536617" y="4510399"/>
              <a:ext cx="246177" cy="461665"/>
            </a:xfrm>
            <a:prstGeom prst="rect">
              <a:avLst/>
            </a:prstGeom>
            <a:noFill/>
          </p:spPr>
          <p:txBody>
            <a:bodyPr wrap="none" rtlCol="0">
              <a:spAutoFit/>
            </a:bodyPr>
            <a:lstStyle/>
            <a:p>
              <a:pPr algn="ctr"/>
              <a:r>
                <a:rPr lang="en-US" sz="2400" dirty="0"/>
                <a:t>…</a:t>
              </a:r>
            </a:p>
          </p:txBody>
        </p:sp>
        <p:sp>
          <p:nvSpPr>
            <p:cNvPr id="21" name="TextBox 20">
              <a:extLst>
                <a:ext uri="{FF2B5EF4-FFF2-40B4-BE49-F238E27FC236}">
                  <a16:creationId xmlns:a16="http://schemas.microsoft.com/office/drawing/2014/main" id="{032A568C-3DEE-25B8-6206-33146F40E196}"/>
                </a:ext>
              </a:extLst>
            </p:cNvPr>
            <p:cNvSpPr txBox="1"/>
            <p:nvPr/>
          </p:nvSpPr>
          <p:spPr>
            <a:xfrm rot="5400000">
              <a:off x="7539848" y="2885026"/>
              <a:ext cx="246177" cy="461665"/>
            </a:xfrm>
            <a:prstGeom prst="rect">
              <a:avLst/>
            </a:prstGeom>
            <a:noFill/>
          </p:spPr>
          <p:txBody>
            <a:bodyPr wrap="none" rtlCol="0">
              <a:spAutoFit/>
            </a:bodyPr>
            <a:lstStyle/>
            <a:p>
              <a:pPr algn="ctr"/>
              <a:r>
                <a:rPr lang="en-US" sz="2400" dirty="0"/>
                <a:t>…</a:t>
              </a:r>
            </a:p>
          </p:txBody>
        </p:sp>
      </p:grpSp>
      <p:sp>
        <p:nvSpPr>
          <p:cNvPr id="22" name="Rectangle 21">
            <a:extLst>
              <a:ext uri="{FF2B5EF4-FFF2-40B4-BE49-F238E27FC236}">
                <a16:creationId xmlns:a16="http://schemas.microsoft.com/office/drawing/2014/main" id="{094626DB-61ED-84C6-A8ED-B8B35B2AF6DA}"/>
              </a:ext>
            </a:extLst>
          </p:cNvPr>
          <p:cNvSpPr/>
          <p:nvPr/>
        </p:nvSpPr>
        <p:spPr>
          <a:xfrm>
            <a:off x="6964817" y="2413649"/>
            <a:ext cx="896129" cy="1391363"/>
          </a:xfrm>
          <a:prstGeom prst="rect">
            <a:avLst/>
          </a:prstGeom>
          <a:solidFill>
            <a:schemeClr val="accent6">
              <a:lumMod val="40000"/>
              <a:lumOff val="60000"/>
            </a:schemeClr>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3" name="TextBox 22">
            <a:extLst>
              <a:ext uri="{FF2B5EF4-FFF2-40B4-BE49-F238E27FC236}">
                <a16:creationId xmlns:a16="http://schemas.microsoft.com/office/drawing/2014/main" id="{A7E7A7C9-91AE-9D8B-5B15-163CC204402A}"/>
              </a:ext>
            </a:extLst>
          </p:cNvPr>
          <p:cNvSpPr txBox="1"/>
          <p:nvPr/>
        </p:nvSpPr>
        <p:spPr>
          <a:xfrm>
            <a:off x="6827801" y="1394878"/>
            <a:ext cx="1078821" cy="400110"/>
          </a:xfrm>
          <a:prstGeom prst="rect">
            <a:avLst/>
          </a:prstGeom>
          <a:noFill/>
        </p:spPr>
        <p:txBody>
          <a:bodyPr wrap="none" rtlCol="0">
            <a:spAutoFit/>
          </a:bodyPr>
          <a:lstStyle/>
          <a:p>
            <a:r>
              <a:rPr lang="en-US" sz="2000" dirty="0"/>
              <a:t>Memory</a:t>
            </a:r>
          </a:p>
        </p:txBody>
      </p:sp>
      <p:sp>
        <p:nvSpPr>
          <p:cNvPr id="24" name="TextBox 23">
            <a:extLst>
              <a:ext uri="{FF2B5EF4-FFF2-40B4-BE49-F238E27FC236}">
                <a16:creationId xmlns:a16="http://schemas.microsoft.com/office/drawing/2014/main" id="{E6A7DEB4-3BE2-7367-9342-6D223B79522E}"/>
              </a:ext>
            </a:extLst>
          </p:cNvPr>
          <p:cNvSpPr txBox="1"/>
          <p:nvPr/>
        </p:nvSpPr>
        <p:spPr>
          <a:xfrm>
            <a:off x="7952297" y="6082371"/>
            <a:ext cx="2186111" cy="369332"/>
          </a:xfrm>
          <a:prstGeom prst="rect">
            <a:avLst/>
          </a:prstGeom>
          <a:noFill/>
        </p:spPr>
        <p:txBody>
          <a:bodyPr wrap="none" rtlCol="0">
            <a:spAutoFit/>
          </a:bodyPr>
          <a:lstStyle/>
          <a:p>
            <a:r>
              <a:rPr lang="en-US" dirty="0"/>
              <a:t>Low address (</a:t>
            </a:r>
            <a:r>
              <a:rPr lang="en-US" sz="1400" dirty="0">
                <a:latin typeface="Menlo" panose="020B0609030804020204" pitchFamily="49" charset="0"/>
                <a:ea typeface="Menlo" panose="020B0609030804020204" pitchFamily="49" charset="0"/>
                <a:cs typeface="Menlo" panose="020B0609030804020204" pitchFamily="49" charset="0"/>
              </a:rPr>
              <a:t>000…00</a:t>
            </a:r>
            <a:r>
              <a:rPr lang="en-US" dirty="0"/>
              <a:t>)</a:t>
            </a:r>
          </a:p>
        </p:txBody>
      </p:sp>
      <p:sp>
        <p:nvSpPr>
          <p:cNvPr id="25" name="TextBox 24">
            <a:extLst>
              <a:ext uri="{FF2B5EF4-FFF2-40B4-BE49-F238E27FC236}">
                <a16:creationId xmlns:a16="http://schemas.microsoft.com/office/drawing/2014/main" id="{E7321FCA-C2BC-B92E-90D6-FD5993032A10}"/>
              </a:ext>
            </a:extLst>
          </p:cNvPr>
          <p:cNvSpPr txBox="1"/>
          <p:nvPr/>
        </p:nvSpPr>
        <p:spPr>
          <a:xfrm>
            <a:off x="7952297" y="1608950"/>
            <a:ext cx="2230291" cy="369332"/>
          </a:xfrm>
          <a:prstGeom prst="rect">
            <a:avLst/>
          </a:prstGeom>
          <a:noFill/>
        </p:spPr>
        <p:txBody>
          <a:bodyPr wrap="none" rtlCol="0">
            <a:spAutoFit/>
          </a:bodyPr>
          <a:lstStyle/>
          <a:p>
            <a:r>
              <a:rPr lang="en-US" dirty="0"/>
              <a:t>High address (</a:t>
            </a:r>
            <a:r>
              <a:rPr lang="en-US" sz="1400" dirty="0" err="1">
                <a:latin typeface="Menlo" panose="020B0609030804020204" pitchFamily="49" charset="0"/>
                <a:ea typeface="Menlo" panose="020B0609030804020204" pitchFamily="49" charset="0"/>
                <a:cs typeface="Menlo" panose="020B0609030804020204" pitchFamily="49" charset="0"/>
              </a:rPr>
              <a:t>fff</a:t>
            </a:r>
            <a:r>
              <a:rPr lang="en-US" sz="1400" dirty="0">
                <a:latin typeface="Menlo" panose="020B0609030804020204" pitchFamily="49" charset="0"/>
                <a:ea typeface="Menlo" panose="020B0609030804020204" pitchFamily="49" charset="0"/>
                <a:cs typeface="Menlo" panose="020B0609030804020204" pitchFamily="49" charset="0"/>
              </a:rPr>
              <a:t>…ff</a:t>
            </a:r>
            <a:r>
              <a:rPr lang="en-US" dirty="0"/>
              <a:t>)</a:t>
            </a:r>
          </a:p>
        </p:txBody>
      </p:sp>
      <p:sp>
        <p:nvSpPr>
          <p:cNvPr id="28" name="TextBox 27">
            <a:extLst>
              <a:ext uri="{FF2B5EF4-FFF2-40B4-BE49-F238E27FC236}">
                <a16:creationId xmlns:a16="http://schemas.microsoft.com/office/drawing/2014/main" id="{32FF888C-6D4D-EE42-7CE3-4C3527D96D6C}"/>
              </a:ext>
            </a:extLst>
          </p:cNvPr>
          <p:cNvSpPr txBox="1"/>
          <p:nvPr/>
        </p:nvSpPr>
        <p:spPr>
          <a:xfrm>
            <a:off x="8230538" y="2873907"/>
            <a:ext cx="2337435" cy="400110"/>
          </a:xfrm>
          <a:prstGeom prst="rect">
            <a:avLst/>
          </a:prstGeom>
          <a:noFill/>
        </p:spPr>
        <p:txBody>
          <a:bodyPr wrap="none" rtlCol="0">
            <a:spAutoFit/>
          </a:bodyPr>
          <a:lstStyle/>
          <a:p>
            <a:r>
              <a:rPr lang="en-US" sz="2000" dirty="0">
                <a:solidFill>
                  <a:schemeClr val="accent6">
                    <a:lumMod val="75000"/>
                  </a:schemeClr>
                </a:solidFill>
              </a:rPr>
              <a:t>stack frame of </a:t>
            </a:r>
            <a:r>
              <a:rPr lang="en-US" sz="2000"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main</a:t>
            </a:r>
          </a:p>
        </p:txBody>
      </p:sp>
      <p:sp>
        <p:nvSpPr>
          <p:cNvPr id="29" name="Rectangle 28">
            <a:extLst>
              <a:ext uri="{FF2B5EF4-FFF2-40B4-BE49-F238E27FC236}">
                <a16:creationId xmlns:a16="http://schemas.microsoft.com/office/drawing/2014/main" id="{ECF31C7D-B9FD-E2B4-B5E8-670FB85148D1}"/>
              </a:ext>
            </a:extLst>
          </p:cNvPr>
          <p:cNvSpPr/>
          <p:nvPr/>
        </p:nvSpPr>
        <p:spPr>
          <a:xfrm>
            <a:off x="6964815" y="3805012"/>
            <a:ext cx="896129" cy="1391363"/>
          </a:xfrm>
          <a:prstGeom prst="rect">
            <a:avLst/>
          </a:prstGeom>
          <a:solidFill>
            <a:schemeClr val="accent1">
              <a:lumMod val="40000"/>
              <a:lumOff val="60000"/>
            </a:schemeClr>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1" name="TextBox 30">
            <a:extLst>
              <a:ext uri="{FF2B5EF4-FFF2-40B4-BE49-F238E27FC236}">
                <a16:creationId xmlns:a16="http://schemas.microsoft.com/office/drawing/2014/main" id="{50C4EB3A-C4F4-A202-F505-175DBE5D1540}"/>
              </a:ext>
            </a:extLst>
          </p:cNvPr>
          <p:cNvSpPr txBox="1"/>
          <p:nvPr/>
        </p:nvSpPr>
        <p:spPr>
          <a:xfrm>
            <a:off x="8210218" y="4296308"/>
            <a:ext cx="2491323" cy="400110"/>
          </a:xfrm>
          <a:prstGeom prst="rect">
            <a:avLst/>
          </a:prstGeom>
          <a:noFill/>
        </p:spPr>
        <p:txBody>
          <a:bodyPr wrap="none" rtlCol="0">
            <a:spAutoFit/>
          </a:bodyPr>
          <a:lstStyle/>
          <a:p>
            <a:r>
              <a:rPr lang="en-US" sz="2000" dirty="0">
                <a:solidFill>
                  <a:schemeClr val="accent1">
                    <a:lumMod val="75000"/>
                  </a:schemeClr>
                </a:solidFill>
              </a:rPr>
              <a:t>stack frame of </a:t>
            </a:r>
            <a:r>
              <a:rPr lang="en-US" sz="2000" dirty="0" err="1">
                <a:solidFill>
                  <a:schemeClr val="accent1">
                    <a:lumMod val="75000"/>
                  </a:schemeClr>
                </a:solidFill>
                <a:latin typeface="Menlo" panose="020B0609030804020204" pitchFamily="49" charset="0"/>
                <a:ea typeface="Menlo" panose="020B0609030804020204" pitchFamily="49" charset="0"/>
                <a:cs typeface="Menlo" panose="020B0609030804020204" pitchFamily="49" charset="0"/>
              </a:rPr>
              <a:t>swapA</a:t>
            </a:r>
            <a:endParaRPr lang="en-US" sz="2000" dirty="0">
              <a:solidFill>
                <a:schemeClr val="accent1">
                  <a:lumMod val="75000"/>
                </a:schemeClr>
              </a:solidFill>
              <a:latin typeface="Menlo" panose="020B0609030804020204" pitchFamily="49" charset="0"/>
              <a:ea typeface="Menlo" panose="020B0609030804020204" pitchFamily="49" charset="0"/>
              <a:cs typeface="Menlo" panose="020B0609030804020204" pitchFamily="49" charset="0"/>
            </a:endParaRPr>
          </a:p>
        </p:txBody>
      </p:sp>
      <p:sp>
        <p:nvSpPr>
          <p:cNvPr id="32" name="Right Brace 31">
            <a:extLst>
              <a:ext uri="{FF2B5EF4-FFF2-40B4-BE49-F238E27FC236}">
                <a16:creationId xmlns:a16="http://schemas.microsoft.com/office/drawing/2014/main" id="{2247E112-A94B-9F44-EBBC-AB9691A22AB5}"/>
              </a:ext>
            </a:extLst>
          </p:cNvPr>
          <p:cNvSpPr/>
          <p:nvPr/>
        </p:nvSpPr>
        <p:spPr>
          <a:xfrm>
            <a:off x="7932389" y="2413649"/>
            <a:ext cx="278237" cy="1376128"/>
          </a:xfrm>
          <a:prstGeom prst="rightBrace">
            <a:avLst>
              <a:gd name="adj1" fmla="val 30242"/>
              <a:gd name="adj2" fmla="val 50000"/>
            </a:avLst>
          </a:prstGeom>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Right Brace 32">
            <a:extLst>
              <a:ext uri="{FF2B5EF4-FFF2-40B4-BE49-F238E27FC236}">
                <a16:creationId xmlns:a16="http://schemas.microsoft.com/office/drawing/2014/main" id="{F88435AD-644B-11AB-2530-EF77CD93F355}"/>
              </a:ext>
            </a:extLst>
          </p:cNvPr>
          <p:cNvSpPr/>
          <p:nvPr/>
        </p:nvSpPr>
        <p:spPr>
          <a:xfrm>
            <a:off x="7931981" y="3820246"/>
            <a:ext cx="278237" cy="1376128"/>
          </a:xfrm>
          <a:prstGeom prst="rightBrace">
            <a:avLst>
              <a:gd name="adj1" fmla="val 30242"/>
              <a:gd name="adj2" fmla="val 50000"/>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Rectangle 4">
            <a:extLst>
              <a:ext uri="{FF2B5EF4-FFF2-40B4-BE49-F238E27FC236}">
                <a16:creationId xmlns:a16="http://schemas.microsoft.com/office/drawing/2014/main" id="{B29828AB-8B8B-E861-D3F1-4F4897B20EFE}"/>
              </a:ext>
            </a:extLst>
          </p:cNvPr>
          <p:cNvSpPr/>
          <p:nvPr/>
        </p:nvSpPr>
        <p:spPr>
          <a:xfrm>
            <a:off x="6964815" y="2650608"/>
            <a:ext cx="896129" cy="27432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a=7</a:t>
            </a:r>
          </a:p>
        </p:txBody>
      </p:sp>
      <p:sp>
        <p:nvSpPr>
          <p:cNvPr id="6" name="Rectangle 5">
            <a:extLst>
              <a:ext uri="{FF2B5EF4-FFF2-40B4-BE49-F238E27FC236}">
                <a16:creationId xmlns:a16="http://schemas.microsoft.com/office/drawing/2014/main" id="{6F83262A-FF1F-8942-034B-91E695EEF503}"/>
              </a:ext>
            </a:extLst>
          </p:cNvPr>
          <p:cNvSpPr/>
          <p:nvPr/>
        </p:nvSpPr>
        <p:spPr>
          <a:xfrm>
            <a:off x="6964815" y="2927578"/>
            <a:ext cx="892309" cy="27432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b=13</a:t>
            </a:r>
          </a:p>
        </p:txBody>
      </p:sp>
      <p:sp>
        <p:nvSpPr>
          <p:cNvPr id="7" name="Rectangle 6">
            <a:extLst>
              <a:ext uri="{FF2B5EF4-FFF2-40B4-BE49-F238E27FC236}">
                <a16:creationId xmlns:a16="http://schemas.microsoft.com/office/drawing/2014/main" id="{4BFA9CC2-3320-B00C-7AB8-A9BCA826B1BF}"/>
              </a:ext>
            </a:extLst>
          </p:cNvPr>
          <p:cNvSpPr/>
          <p:nvPr/>
        </p:nvSpPr>
        <p:spPr>
          <a:xfrm>
            <a:off x="6964812" y="3994186"/>
            <a:ext cx="893533" cy="27432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x=7</a:t>
            </a:r>
          </a:p>
        </p:txBody>
      </p:sp>
      <p:sp>
        <p:nvSpPr>
          <p:cNvPr id="8" name="Rectangle 7">
            <a:extLst>
              <a:ext uri="{FF2B5EF4-FFF2-40B4-BE49-F238E27FC236}">
                <a16:creationId xmlns:a16="http://schemas.microsoft.com/office/drawing/2014/main" id="{BB4B68F2-A52F-1AFB-5B40-96139023A4C1}"/>
              </a:ext>
            </a:extLst>
          </p:cNvPr>
          <p:cNvSpPr/>
          <p:nvPr/>
        </p:nvSpPr>
        <p:spPr>
          <a:xfrm>
            <a:off x="6964811" y="4270966"/>
            <a:ext cx="892308" cy="27432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y=13</a:t>
            </a:r>
          </a:p>
        </p:txBody>
      </p:sp>
      <p:sp>
        <p:nvSpPr>
          <p:cNvPr id="9" name="Rectangle 8">
            <a:extLst>
              <a:ext uri="{FF2B5EF4-FFF2-40B4-BE49-F238E27FC236}">
                <a16:creationId xmlns:a16="http://schemas.microsoft.com/office/drawing/2014/main" id="{474DA99B-CEF7-9E61-852E-C4BD1435DA80}"/>
              </a:ext>
            </a:extLst>
          </p:cNvPr>
          <p:cNvSpPr/>
          <p:nvPr/>
        </p:nvSpPr>
        <p:spPr>
          <a:xfrm>
            <a:off x="6964811" y="4545286"/>
            <a:ext cx="896129" cy="27432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err="1">
                <a:latin typeface="Menlo" panose="020B0609030804020204" pitchFamily="49" charset="0"/>
                <a:ea typeface="Menlo" panose="020B0609030804020204" pitchFamily="49" charset="0"/>
                <a:cs typeface="Menlo" panose="020B0609030804020204" pitchFamily="49" charset="0"/>
              </a:rPr>
              <a:t>tmp</a:t>
            </a:r>
            <a:r>
              <a:rPr lang="en-US" dirty="0">
                <a:latin typeface="Menlo" panose="020B0609030804020204" pitchFamily="49" charset="0"/>
                <a:ea typeface="Menlo" panose="020B0609030804020204" pitchFamily="49" charset="0"/>
                <a:cs typeface="Menlo" panose="020B0609030804020204" pitchFamily="49" charset="0"/>
              </a:rPr>
              <a:t>=7</a:t>
            </a:r>
          </a:p>
        </p:txBody>
      </p:sp>
      <p:sp>
        <p:nvSpPr>
          <p:cNvPr id="10" name="Rectangle 9">
            <a:extLst>
              <a:ext uri="{FF2B5EF4-FFF2-40B4-BE49-F238E27FC236}">
                <a16:creationId xmlns:a16="http://schemas.microsoft.com/office/drawing/2014/main" id="{31B83A12-7A8F-349F-1321-9758D727D921}"/>
              </a:ext>
            </a:extLst>
          </p:cNvPr>
          <p:cNvSpPr/>
          <p:nvPr/>
        </p:nvSpPr>
        <p:spPr>
          <a:xfrm>
            <a:off x="6964812" y="3994186"/>
            <a:ext cx="892308" cy="27432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x=13</a:t>
            </a:r>
          </a:p>
        </p:txBody>
      </p:sp>
      <p:sp>
        <p:nvSpPr>
          <p:cNvPr id="11" name="Rectangle 10">
            <a:extLst>
              <a:ext uri="{FF2B5EF4-FFF2-40B4-BE49-F238E27FC236}">
                <a16:creationId xmlns:a16="http://schemas.microsoft.com/office/drawing/2014/main" id="{CE4D7102-5627-88DA-3FBE-0ADACAABE641}"/>
              </a:ext>
            </a:extLst>
          </p:cNvPr>
          <p:cNvSpPr/>
          <p:nvPr/>
        </p:nvSpPr>
        <p:spPr>
          <a:xfrm>
            <a:off x="6964812" y="4270966"/>
            <a:ext cx="892308" cy="27432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y=7</a:t>
            </a:r>
          </a:p>
        </p:txBody>
      </p:sp>
      <p:sp>
        <p:nvSpPr>
          <p:cNvPr id="34" name="Rounded Rectangle 33">
            <a:extLst>
              <a:ext uri="{FF2B5EF4-FFF2-40B4-BE49-F238E27FC236}">
                <a16:creationId xmlns:a16="http://schemas.microsoft.com/office/drawing/2014/main" id="{6D5CCB1A-A6B7-896D-DDC5-D90650744D5F}"/>
              </a:ext>
            </a:extLst>
          </p:cNvPr>
          <p:cNvSpPr/>
          <p:nvPr/>
        </p:nvSpPr>
        <p:spPr>
          <a:xfrm>
            <a:off x="736780" y="4691651"/>
            <a:ext cx="4338139" cy="562524"/>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a:extLst>
              <a:ext uri="{FF2B5EF4-FFF2-40B4-BE49-F238E27FC236}">
                <a16:creationId xmlns:a16="http://schemas.microsoft.com/office/drawing/2014/main" id="{7483F726-51FE-29E5-45F4-C095BF65A0D4}"/>
              </a:ext>
            </a:extLst>
          </p:cNvPr>
          <p:cNvSpPr/>
          <p:nvPr/>
        </p:nvSpPr>
        <p:spPr>
          <a:xfrm>
            <a:off x="736780" y="3017277"/>
            <a:ext cx="4475300" cy="53375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838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dissolve">
                                      <p:cBhvr>
                                        <p:cTn id="11" dur="500"/>
                                        <p:tgtEl>
                                          <p:spTgt spid="5"/>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dissolve">
                                      <p:cBhvr>
                                        <p:cTn id="20" dur="500"/>
                                        <p:tgtEl>
                                          <p:spTgt spid="13"/>
                                        </p:tgtEl>
                                      </p:cBhvr>
                                    </p:animEffect>
                                  </p:childTnLst>
                                </p:cTn>
                              </p:par>
                              <p:par>
                                <p:cTn id="21" presetID="1" presetClass="exit" presetSubtype="0" fill="hold" grpId="1" nodeType="withEffect">
                                  <p:stCondLst>
                                    <p:cond delay="0"/>
                                  </p:stCondLst>
                                  <p:childTnLst>
                                    <p:set>
                                      <p:cBhvr>
                                        <p:cTn id="22" dur="1" fill="hold">
                                          <p:stCondLst>
                                            <p:cond delay="0"/>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dissolve">
                                      <p:cBhvr>
                                        <p:cTn id="27" dur="500"/>
                                        <p:tgtEl>
                                          <p:spTgt spid="14"/>
                                        </p:tgtEl>
                                      </p:cBhvr>
                                    </p:animEffect>
                                  </p:childTnLst>
                                </p:cTn>
                              </p:par>
                              <p:par>
                                <p:cTn id="28" presetID="1" presetClass="exit" presetSubtype="0" fill="hold" grpId="1" nodeType="withEffect">
                                  <p:stCondLst>
                                    <p:cond delay="0"/>
                                  </p:stCondLst>
                                  <p:childTnLst>
                                    <p:set>
                                      <p:cBhvr>
                                        <p:cTn id="29" dur="1" fill="hold">
                                          <p:stCondLst>
                                            <p:cond delay="0"/>
                                          </p:stCondLst>
                                        </p:cTn>
                                        <p:tgtEl>
                                          <p:spTgt spid="13"/>
                                        </p:tgtEl>
                                        <p:attrNameLst>
                                          <p:attrName>style.visibility</p:attrName>
                                        </p:attrNameLst>
                                      </p:cBhvr>
                                      <p:to>
                                        <p:strVal val="hidden"/>
                                      </p:to>
                                    </p:set>
                                  </p:childTnLst>
                                </p:cTn>
                              </p:par>
                              <p:par>
                                <p:cTn id="30" presetID="9"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dissolve">
                                      <p:cBhvr>
                                        <p:cTn id="32" dur="500"/>
                                        <p:tgtEl>
                                          <p:spTgt spid="33"/>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dissolve">
                                      <p:cBhvr>
                                        <p:cTn id="35" dur="500"/>
                                        <p:tgtEl>
                                          <p:spTgt spid="31"/>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dissolve">
                                      <p:cBhvr>
                                        <p:cTn id="38" dur="500"/>
                                        <p:tgtEl>
                                          <p:spTgt spid="29"/>
                                        </p:tgtEl>
                                      </p:cBhvr>
                                    </p:animEffect>
                                  </p:childTnLst>
                                </p:cTn>
                              </p:par>
                            </p:childTnLst>
                          </p:cTn>
                        </p:par>
                        <p:par>
                          <p:cTn id="39" fill="hold">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dissolve">
                                      <p:cBhvr>
                                        <p:cTn id="42" dur="500"/>
                                        <p:tgtEl>
                                          <p:spTgt spid="7"/>
                                        </p:tgtEl>
                                      </p:cBhvr>
                                    </p:animEffect>
                                  </p:childTnLst>
                                </p:cTn>
                              </p:par>
                            </p:childTnLst>
                          </p:cTn>
                        </p:par>
                        <p:par>
                          <p:cTn id="43" fill="hold">
                            <p:stCondLst>
                              <p:cond delay="1000"/>
                            </p:stCondLst>
                            <p:childTnLst>
                              <p:par>
                                <p:cTn id="44" presetID="9" presetClass="entr" presetSubtype="0" fill="hold" grpId="0"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dissolv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dissolve">
                                      <p:cBhvr>
                                        <p:cTn id="51" dur="500"/>
                                        <p:tgtEl>
                                          <p:spTgt spid="15"/>
                                        </p:tgtEl>
                                      </p:cBhvr>
                                    </p:animEffect>
                                  </p:childTnLst>
                                </p:cTn>
                              </p:par>
                              <p:par>
                                <p:cTn id="52" presetID="1" presetClass="exit" presetSubtype="0" fill="hold" grpId="1" nodeType="withEffect">
                                  <p:stCondLst>
                                    <p:cond delay="0"/>
                                  </p:stCondLst>
                                  <p:childTnLst>
                                    <p:set>
                                      <p:cBhvr>
                                        <p:cTn id="53" dur="1" fill="hold">
                                          <p:stCondLst>
                                            <p:cond delay="0"/>
                                          </p:stCondLst>
                                        </p:cTn>
                                        <p:tgtEl>
                                          <p:spTgt spid="14"/>
                                        </p:tgtEl>
                                        <p:attrNameLst>
                                          <p:attrName>style.visibility</p:attrName>
                                        </p:attrNameLst>
                                      </p:cBhvr>
                                      <p:to>
                                        <p:strVal val="hidden"/>
                                      </p:to>
                                    </p:set>
                                  </p:childTnLst>
                                </p:cTn>
                              </p:par>
                            </p:childTnLst>
                          </p:cTn>
                        </p:par>
                        <p:par>
                          <p:cTn id="54" fill="hold">
                            <p:stCondLst>
                              <p:cond delay="500"/>
                            </p:stCondLst>
                            <p:childTnLst>
                              <p:par>
                                <p:cTn id="55" presetID="9" presetClass="entr" presetSubtype="0" fill="hold" grpId="0" nodeType="after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dissolve">
                                      <p:cBhvr>
                                        <p:cTn id="57" dur="500"/>
                                        <p:tgtEl>
                                          <p:spTgt spid="9"/>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dissolve">
                                      <p:cBhvr>
                                        <p:cTn id="62" dur="500"/>
                                        <p:tgtEl>
                                          <p:spTgt spid="16"/>
                                        </p:tgtEl>
                                      </p:cBhvr>
                                    </p:animEffect>
                                  </p:childTnLst>
                                </p:cTn>
                              </p:par>
                              <p:par>
                                <p:cTn id="63" presetID="1" presetClass="exit" presetSubtype="0" fill="hold" grpId="1" nodeType="withEffect">
                                  <p:stCondLst>
                                    <p:cond delay="0"/>
                                  </p:stCondLst>
                                  <p:childTnLst>
                                    <p:set>
                                      <p:cBhvr>
                                        <p:cTn id="64" dur="1" fill="hold">
                                          <p:stCondLst>
                                            <p:cond delay="0"/>
                                          </p:stCondLst>
                                        </p:cTn>
                                        <p:tgtEl>
                                          <p:spTgt spid="15"/>
                                        </p:tgtEl>
                                        <p:attrNameLst>
                                          <p:attrName>style.visibility</p:attrName>
                                        </p:attrNameLst>
                                      </p:cBhvr>
                                      <p:to>
                                        <p:strVal val="hidden"/>
                                      </p:to>
                                    </p:set>
                                  </p:childTnLst>
                                </p:cTn>
                              </p:par>
                            </p:childTnLst>
                          </p:cTn>
                        </p:par>
                        <p:par>
                          <p:cTn id="65" fill="hold">
                            <p:stCondLst>
                              <p:cond delay="500"/>
                            </p:stCondLst>
                            <p:childTnLst>
                              <p:par>
                                <p:cTn id="66" presetID="9" presetClass="entr" presetSubtype="0" fill="hold" grpId="0" nodeType="afterEffect">
                                  <p:stCondLst>
                                    <p:cond delay="0"/>
                                  </p:stCondLst>
                                  <p:childTnLst>
                                    <p:set>
                                      <p:cBhvr>
                                        <p:cTn id="67" dur="1" fill="hold">
                                          <p:stCondLst>
                                            <p:cond delay="0"/>
                                          </p:stCondLst>
                                        </p:cTn>
                                        <p:tgtEl>
                                          <p:spTgt spid="10"/>
                                        </p:tgtEl>
                                        <p:attrNameLst>
                                          <p:attrName>style.visibility</p:attrName>
                                        </p:attrNameLst>
                                      </p:cBhvr>
                                      <p:to>
                                        <p:strVal val="visible"/>
                                      </p:to>
                                    </p:set>
                                    <p:animEffect transition="in" filter="dissolve">
                                      <p:cBhvr>
                                        <p:cTn id="68" dur="500"/>
                                        <p:tgtEl>
                                          <p:spTgt spid="10"/>
                                        </p:tgtEl>
                                      </p:cBhvr>
                                    </p:animEffect>
                                  </p:childTnLst>
                                </p:cTn>
                              </p:par>
                              <p:par>
                                <p:cTn id="69" presetID="1" presetClass="exit" presetSubtype="0" fill="hold" grpId="2" nodeType="withEffect">
                                  <p:stCondLst>
                                    <p:cond delay="0"/>
                                  </p:stCondLst>
                                  <p:childTnLst>
                                    <p:set>
                                      <p:cBhvr>
                                        <p:cTn id="70" dur="1" fill="hold">
                                          <p:stCondLst>
                                            <p:cond delay="0"/>
                                          </p:stCondLst>
                                        </p:cTn>
                                        <p:tgtEl>
                                          <p:spTgt spid="7"/>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dissolve">
                                      <p:cBhvr>
                                        <p:cTn id="75" dur="500"/>
                                        <p:tgtEl>
                                          <p:spTgt spid="17"/>
                                        </p:tgtEl>
                                      </p:cBhvr>
                                    </p:animEffect>
                                  </p:childTnLst>
                                </p:cTn>
                              </p:par>
                              <p:par>
                                <p:cTn id="76" presetID="1" presetClass="exit" presetSubtype="0" fill="hold" grpId="1" nodeType="withEffect">
                                  <p:stCondLst>
                                    <p:cond delay="0"/>
                                  </p:stCondLst>
                                  <p:childTnLst>
                                    <p:set>
                                      <p:cBhvr>
                                        <p:cTn id="77" dur="1" fill="hold">
                                          <p:stCondLst>
                                            <p:cond delay="0"/>
                                          </p:stCondLst>
                                        </p:cTn>
                                        <p:tgtEl>
                                          <p:spTgt spid="16"/>
                                        </p:tgtEl>
                                        <p:attrNameLst>
                                          <p:attrName>style.visibility</p:attrName>
                                        </p:attrNameLst>
                                      </p:cBhvr>
                                      <p:to>
                                        <p:strVal val="hidden"/>
                                      </p:to>
                                    </p:set>
                                  </p:childTnLst>
                                </p:cTn>
                              </p:par>
                            </p:childTnLst>
                          </p:cTn>
                        </p:par>
                        <p:par>
                          <p:cTn id="78" fill="hold">
                            <p:stCondLst>
                              <p:cond delay="500"/>
                            </p:stCondLst>
                            <p:childTnLst>
                              <p:par>
                                <p:cTn id="79" presetID="9" presetClass="entr" presetSubtype="0" fill="hold" grpId="0" nodeType="afterEffect">
                                  <p:stCondLst>
                                    <p:cond delay="0"/>
                                  </p:stCondLst>
                                  <p:childTnLst>
                                    <p:set>
                                      <p:cBhvr>
                                        <p:cTn id="80" dur="1" fill="hold">
                                          <p:stCondLst>
                                            <p:cond delay="0"/>
                                          </p:stCondLst>
                                        </p:cTn>
                                        <p:tgtEl>
                                          <p:spTgt spid="11"/>
                                        </p:tgtEl>
                                        <p:attrNameLst>
                                          <p:attrName>style.visibility</p:attrName>
                                        </p:attrNameLst>
                                      </p:cBhvr>
                                      <p:to>
                                        <p:strVal val="visible"/>
                                      </p:to>
                                    </p:set>
                                    <p:animEffect transition="in" filter="dissolve">
                                      <p:cBhvr>
                                        <p:cTn id="81" dur="500"/>
                                        <p:tgtEl>
                                          <p:spTgt spid="11"/>
                                        </p:tgtEl>
                                      </p:cBhvr>
                                    </p:animEffect>
                                  </p:childTnLst>
                                </p:cTn>
                              </p:par>
                              <p:par>
                                <p:cTn id="82" presetID="1" presetClass="exit" presetSubtype="0" fill="hold" grpId="2" nodeType="withEffect">
                                  <p:stCondLst>
                                    <p:cond delay="0"/>
                                  </p:stCondLst>
                                  <p:childTnLst>
                                    <p:set>
                                      <p:cBhvr>
                                        <p:cTn id="83" dur="1" fill="hold">
                                          <p:stCondLst>
                                            <p:cond delay="0"/>
                                          </p:stCondLst>
                                        </p:cTn>
                                        <p:tgtEl>
                                          <p:spTgt spid="8"/>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dissolve">
                                      <p:cBhvr>
                                        <p:cTn id="88" dur="500"/>
                                        <p:tgtEl>
                                          <p:spTgt spid="36"/>
                                        </p:tgtEl>
                                      </p:cBhvr>
                                    </p:animEffect>
                                  </p:childTnLst>
                                </p:cTn>
                              </p:par>
                              <p:par>
                                <p:cTn id="89" presetID="1" presetClass="exit" presetSubtype="0" fill="hold" grpId="1" nodeType="withEffect">
                                  <p:stCondLst>
                                    <p:cond delay="0"/>
                                  </p:stCondLst>
                                  <p:childTnLst>
                                    <p:set>
                                      <p:cBhvr>
                                        <p:cTn id="90" dur="1" fill="hold">
                                          <p:stCondLst>
                                            <p:cond delay="0"/>
                                          </p:stCondLst>
                                        </p:cTn>
                                        <p:tgtEl>
                                          <p:spTgt spid="17"/>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29"/>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31"/>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33"/>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7"/>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8"/>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9"/>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1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1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36"/>
                                        </p:tgtEl>
                                        <p:attrNameLst>
                                          <p:attrName>style.visibility</p:attrName>
                                        </p:attrNameLst>
                                      </p:cBhvr>
                                      <p:to>
                                        <p:strVal val="hidden"/>
                                      </p:to>
                                    </p:set>
                                  </p:childTnLst>
                                </p:cTn>
                              </p:par>
                            </p:childTnLst>
                          </p:cTn>
                        </p:par>
                        <p:par>
                          <p:cTn id="111" fill="hold">
                            <p:stCondLst>
                              <p:cond delay="0"/>
                            </p:stCondLst>
                            <p:childTnLst>
                              <p:par>
                                <p:cTn id="112" presetID="9" presetClass="entr" presetSubtype="0" fill="hold" grpId="0" nodeType="afterEffect">
                                  <p:stCondLst>
                                    <p:cond delay="0"/>
                                  </p:stCondLst>
                                  <p:childTnLst>
                                    <p:set>
                                      <p:cBhvr>
                                        <p:cTn id="113" dur="1" fill="hold">
                                          <p:stCondLst>
                                            <p:cond delay="0"/>
                                          </p:stCondLst>
                                        </p:cTn>
                                        <p:tgtEl>
                                          <p:spTgt spid="34"/>
                                        </p:tgtEl>
                                        <p:attrNameLst>
                                          <p:attrName>style.visibility</p:attrName>
                                        </p:attrNameLst>
                                      </p:cBhvr>
                                      <p:to>
                                        <p:strVal val="visible"/>
                                      </p:to>
                                    </p:set>
                                    <p:animEffect transition="in" filter="dissolve">
                                      <p:cBhvr>
                                        <p:cTn id="11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29" grpId="0" animBg="1"/>
      <p:bldP spid="29" grpId="1" animBg="1"/>
      <p:bldP spid="31" grpId="0"/>
      <p:bldP spid="31" grpId="1"/>
      <p:bldP spid="33" grpId="0" animBg="1"/>
      <p:bldP spid="33" grpId="1" animBg="1"/>
      <p:bldP spid="5" grpId="0" animBg="1"/>
      <p:bldP spid="6" grpId="0" animBg="1"/>
      <p:bldP spid="7" grpId="0" animBg="1"/>
      <p:bldP spid="7" grpId="1" animBg="1"/>
      <p:bldP spid="7" grpId="2" animBg="1"/>
      <p:bldP spid="8" grpId="0" animBg="1"/>
      <p:bldP spid="8" grpId="1" animBg="1"/>
      <p:bldP spid="8" grpId="2" animBg="1"/>
      <p:bldP spid="9" grpId="0" animBg="1"/>
      <p:bldP spid="9" grpId="1" animBg="1"/>
      <p:bldP spid="10" grpId="0" animBg="1"/>
      <p:bldP spid="10" grpId="1" animBg="1"/>
      <p:bldP spid="11" grpId="0" animBg="1"/>
      <p:bldP spid="11" grpId="1" animBg="1"/>
      <p:bldP spid="34" grpId="0" animBg="1"/>
      <p:bldP spid="36" grpId="0" animBg="1"/>
      <p:bldP spid="36"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8856E-98B4-7106-6E2E-A83C9336D526}"/>
              </a:ext>
            </a:extLst>
          </p:cNvPr>
          <p:cNvSpPr>
            <a:spLocks noGrp="1"/>
          </p:cNvSpPr>
          <p:nvPr>
            <p:ph type="title"/>
          </p:nvPr>
        </p:nvSpPr>
        <p:spPr/>
        <p:txBody>
          <a:bodyPr/>
          <a:lstStyle/>
          <a:p>
            <a:r>
              <a:rPr lang="en-US" dirty="0"/>
              <a:t>Call Stack Example</a:t>
            </a:r>
          </a:p>
        </p:txBody>
      </p:sp>
      <p:sp>
        <p:nvSpPr>
          <p:cNvPr id="4" name="TextBox 3">
            <a:extLst>
              <a:ext uri="{FF2B5EF4-FFF2-40B4-BE49-F238E27FC236}">
                <a16:creationId xmlns:a16="http://schemas.microsoft.com/office/drawing/2014/main" id="{74011B06-F4DD-8A3B-C9CD-C2A1B13BD1A5}"/>
              </a:ext>
            </a:extLst>
          </p:cNvPr>
          <p:cNvSpPr txBox="1"/>
          <p:nvPr/>
        </p:nvSpPr>
        <p:spPr>
          <a:xfrm>
            <a:off x="462462" y="1505394"/>
            <a:ext cx="5562418" cy="4278094"/>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rtlCol="0">
            <a:spAutoFit/>
          </a:bodyPr>
          <a:lstStyle/>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stdio.h</a:t>
            </a:r>
            <a:r>
              <a:rPr lang="en-US" sz="1600" dirty="0">
                <a:solidFill>
                  <a:srgbClr val="B42419"/>
                </a:solidFill>
                <a:effectLst/>
                <a:latin typeface="Menlo" panose="020B0609030804020204" pitchFamily="49" charset="0"/>
              </a:rPr>
              <a:t>&gt;</a:t>
            </a:r>
            <a:endParaRPr lang="en-US" sz="1600" dirty="0">
              <a:solidFill>
                <a:srgbClr val="C814C9"/>
              </a:solidFill>
              <a:effectLst/>
              <a:latin typeface="Menlo" panose="020B0609030804020204" pitchFamily="49" charset="0"/>
            </a:endParaRPr>
          </a:p>
          <a:p>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void</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swapA</a:t>
            </a:r>
            <a:r>
              <a:rPr lang="en-US" sz="1600" dirty="0">
                <a:solidFill>
                  <a:srgbClr val="000000"/>
                </a:solidFill>
                <a:effectLst/>
                <a:latin typeface="Menlo" panose="020B0609030804020204" pitchFamily="49" charset="0"/>
              </a:rPr>
              <a:t>(</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x,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y){</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tmp</a:t>
            </a:r>
            <a:r>
              <a:rPr lang="en-US" sz="1600" dirty="0">
                <a:solidFill>
                  <a:srgbClr val="000000"/>
                </a:solidFill>
                <a:effectLst/>
                <a:latin typeface="Menlo" panose="020B0609030804020204" pitchFamily="49" charset="0"/>
              </a:rPr>
              <a:t>=x;</a:t>
            </a:r>
          </a:p>
          <a:p>
            <a:r>
              <a:rPr lang="en-US" sz="1600" dirty="0">
                <a:solidFill>
                  <a:srgbClr val="000000"/>
                </a:solidFill>
                <a:effectLst/>
                <a:latin typeface="Menlo" panose="020B0609030804020204" pitchFamily="49" charset="0"/>
              </a:rPr>
              <a:t>  x = y;</a:t>
            </a:r>
          </a:p>
          <a:p>
            <a:r>
              <a:rPr lang="en-US" sz="1600" dirty="0">
                <a:solidFill>
                  <a:srgbClr val="000000"/>
                </a:solidFill>
                <a:effectLst/>
                <a:latin typeface="Menlo" panose="020B0609030804020204" pitchFamily="49" charset="0"/>
              </a:rPr>
              <a:t>  y = </a:t>
            </a:r>
            <a:r>
              <a:rPr lang="en-US" sz="1600" dirty="0" err="1">
                <a:solidFill>
                  <a:srgbClr val="000000"/>
                </a:solidFill>
                <a:effectLst/>
                <a:latin typeface="Menlo" panose="020B0609030804020204" pitchFamily="49" charset="0"/>
              </a:rPr>
              <a:t>tmp</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"in </a:t>
            </a:r>
            <a:r>
              <a:rPr lang="en-US" sz="1600" dirty="0" err="1">
                <a:solidFill>
                  <a:srgbClr val="B42419"/>
                </a:solidFill>
                <a:effectLst/>
                <a:latin typeface="Menlo" panose="020B0609030804020204" pitchFamily="49" charset="0"/>
              </a:rPr>
              <a:t>swapA</a:t>
            </a:r>
            <a:r>
              <a:rPr lang="en-US" sz="1600" dirty="0">
                <a:solidFill>
                  <a:srgbClr val="B42419"/>
                </a:solidFill>
                <a:effectLst/>
                <a:latin typeface="Menlo" panose="020B0609030804020204" pitchFamily="49" charset="0"/>
              </a:rPr>
              <a:t>: x =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y = </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t>
            </a:r>
          </a:p>
          <a:p>
            <a:r>
              <a:rPr lang="en-US" sz="1600" dirty="0">
                <a:solidFill>
                  <a:srgbClr val="000000"/>
                </a:solidFill>
                <a:latin typeface="Menlo" panose="020B0609030804020204" pitchFamily="49" charset="0"/>
              </a:rPr>
              <a:t>	</a:t>
            </a:r>
            <a:r>
              <a:rPr lang="en-US" sz="1600" dirty="0">
                <a:solidFill>
                  <a:srgbClr val="000000"/>
                </a:solidFill>
                <a:effectLst/>
                <a:latin typeface="Menlo" panose="020B0609030804020204" pitchFamily="49" charset="0"/>
              </a:rPr>
              <a:t>x, y);</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p>
          <a:p>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main() {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 = </a:t>
            </a:r>
            <a:r>
              <a:rPr lang="en-US" sz="1600" dirty="0">
                <a:solidFill>
                  <a:srgbClr val="B42419"/>
                </a:solidFill>
                <a:effectLst/>
                <a:latin typeface="Menlo" panose="020B0609030804020204" pitchFamily="49" charset="0"/>
              </a:rPr>
              <a:t>7</a:t>
            </a:r>
            <a:r>
              <a:rPr lang="en-US" sz="1600" dirty="0">
                <a:solidFill>
                  <a:srgbClr val="000000"/>
                </a:solidFill>
                <a:effectLst/>
                <a:latin typeface="Menlo" panose="020B0609030804020204" pitchFamily="49" charset="0"/>
              </a:rPr>
              <a:t>, b = </a:t>
            </a:r>
            <a:r>
              <a:rPr lang="en-US" sz="1600" dirty="0">
                <a:solidFill>
                  <a:srgbClr val="B42419"/>
                </a:solidFill>
                <a:effectLst/>
                <a:latin typeface="Menlo" panose="020B0609030804020204" pitchFamily="49" charset="0"/>
              </a:rPr>
              <a:t>13</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swapA</a:t>
            </a:r>
            <a:r>
              <a:rPr lang="en-US" sz="1600" dirty="0">
                <a:solidFill>
                  <a:srgbClr val="000000"/>
                </a:solidFill>
                <a:effectLst/>
                <a:latin typeface="Menlo" panose="020B0609030804020204" pitchFamily="49" charset="0"/>
              </a:rPr>
              <a:t>(a, b);</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"in main: a =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b = </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t>
            </a:r>
          </a:p>
          <a:p>
            <a:r>
              <a:rPr lang="en-US" sz="1600" dirty="0">
                <a:solidFill>
                  <a:srgbClr val="000000"/>
                </a:solidFill>
                <a:latin typeface="Menlo" panose="020B0609030804020204" pitchFamily="49" charset="0"/>
              </a:rPr>
              <a:t>	</a:t>
            </a:r>
            <a:r>
              <a:rPr lang="en-US" sz="1600" dirty="0">
                <a:solidFill>
                  <a:srgbClr val="000000"/>
                </a:solidFill>
                <a:effectLst/>
                <a:latin typeface="Menlo" panose="020B0609030804020204" pitchFamily="49" charset="0"/>
              </a:rPr>
              <a:t>a, b);</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0</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a:t>
            </a:r>
          </a:p>
        </p:txBody>
      </p:sp>
      <p:grpSp>
        <p:nvGrpSpPr>
          <p:cNvPr id="18" name="Group 17">
            <a:extLst>
              <a:ext uri="{FF2B5EF4-FFF2-40B4-BE49-F238E27FC236}">
                <a16:creationId xmlns:a16="http://schemas.microsoft.com/office/drawing/2014/main" id="{7E08720F-6560-B88B-C093-059160633DF9}"/>
              </a:ext>
            </a:extLst>
          </p:cNvPr>
          <p:cNvGrpSpPr/>
          <p:nvPr/>
        </p:nvGrpSpPr>
        <p:grpSpPr>
          <a:xfrm>
            <a:off x="6964818" y="1793616"/>
            <a:ext cx="896130" cy="4488810"/>
            <a:chOff x="7211641" y="2964924"/>
            <a:chExt cx="896130" cy="2033799"/>
          </a:xfrm>
        </p:grpSpPr>
        <p:sp>
          <p:nvSpPr>
            <p:cNvPr id="19" name="Rectangle 18">
              <a:extLst>
                <a:ext uri="{FF2B5EF4-FFF2-40B4-BE49-F238E27FC236}">
                  <a16:creationId xmlns:a16="http://schemas.microsoft.com/office/drawing/2014/main" id="{FEEBE86B-7E0C-0406-4C6D-537EDB07B31D}"/>
                </a:ext>
              </a:extLst>
            </p:cNvPr>
            <p:cNvSpPr/>
            <p:nvPr/>
          </p:nvSpPr>
          <p:spPr>
            <a:xfrm>
              <a:off x="7211641" y="2964924"/>
              <a:ext cx="896130" cy="20337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169193CF-0870-E858-82B5-92AD7867096F}"/>
                </a:ext>
              </a:extLst>
            </p:cNvPr>
            <p:cNvSpPr txBox="1"/>
            <p:nvPr/>
          </p:nvSpPr>
          <p:spPr>
            <a:xfrm rot="5400000">
              <a:off x="7536617" y="4510399"/>
              <a:ext cx="246177" cy="461665"/>
            </a:xfrm>
            <a:prstGeom prst="rect">
              <a:avLst/>
            </a:prstGeom>
            <a:noFill/>
          </p:spPr>
          <p:txBody>
            <a:bodyPr wrap="none" rtlCol="0">
              <a:spAutoFit/>
            </a:bodyPr>
            <a:lstStyle/>
            <a:p>
              <a:pPr algn="ctr"/>
              <a:r>
                <a:rPr lang="en-US" sz="2400" dirty="0"/>
                <a:t>…</a:t>
              </a:r>
            </a:p>
          </p:txBody>
        </p:sp>
        <p:sp>
          <p:nvSpPr>
            <p:cNvPr id="21" name="TextBox 20">
              <a:extLst>
                <a:ext uri="{FF2B5EF4-FFF2-40B4-BE49-F238E27FC236}">
                  <a16:creationId xmlns:a16="http://schemas.microsoft.com/office/drawing/2014/main" id="{032A568C-3DEE-25B8-6206-33146F40E196}"/>
                </a:ext>
              </a:extLst>
            </p:cNvPr>
            <p:cNvSpPr txBox="1"/>
            <p:nvPr/>
          </p:nvSpPr>
          <p:spPr>
            <a:xfrm rot="5400000">
              <a:off x="7539848" y="2885026"/>
              <a:ext cx="246177" cy="461665"/>
            </a:xfrm>
            <a:prstGeom prst="rect">
              <a:avLst/>
            </a:prstGeom>
            <a:noFill/>
          </p:spPr>
          <p:txBody>
            <a:bodyPr wrap="none" rtlCol="0">
              <a:spAutoFit/>
            </a:bodyPr>
            <a:lstStyle/>
            <a:p>
              <a:pPr algn="ctr"/>
              <a:r>
                <a:rPr lang="en-US" sz="2400" dirty="0"/>
                <a:t>…</a:t>
              </a:r>
            </a:p>
          </p:txBody>
        </p:sp>
      </p:grpSp>
      <p:sp>
        <p:nvSpPr>
          <p:cNvPr id="22" name="Rectangle 21">
            <a:extLst>
              <a:ext uri="{FF2B5EF4-FFF2-40B4-BE49-F238E27FC236}">
                <a16:creationId xmlns:a16="http://schemas.microsoft.com/office/drawing/2014/main" id="{094626DB-61ED-84C6-A8ED-B8B35B2AF6DA}"/>
              </a:ext>
            </a:extLst>
          </p:cNvPr>
          <p:cNvSpPr/>
          <p:nvPr/>
        </p:nvSpPr>
        <p:spPr>
          <a:xfrm>
            <a:off x="6964817" y="2413649"/>
            <a:ext cx="896129" cy="1391363"/>
          </a:xfrm>
          <a:prstGeom prst="rect">
            <a:avLst/>
          </a:prstGeom>
          <a:solidFill>
            <a:schemeClr val="accent6">
              <a:lumMod val="40000"/>
              <a:lumOff val="60000"/>
            </a:schemeClr>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3" name="TextBox 22">
            <a:extLst>
              <a:ext uri="{FF2B5EF4-FFF2-40B4-BE49-F238E27FC236}">
                <a16:creationId xmlns:a16="http://schemas.microsoft.com/office/drawing/2014/main" id="{A7E7A7C9-91AE-9D8B-5B15-163CC204402A}"/>
              </a:ext>
            </a:extLst>
          </p:cNvPr>
          <p:cNvSpPr txBox="1"/>
          <p:nvPr/>
        </p:nvSpPr>
        <p:spPr>
          <a:xfrm>
            <a:off x="6827801" y="1394878"/>
            <a:ext cx="1078821" cy="400110"/>
          </a:xfrm>
          <a:prstGeom prst="rect">
            <a:avLst/>
          </a:prstGeom>
          <a:noFill/>
        </p:spPr>
        <p:txBody>
          <a:bodyPr wrap="none" rtlCol="0">
            <a:spAutoFit/>
          </a:bodyPr>
          <a:lstStyle/>
          <a:p>
            <a:r>
              <a:rPr lang="en-US" sz="2000" dirty="0"/>
              <a:t>Memory</a:t>
            </a:r>
          </a:p>
        </p:txBody>
      </p:sp>
      <p:sp>
        <p:nvSpPr>
          <p:cNvPr id="24" name="TextBox 23">
            <a:extLst>
              <a:ext uri="{FF2B5EF4-FFF2-40B4-BE49-F238E27FC236}">
                <a16:creationId xmlns:a16="http://schemas.microsoft.com/office/drawing/2014/main" id="{E6A7DEB4-3BE2-7367-9342-6D223B79522E}"/>
              </a:ext>
            </a:extLst>
          </p:cNvPr>
          <p:cNvSpPr txBox="1"/>
          <p:nvPr/>
        </p:nvSpPr>
        <p:spPr>
          <a:xfrm>
            <a:off x="7952297" y="6082371"/>
            <a:ext cx="2186111" cy="369332"/>
          </a:xfrm>
          <a:prstGeom prst="rect">
            <a:avLst/>
          </a:prstGeom>
          <a:noFill/>
        </p:spPr>
        <p:txBody>
          <a:bodyPr wrap="none" rtlCol="0">
            <a:spAutoFit/>
          </a:bodyPr>
          <a:lstStyle/>
          <a:p>
            <a:r>
              <a:rPr lang="en-US" dirty="0"/>
              <a:t>Low address (</a:t>
            </a:r>
            <a:r>
              <a:rPr lang="en-US" sz="1400" dirty="0">
                <a:latin typeface="Menlo" panose="020B0609030804020204" pitchFamily="49" charset="0"/>
                <a:ea typeface="Menlo" panose="020B0609030804020204" pitchFamily="49" charset="0"/>
                <a:cs typeface="Menlo" panose="020B0609030804020204" pitchFamily="49" charset="0"/>
              </a:rPr>
              <a:t>000…00</a:t>
            </a:r>
            <a:r>
              <a:rPr lang="en-US" dirty="0"/>
              <a:t>)</a:t>
            </a:r>
          </a:p>
        </p:txBody>
      </p:sp>
      <p:sp>
        <p:nvSpPr>
          <p:cNvPr id="25" name="TextBox 24">
            <a:extLst>
              <a:ext uri="{FF2B5EF4-FFF2-40B4-BE49-F238E27FC236}">
                <a16:creationId xmlns:a16="http://schemas.microsoft.com/office/drawing/2014/main" id="{E7321FCA-C2BC-B92E-90D6-FD5993032A10}"/>
              </a:ext>
            </a:extLst>
          </p:cNvPr>
          <p:cNvSpPr txBox="1"/>
          <p:nvPr/>
        </p:nvSpPr>
        <p:spPr>
          <a:xfrm>
            <a:off x="7952297" y="1608950"/>
            <a:ext cx="2230291" cy="369332"/>
          </a:xfrm>
          <a:prstGeom prst="rect">
            <a:avLst/>
          </a:prstGeom>
          <a:noFill/>
        </p:spPr>
        <p:txBody>
          <a:bodyPr wrap="none" rtlCol="0">
            <a:spAutoFit/>
          </a:bodyPr>
          <a:lstStyle/>
          <a:p>
            <a:r>
              <a:rPr lang="en-US" dirty="0"/>
              <a:t>High address (</a:t>
            </a:r>
            <a:r>
              <a:rPr lang="en-US" sz="1400" dirty="0" err="1">
                <a:latin typeface="Menlo" panose="020B0609030804020204" pitchFamily="49" charset="0"/>
                <a:ea typeface="Menlo" panose="020B0609030804020204" pitchFamily="49" charset="0"/>
                <a:cs typeface="Menlo" panose="020B0609030804020204" pitchFamily="49" charset="0"/>
              </a:rPr>
              <a:t>fff</a:t>
            </a:r>
            <a:r>
              <a:rPr lang="en-US" sz="1400" dirty="0">
                <a:latin typeface="Menlo" panose="020B0609030804020204" pitchFamily="49" charset="0"/>
                <a:ea typeface="Menlo" panose="020B0609030804020204" pitchFamily="49" charset="0"/>
                <a:cs typeface="Menlo" panose="020B0609030804020204" pitchFamily="49" charset="0"/>
              </a:rPr>
              <a:t>…ff</a:t>
            </a:r>
            <a:r>
              <a:rPr lang="en-US" dirty="0"/>
              <a:t>)</a:t>
            </a:r>
          </a:p>
        </p:txBody>
      </p:sp>
      <p:sp>
        <p:nvSpPr>
          <p:cNvPr id="28" name="TextBox 27">
            <a:extLst>
              <a:ext uri="{FF2B5EF4-FFF2-40B4-BE49-F238E27FC236}">
                <a16:creationId xmlns:a16="http://schemas.microsoft.com/office/drawing/2014/main" id="{32FF888C-6D4D-EE42-7CE3-4C3527D96D6C}"/>
              </a:ext>
            </a:extLst>
          </p:cNvPr>
          <p:cNvSpPr txBox="1"/>
          <p:nvPr/>
        </p:nvSpPr>
        <p:spPr>
          <a:xfrm>
            <a:off x="8303690" y="2873907"/>
            <a:ext cx="2337435" cy="400110"/>
          </a:xfrm>
          <a:prstGeom prst="rect">
            <a:avLst/>
          </a:prstGeom>
          <a:noFill/>
        </p:spPr>
        <p:txBody>
          <a:bodyPr wrap="none" rtlCol="0">
            <a:spAutoFit/>
          </a:bodyPr>
          <a:lstStyle/>
          <a:p>
            <a:r>
              <a:rPr lang="en-US" sz="2000" dirty="0">
                <a:solidFill>
                  <a:schemeClr val="accent6">
                    <a:lumMod val="75000"/>
                  </a:schemeClr>
                </a:solidFill>
              </a:rPr>
              <a:t>stack frame of </a:t>
            </a:r>
            <a:r>
              <a:rPr lang="en-US" sz="2000"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main</a:t>
            </a:r>
          </a:p>
        </p:txBody>
      </p:sp>
      <p:sp>
        <p:nvSpPr>
          <p:cNvPr id="29" name="Rectangle 28">
            <a:extLst>
              <a:ext uri="{FF2B5EF4-FFF2-40B4-BE49-F238E27FC236}">
                <a16:creationId xmlns:a16="http://schemas.microsoft.com/office/drawing/2014/main" id="{ECF31C7D-B9FD-E2B4-B5E8-670FB85148D1}"/>
              </a:ext>
            </a:extLst>
          </p:cNvPr>
          <p:cNvSpPr/>
          <p:nvPr/>
        </p:nvSpPr>
        <p:spPr>
          <a:xfrm>
            <a:off x="6964815" y="3805012"/>
            <a:ext cx="896129" cy="1391363"/>
          </a:xfrm>
          <a:prstGeom prst="rect">
            <a:avLst/>
          </a:prstGeom>
          <a:solidFill>
            <a:schemeClr val="accent1">
              <a:lumMod val="40000"/>
              <a:lumOff val="60000"/>
            </a:schemeClr>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1" name="TextBox 30">
            <a:extLst>
              <a:ext uri="{FF2B5EF4-FFF2-40B4-BE49-F238E27FC236}">
                <a16:creationId xmlns:a16="http://schemas.microsoft.com/office/drawing/2014/main" id="{50C4EB3A-C4F4-A202-F505-175DBE5D1540}"/>
              </a:ext>
            </a:extLst>
          </p:cNvPr>
          <p:cNvSpPr txBox="1"/>
          <p:nvPr/>
        </p:nvSpPr>
        <p:spPr>
          <a:xfrm>
            <a:off x="8283370" y="4296308"/>
            <a:ext cx="2491323" cy="400110"/>
          </a:xfrm>
          <a:prstGeom prst="rect">
            <a:avLst/>
          </a:prstGeom>
          <a:noFill/>
        </p:spPr>
        <p:txBody>
          <a:bodyPr wrap="none" rtlCol="0">
            <a:spAutoFit/>
          </a:bodyPr>
          <a:lstStyle/>
          <a:p>
            <a:r>
              <a:rPr lang="en-US" sz="2000" dirty="0">
                <a:solidFill>
                  <a:schemeClr val="accent1">
                    <a:lumMod val="75000"/>
                  </a:schemeClr>
                </a:solidFill>
              </a:rPr>
              <a:t>stack frame of </a:t>
            </a:r>
            <a:r>
              <a:rPr lang="en-US" sz="2000" dirty="0" err="1">
                <a:solidFill>
                  <a:schemeClr val="accent1">
                    <a:lumMod val="75000"/>
                  </a:schemeClr>
                </a:solidFill>
                <a:latin typeface="Menlo" panose="020B0609030804020204" pitchFamily="49" charset="0"/>
                <a:ea typeface="Menlo" panose="020B0609030804020204" pitchFamily="49" charset="0"/>
                <a:cs typeface="Menlo" panose="020B0609030804020204" pitchFamily="49" charset="0"/>
              </a:rPr>
              <a:t>swapB</a:t>
            </a:r>
            <a:endParaRPr lang="en-US" sz="2000" dirty="0">
              <a:solidFill>
                <a:schemeClr val="accent1">
                  <a:lumMod val="75000"/>
                </a:schemeClr>
              </a:solidFill>
              <a:latin typeface="Menlo" panose="020B0609030804020204" pitchFamily="49" charset="0"/>
              <a:ea typeface="Menlo" panose="020B0609030804020204" pitchFamily="49" charset="0"/>
              <a:cs typeface="Menlo" panose="020B0609030804020204" pitchFamily="49" charset="0"/>
            </a:endParaRPr>
          </a:p>
        </p:txBody>
      </p:sp>
      <p:sp>
        <p:nvSpPr>
          <p:cNvPr id="32" name="Right Brace 31">
            <a:extLst>
              <a:ext uri="{FF2B5EF4-FFF2-40B4-BE49-F238E27FC236}">
                <a16:creationId xmlns:a16="http://schemas.microsoft.com/office/drawing/2014/main" id="{2247E112-A94B-9F44-EBBC-AB9691A22AB5}"/>
              </a:ext>
            </a:extLst>
          </p:cNvPr>
          <p:cNvSpPr/>
          <p:nvPr/>
        </p:nvSpPr>
        <p:spPr>
          <a:xfrm>
            <a:off x="8005541" y="2413649"/>
            <a:ext cx="278237" cy="1376128"/>
          </a:xfrm>
          <a:prstGeom prst="rightBrace">
            <a:avLst>
              <a:gd name="adj1" fmla="val 30242"/>
              <a:gd name="adj2" fmla="val 50000"/>
            </a:avLst>
          </a:prstGeom>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Right Brace 32">
            <a:extLst>
              <a:ext uri="{FF2B5EF4-FFF2-40B4-BE49-F238E27FC236}">
                <a16:creationId xmlns:a16="http://schemas.microsoft.com/office/drawing/2014/main" id="{F88435AD-644B-11AB-2530-EF77CD93F355}"/>
              </a:ext>
            </a:extLst>
          </p:cNvPr>
          <p:cNvSpPr/>
          <p:nvPr/>
        </p:nvSpPr>
        <p:spPr>
          <a:xfrm>
            <a:off x="8005133" y="3820246"/>
            <a:ext cx="278237" cy="1376128"/>
          </a:xfrm>
          <a:prstGeom prst="rightBrace">
            <a:avLst>
              <a:gd name="adj1" fmla="val 30242"/>
              <a:gd name="adj2" fmla="val 50000"/>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71C777FF-3605-D667-1B37-9BB5A279C152}"/>
              </a:ext>
            </a:extLst>
          </p:cNvPr>
          <p:cNvSpPr txBox="1"/>
          <p:nvPr/>
        </p:nvSpPr>
        <p:spPr>
          <a:xfrm>
            <a:off x="462463" y="1505394"/>
            <a:ext cx="5559552" cy="4278094"/>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stdio.h</a:t>
            </a:r>
            <a:r>
              <a:rPr lang="en-US" sz="1600" dirty="0">
                <a:solidFill>
                  <a:srgbClr val="B42419"/>
                </a:solidFill>
                <a:effectLst/>
                <a:latin typeface="Menlo" panose="020B0609030804020204" pitchFamily="49" charset="0"/>
              </a:rPr>
              <a:t>&gt;</a:t>
            </a:r>
            <a:br>
              <a:rPr lang="en-US" sz="1600" dirty="0">
                <a:solidFill>
                  <a:srgbClr val="000000"/>
                </a:solidFill>
                <a:effectLst/>
                <a:latin typeface="Menlo" panose="020B0609030804020204" pitchFamily="49" charset="0"/>
              </a:rPr>
            </a:br>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void</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swapB</a:t>
            </a:r>
            <a:r>
              <a:rPr lang="en-US" sz="1600" dirty="0">
                <a:solidFill>
                  <a:srgbClr val="000000"/>
                </a:solidFill>
                <a:effectLst/>
                <a:latin typeface="Menlo" panose="020B0609030804020204" pitchFamily="49" charset="0"/>
              </a:rPr>
              <a:t>(</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x,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y)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tmp</a:t>
            </a:r>
            <a:r>
              <a:rPr lang="en-US" sz="1600" dirty="0">
                <a:solidFill>
                  <a:srgbClr val="000000"/>
                </a:solidFill>
                <a:effectLst/>
                <a:latin typeface="Menlo" panose="020B0609030804020204" pitchFamily="49" charset="0"/>
              </a:rPr>
              <a:t>=*x;</a:t>
            </a:r>
          </a:p>
          <a:p>
            <a:r>
              <a:rPr lang="en-US" sz="1600" dirty="0">
                <a:solidFill>
                  <a:srgbClr val="000000"/>
                </a:solidFill>
                <a:effectLst/>
                <a:latin typeface="Menlo" panose="020B0609030804020204" pitchFamily="49" charset="0"/>
              </a:rPr>
              <a:t>  *x=*y;</a:t>
            </a:r>
          </a:p>
          <a:p>
            <a:r>
              <a:rPr lang="en-US" sz="1600" dirty="0">
                <a:solidFill>
                  <a:srgbClr val="000000"/>
                </a:solidFill>
                <a:latin typeface="Menlo" panose="020B0609030804020204" pitchFamily="49" charset="0"/>
              </a:rPr>
              <a:t> </a:t>
            </a:r>
            <a:r>
              <a:rPr lang="en-US" sz="1600" dirty="0">
                <a:solidFill>
                  <a:srgbClr val="000000"/>
                </a:solidFill>
                <a:effectLst/>
                <a:latin typeface="Menlo" panose="020B0609030804020204" pitchFamily="49" charset="0"/>
              </a:rPr>
              <a:t> *y = </a:t>
            </a:r>
            <a:r>
              <a:rPr lang="en-US" sz="1600" dirty="0" err="1">
                <a:solidFill>
                  <a:srgbClr val="000000"/>
                </a:solidFill>
                <a:effectLst/>
                <a:latin typeface="Menlo" panose="020B0609030804020204" pitchFamily="49" charset="0"/>
              </a:rPr>
              <a:t>tmp</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"in </a:t>
            </a:r>
            <a:r>
              <a:rPr lang="en-US" sz="1600" dirty="0" err="1">
                <a:solidFill>
                  <a:srgbClr val="B42419"/>
                </a:solidFill>
                <a:effectLst/>
                <a:latin typeface="Menlo" panose="020B0609030804020204" pitchFamily="49" charset="0"/>
              </a:rPr>
              <a:t>swapB</a:t>
            </a:r>
            <a:r>
              <a:rPr lang="en-US" sz="1600" dirty="0">
                <a:solidFill>
                  <a:srgbClr val="B42419"/>
                </a:solidFill>
                <a:effectLst/>
                <a:latin typeface="Menlo" panose="020B0609030804020204" pitchFamily="49" charset="0"/>
              </a:rPr>
              <a:t>: *x =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*y = </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t>
            </a:r>
          </a:p>
          <a:p>
            <a:r>
              <a:rPr lang="en-US" sz="1600" dirty="0">
                <a:solidFill>
                  <a:srgbClr val="000000"/>
                </a:solidFill>
                <a:latin typeface="Menlo" panose="020B0609030804020204" pitchFamily="49" charset="0"/>
              </a:rPr>
              <a:t>	</a:t>
            </a:r>
            <a:r>
              <a:rPr lang="en-US" sz="1600" dirty="0">
                <a:solidFill>
                  <a:srgbClr val="000000"/>
                </a:solidFill>
                <a:effectLst/>
                <a:latin typeface="Menlo" panose="020B0609030804020204" pitchFamily="49" charset="0"/>
              </a:rPr>
              <a:t>*x, *y);</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br>
              <a:rPr lang="en-US" sz="1600" dirty="0">
                <a:solidFill>
                  <a:srgbClr val="000000"/>
                </a:solidFill>
                <a:effectLst/>
                <a:latin typeface="Menlo" panose="020B0609030804020204" pitchFamily="49" charset="0"/>
              </a:rPr>
            </a:br>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main()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 = </a:t>
            </a:r>
            <a:r>
              <a:rPr lang="en-US" sz="1600" dirty="0">
                <a:solidFill>
                  <a:srgbClr val="B42419"/>
                </a:solidFill>
                <a:effectLst/>
                <a:latin typeface="Menlo" panose="020B0609030804020204" pitchFamily="49" charset="0"/>
              </a:rPr>
              <a:t>7</a:t>
            </a:r>
            <a:r>
              <a:rPr lang="en-US" sz="1600" dirty="0">
                <a:solidFill>
                  <a:srgbClr val="000000"/>
                </a:solidFill>
                <a:effectLst/>
                <a:latin typeface="Menlo" panose="020B0609030804020204" pitchFamily="49" charset="0"/>
              </a:rPr>
              <a:t>, b = </a:t>
            </a:r>
            <a:r>
              <a:rPr lang="en-US" sz="1600" dirty="0">
                <a:solidFill>
                  <a:srgbClr val="B42419"/>
                </a:solidFill>
                <a:effectLst/>
                <a:latin typeface="Menlo" panose="020B0609030804020204" pitchFamily="49" charset="0"/>
              </a:rPr>
              <a:t>13</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swapB</a:t>
            </a:r>
            <a:r>
              <a:rPr lang="en-US" sz="1600" dirty="0">
                <a:solidFill>
                  <a:srgbClr val="000000"/>
                </a:solidFill>
                <a:effectLst/>
                <a:latin typeface="Menlo" panose="020B0609030804020204" pitchFamily="49" charset="0"/>
              </a:rPr>
              <a:t>(&amp;a, &amp;b);</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"in main: a =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b = </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t>
            </a:r>
          </a:p>
          <a:p>
            <a:r>
              <a:rPr lang="en-US" sz="1600" dirty="0">
                <a:solidFill>
                  <a:srgbClr val="000000"/>
                </a:solidFill>
                <a:latin typeface="Menlo" panose="020B0609030804020204" pitchFamily="49" charset="0"/>
              </a:rPr>
              <a:t>	</a:t>
            </a:r>
            <a:r>
              <a:rPr lang="en-US" sz="1600" dirty="0">
                <a:solidFill>
                  <a:srgbClr val="000000"/>
                </a:solidFill>
                <a:effectLst/>
                <a:latin typeface="Menlo" panose="020B0609030804020204" pitchFamily="49" charset="0"/>
              </a:rPr>
              <a:t>a, b);</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0</a:t>
            </a:r>
            <a:r>
              <a:rPr lang="en-US" sz="1600" dirty="0">
                <a:solidFill>
                  <a:srgbClr val="000000"/>
                </a:solidFill>
                <a:effectLst/>
                <a:latin typeface="Menlo" panose="020B0609030804020204" pitchFamily="49" charset="0"/>
              </a:rPr>
              <a:t>;</a:t>
            </a:r>
            <a:endParaRPr lang="en-US" sz="1600" dirty="0">
              <a:solidFill>
                <a:srgbClr val="C1651C"/>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p>
        </p:txBody>
      </p:sp>
      <p:sp>
        <p:nvSpPr>
          <p:cNvPr id="26" name="Rectangle 25">
            <a:extLst>
              <a:ext uri="{FF2B5EF4-FFF2-40B4-BE49-F238E27FC236}">
                <a16:creationId xmlns:a16="http://schemas.microsoft.com/office/drawing/2014/main" id="{8CC363C0-2C68-09A6-491C-DB21D8AFD2C2}"/>
              </a:ext>
            </a:extLst>
          </p:cNvPr>
          <p:cNvSpPr/>
          <p:nvPr/>
        </p:nvSpPr>
        <p:spPr>
          <a:xfrm>
            <a:off x="6961953" y="2686565"/>
            <a:ext cx="896129" cy="25495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a=7</a:t>
            </a:r>
          </a:p>
        </p:txBody>
      </p:sp>
      <p:sp>
        <p:nvSpPr>
          <p:cNvPr id="27" name="Rectangle 26">
            <a:extLst>
              <a:ext uri="{FF2B5EF4-FFF2-40B4-BE49-F238E27FC236}">
                <a16:creationId xmlns:a16="http://schemas.microsoft.com/office/drawing/2014/main" id="{0D566D5C-F8D5-EC35-8B28-0D30097D7B1C}"/>
              </a:ext>
            </a:extLst>
          </p:cNvPr>
          <p:cNvSpPr/>
          <p:nvPr/>
        </p:nvSpPr>
        <p:spPr>
          <a:xfrm>
            <a:off x="6961952" y="2938511"/>
            <a:ext cx="896129" cy="25495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b=13</a:t>
            </a:r>
          </a:p>
        </p:txBody>
      </p:sp>
      <p:sp>
        <p:nvSpPr>
          <p:cNvPr id="30" name="Rectangle 29">
            <a:extLst>
              <a:ext uri="{FF2B5EF4-FFF2-40B4-BE49-F238E27FC236}">
                <a16:creationId xmlns:a16="http://schemas.microsoft.com/office/drawing/2014/main" id="{47EB0F36-30D8-0572-2511-B8D9B24876BE}"/>
              </a:ext>
            </a:extLst>
          </p:cNvPr>
          <p:cNvSpPr/>
          <p:nvPr/>
        </p:nvSpPr>
        <p:spPr>
          <a:xfrm>
            <a:off x="6961950" y="3957412"/>
            <a:ext cx="896129" cy="25495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x</a:t>
            </a:r>
          </a:p>
        </p:txBody>
      </p:sp>
      <p:sp>
        <p:nvSpPr>
          <p:cNvPr id="35" name="Rectangle 34">
            <a:extLst>
              <a:ext uri="{FF2B5EF4-FFF2-40B4-BE49-F238E27FC236}">
                <a16:creationId xmlns:a16="http://schemas.microsoft.com/office/drawing/2014/main" id="{B49B19D4-8A94-6853-6083-6DE173A0AE79}"/>
              </a:ext>
            </a:extLst>
          </p:cNvPr>
          <p:cNvSpPr/>
          <p:nvPr/>
        </p:nvSpPr>
        <p:spPr>
          <a:xfrm>
            <a:off x="6967683" y="4207922"/>
            <a:ext cx="890396" cy="25495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y</a:t>
            </a:r>
          </a:p>
        </p:txBody>
      </p:sp>
      <p:sp>
        <p:nvSpPr>
          <p:cNvPr id="37" name="Rectangle 36">
            <a:extLst>
              <a:ext uri="{FF2B5EF4-FFF2-40B4-BE49-F238E27FC236}">
                <a16:creationId xmlns:a16="http://schemas.microsoft.com/office/drawing/2014/main" id="{BD5789BA-0CC6-EA26-0902-7CDF33FB50C7}"/>
              </a:ext>
            </a:extLst>
          </p:cNvPr>
          <p:cNvSpPr/>
          <p:nvPr/>
        </p:nvSpPr>
        <p:spPr>
          <a:xfrm>
            <a:off x="6961950" y="4460224"/>
            <a:ext cx="896129" cy="25495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err="1">
                <a:latin typeface="Menlo" panose="020B0609030804020204" pitchFamily="49" charset="0"/>
                <a:ea typeface="Menlo" panose="020B0609030804020204" pitchFamily="49" charset="0"/>
                <a:cs typeface="Menlo" panose="020B0609030804020204" pitchFamily="49" charset="0"/>
              </a:rPr>
              <a:t>tmp</a:t>
            </a:r>
            <a:r>
              <a:rPr lang="en-US" dirty="0">
                <a:latin typeface="Menlo" panose="020B0609030804020204" pitchFamily="49" charset="0"/>
                <a:ea typeface="Menlo" panose="020B0609030804020204" pitchFamily="49" charset="0"/>
                <a:cs typeface="Menlo" panose="020B0609030804020204" pitchFamily="49" charset="0"/>
              </a:rPr>
              <a:t>=7</a:t>
            </a:r>
          </a:p>
        </p:txBody>
      </p:sp>
      <p:sp>
        <p:nvSpPr>
          <p:cNvPr id="38" name="Rectangle 37">
            <a:extLst>
              <a:ext uri="{FF2B5EF4-FFF2-40B4-BE49-F238E27FC236}">
                <a16:creationId xmlns:a16="http://schemas.microsoft.com/office/drawing/2014/main" id="{C3CF5DAC-CA6B-6BF9-AF41-109FA16DDCCC}"/>
              </a:ext>
            </a:extLst>
          </p:cNvPr>
          <p:cNvSpPr/>
          <p:nvPr/>
        </p:nvSpPr>
        <p:spPr>
          <a:xfrm>
            <a:off x="6961950" y="2686565"/>
            <a:ext cx="896129" cy="25495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a=13</a:t>
            </a:r>
          </a:p>
        </p:txBody>
      </p:sp>
      <p:sp>
        <p:nvSpPr>
          <p:cNvPr id="39" name="Rectangle 38">
            <a:extLst>
              <a:ext uri="{FF2B5EF4-FFF2-40B4-BE49-F238E27FC236}">
                <a16:creationId xmlns:a16="http://schemas.microsoft.com/office/drawing/2014/main" id="{7C903415-3D75-D1B5-4579-389708CE2BC1}"/>
              </a:ext>
            </a:extLst>
          </p:cNvPr>
          <p:cNvSpPr/>
          <p:nvPr/>
        </p:nvSpPr>
        <p:spPr>
          <a:xfrm>
            <a:off x="6961950" y="2938511"/>
            <a:ext cx="896129" cy="25495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b=7</a:t>
            </a:r>
          </a:p>
        </p:txBody>
      </p:sp>
      <p:sp>
        <p:nvSpPr>
          <p:cNvPr id="40" name="Rounded Rectangle 39">
            <a:extLst>
              <a:ext uri="{FF2B5EF4-FFF2-40B4-BE49-F238E27FC236}">
                <a16:creationId xmlns:a16="http://schemas.microsoft.com/office/drawing/2014/main" id="{E8F7148B-2DBB-1E19-0821-F0E9F8B97BC2}"/>
              </a:ext>
            </a:extLst>
          </p:cNvPr>
          <p:cNvSpPr/>
          <p:nvPr/>
        </p:nvSpPr>
        <p:spPr>
          <a:xfrm>
            <a:off x="736781" y="4199746"/>
            <a:ext cx="2418262"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40">
            <a:extLst>
              <a:ext uri="{FF2B5EF4-FFF2-40B4-BE49-F238E27FC236}">
                <a16:creationId xmlns:a16="http://schemas.microsoft.com/office/drawing/2014/main" id="{AE470E92-329F-7560-334E-02AA45500434}"/>
              </a:ext>
            </a:extLst>
          </p:cNvPr>
          <p:cNvSpPr/>
          <p:nvPr/>
        </p:nvSpPr>
        <p:spPr>
          <a:xfrm>
            <a:off x="736781" y="4465786"/>
            <a:ext cx="2418262"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a:extLst>
              <a:ext uri="{FF2B5EF4-FFF2-40B4-BE49-F238E27FC236}">
                <a16:creationId xmlns:a16="http://schemas.microsoft.com/office/drawing/2014/main" id="{2242CE17-2E2C-2C57-70E0-041944BA0666}"/>
              </a:ext>
            </a:extLst>
          </p:cNvPr>
          <p:cNvSpPr/>
          <p:nvPr/>
        </p:nvSpPr>
        <p:spPr>
          <a:xfrm>
            <a:off x="1113426" y="1992957"/>
            <a:ext cx="2616382"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ounded Rectangle 42">
            <a:extLst>
              <a:ext uri="{FF2B5EF4-FFF2-40B4-BE49-F238E27FC236}">
                <a16:creationId xmlns:a16="http://schemas.microsoft.com/office/drawing/2014/main" id="{911E9094-B233-C493-BE88-B72DCD9E8DE3}"/>
              </a:ext>
            </a:extLst>
          </p:cNvPr>
          <p:cNvSpPr/>
          <p:nvPr/>
        </p:nvSpPr>
        <p:spPr>
          <a:xfrm>
            <a:off x="741860" y="2258997"/>
            <a:ext cx="147302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ounded Rectangle 43">
            <a:extLst>
              <a:ext uri="{FF2B5EF4-FFF2-40B4-BE49-F238E27FC236}">
                <a16:creationId xmlns:a16="http://schemas.microsoft.com/office/drawing/2014/main" id="{C387A63D-4228-1C9F-62E1-BB0B8BA6B8E5}"/>
              </a:ext>
            </a:extLst>
          </p:cNvPr>
          <p:cNvSpPr/>
          <p:nvPr/>
        </p:nvSpPr>
        <p:spPr>
          <a:xfrm>
            <a:off x="741860" y="2514354"/>
            <a:ext cx="147302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 Rectangle 44">
            <a:extLst>
              <a:ext uri="{FF2B5EF4-FFF2-40B4-BE49-F238E27FC236}">
                <a16:creationId xmlns:a16="http://schemas.microsoft.com/office/drawing/2014/main" id="{3423EB64-9906-44EC-6599-8129346EDE4D}"/>
              </a:ext>
            </a:extLst>
          </p:cNvPr>
          <p:cNvSpPr/>
          <p:nvPr/>
        </p:nvSpPr>
        <p:spPr>
          <a:xfrm>
            <a:off x="741860" y="2742974"/>
            <a:ext cx="1473020" cy="3099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Curved Connector 45">
            <a:extLst>
              <a:ext uri="{FF2B5EF4-FFF2-40B4-BE49-F238E27FC236}">
                <a16:creationId xmlns:a16="http://schemas.microsoft.com/office/drawing/2014/main" id="{F08BE83E-15BD-EDF8-F73B-554BE4610C5B}"/>
              </a:ext>
            </a:extLst>
          </p:cNvPr>
          <p:cNvCxnSpPr>
            <a:cxnSpLocks/>
            <a:stCxn id="30" idx="1"/>
            <a:endCxn id="38" idx="1"/>
          </p:cNvCxnSpPr>
          <p:nvPr/>
        </p:nvCxnSpPr>
        <p:spPr>
          <a:xfrm rot="10800000">
            <a:off x="6961950" y="2814041"/>
            <a:ext cx="12700" cy="1270847"/>
          </a:xfrm>
          <a:prstGeom prst="curvedConnector3">
            <a:avLst>
              <a:gd name="adj1" fmla="val 1800000"/>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cxnSp>
        <p:nvCxnSpPr>
          <p:cNvPr id="47" name="Curved Connector 46">
            <a:extLst>
              <a:ext uri="{FF2B5EF4-FFF2-40B4-BE49-F238E27FC236}">
                <a16:creationId xmlns:a16="http://schemas.microsoft.com/office/drawing/2014/main" id="{BAB78217-595D-71F6-FC9A-B1070449B3ED}"/>
              </a:ext>
            </a:extLst>
          </p:cNvPr>
          <p:cNvCxnSpPr>
            <a:cxnSpLocks/>
            <a:stCxn id="35" idx="3"/>
            <a:endCxn id="39" idx="3"/>
          </p:cNvCxnSpPr>
          <p:nvPr/>
        </p:nvCxnSpPr>
        <p:spPr>
          <a:xfrm flipV="1">
            <a:off x="7858079" y="3065986"/>
            <a:ext cx="12700" cy="1269411"/>
          </a:xfrm>
          <a:prstGeom prst="curvedConnector3">
            <a:avLst>
              <a:gd name="adj1" fmla="val 1800000"/>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sp>
        <p:nvSpPr>
          <p:cNvPr id="48" name="Rounded Rectangle 47">
            <a:extLst>
              <a:ext uri="{FF2B5EF4-FFF2-40B4-BE49-F238E27FC236}">
                <a16:creationId xmlns:a16="http://schemas.microsoft.com/office/drawing/2014/main" id="{F416D258-86A8-824C-220E-66E5735CF4AB}"/>
              </a:ext>
            </a:extLst>
          </p:cNvPr>
          <p:cNvSpPr/>
          <p:nvPr/>
        </p:nvSpPr>
        <p:spPr>
          <a:xfrm>
            <a:off x="736780" y="4691651"/>
            <a:ext cx="4338139" cy="562524"/>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ounded Rectangle 48">
            <a:extLst>
              <a:ext uri="{FF2B5EF4-FFF2-40B4-BE49-F238E27FC236}">
                <a16:creationId xmlns:a16="http://schemas.microsoft.com/office/drawing/2014/main" id="{0E815520-B0C7-E48D-C63C-3E5D849F2F34}"/>
              </a:ext>
            </a:extLst>
          </p:cNvPr>
          <p:cNvSpPr/>
          <p:nvPr/>
        </p:nvSpPr>
        <p:spPr>
          <a:xfrm>
            <a:off x="736780" y="3017277"/>
            <a:ext cx="4475300" cy="53375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392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dissolve">
                                      <p:cBhvr>
                                        <p:cTn id="11" dur="500"/>
                                        <p:tgtEl>
                                          <p:spTgt spid="26"/>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dissolve">
                                      <p:cBhvr>
                                        <p:cTn id="15" dur="500"/>
                                        <p:tgtEl>
                                          <p:spTgt spid="27"/>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dissolve">
                                      <p:cBhvr>
                                        <p:cTn id="20" dur="500"/>
                                        <p:tgtEl>
                                          <p:spTgt spid="41"/>
                                        </p:tgtEl>
                                      </p:cBhvr>
                                    </p:animEffect>
                                  </p:childTnLst>
                                </p:cTn>
                              </p:par>
                              <p:par>
                                <p:cTn id="21" presetID="1" presetClass="exit" presetSubtype="0" fill="hold" grpId="1" nodeType="withEffect">
                                  <p:stCondLst>
                                    <p:cond delay="0"/>
                                  </p:stCondLst>
                                  <p:childTnLst>
                                    <p:set>
                                      <p:cBhvr>
                                        <p:cTn id="22" dur="1" fill="hold">
                                          <p:stCondLst>
                                            <p:cond delay="0"/>
                                          </p:stCondLst>
                                        </p:cTn>
                                        <p:tgtEl>
                                          <p:spTgt spid="4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dissolve">
                                      <p:cBhvr>
                                        <p:cTn id="27" dur="500"/>
                                        <p:tgtEl>
                                          <p:spTgt spid="42"/>
                                        </p:tgtEl>
                                      </p:cBhvr>
                                    </p:animEffect>
                                  </p:childTnLst>
                                </p:cTn>
                              </p:par>
                              <p:par>
                                <p:cTn id="28" presetID="1" presetClass="exit" presetSubtype="0" fill="hold" grpId="1" nodeType="withEffect">
                                  <p:stCondLst>
                                    <p:cond delay="0"/>
                                  </p:stCondLst>
                                  <p:childTnLst>
                                    <p:set>
                                      <p:cBhvr>
                                        <p:cTn id="29" dur="1" fill="hold">
                                          <p:stCondLst>
                                            <p:cond delay="0"/>
                                          </p:stCondLst>
                                        </p:cTn>
                                        <p:tgtEl>
                                          <p:spTgt spid="41"/>
                                        </p:tgtEl>
                                        <p:attrNameLst>
                                          <p:attrName>style.visibility</p:attrName>
                                        </p:attrNameLst>
                                      </p:cBhvr>
                                      <p:to>
                                        <p:strVal val="hidden"/>
                                      </p:to>
                                    </p:set>
                                  </p:childTnLst>
                                </p:cTn>
                              </p:par>
                              <p:par>
                                <p:cTn id="30" presetID="9"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dissolve">
                                      <p:cBhvr>
                                        <p:cTn id="32" dur="500"/>
                                        <p:tgtEl>
                                          <p:spTgt spid="31"/>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dissolve">
                                      <p:cBhvr>
                                        <p:cTn id="35" dur="500"/>
                                        <p:tgtEl>
                                          <p:spTgt spid="33"/>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dissolve">
                                      <p:cBhvr>
                                        <p:cTn id="38" dur="500"/>
                                        <p:tgtEl>
                                          <p:spTgt spid="29"/>
                                        </p:tgtEl>
                                      </p:cBhvr>
                                    </p:animEffect>
                                  </p:childTnLst>
                                </p:cTn>
                              </p:par>
                            </p:childTnLst>
                          </p:cTn>
                        </p:par>
                        <p:par>
                          <p:cTn id="39" fill="hold">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dissolve">
                                      <p:cBhvr>
                                        <p:cTn id="42" dur="500"/>
                                        <p:tgtEl>
                                          <p:spTgt spid="30"/>
                                        </p:tgtEl>
                                      </p:cBhvr>
                                    </p:animEffect>
                                  </p:childTnLst>
                                </p:cTn>
                              </p:par>
                              <p:par>
                                <p:cTn id="43" presetID="9" presetClass="entr" presetSubtype="0" fill="hold" nodeType="withEffect">
                                  <p:stCondLst>
                                    <p:cond delay="0"/>
                                  </p:stCondLst>
                                  <p:childTnLst>
                                    <p:set>
                                      <p:cBhvr>
                                        <p:cTn id="44" dur="1" fill="hold">
                                          <p:stCondLst>
                                            <p:cond delay="0"/>
                                          </p:stCondLst>
                                        </p:cTn>
                                        <p:tgtEl>
                                          <p:spTgt spid="46"/>
                                        </p:tgtEl>
                                        <p:attrNameLst>
                                          <p:attrName>style.visibility</p:attrName>
                                        </p:attrNameLst>
                                      </p:cBhvr>
                                      <p:to>
                                        <p:strVal val="visible"/>
                                      </p:to>
                                    </p:set>
                                    <p:animEffect transition="in" filter="dissolve">
                                      <p:cBhvr>
                                        <p:cTn id="45" dur="500"/>
                                        <p:tgtEl>
                                          <p:spTgt spid="46"/>
                                        </p:tgtEl>
                                      </p:cBhvr>
                                    </p:animEffect>
                                  </p:childTnLst>
                                </p:cTn>
                              </p:par>
                            </p:childTnLst>
                          </p:cTn>
                        </p:par>
                        <p:par>
                          <p:cTn id="46" fill="hold">
                            <p:stCondLst>
                              <p:cond delay="1000"/>
                            </p:stCondLst>
                            <p:childTnLst>
                              <p:par>
                                <p:cTn id="47" presetID="9" presetClass="entr" presetSubtype="0" fill="hold" grpId="0" nodeType="after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dissolve">
                                      <p:cBhvr>
                                        <p:cTn id="49" dur="500"/>
                                        <p:tgtEl>
                                          <p:spTgt spid="35"/>
                                        </p:tgtEl>
                                      </p:cBhvr>
                                    </p:animEffect>
                                  </p:childTnLst>
                                </p:cTn>
                              </p:par>
                              <p:par>
                                <p:cTn id="50" presetID="9" presetClass="entr" presetSubtype="0" fill="hold" nodeType="with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dissolve">
                                      <p:cBhvr>
                                        <p:cTn id="52" dur="500"/>
                                        <p:tgtEl>
                                          <p:spTgt spid="47"/>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dissolve">
                                      <p:cBhvr>
                                        <p:cTn id="57" dur="500"/>
                                        <p:tgtEl>
                                          <p:spTgt spid="43"/>
                                        </p:tgtEl>
                                      </p:cBhvr>
                                    </p:animEffect>
                                  </p:childTnLst>
                                </p:cTn>
                              </p:par>
                              <p:par>
                                <p:cTn id="58" presetID="1" presetClass="exit" presetSubtype="0" fill="hold" grpId="1" nodeType="withEffect">
                                  <p:stCondLst>
                                    <p:cond delay="0"/>
                                  </p:stCondLst>
                                  <p:childTnLst>
                                    <p:set>
                                      <p:cBhvr>
                                        <p:cTn id="59" dur="1" fill="hold">
                                          <p:stCondLst>
                                            <p:cond delay="0"/>
                                          </p:stCondLst>
                                        </p:cTn>
                                        <p:tgtEl>
                                          <p:spTgt spid="42"/>
                                        </p:tgtEl>
                                        <p:attrNameLst>
                                          <p:attrName>style.visibility</p:attrName>
                                        </p:attrNameLst>
                                      </p:cBhvr>
                                      <p:to>
                                        <p:strVal val="hidden"/>
                                      </p:to>
                                    </p:set>
                                  </p:childTnLst>
                                </p:cTn>
                              </p:par>
                            </p:childTnLst>
                          </p:cTn>
                        </p:par>
                        <p:par>
                          <p:cTn id="60" fill="hold">
                            <p:stCondLst>
                              <p:cond delay="500"/>
                            </p:stCondLst>
                            <p:childTnLst>
                              <p:par>
                                <p:cTn id="61" presetID="9" presetClass="entr" presetSubtype="0" fill="hold" grpId="0" nodeType="after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dissolve">
                                      <p:cBhvr>
                                        <p:cTn id="63" dur="500"/>
                                        <p:tgtEl>
                                          <p:spTgt spid="37"/>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44"/>
                                        </p:tgtEl>
                                        <p:attrNameLst>
                                          <p:attrName>style.visibility</p:attrName>
                                        </p:attrNameLst>
                                      </p:cBhvr>
                                      <p:to>
                                        <p:strVal val="visible"/>
                                      </p:to>
                                    </p:set>
                                    <p:animEffect transition="in" filter="dissolve">
                                      <p:cBhvr>
                                        <p:cTn id="68" dur="500"/>
                                        <p:tgtEl>
                                          <p:spTgt spid="44"/>
                                        </p:tgtEl>
                                      </p:cBhvr>
                                    </p:animEffect>
                                  </p:childTnLst>
                                </p:cTn>
                              </p:par>
                              <p:par>
                                <p:cTn id="69" presetID="1" presetClass="exit" presetSubtype="0" fill="hold" grpId="1" nodeType="withEffect">
                                  <p:stCondLst>
                                    <p:cond delay="0"/>
                                  </p:stCondLst>
                                  <p:childTnLst>
                                    <p:set>
                                      <p:cBhvr>
                                        <p:cTn id="70" dur="1" fill="hold">
                                          <p:stCondLst>
                                            <p:cond delay="0"/>
                                          </p:stCondLst>
                                        </p:cTn>
                                        <p:tgtEl>
                                          <p:spTgt spid="43"/>
                                        </p:tgtEl>
                                        <p:attrNameLst>
                                          <p:attrName>style.visibility</p:attrName>
                                        </p:attrNameLst>
                                      </p:cBhvr>
                                      <p:to>
                                        <p:strVal val="hidden"/>
                                      </p:to>
                                    </p:set>
                                  </p:childTnLst>
                                </p:cTn>
                              </p:par>
                            </p:childTnLst>
                          </p:cTn>
                        </p:par>
                        <p:par>
                          <p:cTn id="71" fill="hold">
                            <p:stCondLst>
                              <p:cond delay="500"/>
                            </p:stCondLst>
                            <p:childTnLst>
                              <p:par>
                                <p:cTn id="72" presetID="9" presetClass="entr" presetSubtype="0" fill="hold" grpId="0" nodeType="after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dissolve">
                                      <p:cBhvr>
                                        <p:cTn id="74" dur="500"/>
                                        <p:tgtEl>
                                          <p:spTgt spid="38"/>
                                        </p:tgtEl>
                                      </p:cBhvr>
                                    </p:animEffect>
                                  </p:childTnLst>
                                </p:cTn>
                              </p:par>
                              <p:par>
                                <p:cTn id="75" presetID="1" presetClass="exit" presetSubtype="0" fill="hold" grpId="1" nodeType="withEffect">
                                  <p:stCondLst>
                                    <p:cond delay="0"/>
                                  </p:stCondLst>
                                  <p:childTnLst>
                                    <p:set>
                                      <p:cBhvr>
                                        <p:cTn id="76" dur="1" fill="hold">
                                          <p:stCondLst>
                                            <p:cond delay="0"/>
                                          </p:stCondLst>
                                        </p:cTn>
                                        <p:tgtEl>
                                          <p:spTgt spid="26"/>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grpId="0" nodeType="click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dissolve">
                                      <p:cBhvr>
                                        <p:cTn id="81" dur="500"/>
                                        <p:tgtEl>
                                          <p:spTgt spid="45"/>
                                        </p:tgtEl>
                                      </p:cBhvr>
                                    </p:animEffect>
                                  </p:childTnLst>
                                </p:cTn>
                              </p:par>
                              <p:par>
                                <p:cTn id="82" presetID="1" presetClass="exit" presetSubtype="0" fill="hold" grpId="1" nodeType="withEffect">
                                  <p:stCondLst>
                                    <p:cond delay="0"/>
                                  </p:stCondLst>
                                  <p:childTnLst>
                                    <p:set>
                                      <p:cBhvr>
                                        <p:cTn id="83" dur="1" fill="hold">
                                          <p:stCondLst>
                                            <p:cond delay="0"/>
                                          </p:stCondLst>
                                        </p:cTn>
                                        <p:tgtEl>
                                          <p:spTgt spid="44"/>
                                        </p:tgtEl>
                                        <p:attrNameLst>
                                          <p:attrName>style.visibility</p:attrName>
                                        </p:attrNameLst>
                                      </p:cBhvr>
                                      <p:to>
                                        <p:strVal val="hidden"/>
                                      </p:to>
                                    </p:set>
                                  </p:childTnLst>
                                </p:cTn>
                              </p:par>
                            </p:childTnLst>
                          </p:cTn>
                        </p:par>
                        <p:par>
                          <p:cTn id="84" fill="hold">
                            <p:stCondLst>
                              <p:cond delay="500"/>
                            </p:stCondLst>
                            <p:childTnLst>
                              <p:par>
                                <p:cTn id="85" presetID="9" presetClass="entr" presetSubtype="0" fill="hold" grpId="0" nodeType="afterEffect">
                                  <p:stCondLst>
                                    <p:cond delay="0"/>
                                  </p:stCondLst>
                                  <p:childTnLst>
                                    <p:set>
                                      <p:cBhvr>
                                        <p:cTn id="86" dur="1" fill="hold">
                                          <p:stCondLst>
                                            <p:cond delay="0"/>
                                          </p:stCondLst>
                                        </p:cTn>
                                        <p:tgtEl>
                                          <p:spTgt spid="39"/>
                                        </p:tgtEl>
                                        <p:attrNameLst>
                                          <p:attrName>style.visibility</p:attrName>
                                        </p:attrNameLst>
                                      </p:cBhvr>
                                      <p:to>
                                        <p:strVal val="visible"/>
                                      </p:to>
                                    </p:set>
                                    <p:animEffect transition="in" filter="dissolve">
                                      <p:cBhvr>
                                        <p:cTn id="87" dur="500"/>
                                        <p:tgtEl>
                                          <p:spTgt spid="39"/>
                                        </p:tgtEl>
                                      </p:cBhvr>
                                    </p:animEffect>
                                  </p:childTnLst>
                                </p:cTn>
                              </p:par>
                              <p:par>
                                <p:cTn id="88" presetID="1" presetClass="exit" presetSubtype="0" fill="hold" grpId="1" nodeType="withEffect">
                                  <p:stCondLst>
                                    <p:cond delay="0"/>
                                  </p:stCondLst>
                                  <p:childTnLst>
                                    <p:set>
                                      <p:cBhvr>
                                        <p:cTn id="89" dur="1" fill="hold">
                                          <p:stCondLst>
                                            <p:cond delay="0"/>
                                          </p:stCondLst>
                                        </p:cTn>
                                        <p:tgtEl>
                                          <p:spTgt spid="27"/>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9" presetClass="entr" presetSubtype="0" fill="hold" grpId="0" nodeType="clickEffect">
                                  <p:stCondLst>
                                    <p:cond delay="0"/>
                                  </p:stCondLst>
                                  <p:childTnLst>
                                    <p:set>
                                      <p:cBhvr>
                                        <p:cTn id="93" dur="1" fill="hold">
                                          <p:stCondLst>
                                            <p:cond delay="0"/>
                                          </p:stCondLst>
                                        </p:cTn>
                                        <p:tgtEl>
                                          <p:spTgt spid="49"/>
                                        </p:tgtEl>
                                        <p:attrNameLst>
                                          <p:attrName>style.visibility</p:attrName>
                                        </p:attrNameLst>
                                      </p:cBhvr>
                                      <p:to>
                                        <p:strVal val="visible"/>
                                      </p:to>
                                    </p:set>
                                    <p:animEffect transition="in" filter="dissolve">
                                      <p:cBhvr>
                                        <p:cTn id="94" dur="500"/>
                                        <p:tgtEl>
                                          <p:spTgt spid="49"/>
                                        </p:tgtEl>
                                      </p:cBhvr>
                                    </p:animEffect>
                                  </p:childTnLst>
                                </p:cTn>
                              </p:par>
                              <p:par>
                                <p:cTn id="95" presetID="1" presetClass="exit" presetSubtype="0" fill="hold" grpId="1" nodeType="withEffect">
                                  <p:stCondLst>
                                    <p:cond delay="0"/>
                                  </p:stCondLst>
                                  <p:childTnLst>
                                    <p:set>
                                      <p:cBhvr>
                                        <p:cTn id="96" dur="1" fill="hold">
                                          <p:stCondLst>
                                            <p:cond delay="0"/>
                                          </p:stCondLst>
                                        </p:cTn>
                                        <p:tgtEl>
                                          <p:spTgt spid="45"/>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grpId="1" nodeType="clickEffect">
                                  <p:stCondLst>
                                    <p:cond delay="0"/>
                                  </p:stCondLst>
                                  <p:childTnLst>
                                    <p:set>
                                      <p:cBhvr>
                                        <p:cTn id="100" dur="1" fill="hold">
                                          <p:stCondLst>
                                            <p:cond delay="0"/>
                                          </p:stCondLst>
                                        </p:cTn>
                                        <p:tgtEl>
                                          <p:spTgt spid="29"/>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33"/>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30"/>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35"/>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37"/>
                                        </p:tgtEl>
                                        <p:attrNameLst>
                                          <p:attrName>style.visibility</p:attrName>
                                        </p:attrNameLst>
                                      </p:cBhvr>
                                      <p:to>
                                        <p:strVal val="hidden"/>
                                      </p:to>
                                    </p:set>
                                  </p:childTnLst>
                                </p:cTn>
                              </p:par>
                              <p:par>
                                <p:cTn id="109" presetID="1" presetClass="exit" presetSubtype="0" fill="hold" nodeType="withEffect">
                                  <p:stCondLst>
                                    <p:cond delay="0"/>
                                  </p:stCondLst>
                                  <p:childTnLst>
                                    <p:set>
                                      <p:cBhvr>
                                        <p:cTn id="110" dur="1" fill="hold">
                                          <p:stCondLst>
                                            <p:cond delay="0"/>
                                          </p:stCondLst>
                                        </p:cTn>
                                        <p:tgtEl>
                                          <p:spTgt spid="47"/>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46"/>
                                        </p:tgtEl>
                                        <p:attrNameLst>
                                          <p:attrName>style.visibility</p:attrName>
                                        </p:attrNameLst>
                                      </p:cBhvr>
                                      <p:to>
                                        <p:strVal val="hidden"/>
                                      </p:to>
                                    </p:set>
                                  </p:childTnLst>
                                </p:cTn>
                              </p:par>
                              <p:par>
                                <p:cTn id="113" presetID="1" presetClass="exit" presetSubtype="0" fill="hold" grpId="1" nodeType="withEffect">
                                  <p:stCondLst>
                                    <p:cond delay="0"/>
                                  </p:stCondLst>
                                  <p:childTnLst>
                                    <p:set>
                                      <p:cBhvr>
                                        <p:cTn id="114" dur="1" fill="hold">
                                          <p:stCondLst>
                                            <p:cond delay="0"/>
                                          </p:stCondLst>
                                        </p:cTn>
                                        <p:tgtEl>
                                          <p:spTgt spid="31"/>
                                        </p:tgtEl>
                                        <p:attrNameLst>
                                          <p:attrName>style.visibility</p:attrName>
                                        </p:attrNameLst>
                                      </p:cBhvr>
                                      <p:to>
                                        <p:strVal val="hidden"/>
                                      </p:to>
                                    </p:set>
                                  </p:childTnLst>
                                </p:cTn>
                              </p:par>
                              <p:par>
                                <p:cTn id="115" presetID="1" presetClass="exit" presetSubtype="0" fill="hold" grpId="1" nodeType="withEffect">
                                  <p:stCondLst>
                                    <p:cond delay="0"/>
                                  </p:stCondLst>
                                  <p:childTnLst>
                                    <p:set>
                                      <p:cBhvr>
                                        <p:cTn id="116" dur="1" fill="hold">
                                          <p:stCondLst>
                                            <p:cond delay="0"/>
                                          </p:stCondLst>
                                        </p:cTn>
                                        <p:tgtEl>
                                          <p:spTgt spid="49"/>
                                        </p:tgtEl>
                                        <p:attrNameLst>
                                          <p:attrName>style.visibility</p:attrName>
                                        </p:attrNameLst>
                                      </p:cBhvr>
                                      <p:to>
                                        <p:strVal val="hidden"/>
                                      </p:to>
                                    </p:set>
                                  </p:childTnLst>
                                </p:cTn>
                              </p:par>
                            </p:childTnLst>
                          </p:cTn>
                        </p:par>
                        <p:par>
                          <p:cTn id="117" fill="hold">
                            <p:stCondLst>
                              <p:cond delay="0"/>
                            </p:stCondLst>
                            <p:childTnLst>
                              <p:par>
                                <p:cTn id="118" presetID="9" presetClass="entr" presetSubtype="0" fill="hold" grpId="0" nodeType="afterEffect">
                                  <p:stCondLst>
                                    <p:cond delay="0"/>
                                  </p:stCondLst>
                                  <p:childTnLst>
                                    <p:set>
                                      <p:cBhvr>
                                        <p:cTn id="119" dur="1" fill="hold">
                                          <p:stCondLst>
                                            <p:cond delay="0"/>
                                          </p:stCondLst>
                                        </p:cTn>
                                        <p:tgtEl>
                                          <p:spTgt spid="48"/>
                                        </p:tgtEl>
                                        <p:attrNameLst>
                                          <p:attrName>style.visibility</p:attrName>
                                        </p:attrNameLst>
                                      </p:cBhvr>
                                      <p:to>
                                        <p:strVal val="visible"/>
                                      </p:to>
                                    </p:set>
                                    <p:animEffect transition="in" filter="dissolve">
                                      <p:cBhvr>
                                        <p:cTn id="12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P spid="31" grpId="0"/>
      <p:bldP spid="31" grpId="1"/>
      <p:bldP spid="33" grpId="0" animBg="1"/>
      <p:bldP spid="33" grpId="1" animBg="1"/>
      <p:bldP spid="26" grpId="0" animBg="1"/>
      <p:bldP spid="26" grpId="1" animBg="1"/>
      <p:bldP spid="27" grpId="0" animBg="1"/>
      <p:bldP spid="27" grpId="1" animBg="1"/>
      <p:bldP spid="30" grpId="0" animBg="1"/>
      <p:bldP spid="30" grpId="1" animBg="1"/>
      <p:bldP spid="35" grpId="0" animBg="1"/>
      <p:bldP spid="35" grpId="1" animBg="1"/>
      <p:bldP spid="37" grpId="0" animBg="1"/>
      <p:bldP spid="37" grpId="1" animBg="1"/>
      <p:bldP spid="38" grpId="0" animBg="1"/>
      <p:bldP spid="39" grpId="0" animBg="1"/>
      <p:bldP spid="40" grpId="0" animBg="1"/>
      <p:bldP spid="40" grpId="1" animBg="1"/>
      <p:bldP spid="41" grpId="0" animBg="1"/>
      <p:bldP spid="41" grpId="1" animBg="1"/>
      <p:bldP spid="42" grpId="0" animBg="1"/>
      <p:bldP spid="42" grpId="1" animBg="1"/>
      <p:bldP spid="43" grpId="0" animBg="1"/>
      <p:bldP spid="43" grpId="1" animBg="1"/>
      <p:bldP spid="44" grpId="0" animBg="1"/>
      <p:bldP spid="44" grpId="1" animBg="1"/>
      <p:bldP spid="45" grpId="0" animBg="1"/>
      <p:bldP spid="45" grpId="1" animBg="1"/>
      <p:bldP spid="48" grpId="0" animBg="1"/>
      <p:bldP spid="49" grpId="0" animBg="1"/>
      <p:bldP spid="49"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635CC-3602-F2CD-6605-1E9411987208}"/>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1A6FEE51-BA05-8560-0ECD-07AA002E58E7}"/>
              </a:ext>
            </a:extLst>
          </p:cNvPr>
          <p:cNvSpPr>
            <a:spLocks noGrp="1"/>
          </p:cNvSpPr>
          <p:nvPr>
            <p:ph idx="1"/>
          </p:nvPr>
        </p:nvSpPr>
        <p:spPr/>
        <p:txBody>
          <a:bodyPr/>
          <a:lstStyle/>
          <a:p>
            <a:r>
              <a:rPr lang="en-US" strike="sngStrike" dirty="0"/>
              <a:t>Pointers</a:t>
            </a:r>
          </a:p>
          <a:p>
            <a:r>
              <a:rPr lang="en-US" strike="sngStrike" dirty="0"/>
              <a:t>Call Stack</a:t>
            </a:r>
          </a:p>
          <a:p>
            <a:r>
              <a:rPr lang="en-US" dirty="0"/>
              <a:t>Malloc, Heap, and Free</a:t>
            </a:r>
          </a:p>
          <a:p>
            <a:r>
              <a:rPr lang="en-US" dirty="0"/>
              <a:t>Bit Print Example (char*)</a:t>
            </a:r>
          </a:p>
        </p:txBody>
      </p:sp>
    </p:spTree>
    <p:extLst>
      <p:ext uri="{BB962C8B-B14F-4D97-AF65-F5344CB8AC3E}">
        <p14:creationId xmlns:p14="http://schemas.microsoft.com/office/powerpoint/2010/main" val="1214453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2F83E-7D93-FAD3-0E17-D10AE719F229}"/>
              </a:ext>
            </a:extLst>
          </p:cNvPr>
          <p:cNvSpPr>
            <a:spLocks noGrp="1"/>
          </p:cNvSpPr>
          <p:nvPr>
            <p:ph type="title"/>
          </p:nvPr>
        </p:nvSpPr>
        <p:spPr>
          <a:xfrm>
            <a:off x="838200" y="365125"/>
            <a:ext cx="10884408" cy="797178"/>
          </a:xfrm>
        </p:spPr>
        <p:txBody>
          <a:bodyPr>
            <a:normAutofit fontScale="90000"/>
          </a:bodyPr>
          <a:lstStyle/>
          <a:p>
            <a:r>
              <a:rPr lang="en-US" dirty="0">
                <a:latin typeface="Menlo" panose="020B0609030804020204" pitchFamily="49" charset="0"/>
                <a:ea typeface="Menlo" panose="020B0609030804020204" pitchFamily="49" charset="0"/>
                <a:cs typeface="Menlo" panose="020B0609030804020204" pitchFamily="49" charset="0"/>
              </a:rPr>
              <a:t>malloc</a:t>
            </a:r>
            <a:r>
              <a:rPr lang="en-US" dirty="0"/>
              <a:t>: Getting a pointer for a region of memory</a:t>
            </a:r>
          </a:p>
        </p:txBody>
      </p:sp>
      <p:sp>
        <p:nvSpPr>
          <p:cNvPr id="4" name="TextBox 3">
            <a:extLst>
              <a:ext uri="{FF2B5EF4-FFF2-40B4-BE49-F238E27FC236}">
                <a16:creationId xmlns:a16="http://schemas.microsoft.com/office/drawing/2014/main" id="{38CE47E9-6D8B-B443-FCCF-27ACCC80ED63}"/>
              </a:ext>
            </a:extLst>
          </p:cNvPr>
          <p:cNvSpPr txBox="1"/>
          <p:nvPr/>
        </p:nvSpPr>
        <p:spPr>
          <a:xfrm>
            <a:off x="329471" y="3190554"/>
            <a:ext cx="5492209" cy="353943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none" rtlCol="0">
            <a:spAutoFit/>
          </a:bodyPr>
          <a:lstStyle/>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stdlib.h</a:t>
            </a:r>
            <a:r>
              <a:rPr lang="en-US" sz="1600" dirty="0">
                <a:solidFill>
                  <a:srgbClr val="B42419"/>
                </a:solidFill>
                <a:effectLst/>
                <a:latin typeface="Menlo" panose="020B0609030804020204" pitchFamily="49" charset="0"/>
              </a:rPr>
              <a:t>&gt;</a:t>
            </a:r>
          </a:p>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stdio.h</a:t>
            </a:r>
            <a:r>
              <a:rPr lang="en-US" sz="1600" dirty="0">
                <a:solidFill>
                  <a:srgbClr val="B42419"/>
                </a:solidFill>
                <a:effectLst/>
                <a:latin typeface="Menlo" panose="020B0609030804020204" pitchFamily="49" charset="0"/>
              </a:rPr>
              <a:t>&gt;</a:t>
            </a:r>
            <a:endParaRPr lang="en-US" sz="1600" dirty="0">
              <a:solidFill>
                <a:srgbClr val="C814C9"/>
              </a:solidFill>
              <a:effectLst/>
              <a:latin typeface="Menlo" panose="020B0609030804020204" pitchFamily="49" charset="0"/>
            </a:endParaRPr>
          </a:p>
          <a:p>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bar(</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a,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b)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c =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*)malloc(</a:t>
            </a:r>
            <a:r>
              <a:rPr lang="en-US" sz="1600" dirty="0" err="1">
                <a:solidFill>
                  <a:srgbClr val="C1651C"/>
                </a:solidFill>
                <a:effectLst/>
                <a:latin typeface="Menlo" panose="020B0609030804020204" pitchFamily="49" charset="0"/>
              </a:rPr>
              <a:t>sizeof</a:t>
            </a:r>
            <a:r>
              <a:rPr lang="en-US" sz="1600" dirty="0">
                <a:solidFill>
                  <a:srgbClr val="000000"/>
                </a:solidFill>
                <a:effectLst/>
                <a:latin typeface="Menlo" panose="020B0609030804020204" pitchFamily="49" charset="0"/>
              </a:rPr>
              <a:t>(</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*c = a + b;</a:t>
            </a: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c;</a:t>
            </a:r>
            <a:endParaRPr lang="en-US" sz="1600" dirty="0">
              <a:solidFill>
                <a:srgbClr val="C1651C"/>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br>
              <a:rPr lang="en-US" sz="1600" dirty="0">
                <a:solidFill>
                  <a:srgbClr val="000000"/>
                </a:solidFill>
                <a:effectLst/>
                <a:latin typeface="Menlo" panose="020B0609030804020204" pitchFamily="49" charset="0"/>
              </a:rPr>
            </a:br>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main(){</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*s = bar(</a:t>
            </a:r>
            <a:r>
              <a:rPr lang="en-US" sz="1600" dirty="0">
                <a:solidFill>
                  <a:srgbClr val="B42419"/>
                </a:solidFill>
                <a:effectLst/>
                <a:latin typeface="Menlo" panose="020B0609030804020204" pitchFamily="49" charset="0"/>
              </a:rPr>
              <a:t>1</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2</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*s);</a:t>
            </a: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0</a:t>
            </a:r>
            <a:r>
              <a:rPr lang="en-US" sz="1600" dirty="0">
                <a:solidFill>
                  <a:srgbClr val="000000"/>
                </a:solidFill>
                <a:effectLst/>
                <a:latin typeface="Menlo" panose="020B0609030804020204" pitchFamily="49" charset="0"/>
              </a:rPr>
              <a:t>;</a:t>
            </a:r>
            <a:endParaRPr lang="en-US" sz="1600" dirty="0">
              <a:solidFill>
                <a:srgbClr val="C1651C"/>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p>
        </p:txBody>
      </p:sp>
      <p:sp>
        <p:nvSpPr>
          <p:cNvPr id="5" name="TextBox 4">
            <a:extLst>
              <a:ext uri="{FF2B5EF4-FFF2-40B4-BE49-F238E27FC236}">
                <a16:creationId xmlns:a16="http://schemas.microsoft.com/office/drawing/2014/main" id="{DA8491BC-B074-05FF-B439-C6CDF883E355}"/>
              </a:ext>
            </a:extLst>
          </p:cNvPr>
          <p:cNvSpPr txBox="1"/>
          <p:nvPr/>
        </p:nvSpPr>
        <p:spPr>
          <a:xfrm>
            <a:off x="6280404" y="3589363"/>
            <a:ext cx="4422648" cy="1021556"/>
          </a:xfrm>
          <a:prstGeom prst="wedgeRoundRectCallout">
            <a:avLst>
              <a:gd name="adj1" fmla="val -68309"/>
              <a:gd name="adj2" fmla="val 23293"/>
              <a:gd name="adj3" fmla="val 16667"/>
            </a:avLst>
          </a:prstGeom>
          <a:solidFill>
            <a:schemeClr val="accent6">
              <a:lumMod val="20000"/>
              <a:lumOff val="80000"/>
            </a:schemeClr>
          </a:solidFill>
          <a:effectLst>
            <a:outerShdw blurRad="50800" dist="38100" dir="2700000" algn="tl" rotWithShape="0">
              <a:prstClr val="black">
                <a:alpha val="40000"/>
              </a:prstClr>
            </a:outerShdw>
          </a:effectLst>
        </p:spPr>
        <p:txBody>
          <a:bodyPr wrap="square" rtlCol="0">
            <a:spAutoFit/>
          </a:bodyPr>
          <a:lstStyle/>
          <a:p>
            <a:r>
              <a:rPr lang="en-US" sz="1800" dirty="0">
                <a:effectLst/>
                <a:latin typeface="Calibri" panose="020F0502020204030204" pitchFamily="34" charset="0"/>
                <a:cs typeface="Calibri" panose="020F0502020204030204" pitchFamily="34" charset="0"/>
              </a:rPr>
              <a:t>A </a:t>
            </a:r>
            <a:r>
              <a:rPr lang="en-US" sz="1600" b="1" dirty="0">
                <a:effectLst/>
                <a:latin typeface="Menlo" panose="020B0609030804020204" pitchFamily="49" charset="0"/>
                <a:ea typeface="Menlo" panose="020B0609030804020204" pitchFamily="49" charset="0"/>
                <a:cs typeface="Menlo" panose="020B0609030804020204" pitchFamily="49" charset="0"/>
              </a:rPr>
              <a:t>short</a:t>
            </a:r>
            <a:r>
              <a:rPr lang="en-US" sz="1800" dirty="0">
                <a:effectLst/>
                <a:latin typeface="Calibri" panose="020F0502020204030204" pitchFamily="34" charset="0"/>
                <a:cs typeface="Calibri" panose="020F0502020204030204" pitchFamily="34" charset="0"/>
              </a:rPr>
              <a:t> requires 2 bytes. Rather than hard-coding this, the </a:t>
            </a:r>
            <a:r>
              <a:rPr lang="en-US" sz="1600" b="1" dirty="0" err="1">
                <a:effectLst/>
                <a:latin typeface="Menlo" panose="020B0609030804020204" pitchFamily="49" charset="0"/>
                <a:ea typeface="Menlo" panose="020B0609030804020204" pitchFamily="49" charset="0"/>
                <a:cs typeface="Menlo" panose="020B0609030804020204" pitchFamily="49" charset="0"/>
              </a:rPr>
              <a:t>sizeof</a:t>
            </a:r>
            <a:r>
              <a:rPr lang="en-US" sz="1800" dirty="0">
                <a:effectLst/>
                <a:latin typeface="Calibri" panose="020F0502020204030204" pitchFamily="34" charset="0"/>
                <a:cs typeface="Calibri" panose="020F0502020204030204" pitchFamily="34" charset="0"/>
              </a:rPr>
              <a:t> operator takes in a type and tells us how many bytes it uses.</a:t>
            </a:r>
            <a:endParaRPr lang="en-US" sz="2000" dirty="0">
              <a:effectLst/>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69982384-ED7C-A29C-F52D-722D21DE1A34}"/>
              </a:ext>
            </a:extLst>
          </p:cNvPr>
          <p:cNvSpPr txBox="1"/>
          <p:nvPr/>
        </p:nvSpPr>
        <p:spPr>
          <a:xfrm>
            <a:off x="448057" y="1813655"/>
            <a:ext cx="11512296" cy="1292662"/>
          </a:xfrm>
          <a:prstGeom prst="rect">
            <a:avLst/>
          </a:prstGeom>
          <a:noFill/>
        </p:spPr>
        <p:txBody>
          <a:bodyPr wrap="square" rtlCol="0">
            <a:spAutoFit/>
          </a:bodyPr>
          <a:lstStyle/>
          <a:p>
            <a:pPr marL="342900" indent="-342900">
              <a:buFont typeface="Arial" panose="020B0604020202020204" pitchFamily="34" charset="0"/>
              <a:buChar char="•"/>
            </a:pPr>
            <a:r>
              <a:rPr lang="en-US" sz="2000" dirty="0">
                <a:effectLst/>
              </a:rPr>
              <a:t>The built-in function </a:t>
            </a:r>
            <a:r>
              <a:rPr lang="en-US" b="1" dirty="0">
                <a:effectLst/>
                <a:latin typeface="Menlo" panose="020B0609030804020204" pitchFamily="49" charset="0"/>
                <a:ea typeface="Menlo" panose="020B0609030804020204" pitchFamily="49" charset="0"/>
                <a:cs typeface="Menlo" panose="020B0609030804020204" pitchFamily="49" charset="0"/>
              </a:rPr>
              <a:t>malloc</a:t>
            </a:r>
            <a:r>
              <a:rPr lang="en-US" sz="2000" dirty="0">
                <a:effectLst/>
              </a:rPr>
              <a:t> allocates a region of memory.</a:t>
            </a:r>
          </a:p>
          <a:p>
            <a:r>
              <a:rPr lang="en-US" b="1" dirty="0">
                <a:effectLst/>
                <a:latin typeface="Menlo" panose="020B0609030804020204" pitchFamily="49" charset="0"/>
                <a:ea typeface="Menlo" panose="020B0609030804020204" pitchFamily="49" charset="0"/>
                <a:cs typeface="Menlo" panose="020B0609030804020204" pitchFamily="49" charset="0"/>
              </a:rPr>
              <a:t>	void* malloc(</a:t>
            </a:r>
            <a:r>
              <a:rPr lang="en-US" b="1" dirty="0" err="1">
                <a:effectLst/>
                <a:latin typeface="Menlo" panose="020B0609030804020204" pitchFamily="49" charset="0"/>
                <a:ea typeface="Menlo" panose="020B0609030804020204" pitchFamily="49" charset="0"/>
                <a:cs typeface="Menlo" panose="020B0609030804020204" pitchFamily="49" charset="0"/>
              </a:rPr>
              <a:t>size_t</a:t>
            </a:r>
            <a:r>
              <a:rPr lang="en-US" b="1" dirty="0">
                <a:effectLst/>
                <a:latin typeface="Menlo" panose="020B0609030804020204" pitchFamily="49" charset="0"/>
                <a:ea typeface="Menlo" panose="020B0609030804020204" pitchFamily="49" charset="0"/>
                <a:cs typeface="Menlo" panose="020B0609030804020204" pitchFamily="49" charset="0"/>
              </a:rPr>
              <a:t> size);</a:t>
            </a:r>
            <a:endParaRPr lang="en-US" dirty="0"/>
          </a:p>
          <a:p>
            <a:pPr marL="342900" indent="-342900">
              <a:buFont typeface="Arial" panose="020B0604020202020204" pitchFamily="34" charset="0"/>
              <a:buChar char="•"/>
            </a:pPr>
            <a:r>
              <a:rPr lang="en-US" sz="2000" dirty="0">
                <a:effectLst/>
                <a:latin typeface="CMSS8"/>
              </a:rPr>
              <a:t>The input to </a:t>
            </a:r>
            <a:r>
              <a:rPr lang="en-US" sz="2000" dirty="0">
                <a:effectLst/>
                <a:latin typeface="CMTT8"/>
              </a:rPr>
              <a:t>malloc </a:t>
            </a:r>
            <a:r>
              <a:rPr lang="en-US" sz="2000" dirty="0">
                <a:effectLst/>
                <a:latin typeface="CMSS8"/>
              </a:rPr>
              <a:t>is the number of bytes desired. </a:t>
            </a:r>
          </a:p>
          <a:p>
            <a:pPr marL="342900" indent="-342900">
              <a:buFont typeface="Arial" panose="020B0604020202020204" pitchFamily="34" charset="0"/>
              <a:buChar char="•"/>
            </a:pPr>
            <a:r>
              <a:rPr lang="en-US" sz="2000" dirty="0">
                <a:latin typeface="CMSS8"/>
              </a:rPr>
              <a:t>Its </a:t>
            </a:r>
            <a:r>
              <a:rPr lang="en-US" sz="2000" dirty="0">
                <a:effectLst/>
                <a:latin typeface="CMSS8"/>
              </a:rPr>
              <a:t>return type is </a:t>
            </a:r>
            <a:r>
              <a:rPr lang="en-US" b="1" dirty="0">
                <a:effectLst/>
                <a:latin typeface="Menlo" panose="020B0609030804020204" pitchFamily="49" charset="0"/>
                <a:ea typeface="Menlo" panose="020B0609030804020204" pitchFamily="49" charset="0"/>
                <a:cs typeface="Menlo" panose="020B0609030804020204" pitchFamily="49" charset="0"/>
              </a:rPr>
              <a:t>void*</a:t>
            </a:r>
            <a:r>
              <a:rPr lang="en-US" sz="2000" dirty="0">
                <a:latin typeface="CMSS8"/>
              </a:rPr>
              <a:t> (</a:t>
            </a:r>
            <a:r>
              <a:rPr lang="en-US" sz="2000" dirty="0">
                <a:effectLst/>
                <a:latin typeface="CMSS8"/>
              </a:rPr>
              <a:t>a generic pointer), the </a:t>
            </a:r>
            <a:r>
              <a:rPr lang="en-US" sz="2000" dirty="0">
                <a:effectLst/>
                <a:latin typeface="CMTT8"/>
              </a:rPr>
              <a:t>malloc </a:t>
            </a:r>
            <a:r>
              <a:rPr lang="en-US" sz="2000" dirty="0">
                <a:effectLst/>
                <a:latin typeface="CMSS8"/>
              </a:rPr>
              <a:t>function needs to work for any type of pointer. </a:t>
            </a:r>
          </a:p>
        </p:txBody>
      </p:sp>
      <p:sp>
        <p:nvSpPr>
          <p:cNvPr id="9" name="TextBox 8">
            <a:extLst>
              <a:ext uri="{FF2B5EF4-FFF2-40B4-BE49-F238E27FC236}">
                <a16:creationId xmlns:a16="http://schemas.microsoft.com/office/drawing/2014/main" id="{0F7D2B85-5FCF-3F31-2944-3F8D485428A1}"/>
              </a:ext>
            </a:extLst>
          </p:cNvPr>
          <p:cNvSpPr txBox="1"/>
          <p:nvPr/>
        </p:nvSpPr>
        <p:spPr>
          <a:xfrm>
            <a:off x="1937004" y="4779393"/>
            <a:ext cx="4791456" cy="715089"/>
          </a:xfrm>
          <a:prstGeom prst="wedgeRoundRectCallout">
            <a:avLst>
              <a:gd name="adj1" fmla="val -33237"/>
              <a:gd name="adj2" fmla="val -92781"/>
              <a:gd name="adj3" fmla="val 16667"/>
            </a:avLst>
          </a:prstGeom>
          <a:solidFill>
            <a:schemeClr val="accent6">
              <a:lumMod val="20000"/>
              <a:lumOff val="80000"/>
            </a:schemeClr>
          </a:solidFill>
          <a:effectLst>
            <a:outerShdw blurRad="50800" dist="38100" dir="2700000" algn="tl" rotWithShape="0">
              <a:prstClr val="black">
                <a:alpha val="40000"/>
              </a:prstClr>
            </a:outerShdw>
          </a:effectLst>
        </p:spPr>
        <p:txBody>
          <a:bodyPr wrap="square" rtlCol="0">
            <a:spAutoFit/>
          </a:bodyPr>
          <a:lstStyle/>
          <a:p>
            <a:r>
              <a:rPr lang="en-US" dirty="0">
                <a:effectLst/>
              </a:rPr>
              <a:t>To tell C that we intend to use the result as a pointer to a </a:t>
            </a:r>
            <a:r>
              <a:rPr lang="en-US" sz="1600" b="1" dirty="0">
                <a:effectLst/>
                <a:latin typeface="Menlo" panose="020B0609030804020204" pitchFamily="49" charset="0"/>
                <a:ea typeface="Menlo" panose="020B0609030804020204" pitchFamily="49" charset="0"/>
                <a:cs typeface="Menlo" panose="020B0609030804020204" pitchFamily="49" charset="0"/>
              </a:rPr>
              <a:t>short</a:t>
            </a:r>
            <a:r>
              <a:rPr lang="en-US" dirty="0">
                <a:effectLst/>
              </a:rPr>
              <a:t>, we “cast” the pointer. </a:t>
            </a:r>
          </a:p>
        </p:txBody>
      </p:sp>
      <p:sp>
        <p:nvSpPr>
          <p:cNvPr id="11" name="TextBox 10">
            <a:extLst>
              <a:ext uri="{FF2B5EF4-FFF2-40B4-BE49-F238E27FC236}">
                <a16:creationId xmlns:a16="http://schemas.microsoft.com/office/drawing/2014/main" id="{ADB68814-387D-2523-CF0F-56F8713A1E04}"/>
              </a:ext>
            </a:extLst>
          </p:cNvPr>
          <p:cNvSpPr txBox="1"/>
          <p:nvPr/>
        </p:nvSpPr>
        <p:spPr>
          <a:xfrm>
            <a:off x="448057" y="1148827"/>
            <a:ext cx="11512296" cy="707886"/>
          </a:xfrm>
          <a:prstGeom prst="rect">
            <a:avLst/>
          </a:prstGeom>
          <a:noFill/>
        </p:spPr>
        <p:txBody>
          <a:bodyPr wrap="square" rtlCol="0">
            <a:spAutoFit/>
          </a:bodyPr>
          <a:lstStyle/>
          <a:p>
            <a:r>
              <a:rPr lang="en-US" sz="2000" dirty="0"/>
              <a:t>Q: Local variables are stored on stack which will be recycled after function returns, how to store values visible to the caller function?</a:t>
            </a:r>
          </a:p>
        </p:txBody>
      </p:sp>
    </p:spTree>
    <p:extLst>
      <p:ext uri="{BB962C8B-B14F-4D97-AF65-F5344CB8AC3E}">
        <p14:creationId xmlns:p14="http://schemas.microsoft.com/office/powerpoint/2010/main" val="843724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DF28A-B449-F58B-FC4C-D764F083537E}"/>
              </a:ext>
            </a:extLst>
          </p:cNvPr>
          <p:cNvSpPr>
            <a:spLocks noGrp="1"/>
          </p:cNvSpPr>
          <p:nvPr>
            <p:ph type="title"/>
          </p:nvPr>
        </p:nvSpPr>
        <p:spPr/>
        <p:txBody>
          <a:bodyPr>
            <a:normAutofit/>
          </a:bodyPr>
          <a:lstStyle/>
          <a:p>
            <a:r>
              <a:rPr lang="en-US" sz="4000" dirty="0">
                <a:latin typeface="Menlo" panose="020B0609030804020204" pitchFamily="49" charset="0"/>
                <a:ea typeface="Menlo" panose="020B0609030804020204" pitchFamily="49" charset="0"/>
                <a:cs typeface="Menlo" panose="020B0609030804020204" pitchFamily="49" charset="0"/>
              </a:rPr>
              <a:t>malloc</a:t>
            </a:r>
            <a:r>
              <a:rPr lang="en-US" sz="4000" dirty="0"/>
              <a:t>: Where the data is in memory</a:t>
            </a:r>
          </a:p>
        </p:txBody>
      </p:sp>
      <p:sp>
        <p:nvSpPr>
          <p:cNvPr id="7" name="TextBox 6">
            <a:extLst>
              <a:ext uri="{FF2B5EF4-FFF2-40B4-BE49-F238E27FC236}">
                <a16:creationId xmlns:a16="http://schemas.microsoft.com/office/drawing/2014/main" id="{02F85B85-C38F-5849-5516-5F2349B0867B}"/>
              </a:ext>
            </a:extLst>
          </p:cNvPr>
          <p:cNvSpPr txBox="1"/>
          <p:nvPr/>
        </p:nvSpPr>
        <p:spPr>
          <a:xfrm>
            <a:off x="612648" y="1463716"/>
            <a:ext cx="10105715" cy="707886"/>
          </a:xfrm>
          <a:prstGeom prst="rect">
            <a:avLst/>
          </a:prstGeom>
          <a:noFill/>
        </p:spPr>
        <p:txBody>
          <a:bodyPr wrap="none" rtlCol="0">
            <a:spAutoFit/>
          </a:bodyPr>
          <a:lstStyle/>
          <a:p>
            <a:pPr marL="342900" indent="-342900">
              <a:buFont typeface="Arial" panose="020B0604020202020204" pitchFamily="34" charset="0"/>
              <a:buChar char="•"/>
            </a:pPr>
            <a:r>
              <a:rPr lang="en-US" sz="2000" dirty="0">
                <a:effectLst/>
              </a:rPr>
              <a:t>The region itself is in a persistent area of memory called the </a:t>
            </a:r>
            <a:r>
              <a:rPr lang="en-US" sz="2000" b="1" dirty="0">
                <a:effectLst/>
              </a:rPr>
              <a:t>heap</a:t>
            </a:r>
            <a:r>
              <a:rPr lang="en-US" sz="2000" dirty="0">
                <a:effectLst/>
              </a:rPr>
              <a:t>.</a:t>
            </a:r>
          </a:p>
          <a:p>
            <a:pPr marL="342900" indent="-342900">
              <a:buFont typeface="Arial" panose="020B0604020202020204" pitchFamily="34" charset="0"/>
              <a:buChar char="•"/>
            </a:pPr>
            <a:r>
              <a:rPr lang="en-US" sz="2000" dirty="0">
                <a:latin typeface="CMSS8"/>
              </a:rPr>
              <a:t>The allocated region of memory </a:t>
            </a:r>
            <a:r>
              <a:rPr lang="en-US" sz="2000" dirty="0">
                <a:effectLst/>
              </a:rPr>
              <a:t>will not be deallocated until you explicitly do so (by </a:t>
            </a:r>
            <a:r>
              <a:rPr lang="en-US" sz="2000" b="1" dirty="0">
                <a:effectLst/>
                <a:latin typeface="Menlo" panose="020B0609030804020204" pitchFamily="49" charset="0"/>
                <a:ea typeface="Menlo" panose="020B0609030804020204" pitchFamily="49" charset="0"/>
                <a:cs typeface="Menlo" panose="020B0609030804020204" pitchFamily="49" charset="0"/>
              </a:rPr>
              <a:t>free</a:t>
            </a:r>
            <a:r>
              <a:rPr lang="en-US" sz="2000" dirty="0">
                <a:effectLst/>
              </a:rPr>
              <a:t>). </a:t>
            </a:r>
          </a:p>
        </p:txBody>
      </p:sp>
      <p:grpSp>
        <p:nvGrpSpPr>
          <p:cNvPr id="15" name="Group 14">
            <a:extLst>
              <a:ext uri="{FF2B5EF4-FFF2-40B4-BE49-F238E27FC236}">
                <a16:creationId xmlns:a16="http://schemas.microsoft.com/office/drawing/2014/main" id="{2D0289B1-7CD8-3700-BA6B-31E14CAA2D6B}"/>
              </a:ext>
            </a:extLst>
          </p:cNvPr>
          <p:cNvGrpSpPr/>
          <p:nvPr/>
        </p:nvGrpSpPr>
        <p:grpSpPr>
          <a:xfrm>
            <a:off x="8899257" y="2473014"/>
            <a:ext cx="896130" cy="4019857"/>
            <a:chOff x="7211641" y="2964924"/>
            <a:chExt cx="896130" cy="1874222"/>
          </a:xfrm>
        </p:grpSpPr>
        <p:sp>
          <p:nvSpPr>
            <p:cNvPr id="16" name="Rectangle 15">
              <a:extLst>
                <a:ext uri="{FF2B5EF4-FFF2-40B4-BE49-F238E27FC236}">
                  <a16:creationId xmlns:a16="http://schemas.microsoft.com/office/drawing/2014/main" id="{D1BE6354-CBA7-5EB7-4B1A-92E5DDED1886}"/>
                </a:ext>
              </a:extLst>
            </p:cNvPr>
            <p:cNvSpPr/>
            <p:nvPr/>
          </p:nvSpPr>
          <p:spPr>
            <a:xfrm>
              <a:off x="7211641" y="2964924"/>
              <a:ext cx="896130" cy="18742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TextBox 16">
              <a:extLst>
                <a:ext uri="{FF2B5EF4-FFF2-40B4-BE49-F238E27FC236}">
                  <a16:creationId xmlns:a16="http://schemas.microsoft.com/office/drawing/2014/main" id="{EA2B33EB-AAC0-5FF8-1A17-796C6C026DDF}"/>
                </a:ext>
              </a:extLst>
            </p:cNvPr>
            <p:cNvSpPr txBox="1"/>
            <p:nvPr/>
          </p:nvSpPr>
          <p:spPr>
            <a:xfrm rot="5400000">
              <a:off x="7539848" y="4484197"/>
              <a:ext cx="246177" cy="461665"/>
            </a:xfrm>
            <a:prstGeom prst="rect">
              <a:avLst/>
            </a:prstGeom>
            <a:noFill/>
          </p:spPr>
          <p:txBody>
            <a:bodyPr wrap="none" rtlCol="0">
              <a:spAutoFit/>
            </a:bodyPr>
            <a:lstStyle/>
            <a:p>
              <a:pPr algn="ctr"/>
              <a:r>
                <a:rPr lang="en-US" sz="2400" dirty="0"/>
                <a:t>…</a:t>
              </a:r>
            </a:p>
          </p:txBody>
        </p:sp>
        <p:sp>
          <p:nvSpPr>
            <p:cNvPr id="18" name="TextBox 17">
              <a:extLst>
                <a:ext uri="{FF2B5EF4-FFF2-40B4-BE49-F238E27FC236}">
                  <a16:creationId xmlns:a16="http://schemas.microsoft.com/office/drawing/2014/main" id="{251EE8A1-0A4C-5687-6970-A739ED42B4CD}"/>
                </a:ext>
              </a:extLst>
            </p:cNvPr>
            <p:cNvSpPr txBox="1"/>
            <p:nvPr/>
          </p:nvSpPr>
          <p:spPr>
            <a:xfrm rot="5400000">
              <a:off x="7539848" y="2885026"/>
              <a:ext cx="246177" cy="461665"/>
            </a:xfrm>
            <a:prstGeom prst="rect">
              <a:avLst/>
            </a:prstGeom>
            <a:noFill/>
          </p:spPr>
          <p:txBody>
            <a:bodyPr wrap="none" rtlCol="0">
              <a:spAutoFit/>
            </a:bodyPr>
            <a:lstStyle/>
            <a:p>
              <a:pPr algn="ctr"/>
              <a:r>
                <a:rPr lang="en-US" sz="2400" dirty="0"/>
                <a:t>…</a:t>
              </a:r>
            </a:p>
          </p:txBody>
        </p:sp>
      </p:grpSp>
      <p:sp>
        <p:nvSpPr>
          <p:cNvPr id="19" name="Rectangle 18">
            <a:extLst>
              <a:ext uri="{FF2B5EF4-FFF2-40B4-BE49-F238E27FC236}">
                <a16:creationId xmlns:a16="http://schemas.microsoft.com/office/drawing/2014/main" id="{8E19B47E-06CA-E852-F3B0-73134CD4200B}"/>
              </a:ext>
            </a:extLst>
          </p:cNvPr>
          <p:cNvSpPr/>
          <p:nvPr/>
        </p:nvSpPr>
        <p:spPr>
          <a:xfrm>
            <a:off x="8899254" y="2918755"/>
            <a:ext cx="896129" cy="846740"/>
          </a:xfrm>
          <a:prstGeom prst="rect">
            <a:avLst/>
          </a:prstGeom>
          <a:solidFill>
            <a:schemeClr val="accent6">
              <a:lumMod val="40000"/>
              <a:lumOff val="60000"/>
            </a:schemeClr>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0" name="TextBox 19">
            <a:extLst>
              <a:ext uri="{FF2B5EF4-FFF2-40B4-BE49-F238E27FC236}">
                <a16:creationId xmlns:a16="http://schemas.microsoft.com/office/drawing/2014/main" id="{EA3D9DC9-A383-BA2B-33BA-E666A23181FA}"/>
              </a:ext>
            </a:extLst>
          </p:cNvPr>
          <p:cNvSpPr txBox="1"/>
          <p:nvPr/>
        </p:nvSpPr>
        <p:spPr>
          <a:xfrm>
            <a:off x="8797282" y="2094841"/>
            <a:ext cx="1078821" cy="400110"/>
          </a:xfrm>
          <a:prstGeom prst="rect">
            <a:avLst/>
          </a:prstGeom>
          <a:noFill/>
        </p:spPr>
        <p:txBody>
          <a:bodyPr wrap="none" rtlCol="0">
            <a:spAutoFit/>
          </a:bodyPr>
          <a:lstStyle/>
          <a:p>
            <a:r>
              <a:rPr lang="en-US" sz="2000" dirty="0"/>
              <a:t>Memory</a:t>
            </a:r>
          </a:p>
        </p:txBody>
      </p:sp>
      <p:sp>
        <p:nvSpPr>
          <p:cNvPr id="21" name="TextBox 20">
            <a:extLst>
              <a:ext uri="{FF2B5EF4-FFF2-40B4-BE49-F238E27FC236}">
                <a16:creationId xmlns:a16="http://schemas.microsoft.com/office/drawing/2014/main" id="{9C2C145C-43D0-F7B6-C9AF-5E8A7B9E7029}"/>
              </a:ext>
            </a:extLst>
          </p:cNvPr>
          <p:cNvSpPr txBox="1"/>
          <p:nvPr/>
        </p:nvSpPr>
        <p:spPr>
          <a:xfrm>
            <a:off x="9839563" y="6308205"/>
            <a:ext cx="2186111" cy="369332"/>
          </a:xfrm>
          <a:prstGeom prst="rect">
            <a:avLst/>
          </a:prstGeom>
          <a:noFill/>
        </p:spPr>
        <p:txBody>
          <a:bodyPr wrap="none" rtlCol="0">
            <a:spAutoFit/>
          </a:bodyPr>
          <a:lstStyle/>
          <a:p>
            <a:r>
              <a:rPr lang="en-US" dirty="0"/>
              <a:t>Low address (</a:t>
            </a:r>
            <a:r>
              <a:rPr lang="en-US" sz="1400" dirty="0">
                <a:latin typeface="Menlo" panose="020B0609030804020204" pitchFamily="49" charset="0"/>
                <a:ea typeface="Menlo" panose="020B0609030804020204" pitchFamily="49" charset="0"/>
                <a:cs typeface="Menlo" panose="020B0609030804020204" pitchFamily="49" charset="0"/>
              </a:rPr>
              <a:t>000…00</a:t>
            </a:r>
            <a:r>
              <a:rPr lang="en-US" dirty="0"/>
              <a:t>)</a:t>
            </a:r>
          </a:p>
        </p:txBody>
      </p:sp>
      <p:sp>
        <p:nvSpPr>
          <p:cNvPr id="22" name="TextBox 21">
            <a:extLst>
              <a:ext uri="{FF2B5EF4-FFF2-40B4-BE49-F238E27FC236}">
                <a16:creationId xmlns:a16="http://schemas.microsoft.com/office/drawing/2014/main" id="{759C713D-5EF4-4539-7140-074FBCE95EC8}"/>
              </a:ext>
            </a:extLst>
          </p:cNvPr>
          <p:cNvSpPr txBox="1"/>
          <p:nvPr/>
        </p:nvSpPr>
        <p:spPr>
          <a:xfrm>
            <a:off x="9795383" y="2301421"/>
            <a:ext cx="2230291" cy="369332"/>
          </a:xfrm>
          <a:prstGeom prst="rect">
            <a:avLst/>
          </a:prstGeom>
          <a:noFill/>
        </p:spPr>
        <p:txBody>
          <a:bodyPr wrap="none" rtlCol="0">
            <a:spAutoFit/>
          </a:bodyPr>
          <a:lstStyle/>
          <a:p>
            <a:r>
              <a:rPr lang="en-US" dirty="0"/>
              <a:t>High address (</a:t>
            </a:r>
            <a:r>
              <a:rPr lang="en-US" sz="1400" dirty="0" err="1">
                <a:latin typeface="Menlo" panose="020B0609030804020204" pitchFamily="49" charset="0"/>
                <a:ea typeface="Menlo" panose="020B0609030804020204" pitchFamily="49" charset="0"/>
                <a:cs typeface="Menlo" panose="020B0609030804020204" pitchFamily="49" charset="0"/>
              </a:rPr>
              <a:t>fff</a:t>
            </a:r>
            <a:r>
              <a:rPr lang="en-US" sz="1400" dirty="0">
                <a:latin typeface="Menlo" panose="020B0609030804020204" pitchFamily="49" charset="0"/>
                <a:ea typeface="Menlo" panose="020B0609030804020204" pitchFamily="49" charset="0"/>
                <a:cs typeface="Menlo" panose="020B0609030804020204" pitchFamily="49" charset="0"/>
              </a:rPr>
              <a:t>…ff</a:t>
            </a:r>
            <a:r>
              <a:rPr lang="en-US" dirty="0"/>
              <a:t>)</a:t>
            </a:r>
          </a:p>
        </p:txBody>
      </p:sp>
      <p:sp>
        <p:nvSpPr>
          <p:cNvPr id="23" name="Rectangle 22">
            <a:extLst>
              <a:ext uri="{FF2B5EF4-FFF2-40B4-BE49-F238E27FC236}">
                <a16:creationId xmlns:a16="http://schemas.microsoft.com/office/drawing/2014/main" id="{72F8C9C3-4E8F-EC86-AD09-BCAF35EECD69}"/>
              </a:ext>
            </a:extLst>
          </p:cNvPr>
          <p:cNvSpPr/>
          <p:nvPr/>
        </p:nvSpPr>
        <p:spPr>
          <a:xfrm>
            <a:off x="8899254" y="5161641"/>
            <a:ext cx="896129" cy="846740"/>
          </a:xfrm>
          <a:prstGeom prst="rect">
            <a:avLst/>
          </a:prstGeom>
          <a:solidFill>
            <a:srgbClr val="F5D1CF"/>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4" name="TextBox 23">
            <a:extLst>
              <a:ext uri="{FF2B5EF4-FFF2-40B4-BE49-F238E27FC236}">
                <a16:creationId xmlns:a16="http://schemas.microsoft.com/office/drawing/2014/main" id="{5121F283-2BAF-EC2B-5486-8F0EA63667F6}"/>
              </a:ext>
            </a:extLst>
          </p:cNvPr>
          <p:cNvSpPr txBox="1"/>
          <p:nvPr/>
        </p:nvSpPr>
        <p:spPr>
          <a:xfrm>
            <a:off x="10112315" y="3110665"/>
            <a:ext cx="800219" cy="400110"/>
          </a:xfrm>
          <a:prstGeom prst="rect">
            <a:avLst/>
          </a:prstGeom>
          <a:noFill/>
        </p:spPr>
        <p:txBody>
          <a:bodyPr wrap="none" rtlCol="0">
            <a:spAutoFit/>
          </a:bodyPr>
          <a:lstStyle/>
          <a:p>
            <a:r>
              <a:rPr lang="en-US" sz="2000"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main</a:t>
            </a:r>
          </a:p>
        </p:txBody>
      </p:sp>
      <p:sp>
        <p:nvSpPr>
          <p:cNvPr id="25" name="TextBox 24">
            <a:extLst>
              <a:ext uri="{FF2B5EF4-FFF2-40B4-BE49-F238E27FC236}">
                <a16:creationId xmlns:a16="http://schemas.microsoft.com/office/drawing/2014/main" id="{5ADE3550-21C0-9FC2-3841-92C37CAE4F17}"/>
              </a:ext>
            </a:extLst>
          </p:cNvPr>
          <p:cNvSpPr txBox="1"/>
          <p:nvPr/>
        </p:nvSpPr>
        <p:spPr>
          <a:xfrm>
            <a:off x="10114739" y="5325947"/>
            <a:ext cx="800219" cy="400110"/>
          </a:xfrm>
          <a:prstGeom prst="rect">
            <a:avLst/>
          </a:prstGeom>
          <a:noFill/>
        </p:spPr>
        <p:txBody>
          <a:bodyPr wrap="none" rtlCol="0">
            <a:spAutoFit/>
          </a:bodyPr>
          <a:lstStyle/>
          <a:p>
            <a:r>
              <a:rPr lang="en-US" sz="2000" dirty="0">
                <a:solidFill>
                  <a:srgbClr val="C00000"/>
                </a:solidFill>
                <a:latin typeface="Menlo" panose="020B0609030804020204" pitchFamily="49" charset="0"/>
                <a:ea typeface="Menlo" panose="020B0609030804020204" pitchFamily="49" charset="0"/>
                <a:cs typeface="Menlo" panose="020B0609030804020204" pitchFamily="49" charset="0"/>
              </a:rPr>
              <a:t>heap</a:t>
            </a:r>
          </a:p>
        </p:txBody>
      </p:sp>
      <p:sp>
        <p:nvSpPr>
          <p:cNvPr id="26" name="Right Brace 25">
            <a:extLst>
              <a:ext uri="{FF2B5EF4-FFF2-40B4-BE49-F238E27FC236}">
                <a16:creationId xmlns:a16="http://schemas.microsoft.com/office/drawing/2014/main" id="{DC703D09-2512-4637-E8E1-A91FEF0CC88B}"/>
              </a:ext>
            </a:extLst>
          </p:cNvPr>
          <p:cNvSpPr/>
          <p:nvPr/>
        </p:nvSpPr>
        <p:spPr>
          <a:xfrm>
            <a:off x="9836502" y="2941492"/>
            <a:ext cx="278237" cy="820825"/>
          </a:xfrm>
          <a:prstGeom prst="rightBrace">
            <a:avLst>
              <a:gd name="adj1" fmla="val 30242"/>
              <a:gd name="adj2" fmla="val 50000"/>
            </a:avLst>
          </a:prstGeom>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Right Brace 26">
            <a:extLst>
              <a:ext uri="{FF2B5EF4-FFF2-40B4-BE49-F238E27FC236}">
                <a16:creationId xmlns:a16="http://schemas.microsoft.com/office/drawing/2014/main" id="{EC1493A9-843E-B5B1-D7E1-6E782969A2F9}"/>
              </a:ext>
            </a:extLst>
          </p:cNvPr>
          <p:cNvSpPr/>
          <p:nvPr/>
        </p:nvSpPr>
        <p:spPr>
          <a:xfrm>
            <a:off x="9836502" y="5154655"/>
            <a:ext cx="278237" cy="853725"/>
          </a:xfrm>
          <a:prstGeom prst="rightBrace">
            <a:avLst>
              <a:gd name="adj1" fmla="val 30242"/>
              <a:gd name="adj2"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Rectangle 27">
            <a:extLst>
              <a:ext uri="{FF2B5EF4-FFF2-40B4-BE49-F238E27FC236}">
                <a16:creationId xmlns:a16="http://schemas.microsoft.com/office/drawing/2014/main" id="{6DAD6E4F-8185-1A4A-4C83-1FCA8E1FB968}"/>
              </a:ext>
            </a:extLst>
          </p:cNvPr>
          <p:cNvSpPr/>
          <p:nvPr/>
        </p:nvSpPr>
        <p:spPr>
          <a:xfrm>
            <a:off x="8897771" y="5544831"/>
            <a:ext cx="896129" cy="182880"/>
          </a:xfrm>
          <a:prstGeom prst="rect">
            <a:avLst/>
          </a:prstGeom>
          <a:solidFill>
            <a:schemeClr val="bg1">
              <a:lumMod val="85000"/>
            </a:schemeClr>
          </a:solidFill>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dirty="0">
              <a:latin typeface="Menlo" panose="020B0609030804020204" pitchFamily="49" charset="0"/>
              <a:ea typeface="Menlo" panose="020B0609030804020204" pitchFamily="49" charset="0"/>
              <a:cs typeface="Menlo" panose="020B0609030804020204" pitchFamily="49" charset="0"/>
            </a:endParaRPr>
          </a:p>
        </p:txBody>
      </p:sp>
      <p:sp>
        <p:nvSpPr>
          <p:cNvPr id="29" name="Rectangle 28">
            <a:extLst>
              <a:ext uri="{FF2B5EF4-FFF2-40B4-BE49-F238E27FC236}">
                <a16:creationId xmlns:a16="http://schemas.microsoft.com/office/drawing/2014/main" id="{D437B6AF-9B86-A29A-F773-E041003B4DCE}"/>
              </a:ext>
            </a:extLst>
          </p:cNvPr>
          <p:cNvSpPr/>
          <p:nvPr/>
        </p:nvSpPr>
        <p:spPr>
          <a:xfrm>
            <a:off x="8897771" y="3247675"/>
            <a:ext cx="896129" cy="18288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s</a:t>
            </a:r>
          </a:p>
        </p:txBody>
      </p:sp>
      <p:cxnSp>
        <p:nvCxnSpPr>
          <p:cNvPr id="30" name="Curved Connector 29">
            <a:extLst>
              <a:ext uri="{FF2B5EF4-FFF2-40B4-BE49-F238E27FC236}">
                <a16:creationId xmlns:a16="http://schemas.microsoft.com/office/drawing/2014/main" id="{384F97C6-5D94-E654-AFD8-52FAAB90DCFD}"/>
              </a:ext>
            </a:extLst>
          </p:cNvPr>
          <p:cNvCxnSpPr>
            <a:cxnSpLocks/>
            <a:stCxn id="29" idx="1"/>
            <a:endCxn id="28" idx="1"/>
          </p:cNvCxnSpPr>
          <p:nvPr/>
        </p:nvCxnSpPr>
        <p:spPr>
          <a:xfrm rot="10800000" flipV="1">
            <a:off x="8897771" y="3339115"/>
            <a:ext cx="12700" cy="2297156"/>
          </a:xfrm>
          <a:prstGeom prst="curvedConnector3">
            <a:avLst>
              <a:gd name="adj1" fmla="val 1800000"/>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355CE57D-4CB9-E699-DFC4-8EAED7794B3C}"/>
              </a:ext>
            </a:extLst>
          </p:cNvPr>
          <p:cNvSpPr txBox="1"/>
          <p:nvPr/>
        </p:nvSpPr>
        <p:spPr>
          <a:xfrm>
            <a:off x="391944" y="3180464"/>
            <a:ext cx="5492209" cy="3293209"/>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none" rtlCol="0">
            <a:spAutoFit/>
          </a:bodyPr>
          <a:lstStyle/>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stdlib.h</a:t>
            </a:r>
            <a:r>
              <a:rPr lang="en-US" sz="1600" dirty="0">
                <a:solidFill>
                  <a:srgbClr val="B42419"/>
                </a:solidFill>
                <a:effectLst/>
                <a:latin typeface="Menlo" panose="020B0609030804020204" pitchFamily="49" charset="0"/>
              </a:rPr>
              <a:t>&gt;</a:t>
            </a:r>
          </a:p>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stdio.h</a:t>
            </a:r>
            <a:r>
              <a:rPr lang="en-US" sz="1600" dirty="0">
                <a:solidFill>
                  <a:srgbClr val="B42419"/>
                </a:solidFill>
                <a:effectLst/>
                <a:latin typeface="Menlo" panose="020B0609030804020204" pitchFamily="49" charset="0"/>
              </a:rPr>
              <a:t>&gt;</a:t>
            </a:r>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bar(</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a,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b)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c =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*)malloc(</a:t>
            </a:r>
            <a:r>
              <a:rPr lang="en-US" sz="1600" dirty="0" err="1">
                <a:solidFill>
                  <a:srgbClr val="C1651C"/>
                </a:solidFill>
                <a:effectLst/>
                <a:latin typeface="Menlo" panose="020B0609030804020204" pitchFamily="49" charset="0"/>
              </a:rPr>
              <a:t>sizeof</a:t>
            </a:r>
            <a:r>
              <a:rPr lang="en-US" sz="1600" dirty="0">
                <a:solidFill>
                  <a:srgbClr val="000000"/>
                </a:solidFill>
                <a:effectLst/>
                <a:latin typeface="Menlo" panose="020B0609030804020204" pitchFamily="49" charset="0"/>
              </a:rPr>
              <a:t>(</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*c = a + b;</a:t>
            </a: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c;</a:t>
            </a:r>
            <a:endParaRPr lang="en-US" sz="1600" dirty="0">
              <a:solidFill>
                <a:srgbClr val="C1651C"/>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br>
              <a:rPr lang="en-US" sz="1600" dirty="0">
                <a:solidFill>
                  <a:srgbClr val="000000"/>
                </a:solidFill>
                <a:effectLst/>
                <a:latin typeface="Menlo" panose="020B0609030804020204" pitchFamily="49" charset="0"/>
              </a:rPr>
            </a:br>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main(){</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*s = bar(</a:t>
            </a:r>
            <a:r>
              <a:rPr lang="en-US" sz="1600" dirty="0">
                <a:solidFill>
                  <a:srgbClr val="B42419"/>
                </a:solidFill>
                <a:effectLst/>
                <a:latin typeface="Menlo" panose="020B0609030804020204" pitchFamily="49" charset="0"/>
              </a:rPr>
              <a:t>1</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2</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*s);</a:t>
            </a: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0</a:t>
            </a:r>
            <a:r>
              <a:rPr lang="en-US" sz="1600" dirty="0">
                <a:solidFill>
                  <a:srgbClr val="000000"/>
                </a:solidFill>
                <a:effectLst/>
                <a:latin typeface="Menlo" panose="020B0609030804020204" pitchFamily="49" charset="0"/>
              </a:rPr>
              <a:t>;</a:t>
            </a:r>
            <a:endParaRPr lang="en-US" sz="1600" dirty="0">
              <a:solidFill>
                <a:srgbClr val="C1651C"/>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p>
        </p:txBody>
      </p:sp>
      <p:sp>
        <p:nvSpPr>
          <p:cNvPr id="38" name="TextBox 37">
            <a:extLst>
              <a:ext uri="{FF2B5EF4-FFF2-40B4-BE49-F238E27FC236}">
                <a16:creationId xmlns:a16="http://schemas.microsoft.com/office/drawing/2014/main" id="{C0ADA662-F7F9-7C70-79BD-D4A72119D9C1}"/>
              </a:ext>
            </a:extLst>
          </p:cNvPr>
          <p:cNvSpPr txBox="1"/>
          <p:nvPr/>
        </p:nvSpPr>
        <p:spPr>
          <a:xfrm>
            <a:off x="2370922" y="4482942"/>
            <a:ext cx="4343400" cy="783193"/>
          </a:xfrm>
          <a:prstGeom prst="wedgeRoundRectCallout">
            <a:avLst>
              <a:gd name="adj1" fmla="val -58633"/>
              <a:gd name="adj2" fmla="val -88111"/>
              <a:gd name="adj3" fmla="val 16667"/>
            </a:avLst>
          </a:prstGeom>
          <a:solidFill>
            <a:schemeClr val="accent6">
              <a:lumMod val="20000"/>
              <a:lumOff val="80000"/>
            </a:schemeClr>
          </a:solidFill>
          <a:effectLst>
            <a:outerShdw blurRad="50800" dist="38100" dir="2700000" algn="tl" rotWithShape="0">
              <a:prstClr val="black">
                <a:alpha val="40000"/>
              </a:prstClr>
            </a:outerShdw>
          </a:effectLst>
        </p:spPr>
        <p:txBody>
          <a:bodyPr wrap="square" rtlCol="0">
            <a:spAutoFit/>
          </a:bodyPr>
          <a:lstStyle/>
          <a:p>
            <a:r>
              <a:rPr lang="en-US" sz="2000" dirty="0">
                <a:effectLst/>
              </a:rPr>
              <a:t>The address is stored in a local variable and copied back to the calling function. </a:t>
            </a:r>
          </a:p>
        </p:txBody>
      </p:sp>
      <p:sp>
        <p:nvSpPr>
          <p:cNvPr id="39" name="TextBox 38">
            <a:extLst>
              <a:ext uri="{FF2B5EF4-FFF2-40B4-BE49-F238E27FC236}">
                <a16:creationId xmlns:a16="http://schemas.microsoft.com/office/drawing/2014/main" id="{187BA1A4-7A18-6E99-E17B-622790C1B899}"/>
              </a:ext>
            </a:extLst>
          </p:cNvPr>
          <p:cNvSpPr txBox="1"/>
          <p:nvPr/>
        </p:nvSpPr>
        <p:spPr>
          <a:xfrm>
            <a:off x="5964869" y="2890130"/>
            <a:ext cx="2471458" cy="715089"/>
          </a:xfrm>
          <a:prstGeom prst="wedgeRoundRectCallout">
            <a:avLst>
              <a:gd name="adj1" fmla="val 66426"/>
              <a:gd name="adj2" fmla="val 19636"/>
              <a:gd name="adj3" fmla="val 16667"/>
            </a:avLst>
          </a:prstGeom>
          <a:solidFill>
            <a:schemeClr val="bg1">
              <a:lumMod val="85000"/>
            </a:schemeClr>
          </a:solidFill>
          <a:effectLst>
            <a:outerShdw blurRad="50800" dist="38100" dir="2700000" algn="tl" rotWithShape="0">
              <a:prstClr val="black">
                <a:alpha val="40000"/>
              </a:prstClr>
            </a:outerShdw>
          </a:effectLst>
        </p:spPr>
        <p:txBody>
          <a:bodyPr wrap="square" rtlCol="0">
            <a:spAutoFit/>
          </a:bodyPr>
          <a:lstStyle/>
          <a:p>
            <a:r>
              <a:rPr lang="en-US" dirty="0">
                <a:effectLst/>
              </a:rPr>
              <a:t>Returned pointer saved as a local variable</a:t>
            </a:r>
          </a:p>
        </p:txBody>
      </p:sp>
      <p:sp>
        <p:nvSpPr>
          <p:cNvPr id="40" name="Rectangle 39">
            <a:extLst>
              <a:ext uri="{FF2B5EF4-FFF2-40B4-BE49-F238E27FC236}">
                <a16:creationId xmlns:a16="http://schemas.microsoft.com/office/drawing/2014/main" id="{4C427FBA-8AA4-632D-EE6E-B2E26419A552}"/>
              </a:ext>
            </a:extLst>
          </p:cNvPr>
          <p:cNvSpPr/>
          <p:nvPr/>
        </p:nvSpPr>
        <p:spPr>
          <a:xfrm>
            <a:off x="8897770" y="3762317"/>
            <a:ext cx="896129" cy="802251"/>
          </a:xfrm>
          <a:prstGeom prst="rect">
            <a:avLst/>
          </a:prstGeom>
          <a:solidFill>
            <a:schemeClr val="accent1">
              <a:lumMod val="40000"/>
              <a:lumOff val="60000"/>
            </a:schemeClr>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6E8D8A3C-86C3-3775-FDE7-979FA287736E}"/>
              </a:ext>
            </a:extLst>
          </p:cNvPr>
          <p:cNvSpPr/>
          <p:nvPr/>
        </p:nvSpPr>
        <p:spPr>
          <a:xfrm>
            <a:off x="8896282" y="3926428"/>
            <a:ext cx="896129" cy="18288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c</a:t>
            </a:r>
          </a:p>
        </p:txBody>
      </p:sp>
      <p:cxnSp>
        <p:nvCxnSpPr>
          <p:cNvPr id="42" name="Curved Connector 41">
            <a:extLst>
              <a:ext uri="{FF2B5EF4-FFF2-40B4-BE49-F238E27FC236}">
                <a16:creationId xmlns:a16="http://schemas.microsoft.com/office/drawing/2014/main" id="{4D0DAF12-7914-E1EB-4EC7-B278A2645DBA}"/>
              </a:ext>
            </a:extLst>
          </p:cNvPr>
          <p:cNvCxnSpPr>
            <a:cxnSpLocks/>
            <a:stCxn id="41" idx="1"/>
            <a:endCxn id="28" idx="1"/>
          </p:cNvCxnSpPr>
          <p:nvPr/>
        </p:nvCxnSpPr>
        <p:spPr>
          <a:xfrm rot="10800000" flipH="1" flipV="1">
            <a:off x="8896281" y="4017867"/>
            <a:ext cx="1489" cy="1618403"/>
          </a:xfrm>
          <a:prstGeom prst="curvedConnector3">
            <a:avLst>
              <a:gd name="adj1" fmla="val -9825655"/>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sp>
        <p:nvSpPr>
          <p:cNvPr id="51" name="Rectangle 23">
            <a:extLst>
              <a:ext uri="{FF2B5EF4-FFF2-40B4-BE49-F238E27FC236}">
                <a16:creationId xmlns:a16="http://schemas.microsoft.com/office/drawing/2014/main" id="{E35D4639-ADEB-2B23-D966-22940CC2273A}"/>
              </a:ext>
            </a:extLst>
          </p:cNvPr>
          <p:cNvSpPr>
            <a:spLocks/>
          </p:cNvSpPr>
          <p:nvPr/>
        </p:nvSpPr>
        <p:spPr bwMode="auto">
          <a:xfrm>
            <a:off x="10910528" y="3497885"/>
            <a:ext cx="760413" cy="444500"/>
          </a:xfrm>
          <a:prstGeom prst="rect">
            <a:avLst/>
          </a:prstGeom>
          <a:noFill/>
          <a:ln w="12700" cap="rnd">
            <a:noFill/>
            <a:round/>
            <a:headEnd type="none" w="med" len="med"/>
            <a:tailEnd type="none" w="med" len="med"/>
          </a:ln>
        </p:spPr>
        <p:txBody>
          <a:bodyPr wrap="none" lIns="38100" tIns="38100" rIns="38100" bIns="38100">
            <a:spAutoFit/>
          </a:bodyPr>
          <a:lstStyle/>
          <a:p>
            <a:pPr rtl="0" fontAlgn="base">
              <a:spcBef>
                <a:spcPct val="0"/>
              </a:spcBef>
              <a:spcAft>
                <a:spcPct val="0"/>
              </a:spcAft>
            </a:pPr>
            <a:r>
              <a:rPr lang="en-US" sz="2400" kern="1200" dirty="0">
                <a:solidFill>
                  <a:srgbClr val="000000"/>
                </a:solidFill>
                <a:latin typeface="Calibri Bold" charset="0"/>
                <a:ea typeface="Calibri Bold" charset="0"/>
                <a:cs typeface="Calibri Bold" charset="0"/>
                <a:sym typeface="Calibri Bold" charset="0"/>
              </a:rPr>
              <a:t>Stack</a:t>
            </a:r>
          </a:p>
        </p:txBody>
      </p:sp>
      <p:sp>
        <p:nvSpPr>
          <p:cNvPr id="52" name="TextBox 51">
            <a:extLst>
              <a:ext uri="{FF2B5EF4-FFF2-40B4-BE49-F238E27FC236}">
                <a16:creationId xmlns:a16="http://schemas.microsoft.com/office/drawing/2014/main" id="{80467430-94DE-39C7-BDCC-CCF200D14071}"/>
              </a:ext>
            </a:extLst>
          </p:cNvPr>
          <p:cNvSpPr txBox="1"/>
          <p:nvPr/>
        </p:nvSpPr>
        <p:spPr>
          <a:xfrm>
            <a:off x="10112315" y="3985622"/>
            <a:ext cx="646331" cy="400110"/>
          </a:xfrm>
          <a:prstGeom prst="rect">
            <a:avLst/>
          </a:prstGeom>
          <a:noFill/>
        </p:spPr>
        <p:txBody>
          <a:bodyPr wrap="none" rtlCol="0">
            <a:spAutoFit/>
          </a:bodyPr>
          <a:lstStyle/>
          <a:p>
            <a:r>
              <a:rPr lang="en-US" sz="2000" dirty="0">
                <a:solidFill>
                  <a:schemeClr val="accent1">
                    <a:lumMod val="75000"/>
                  </a:schemeClr>
                </a:solidFill>
                <a:latin typeface="Menlo" panose="020B0609030804020204" pitchFamily="49" charset="0"/>
                <a:ea typeface="Menlo" panose="020B0609030804020204" pitchFamily="49" charset="0"/>
                <a:cs typeface="Menlo" panose="020B0609030804020204" pitchFamily="49" charset="0"/>
              </a:rPr>
              <a:t>bar</a:t>
            </a:r>
          </a:p>
        </p:txBody>
      </p:sp>
      <p:sp>
        <p:nvSpPr>
          <p:cNvPr id="53" name="Right Brace 52">
            <a:extLst>
              <a:ext uri="{FF2B5EF4-FFF2-40B4-BE49-F238E27FC236}">
                <a16:creationId xmlns:a16="http://schemas.microsoft.com/office/drawing/2014/main" id="{4C3E7BCB-04C4-1EBE-6771-04D77D1AFF61}"/>
              </a:ext>
            </a:extLst>
          </p:cNvPr>
          <p:cNvSpPr/>
          <p:nvPr/>
        </p:nvSpPr>
        <p:spPr>
          <a:xfrm>
            <a:off x="9836502" y="3816449"/>
            <a:ext cx="278237" cy="748119"/>
          </a:xfrm>
          <a:prstGeom prst="rightBrace">
            <a:avLst>
              <a:gd name="adj1" fmla="val 30242"/>
              <a:gd name="adj2" fmla="val 50000"/>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6" name="TextBox 55">
            <a:extLst>
              <a:ext uri="{FF2B5EF4-FFF2-40B4-BE49-F238E27FC236}">
                <a16:creationId xmlns:a16="http://schemas.microsoft.com/office/drawing/2014/main" id="{D8B9D428-D163-B304-CBD1-E4097C8E1A89}"/>
              </a:ext>
            </a:extLst>
          </p:cNvPr>
          <p:cNvSpPr txBox="1"/>
          <p:nvPr/>
        </p:nvSpPr>
        <p:spPr>
          <a:xfrm>
            <a:off x="6514283" y="5627901"/>
            <a:ext cx="2049760" cy="715089"/>
          </a:xfrm>
          <a:prstGeom prst="wedgeRoundRectCallout">
            <a:avLst>
              <a:gd name="adj1" fmla="val 67937"/>
              <a:gd name="adj2" fmla="val -47525"/>
              <a:gd name="adj3" fmla="val 16667"/>
            </a:avLst>
          </a:prstGeom>
          <a:solidFill>
            <a:schemeClr val="bg1">
              <a:lumMod val="85000"/>
            </a:schemeClr>
          </a:solidFill>
          <a:effectLst>
            <a:outerShdw blurRad="50800" dist="38100" dir="2700000" algn="tl" rotWithShape="0">
              <a:prstClr val="black">
                <a:alpha val="40000"/>
              </a:prstClr>
            </a:outerShdw>
          </a:effectLst>
        </p:spPr>
        <p:txBody>
          <a:bodyPr wrap="square" rtlCol="0">
            <a:spAutoFit/>
          </a:bodyPr>
          <a:lstStyle/>
          <a:p>
            <a:r>
              <a:rPr lang="en-US" dirty="0">
                <a:effectLst/>
              </a:rPr>
              <a:t>Allocated space of 2 bytes in heap</a:t>
            </a:r>
          </a:p>
        </p:txBody>
      </p:sp>
    </p:spTree>
    <p:extLst>
      <p:ext uri="{BB962C8B-B14F-4D97-AF65-F5344CB8AC3E}">
        <p14:creationId xmlns:p14="http://schemas.microsoft.com/office/powerpoint/2010/main" val="2493524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CEA5B-8769-2801-97E1-82E4C59FF7CC}"/>
              </a:ext>
            </a:extLst>
          </p:cNvPr>
          <p:cNvSpPr>
            <a:spLocks noGrp="1"/>
          </p:cNvSpPr>
          <p:nvPr>
            <p:ph type="title"/>
          </p:nvPr>
        </p:nvSpPr>
        <p:spPr/>
        <p:txBody>
          <a:bodyPr>
            <a:normAutofit/>
          </a:bodyPr>
          <a:lstStyle/>
          <a:p>
            <a:r>
              <a:rPr lang="en-US" dirty="0">
                <a:latin typeface="Menlo" panose="020B0609030804020204" pitchFamily="49" charset="0"/>
                <a:ea typeface="Menlo" panose="020B0609030804020204" pitchFamily="49" charset="0"/>
                <a:cs typeface="Menlo" panose="020B0609030804020204" pitchFamily="49" charset="0"/>
              </a:rPr>
              <a:t>free</a:t>
            </a:r>
            <a:r>
              <a:rPr lang="en-US" dirty="0"/>
              <a:t>: Deallocation</a:t>
            </a:r>
          </a:p>
        </p:txBody>
      </p:sp>
      <p:sp>
        <p:nvSpPr>
          <p:cNvPr id="4" name="TextBox 3">
            <a:extLst>
              <a:ext uri="{FF2B5EF4-FFF2-40B4-BE49-F238E27FC236}">
                <a16:creationId xmlns:a16="http://schemas.microsoft.com/office/drawing/2014/main" id="{8464FF3F-EC4F-3796-8BE7-FD1CFE901D32}"/>
              </a:ext>
            </a:extLst>
          </p:cNvPr>
          <p:cNvSpPr txBox="1"/>
          <p:nvPr/>
        </p:nvSpPr>
        <p:spPr>
          <a:xfrm>
            <a:off x="838200" y="1162303"/>
            <a:ext cx="9606973" cy="1292662"/>
          </a:xfrm>
          <a:prstGeom prst="rect">
            <a:avLst/>
          </a:prstGeom>
          <a:noFill/>
        </p:spPr>
        <p:txBody>
          <a:bodyPr wrap="square" rtlCol="0">
            <a:spAutoFit/>
          </a:bodyPr>
          <a:lstStyle/>
          <a:p>
            <a:pPr marL="342900" indent="-342900">
              <a:buFont typeface="Arial" panose="020B0604020202020204" pitchFamily="34" charset="0"/>
              <a:buChar char="•"/>
            </a:pPr>
            <a:r>
              <a:rPr lang="en-US" sz="2000" dirty="0"/>
              <a:t>Once we are done with this region of memory, we should deallocate it </a:t>
            </a:r>
          </a:p>
          <a:p>
            <a:r>
              <a:rPr lang="en-US" b="1" dirty="0">
                <a:latin typeface="Menlo" panose="020B0609030804020204" pitchFamily="49" charset="0"/>
                <a:ea typeface="Menlo" panose="020B0609030804020204" pitchFamily="49" charset="0"/>
                <a:cs typeface="Menlo" panose="020B0609030804020204" pitchFamily="49" charset="0"/>
              </a:rPr>
              <a:t>	void free(void *</a:t>
            </a:r>
            <a:r>
              <a:rPr lang="en-US" b="1" dirty="0" err="1">
                <a:latin typeface="Menlo" panose="020B0609030804020204" pitchFamily="49" charset="0"/>
                <a:ea typeface="Menlo" panose="020B0609030804020204" pitchFamily="49" charset="0"/>
                <a:cs typeface="Menlo" panose="020B0609030804020204" pitchFamily="49" charset="0"/>
              </a:rPr>
              <a:t>ptr</a:t>
            </a:r>
            <a:r>
              <a:rPr lang="en-US" b="1" dirty="0">
                <a:latin typeface="Menlo" panose="020B0609030804020204" pitchFamily="49" charset="0"/>
                <a:ea typeface="Menlo" panose="020B0609030804020204" pitchFamily="49" charset="0"/>
                <a:cs typeface="Menlo" panose="020B0609030804020204" pitchFamily="49" charset="0"/>
              </a:rPr>
              <a:t>)</a:t>
            </a:r>
            <a:endParaRPr lang="en-US" sz="2000" b="1" dirty="0">
              <a:latin typeface="Menlo" panose="020B0609030804020204" pitchFamily="49" charset="0"/>
              <a:ea typeface="Menlo" panose="020B0609030804020204" pitchFamily="49" charset="0"/>
              <a:cs typeface="Menlo" panose="020B0609030804020204" pitchFamily="49" charset="0"/>
            </a:endParaRPr>
          </a:p>
          <a:p>
            <a:pPr marL="342900" indent="-342900">
              <a:buFont typeface="Arial" panose="020B0604020202020204" pitchFamily="34" charset="0"/>
              <a:buChar char="•"/>
            </a:pPr>
            <a:r>
              <a:rPr lang="en-US" sz="2000" dirty="0"/>
              <a:t>There should be one call to free for each call to malloc</a:t>
            </a:r>
          </a:p>
          <a:p>
            <a:pPr marL="342900" indent="-342900">
              <a:buFont typeface="Arial" panose="020B0604020202020204" pitchFamily="34" charset="0"/>
              <a:buChar char="•"/>
            </a:pPr>
            <a:r>
              <a:rPr lang="en-US" sz="2000" dirty="0"/>
              <a:t>The parameter type of free is the generic pointer </a:t>
            </a:r>
            <a:r>
              <a:rPr lang="en-US" dirty="0">
                <a:latin typeface="Menlo" panose="020B0609030804020204" pitchFamily="49" charset="0"/>
                <a:ea typeface="Menlo" panose="020B0609030804020204" pitchFamily="49" charset="0"/>
                <a:cs typeface="Menlo" panose="020B0609030804020204" pitchFamily="49" charset="0"/>
              </a:rPr>
              <a:t>void*</a:t>
            </a:r>
          </a:p>
        </p:txBody>
      </p:sp>
      <p:sp>
        <p:nvSpPr>
          <p:cNvPr id="5" name="TextBox 4">
            <a:extLst>
              <a:ext uri="{FF2B5EF4-FFF2-40B4-BE49-F238E27FC236}">
                <a16:creationId xmlns:a16="http://schemas.microsoft.com/office/drawing/2014/main" id="{FA546E9A-1377-BCA4-204B-4E775BEDA7D3}"/>
              </a:ext>
            </a:extLst>
          </p:cNvPr>
          <p:cNvSpPr txBox="1"/>
          <p:nvPr/>
        </p:nvSpPr>
        <p:spPr>
          <a:xfrm>
            <a:off x="396683" y="3182772"/>
            <a:ext cx="5492209" cy="353943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none" rtlCol="0">
            <a:spAutoFit/>
          </a:bodyPr>
          <a:lstStyle/>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stdlib.h</a:t>
            </a:r>
            <a:r>
              <a:rPr lang="en-US" sz="1600" dirty="0">
                <a:solidFill>
                  <a:srgbClr val="B42419"/>
                </a:solidFill>
                <a:effectLst/>
                <a:latin typeface="Menlo" panose="020B0609030804020204" pitchFamily="49" charset="0"/>
              </a:rPr>
              <a:t>&gt;</a:t>
            </a:r>
          </a:p>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stdio.h</a:t>
            </a:r>
            <a:r>
              <a:rPr lang="en-US" sz="1600" dirty="0">
                <a:solidFill>
                  <a:srgbClr val="B42419"/>
                </a:solidFill>
                <a:effectLst/>
                <a:latin typeface="Menlo" panose="020B0609030804020204" pitchFamily="49" charset="0"/>
              </a:rPr>
              <a:t>&gt;</a:t>
            </a:r>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bar(</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a,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b)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c =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*)malloc(</a:t>
            </a:r>
            <a:r>
              <a:rPr lang="en-US" sz="1600" dirty="0" err="1">
                <a:solidFill>
                  <a:srgbClr val="C1651C"/>
                </a:solidFill>
                <a:effectLst/>
                <a:latin typeface="Menlo" panose="020B0609030804020204" pitchFamily="49" charset="0"/>
              </a:rPr>
              <a:t>sizeof</a:t>
            </a:r>
            <a:r>
              <a:rPr lang="en-US" sz="1600" dirty="0">
                <a:solidFill>
                  <a:srgbClr val="000000"/>
                </a:solidFill>
                <a:effectLst/>
                <a:latin typeface="Menlo" panose="020B0609030804020204" pitchFamily="49" charset="0"/>
              </a:rPr>
              <a:t>(</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*c = a + b;</a:t>
            </a: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c;</a:t>
            </a:r>
            <a:endParaRPr lang="en-US" sz="1600" dirty="0">
              <a:solidFill>
                <a:srgbClr val="C1651C"/>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br>
              <a:rPr lang="en-US" sz="1600" dirty="0">
                <a:solidFill>
                  <a:srgbClr val="000000"/>
                </a:solidFill>
                <a:effectLst/>
                <a:latin typeface="Menlo" panose="020B0609030804020204" pitchFamily="49" charset="0"/>
              </a:rPr>
            </a:br>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main(){</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*s = bar(</a:t>
            </a:r>
            <a:r>
              <a:rPr lang="en-US" sz="1600" dirty="0">
                <a:solidFill>
                  <a:srgbClr val="B42419"/>
                </a:solidFill>
                <a:effectLst/>
                <a:latin typeface="Menlo" panose="020B0609030804020204" pitchFamily="49" charset="0"/>
              </a:rPr>
              <a:t>1</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2</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*s);</a:t>
            </a:r>
          </a:p>
          <a:p>
            <a:r>
              <a:rPr lang="en-US" sz="1600" b="1" dirty="0">
                <a:solidFill>
                  <a:srgbClr val="000000"/>
                </a:solidFill>
                <a:effectLst/>
                <a:latin typeface="Menlo" panose="020B0609030804020204" pitchFamily="49" charset="0"/>
              </a:rPr>
              <a:t>  free(s);</a:t>
            </a: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0</a:t>
            </a:r>
            <a:r>
              <a:rPr lang="en-US" sz="1600" dirty="0">
                <a:solidFill>
                  <a:srgbClr val="000000"/>
                </a:solidFill>
                <a:effectLst/>
                <a:latin typeface="Menlo" panose="020B0609030804020204" pitchFamily="49" charset="0"/>
              </a:rPr>
              <a:t>;</a:t>
            </a:r>
            <a:endParaRPr lang="en-US" sz="1600" dirty="0">
              <a:solidFill>
                <a:srgbClr val="C1651C"/>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p>
        </p:txBody>
      </p:sp>
      <p:grpSp>
        <p:nvGrpSpPr>
          <p:cNvPr id="6" name="Group 5">
            <a:extLst>
              <a:ext uri="{FF2B5EF4-FFF2-40B4-BE49-F238E27FC236}">
                <a16:creationId xmlns:a16="http://schemas.microsoft.com/office/drawing/2014/main" id="{7959DB74-F5D1-0241-E87B-A3880330AEC5}"/>
              </a:ext>
            </a:extLst>
          </p:cNvPr>
          <p:cNvGrpSpPr/>
          <p:nvPr/>
        </p:nvGrpSpPr>
        <p:grpSpPr>
          <a:xfrm>
            <a:off x="8899257" y="2473014"/>
            <a:ext cx="896130" cy="4019857"/>
            <a:chOff x="7211641" y="2964924"/>
            <a:chExt cx="896130" cy="1874222"/>
          </a:xfrm>
        </p:grpSpPr>
        <p:sp>
          <p:nvSpPr>
            <p:cNvPr id="7" name="Rectangle 6">
              <a:extLst>
                <a:ext uri="{FF2B5EF4-FFF2-40B4-BE49-F238E27FC236}">
                  <a16:creationId xmlns:a16="http://schemas.microsoft.com/office/drawing/2014/main" id="{984B563D-4FE1-5FA5-2ADF-82E4F667B415}"/>
                </a:ext>
              </a:extLst>
            </p:cNvPr>
            <p:cNvSpPr/>
            <p:nvPr/>
          </p:nvSpPr>
          <p:spPr>
            <a:xfrm>
              <a:off x="7211641" y="2964924"/>
              <a:ext cx="896130" cy="18742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B600F0C5-F202-A300-2813-9845679C9312}"/>
                </a:ext>
              </a:extLst>
            </p:cNvPr>
            <p:cNvSpPr txBox="1"/>
            <p:nvPr/>
          </p:nvSpPr>
          <p:spPr>
            <a:xfrm rot="5400000">
              <a:off x="7539848" y="4484197"/>
              <a:ext cx="246177" cy="461665"/>
            </a:xfrm>
            <a:prstGeom prst="rect">
              <a:avLst/>
            </a:prstGeom>
            <a:noFill/>
          </p:spPr>
          <p:txBody>
            <a:bodyPr wrap="none" rtlCol="0">
              <a:spAutoFit/>
            </a:bodyPr>
            <a:lstStyle/>
            <a:p>
              <a:pPr algn="ctr"/>
              <a:r>
                <a:rPr lang="en-US" sz="2400" dirty="0"/>
                <a:t>…</a:t>
              </a:r>
            </a:p>
          </p:txBody>
        </p:sp>
        <p:sp>
          <p:nvSpPr>
            <p:cNvPr id="9" name="TextBox 8">
              <a:extLst>
                <a:ext uri="{FF2B5EF4-FFF2-40B4-BE49-F238E27FC236}">
                  <a16:creationId xmlns:a16="http://schemas.microsoft.com/office/drawing/2014/main" id="{1656EF42-326A-8E8D-075D-BEA2D5E40825}"/>
                </a:ext>
              </a:extLst>
            </p:cNvPr>
            <p:cNvSpPr txBox="1"/>
            <p:nvPr/>
          </p:nvSpPr>
          <p:spPr>
            <a:xfrm rot="5400000">
              <a:off x="7539848" y="2885026"/>
              <a:ext cx="246177" cy="461665"/>
            </a:xfrm>
            <a:prstGeom prst="rect">
              <a:avLst/>
            </a:prstGeom>
            <a:noFill/>
          </p:spPr>
          <p:txBody>
            <a:bodyPr wrap="none" rtlCol="0">
              <a:spAutoFit/>
            </a:bodyPr>
            <a:lstStyle/>
            <a:p>
              <a:pPr algn="ctr"/>
              <a:r>
                <a:rPr lang="en-US" sz="2400" dirty="0"/>
                <a:t>…</a:t>
              </a:r>
            </a:p>
          </p:txBody>
        </p:sp>
      </p:grpSp>
      <p:sp>
        <p:nvSpPr>
          <p:cNvPr id="10" name="Rectangle 9">
            <a:extLst>
              <a:ext uri="{FF2B5EF4-FFF2-40B4-BE49-F238E27FC236}">
                <a16:creationId xmlns:a16="http://schemas.microsoft.com/office/drawing/2014/main" id="{6082958C-4130-B24A-EC4F-29803A7A086D}"/>
              </a:ext>
            </a:extLst>
          </p:cNvPr>
          <p:cNvSpPr/>
          <p:nvPr/>
        </p:nvSpPr>
        <p:spPr>
          <a:xfrm>
            <a:off x="8899254" y="2918755"/>
            <a:ext cx="896129" cy="846740"/>
          </a:xfrm>
          <a:prstGeom prst="rect">
            <a:avLst/>
          </a:prstGeom>
          <a:solidFill>
            <a:schemeClr val="accent6">
              <a:lumMod val="40000"/>
              <a:lumOff val="60000"/>
            </a:schemeClr>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1" name="TextBox 10">
            <a:extLst>
              <a:ext uri="{FF2B5EF4-FFF2-40B4-BE49-F238E27FC236}">
                <a16:creationId xmlns:a16="http://schemas.microsoft.com/office/drawing/2014/main" id="{C9D24175-95A1-DAEE-7EC8-E602768E3094}"/>
              </a:ext>
            </a:extLst>
          </p:cNvPr>
          <p:cNvSpPr txBox="1"/>
          <p:nvPr/>
        </p:nvSpPr>
        <p:spPr>
          <a:xfrm>
            <a:off x="8797282" y="2094841"/>
            <a:ext cx="1078821" cy="400110"/>
          </a:xfrm>
          <a:prstGeom prst="rect">
            <a:avLst/>
          </a:prstGeom>
          <a:noFill/>
        </p:spPr>
        <p:txBody>
          <a:bodyPr wrap="none" rtlCol="0">
            <a:spAutoFit/>
          </a:bodyPr>
          <a:lstStyle/>
          <a:p>
            <a:r>
              <a:rPr lang="en-US" sz="2000" dirty="0"/>
              <a:t>Memory</a:t>
            </a:r>
          </a:p>
        </p:txBody>
      </p:sp>
      <p:sp>
        <p:nvSpPr>
          <p:cNvPr id="12" name="TextBox 11">
            <a:extLst>
              <a:ext uri="{FF2B5EF4-FFF2-40B4-BE49-F238E27FC236}">
                <a16:creationId xmlns:a16="http://schemas.microsoft.com/office/drawing/2014/main" id="{2A9E1674-1D3D-3D0D-B6BC-3E4A2DB7BEAB}"/>
              </a:ext>
            </a:extLst>
          </p:cNvPr>
          <p:cNvSpPr txBox="1"/>
          <p:nvPr/>
        </p:nvSpPr>
        <p:spPr>
          <a:xfrm>
            <a:off x="9839563" y="6308205"/>
            <a:ext cx="2186111" cy="369332"/>
          </a:xfrm>
          <a:prstGeom prst="rect">
            <a:avLst/>
          </a:prstGeom>
          <a:noFill/>
        </p:spPr>
        <p:txBody>
          <a:bodyPr wrap="none" rtlCol="0">
            <a:spAutoFit/>
          </a:bodyPr>
          <a:lstStyle/>
          <a:p>
            <a:r>
              <a:rPr lang="en-US" dirty="0"/>
              <a:t>Low address (</a:t>
            </a:r>
            <a:r>
              <a:rPr lang="en-US" sz="1400" dirty="0">
                <a:latin typeface="Menlo" panose="020B0609030804020204" pitchFamily="49" charset="0"/>
                <a:ea typeface="Menlo" panose="020B0609030804020204" pitchFamily="49" charset="0"/>
                <a:cs typeface="Menlo" panose="020B0609030804020204" pitchFamily="49" charset="0"/>
              </a:rPr>
              <a:t>000…00</a:t>
            </a:r>
            <a:r>
              <a:rPr lang="en-US" dirty="0"/>
              <a:t>)</a:t>
            </a:r>
          </a:p>
        </p:txBody>
      </p:sp>
      <p:sp>
        <p:nvSpPr>
          <p:cNvPr id="13" name="TextBox 12">
            <a:extLst>
              <a:ext uri="{FF2B5EF4-FFF2-40B4-BE49-F238E27FC236}">
                <a16:creationId xmlns:a16="http://schemas.microsoft.com/office/drawing/2014/main" id="{E2FB7DD7-BDF4-1093-E0DC-40DE6B82BCDC}"/>
              </a:ext>
            </a:extLst>
          </p:cNvPr>
          <p:cNvSpPr txBox="1"/>
          <p:nvPr/>
        </p:nvSpPr>
        <p:spPr>
          <a:xfrm>
            <a:off x="9795383" y="2301421"/>
            <a:ext cx="2230291" cy="369332"/>
          </a:xfrm>
          <a:prstGeom prst="rect">
            <a:avLst/>
          </a:prstGeom>
          <a:noFill/>
        </p:spPr>
        <p:txBody>
          <a:bodyPr wrap="none" rtlCol="0">
            <a:spAutoFit/>
          </a:bodyPr>
          <a:lstStyle/>
          <a:p>
            <a:r>
              <a:rPr lang="en-US" dirty="0"/>
              <a:t>High address (</a:t>
            </a:r>
            <a:r>
              <a:rPr lang="en-US" sz="1400" dirty="0" err="1">
                <a:latin typeface="Menlo" panose="020B0609030804020204" pitchFamily="49" charset="0"/>
                <a:ea typeface="Menlo" panose="020B0609030804020204" pitchFamily="49" charset="0"/>
                <a:cs typeface="Menlo" panose="020B0609030804020204" pitchFamily="49" charset="0"/>
              </a:rPr>
              <a:t>fff</a:t>
            </a:r>
            <a:r>
              <a:rPr lang="en-US" sz="1400" dirty="0">
                <a:latin typeface="Menlo" panose="020B0609030804020204" pitchFamily="49" charset="0"/>
                <a:ea typeface="Menlo" panose="020B0609030804020204" pitchFamily="49" charset="0"/>
                <a:cs typeface="Menlo" panose="020B0609030804020204" pitchFamily="49" charset="0"/>
              </a:rPr>
              <a:t>…ff</a:t>
            </a:r>
            <a:r>
              <a:rPr lang="en-US" dirty="0"/>
              <a:t>)</a:t>
            </a:r>
          </a:p>
        </p:txBody>
      </p:sp>
      <p:sp>
        <p:nvSpPr>
          <p:cNvPr id="14" name="Rectangle 13">
            <a:extLst>
              <a:ext uri="{FF2B5EF4-FFF2-40B4-BE49-F238E27FC236}">
                <a16:creationId xmlns:a16="http://schemas.microsoft.com/office/drawing/2014/main" id="{DEA62F51-F713-583B-050A-0C6BD2A55D8E}"/>
              </a:ext>
            </a:extLst>
          </p:cNvPr>
          <p:cNvSpPr/>
          <p:nvPr/>
        </p:nvSpPr>
        <p:spPr>
          <a:xfrm>
            <a:off x="8899254" y="5161641"/>
            <a:ext cx="896129" cy="846740"/>
          </a:xfrm>
          <a:prstGeom prst="rect">
            <a:avLst/>
          </a:prstGeom>
          <a:solidFill>
            <a:srgbClr val="F5D1CF"/>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5" name="TextBox 14">
            <a:extLst>
              <a:ext uri="{FF2B5EF4-FFF2-40B4-BE49-F238E27FC236}">
                <a16:creationId xmlns:a16="http://schemas.microsoft.com/office/drawing/2014/main" id="{DEC863E5-ED85-3A77-2433-7278A8F052F9}"/>
              </a:ext>
            </a:extLst>
          </p:cNvPr>
          <p:cNvSpPr txBox="1"/>
          <p:nvPr/>
        </p:nvSpPr>
        <p:spPr>
          <a:xfrm>
            <a:off x="10112315" y="3110665"/>
            <a:ext cx="800219" cy="400110"/>
          </a:xfrm>
          <a:prstGeom prst="rect">
            <a:avLst/>
          </a:prstGeom>
          <a:noFill/>
        </p:spPr>
        <p:txBody>
          <a:bodyPr wrap="none" rtlCol="0">
            <a:spAutoFit/>
          </a:bodyPr>
          <a:lstStyle/>
          <a:p>
            <a:r>
              <a:rPr lang="en-US" sz="2000"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main</a:t>
            </a:r>
          </a:p>
        </p:txBody>
      </p:sp>
      <p:sp>
        <p:nvSpPr>
          <p:cNvPr id="16" name="TextBox 15">
            <a:extLst>
              <a:ext uri="{FF2B5EF4-FFF2-40B4-BE49-F238E27FC236}">
                <a16:creationId xmlns:a16="http://schemas.microsoft.com/office/drawing/2014/main" id="{368AAE6A-9364-F9CA-4E3B-1962BE824FF3}"/>
              </a:ext>
            </a:extLst>
          </p:cNvPr>
          <p:cNvSpPr txBox="1"/>
          <p:nvPr/>
        </p:nvSpPr>
        <p:spPr>
          <a:xfrm>
            <a:off x="10114739" y="5325947"/>
            <a:ext cx="800219" cy="400110"/>
          </a:xfrm>
          <a:prstGeom prst="rect">
            <a:avLst/>
          </a:prstGeom>
          <a:noFill/>
        </p:spPr>
        <p:txBody>
          <a:bodyPr wrap="none" rtlCol="0">
            <a:spAutoFit/>
          </a:bodyPr>
          <a:lstStyle/>
          <a:p>
            <a:r>
              <a:rPr lang="en-US" sz="2000" dirty="0">
                <a:solidFill>
                  <a:srgbClr val="C00000"/>
                </a:solidFill>
                <a:latin typeface="Menlo" panose="020B0609030804020204" pitchFamily="49" charset="0"/>
                <a:ea typeface="Menlo" panose="020B0609030804020204" pitchFamily="49" charset="0"/>
                <a:cs typeface="Menlo" panose="020B0609030804020204" pitchFamily="49" charset="0"/>
              </a:rPr>
              <a:t>heap</a:t>
            </a:r>
          </a:p>
        </p:txBody>
      </p:sp>
      <p:sp>
        <p:nvSpPr>
          <p:cNvPr id="17" name="Right Brace 16">
            <a:extLst>
              <a:ext uri="{FF2B5EF4-FFF2-40B4-BE49-F238E27FC236}">
                <a16:creationId xmlns:a16="http://schemas.microsoft.com/office/drawing/2014/main" id="{05AF4C00-C407-4E43-C9B4-C71AF50FE728}"/>
              </a:ext>
            </a:extLst>
          </p:cNvPr>
          <p:cNvSpPr/>
          <p:nvPr/>
        </p:nvSpPr>
        <p:spPr>
          <a:xfrm>
            <a:off x="9836502" y="2941492"/>
            <a:ext cx="278237" cy="820825"/>
          </a:xfrm>
          <a:prstGeom prst="rightBrace">
            <a:avLst>
              <a:gd name="adj1" fmla="val 30242"/>
              <a:gd name="adj2" fmla="val 50000"/>
            </a:avLst>
          </a:prstGeom>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ight Brace 17">
            <a:extLst>
              <a:ext uri="{FF2B5EF4-FFF2-40B4-BE49-F238E27FC236}">
                <a16:creationId xmlns:a16="http://schemas.microsoft.com/office/drawing/2014/main" id="{984FC0B8-91A5-A07F-36CE-DE8750817206}"/>
              </a:ext>
            </a:extLst>
          </p:cNvPr>
          <p:cNvSpPr/>
          <p:nvPr/>
        </p:nvSpPr>
        <p:spPr>
          <a:xfrm>
            <a:off x="9836502" y="5154655"/>
            <a:ext cx="278237" cy="853725"/>
          </a:xfrm>
          <a:prstGeom prst="rightBrace">
            <a:avLst>
              <a:gd name="adj1" fmla="val 30242"/>
              <a:gd name="adj2"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ectangle 18">
            <a:extLst>
              <a:ext uri="{FF2B5EF4-FFF2-40B4-BE49-F238E27FC236}">
                <a16:creationId xmlns:a16="http://schemas.microsoft.com/office/drawing/2014/main" id="{249AD730-96C9-C30C-DE14-611FF5265703}"/>
              </a:ext>
            </a:extLst>
          </p:cNvPr>
          <p:cNvSpPr/>
          <p:nvPr/>
        </p:nvSpPr>
        <p:spPr>
          <a:xfrm>
            <a:off x="8897771" y="5544831"/>
            <a:ext cx="896129" cy="182880"/>
          </a:xfrm>
          <a:prstGeom prst="rect">
            <a:avLst/>
          </a:prstGeom>
          <a:solidFill>
            <a:schemeClr val="bg1">
              <a:lumMod val="85000"/>
            </a:schemeClr>
          </a:solidFill>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dirty="0">
              <a:latin typeface="Menlo" panose="020B0609030804020204" pitchFamily="49" charset="0"/>
              <a:ea typeface="Menlo" panose="020B0609030804020204" pitchFamily="49" charset="0"/>
              <a:cs typeface="Menlo" panose="020B0609030804020204" pitchFamily="49" charset="0"/>
            </a:endParaRPr>
          </a:p>
        </p:txBody>
      </p:sp>
      <p:sp>
        <p:nvSpPr>
          <p:cNvPr id="20" name="Rectangle 19">
            <a:extLst>
              <a:ext uri="{FF2B5EF4-FFF2-40B4-BE49-F238E27FC236}">
                <a16:creationId xmlns:a16="http://schemas.microsoft.com/office/drawing/2014/main" id="{1E65A8C1-9D18-F17A-2DEE-4B9EF8D368D7}"/>
              </a:ext>
            </a:extLst>
          </p:cNvPr>
          <p:cNvSpPr/>
          <p:nvPr/>
        </p:nvSpPr>
        <p:spPr>
          <a:xfrm>
            <a:off x="8897771" y="3247675"/>
            <a:ext cx="896129" cy="18288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s</a:t>
            </a:r>
          </a:p>
        </p:txBody>
      </p:sp>
      <p:cxnSp>
        <p:nvCxnSpPr>
          <p:cNvPr id="21" name="Curved Connector 20">
            <a:extLst>
              <a:ext uri="{FF2B5EF4-FFF2-40B4-BE49-F238E27FC236}">
                <a16:creationId xmlns:a16="http://schemas.microsoft.com/office/drawing/2014/main" id="{30935854-D7C8-2393-D783-91E7F63D24AC}"/>
              </a:ext>
            </a:extLst>
          </p:cNvPr>
          <p:cNvCxnSpPr>
            <a:cxnSpLocks/>
            <a:stCxn id="20" idx="1"/>
            <a:endCxn id="19" idx="1"/>
          </p:cNvCxnSpPr>
          <p:nvPr/>
        </p:nvCxnSpPr>
        <p:spPr>
          <a:xfrm rot="10800000" flipV="1">
            <a:off x="8897771" y="3339115"/>
            <a:ext cx="12700" cy="2297156"/>
          </a:xfrm>
          <a:prstGeom prst="curvedConnector3">
            <a:avLst>
              <a:gd name="adj1" fmla="val 1800000"/>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sp>
        <p:nvSpPr>
          <p:cNvPr id="22" name="Rectangle 21">
            <a:extLst>
              <a:ext uri="{FF2B5EF4-FFF2-40B4-BE49-F238E27FC236}">
                <a16:creationId xmlns:a16="http://schemas.microsoft.com/office/drawing/2014/main" id="{D85B1358-098B-82CB-B79D-6C7120DA4AC3}"/>
              </a:ext>
            </a:extLst>
          </p:cNvPr>
          <p:cNvSpPr/>
          <p:nvPr/>
        </p:nvSpPr>
        <p:spPr>
          <a:xfrm>
            <a:off x="8897770" y="3762317"/>
            <a:ext cx="896129" cy="802251"/>
          </a:xfrm>
          <a:prstGeom prst="rect">
            <a:avLst/>
          </a:prstGeom>
          <a:solidFill>
            <a:schemeClr val="accent1">
              <a:lumMod val="40000"/>
              <a:lumOff val="60000"/>
            </a:schemeClr>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B2F27466-5CE4-A884-34B3-B25841D650BC}"/>
              </a:ext>
            </a:extLst>
          </p:cNvPr>
          <p:cNvSpPr/>
          <p:nvPr/>
        </p:nvSpPr>
        <p:spPr>
          <a:xfrm>
            <a:off x="8896282" y="3926428"/>
            <a:ext cx="896129" cy="18288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c</a:t>
            </a:r>
          </a:p>
        </p:txBody>
      </p:sp>
      <p:cxnSp>
        <p:nvCxnSpPr>
          <p:cNvPr id="24" name="Curved Connector 23">
            <a:extLst>
              <a:ext uri="{FF2B5EF4-FFF2-40B4-BE49-F238E27FC236}">
                <a16:creationId xmlns:a16="http://schemas.microsoft.com/office/drawing/2014/main" id="{E369DBF8-0A6A-18B0-6A18-A82F16DF19C4}"/>
              </a:ext>
            </a:extLst>
          </p:cNvPr>
          <p:cNvCxnSpPr>
            <a:cxnSpLocks/>
            <a:stCxn id="23" idx="1"/>
            <a:endCxn id="19" idx="1"/>
          </p:cNvCxnSpPr>
          <p:nvPr/>
        </p:nvCxnSpPr>
        <p:spPr>
          <a:xfrm rot="10800000" flipH="1" flipV="1">
            <a:off x="8896281" y="4017867"/>
            <a:ext cx="1489" cy="1618403"/>
          </a:xfrm>
          <a:prstGeom prst="curvedConnector3">
            <a:avLst>
              <a:gd name="adj1" fmla="val -9825655"/>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sp>
        <p:nvSpPr>
          <p:cNvPr id="25" name="Rectangle 23">
            <a:extLst>
              <a:ext uri="{FF2B5EF4-FFF2-40B4-BE49-F238E27FC236}">
                <a16:creationId xmlns:a16="http://schemas.microsoft.com/office/drawing/2014/main" id="{EDF75766-0823-2869-649E-8BBD2688B5C1}"/>
              </a:ext>
            </a:extLst>
          </p:cNvPr>
          <p:cNvSpPr>
            <a:spLocks/>
          </p:cNvSpPr>
          <p:nvPr/>
        </p:nvSpPr>
        <p:spPr bwMode="auto">
          <a:xfrm>
            <a:off x="10910528" y="3497885"/>
            <a:ext cx="760413" cy="444500"/>
          </a:xfrm>
          <a:prstGeom prst="rect">
            <a:avLst/>
          </a:prstGeom>
          <a:noFill/>
          <a:ln w="12700" cap="rnd">
            <a:noFill/>
            <a:round/>
            <a:headEnd type="none" w="med" len="med"/>
            <a:tailEnd type="none" w="med" len="med"/>
          </a:ln>
        </p:spPr>
        <p:txBody>
          <a:bodyPr wrap="none" lIns="38100" tIns="38100" rIns="38100" bIns="38100">
            <a:spAutoFit/>
          </a:bodyPr>
          <a:lstStyle/>
          <a:p>
            <a:pPr rtl="0" fontAlgn="base">
              <a:spcBef>
                <a:spcPct val="0"/>
              </a:spcBef>
              <a:spcAft>
                <a:spcPct val="0"/>
              </a:spcAft>
            </a:pPr>
            <a:r>
              <a:rPr lang="en-US" sz="2400" kern="1200" dirty="0">
                <a:solidFill>
                  <a:srgbClr val="000000"/>
                </a:solidFill>
                <a:latin typeface="Calibri Bold" charset="0"/>
                <a:ea typeface="Calibri Bold" charset="0"/>
                <a:cs typeface="Calibri Bold" charset="0"/>
                <a:sym typeface="Calibri Bold" charset="0"/>
              </a:rPr>
              <a:t>Stack</a:t>
            </a:r>
          </a:p>
        </p:txBody>
      </p:sp>
      <p:sp>
        <p:nvSpPr>
          <p:cNvPr id="26" name="TextBox 25">
            <a:extLst>
              <a:ext uri="{FF2B5EF4-FFF2-40B4-BE49-F238E27FC236}">
                <a16:creationId xmlns:a16="http://schemas.microsoft.com/office/drawing/2014/main" id="{64A4CC51-D393-4842-9F5A-FB137657E352}"/>
              </a:ext>
            </a:extLst>
          </p:cNvPr>
          <p:cNvSpPr txBox="1"/>
          <p:nvPr/>
        </p:nvSpPr>
        <p:spPr>
          <a:xfrm>
            <a:off x="10112315" y="3985622"/>
            <a:ext cx="646331" cy="400110"/>
          </a:xfrm>
          <a:prstGeom prst="rect">
            <a:avLst/>
          </a:prstGeom>
          <a:noFill/>
        </p:spPr>
        <p:txBody>
          <a:bodyPr wrap="none" rtlCol="0">
            <a:spAutoFit/>
          </a:bodyPr>
          <a:lstStyle/>
          <a:p>
            <a:r>
              <a:rPr lang="en-US" sz="2000" dirty="0">
                <a:solidFill>
                  <a:schemeClr val="accent1">
                    <a:lumMod val="75000"/>
                  </a:schemeClr>
                </a:solidFill>
                <a:latin typeface="Menlo" panose="020B0609030804020204" pitchFamily="49" charset="0"/>
                <a:ea typeface="Menlo" panose="020B0609030804020204" pitchFamily="49" charset="0"/>
                <a:cs typeface="Menlo" panose="020B0609030804020204" pitchFamily="49" charset="0"/>
              </a:rPr>
              <a:t>bar</a:t>
            </a:r>
          </a:p>
        </p:txBody>
      </p:sp>
      <p:sp>
        <p:nvSpPr>
          <p:cNvPr id="27" name="Right Brace 26">
            <a:extLst>
              <a:ext uri="{FF2B5EF4-FFF2-40B4-BE49-F238E27FC236}">
                <a16:creationId xmlns:a16="http://schemas.microsoft.com/office/drawing/2014/main" id="{8DF4D228-7E79-D2A3-3D21-9F794240C156}"/>
              </a:ext>
            </a:extLst>
          </p:cNvPr>
          <p:cNvSpPr/>
          <p:nvPr/>
        </p:nvSpPr>
        <p:spPr>
          <a:xfrm>
            <a:off x="9836502" y="3816449"/>
            <a:ext cx="278237" cy="748119"/>
          </a:xfrm>
          <a:prstGeom prst="rightBrace">
            <a:avLst>
              <a:gd name="adj1" fmla="val 30242"/>
              <a:gd name="adj2" fmla="val 50000"/>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BC26F441-31F4-66C5-EEA7-1E28E5D9D8EC}"/>
              </a:ext>
            </a:extLst>
          </p:cNvPr>
          <p:cNvSpPr txBox="1"/>
          <p:nvPr/>
        </p:nvSpPr>
        <p:spPr>
          <a:xfrm>
            <a:off x="2926479" y="5950660"/>
            <a:ext cx="3291441" cy="715089"/>
          </a:xfrm>
          <a:prstGeom prst="wedgeRoundRectCallout">
            <a:avLst>
              <a:gd name="adj1" fmla="val -82039"/>
              <a:gd name="adj2" fmla="val -30691"/>
              <a:gd name="adj3" fmla="val 16667"/>
            </a:avLst>
          </a:prstGeom>
          <a:solidFill>
            <a:schemeClr val="accent6">
              <a:lumMod val="20000"/>
              <a:lumOff val="80000"/>
            </a:schemeClr>
          </a:solidFill>
          <a:effectLst>
            <a:outerShdw blurRad="50800" dist="38100" dir="2700000" algn="tl" rotWithShape="0">
              <a:prstClr val="black">
                <a:alpha val="40000"/>
              </a:prstClr>
            </a:outerShdw>
          </a:effectLst>
        </p:spPr>
        <p:txBody>
          <a:bodyPr wrap="square" rtlCol="0">
            <a:spAutoFit/>
          </a:bodyPr>
          <a:lstStyle/>
          <a:p>
            <a:r>
              <a:rPr lang="en-US" sz="1800" dirty="0">
                <a:effectLst/>
                <a:latin typeface="CMSS10"/>
              </a:rPr>
              <a:t>After calling </a:t>
            </a:r>
            <a:r>
              <a:rPr lang="en-US" sz="1800" dirty="0">
                <a:effectLst/>
                <a:latin typeface="CMTT10"/>
              </a:rPr>
              <a:t>free</a:t>
            </a:r>
            <a:r>
              <a:rPr lang="en-US" sz="1800" dirty="0">
                <a:effectLst/>
                <a:latin typeface="CMSS10"/>
              </a:rPr>
              <a:t>, it is no longer proper to access or change </a:t>
            </a:r>
            <a:r>
              <a:rPr lang="en-US" sz="1800" dirty="0">
                <a:effectLst/>
                <a:latin typeface="Menlo" panose="020B0609030804020204" pitchFamily="49" charset="0"/>
                <a:ea typeface="Menlo" panose="020B0609030804020204" pitchFamily="49" charset="0"/>
                <a:cs typeface="Menlo" panose="020B0609030804020204" pitchFamily="49" charset="0"/>
              </a:rPr>
              <a:t>*s</a:t>
            </a:r>
            <a:r>
              <a:rPr lang="en-US" sz="1800" dirty="0">
                <a:effectLst/>
                <a:latin typeface="CMSS10"/>
              </a:rPr>
              <a:t>. </a:t>
            </a:r>
          </a:p>
        </p:txBody>
      </p:sp>
      <p:sp>
        <p:nvSpPr>
          <p:cNvPr id="33" name="TextBox 32">
            <a:extLst>
              <a:ext uri="{FF2B5EF4-FFF2-40B4-BE49-F238E27FC236}">
                <a16:creationId xmlns:a16="http://schemas.microsoft.com/office/drawing/2014/main" id="{CB71B831-655C-6AD4-B55B-565916AD380E}"/>
              </a:ext>
            </a:extLst>
          </p:cNvPr>
          <p:cNvSpPr txBox="1"/>
          <p:nvPr/>
        </p:nvSpPr>
        <p:spPr>
          <a:xfrm>
            <a:off x="7183991" y="5627901"/>
            <a:ext cx="1380051" cy="408623"/>
          </a:xfrm>
          <a:prstGeom prst="wedgeRoundRectCallout">
            <a:avLst>
              <a:gd name="adj1" fmla="val 67937"/>
              <a:gd name="adj2" fmla="val -47525"/>
              <a:gd name="adj3" fmla="val 16667"/>
            </a:avLst>
          </a:prstGeom>
          <a:solidFill>
            <a:schemeClr val="bg1">
              <a:lumMod val="85000"/>
            </a:schemeClr>
          </a:solidFill>
          <a:effectLst>
            <a:outerShdw blurRad="50800" dist="38100" dir="2700000" algn="tl" rotWithShape="0">
              <a:prstClr val="black">
                <a:alpha val="40000"/>
              </a:prstClr>
            </a:outerShdw>
          </a:effectLst>
        </p:spPr>
        <p:txBody>
          <a:bodyPr wrap="square" rtlCol="0">
            <a:spAutoFit/>
          </a:bodyPr>
          <a:lstStyle/>
          <a:p>
            <a:r>
              <a:rPr lang="en-US" dirty="0">
                <a:effectLst/>
              </a:rPr>
              <a:t>Deallocated</a:t>
            </a:r>
          </a:p>
        </p:txBody>
      </p:sp>
    </p:spTree>
    <p:extLst>
      <p:ext uri="{BB962C8B-B14F-4D97-AF65-F5344CB8AC3E}">
        <p14:creationId xmlns:p14="http://schemas.microsoft.com/office/powerpoint/2010/main" val="908296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9" presetClass="exit" presetSubtype="0" fill="hold" grpId="0" nodeType="withEffect">
                                  <p:stCondLst>
                                    <p:cond delay="0"/>
                                  </p:stCondLst>
                                  <p:childTnLst>
                                    <p:animEffect transition="out" filter="dissolve">
                                      <p:cBhvr>
                                        <p:cTn id="12" dur="500"/>
                                        <p:tgtEl>
                                          <p:spTgt spid="19"/>
                                        </p:tgtEl>
                                      </p:cBhvr>
                                    </p:animEffect>
                                    <p:set>
                                      <p:cBhvr>
                                        <p:cTn id="13"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9" grpId="0" animBg="1"/>
      <p:bldP spid="3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CEA5B-8769-2801-97E1-82E4C59FF7CC}"/>
              </a:ext>
            </a:extLst>
          </p:cNvPr>
          <p:cNvSpPr>
            <a:spLocks noGrp="1"/>
          </p:cNvSpPr>
          <p:nvPr>
            <p:ph type="title"/>
          </p:nvPr>
        </p:nvSpPr>
        <p:spPr/>
        <p:txBody>
          <a:bodyPr>
            <a:normAutofit/>
          </a:bodyPr>
          <a:lstStyle/>
          <a:p>
            <a:r>
              <a:rPr lang="en-US" dirty="0">
                <a:latin typeface="Menlo" panose="020B0609030804020204" pitchFamily="49" charset="0"/>
                <a:ea typeface="Menlo" panose="020B0609030804020204" pitchFamily="49" charset="0"/>
                <a:cs typeface="Menlo" panose="020B0609030804020204" pitchFamily="49" charset="0"/>
              </a:rPr>
              <a:t>free</a:t>
            </a:r>
            <a:r>
              <a:rPr lang="en-US" dirty="0"/>
              <a:t>: Deallocation</a:t>
            </a:r>
          </a:p>
        </p:txBody>
      </p:sp>
      <p:sp>
        <p:nvSpPr>
          <p:cNvPr id="4" name="TextBox 3">
            <a:extLst>
              <a:ext uri="{FF2B5EF4-FFF2-40B4-BE49-F238E27FC236}">
                <a16:creationId xmlns:a16="http://schemas.microsoft.com/office/drawing/2014/main" id="{8464FF3F-EC4F-3796-8BE7-FD1CFE901D32}"/>
              </a:ext>
            </a:extLst>
          </p:cNvPr>
          <p:cNvSpPr txBox="1"/>
          <p:nvPr/>
        </p:nvSpPr>
        <p:spPr>
          <a:xfrm>
            <a:off x="343653" y="1162303"/>
            <a:ext cx="8473401" cy="2246769"/>
          </a:xfrm>
          <a:prstGeom prst="rect">
            <a:avLst/>
          </a:prstGeom>
          <a:noFill/>
        </p:spPr>
        <p:txBody>
          <a:bodyPr wrap="square" rtlCol="0">
            <a:spAutoFit/>
          </a:bodyPr>
          <a:lstStyle/>
          <a:p>
            <a:pPr marL="342900" indent="-342900">
              <a:buFont typeface="Arial" panose="020B0604020202020204" pitchFamily="34" charset="0"/>
              <a:buChar char="•"/>
            </a:pPr>
            <a:r>
              <a:rPr lang="en-US" sz="2000" dirty="0">
                <a:effectLst/>
                <a:latin typeface="CMSS10"/>
              </a:rPr>
              <a:t>After calling </a:t>
            </a:r>
            <a:r>
              <a:rPr lang="en-US" sz="2000" dirty="0">
                <a:effectLst/>
                <a:latin typeface="CMTT10"/>
              </a:rPr>
              <a:t>free</a:t>
            </a:r>
            <a:r>
              <a:rPr lang="en-US" sz="2000" dirty="0">
                <a:effectLst/>
                <a:latin typeface="CMSS10"/>
              </a:rPr>
              <a:t>, it is no longer proper to access or change </a:t>
            </a:r>
            <a:r>
              <a:rPr lang="en-US" sz="2000" dirty="0">
                <a:effectLst/>
                <a:latin typeface="Menlo" panose="020B0609030804020204" pitchFamily="49" charset="0"/>
                <a:ea typeface="Menlo" panose="020B0609030804020204" pitchFamily="49" charset="0"/>
                <a:cs typeface="Menlo" panose="020B0609030804020204" pitchFamily="49" charset="0"/>
              </a:rPr>
              <a:t>*s</a:t>
            </a:r>
            <a:r>
              <a:rPr lang="en-US" sz="2000" dirty="0">
                <a:effectLst/>
                <a:latin typeface="CMSS10"/>
              </a:rPr>
              <a:t>. </a:t>
            </a:r>
          </a:p>
          <a:p>
            <a:pPr marL="342900" indent="-342900">
              <a:buFont typeface="Arial" panose="020B0604020202020204" pitchFamily="34" charset="0"/>
              <a:buChar char="•"/>
            </a:pPr>
            <a:r>
              <a:rPr lang="en-US" sz="2000" dirty="0">
                <a:effectLst/>
                <a:latin typeface="CMSS10"/>
              </a:rPr>
              <a:t>If we do so, we may still see 3, because it has been marked for recycling, but not reused and overwritten yet. It is still conceptually wrong.</a:t>
            </a:r>
            <a:endParaRPr lang="en-US" sz="2000" dirty="0"/>
          </a:p>
          <a:p>
            <a:pPr marL="342900" indent="-342900">
              <a:buFont typeface="Arial" panose="020B0604020202020204" pitchFamily="34" charset="0"/>
              <a:buChar char="•"/>
            </a:pPr>
            <a:r>
              <a:rPr lang="en-US" sz="2000" dirty="0"/>
              <a:t>Programs deallocate any memory that was not freed when they quit or crash, but it is good form to free allocated memory as soon as you know you will not use it again. </a:t>
            </a:r>
          </a:p>
          <a:p>
            <a:pPr marL="342900" indent="-342900">
              <a:buFont typeface="Arial" panose="020B0604020202020204" pitchFamily="34" charset="0"/>
              <a:buChar char="•"/>
            </a:pPr>
            <a:endParaRPr lang="en-US" sz="2000" dirty="0"/>
          </a:p>
        </p:txBody>
      </p:sp>
      <p:sp>
        <p:nvSpPr>
          <p:cNvPr id="5" name="TextBox 4">
            <a:extLst>
              <a:ext uri="{FF2B5EF4-FFF2-40B4-BE49-F238E27FC236}">
                <a16:creationId xmlns:a16="http://schemas.microsoft.com/office/drawing/2014/main" id="{FA546E9A-1377-BCA4-204B-4E775BEDA7D3}"/>
              </a:ext>
            </a:extLst>
          </p:cNvPr>
          <p:cNvSpPr txBox="1"/>
          <p:nvPr/>
        </p:nvSpPr>
        <p:spPr>
          <a:xfrm>
            <a:off x="396683" y="3185648"/>
            <a:ext cx="5492209" cy="353943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none" rtlCol="0">
            <a:spAutoFit/>
          </a:bodyPr>
          <a:lstStyle/>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stdlib.h</a:t>
            </a:r>
            <a:r>
              <a:rPr lang="en-US" sz="1600" dirty="0">
                <a:solidFill>
                  <a:srgbClr val="B42419"/>
                </a:solidFill>
                <a:effectLst/>
                <a:latin typeface="Menlo" panose="020B0609030804020204" pitchFamily="49" charset="0"/>
              </a:rPr>
              <a:t>&gt;</a:t>
            </a:r>
          </a:p>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stdio.h</a:t>
            </a:r>
            <a:r>
              <a:rPr lang="en-US" sz="1600" dirty="0">
                <a:solidFill>
                  <a:srgbClr val="B42419"/>
                </a:solidFill>
                <a:effectLst/>
                <a:latin typeface="Menlo" panose="020B0609030804020204" pitchFamily="49" charset="0"/>
              </a:rPr>
              <a:t>&gt;</a:t>
            </a:r>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bar(</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a,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b)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c =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*)malloc(</a:t>
            </a:r>
            <a:r>
              <a:rPr lang="en-US" sz="1600" dirty="0" err="1">
                <a:solidFill>
                  <a:srgbClr val="C1651C"/>
                </a:solidFill>
                <a:effectLst/>
                <a:latin typeface="Menlo" panose="020B0609030804020204" pitchFamily="49" charset="0"/>
              </a:rPr>
              <a:t>sizeof</a:t>
            </a:r>
            <a:r>
              <a:rPr lang="en-US" sz="1600" dirty="0">
                <a:solidFill>
                  <a:srgbClr val="000000"/>
                </a:solidFill>
                <a:effectLst/>
                <a:latin typeface="Menlo" panose="020B0609030804020204" pitchFamily="49" charset="0"/>
              </a:rPr>
              <a:t>(</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*c = a + b;</a:t>
            </a: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c;</a:t>
            </a:r>
            <a:endParaRPr lang="en-US" sz="1600" dirty="0">
              <a:solidFill>
                <a:srgbClr val="C1651C"/>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br>
              <a:rPr lang="en-US" sz="1600" dirty="0">
                <a:solidFill>
                  <a:srgbClr val="000000"/>
                </a:solidFill>
                <a:effectLst/>
                <a:latin typeface="Menlo" panose="020B0609030804020204" pitchFamily="49" charset="0"/>
              </a:rPr>
            </a:br>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main(){</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short</a:t>
            </a:r>
            <a:r>
              <a:rPr lang="en-US" sz="1600" dirty="0">
                <a:solidFill>
                  <a:srgbClr val="000000"/>
                </a:solidFill>
                <a:effectLst/>
                <a:latin typeface="Menlo" panose="020B0609030804020204" pitchFamily="49" charset="0"/>
              </a:rPr>
              <a:t> *s = bar(</a:t>
            </a:r>
            <a:r>
              <a:rPr lang="en-US" sz="1600" dirty="0">
                <a:solidFill>
                  <a:srgbClr val="B42419"/>
                </a:solidFill>
                <a:effectLst/>
                <a:latin typeface="Menlo" panose="020B0609030804020204" pitchFamily="49" charset="0"/>
              </a:rPr>
              <a:t>1</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2</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*s);</a:t>
            </a:r>
          </a:p>
          <a:p>
            <a:r>
              <a:rPr lang="en-US" sz="1600" b="1" dirty="0">
                <a:solidFill>
                  <a:srgbClr val="000000"/>
                </a:solidFill>
                <a:effectLst/>
                <a:latin typeface="Menlo" panose="020B0609030804020204" pitchFamily="49" charset="0"/>
              </a:rPr>
              <a:t>  free(s);</a:t>
            </a: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0</a:t>
            </a:r>
            <a:r>
              <a:rPr lang="en-US" sz="1600" dirty="0">
                <a:solidFill>
                  <a:srgbClr val="000000"/>
                </a:solidFill>
                <a:effectLst/>
                <a:latin typeface="Menlo" panose="020B0609030804020204" pitchFamily="49" charset="0"/>
              </a:rPr>
              <a:t>;</a:t>
            </a:r>
            <a:endParaRPr lang="en-US" sz="1600" dirty="0">
              <a:solidFill>
                <a:srgbClr val="C1651C"/>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p>
        </p:txBody>
      </p:sp>
      <p:grpSp>
        <p:nvGrpSpPr>
          <p:cNvPr id="6" name="Group 5">
            <a:extLst>
              <a:ext uri="{FF2B5EF4-FFF2-40B4-BE49-F238E27FC236}">
                <a16:creationId xmlns:a16="http://schemas.microsoft.com/office/drawing/2014/main" id="{7959DB74-F5D1-0241-E87B-A3880330AEC5}"/>
              </a:ext>
            </a:extLst>
          </p:cNvPr>
          <p:cNvGrpSpPr/>
          <p:nvPr/>
        </p:nvGrpSpPr>
        <p:grpSpPr>
          <a:xfrm>
            <a:off x="8899257" y="2473014"/>
            <a:ext cx="896130" cy="4019857"/>
            <a:chOff x="7211641" y="2964924"/>
            <a:chExt cx="896130" cy="1874222"/>
          </a:xfrm>
        </p:grpSpPr>
        <p:sp>
          <p:nvSpPr>
            <p:cNvPr id="7" name="Rectangle 6">
              <a:extLst>
                <a:ext uri="{FF2B5EF4-FFF2-40B4-BE49-F238E27FC236}">
                  <a16:creationId xmlns:a16="http://schemas.microsoft.com/office/drawing/2014/main" id="{984B563D-4FE1-5FA5-2ADF-82E4F667B415}"/>
                </a:ext>
              </a:extLst>
            </p:cNvPr>
            <p:cNvSpPr/>
            <p:nvPr/>
          </p:nvSpPr>
          <p:spPr>
            <a:xfrm>
              <a:off x="7211641" y="2964924"/>
              <a:ext cx="896130" cy="18742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B600F0C5-F202-A300-2813-9845679C9312}"/>
                </a:ext>
              </a:extLst>
            </p:cNvPr>
            <p:cNvSpPr txBox="1"/>
            <p:nvPr/>
          </p:nvSpPr>
          <p:spPr>
            <a:xfrm rot="5400000">
              <a:off x="7539848" y="4484197"/>
              <a:ext cx="246177" cy="461665"/>
            </a:xfrm>
            <a:prstGeom prst="rect">
              <a:avLst/>
            </a:prstGeom>
            <a:noFill/>
          </p:spPr>
          <p:txBody>
            <a:bodyPr wrap="none" rtlCol="0">
              <a:spAutoFit/>
            </a:bodyPr>
            <a:lstStyle/>
            <a:p>
              <a:pPr algn="ctr"/>
              <a:r>
                <a:rPr lang="en-US" sz="2400" dirty="0"/>
                <a:t>…</a:t>
              </a:r>
            </a:p>
          </p:txBody>
        </p:sp>
        <p:sp>
          <p:nvSpPr>
            <p:cNvPr id="9" name="TextBox 8">
              <a:extLst>
                <a:ext uri="{FF2B5EF4-FFF2-40B4-BE49-F238E27FC236}">
                  <a16:creationId xmlns:a16="http://schemas.microsoft.com/office/drawing/2014/main" id="{1656EF42-326A-8E8D-075D-BEA2D5E40825}"/>
                </a:ext>
              </a:extLst>
            </p:cNvPr>
            <p:cNvSpPr txBox="1"/>
            <p:nvPr/>
          </p:nvSpPr>
          <p:spPr>
            <a:xfrm rot="5400000">
              <a:off x="7539848" y="2885026"/>
              <a:ext cx="246177" cy="461665"/>
            </a:xfrm>
            <a:prstGeom prst="rect">
              <a:avLst/>
            </a:prstGeom>
            <a:noFill/>
          </p:spPr>
          <p:txBody>
            <a:bodyPr wrap="none" rtlCol="0">
              <a:spAutoFit/>
            </a:bodyPr>
            <a:lstStyle/>
            <a:p>
              <a:pPr algn="ctr"/>
              <a:r>
                <a:rPr lang="en-US" sz="2400" dirty="0"/>
                <a:t>…</a:t>
              </a:r>
            </a:p>
          </p:txBody>
        </p:sp>
      </p:grpSp>
      <p:sp>
        <p:nvSpPr>
          <p:cNvPr id="10" name="Rectangle 9">
            <a:extLst>
              <a:ext uri="{FF2B5EF4-FFF2-40B4-BE49-F238E27FC236}">
                <a16:creationId xmlns:a16="http://schemas.microsoft.com/office/drawing/2014/main" id="{6082958C-4130-B24A-EC4F-29803A7A086D}"/>
              </a:ext>
            </a:extLst>
          </p:cNvPr>
          <p:cNvSpPr/>
          <p:nvPr/>
        </p:nvSpPr>
        <p:spPr>
          <a:xfrm>
            <a:off x="8899254" y="2918755"/>
            <a:ext cx="896129" cy="846740"/>
          </a:xfrm>
          <a:prstGeom prst="rect">
            <a:avLst/>
          </a:prstGeom>
          <a:solidFill>
            <a:schemeClr val="accent6">
              <a:lumMod val="40000"/>
              <a:lumOff val="60000"/>
            </a:schemeClr>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1" name="TextBox 10">
            <a:extLst>
              <a:ext uri="{FF2B5EF4-FFF2-40B4-BE49-F238E27FC236}">
                <a16:creationId xmlns:a16="http://schemas.microsoft.com/office/drawing/2014/main" id="{C9D24175-95A1-DAEE-7EC8-E602768E3094}"/>
              </a:ext>
            </a:extLst>
          </p:cNvPr>
          <p:cNvSpPr txBox="1"/>
          <p:nvPr/>
        </p:nvSpPr>
        <p:spPr>
          <a:xfrm>
            <a:off x="8797282" y="2094841"/>
            <a:ext cx="1078821" cy="400110"/>
          </a:xfrm>
          <a:prstGeom prst="rect">
            <a:avLst/>
          </a:prstGeom>
          <a:noFill/>
        </p:spPr>
        <p:txBody>
          <a:bodyPr wrap="none" rtlCol="0">
            <a:spAutoFit/>
          </a:bodyPr>
          <a:lstStyle/>
          <a:p>
            <a:r>
              <a:rPr lang="en-US" sz="2000" dirty="0"/>
              <a:t>Memory</a:t>
            </a:r>
          </a:p>
        </p:txBody>
      </p:sp>
      <p:sp>
        <p:nvSpPr>
          <p:cNvPr id="12" name="TextBox 11">
            <a:extLst>
              <a:ext uri="{FF2B5EF4-FFF2-40B4-BE49-F238E27FC236}">
                <a16:creationId xmlns:a16="http://schemas.microsoft.com/office/drawing/2014/main" id="{2A9E1674-1D3D-3D0D-B6BC-3E4A2DB7BEAB}"/>
              </a:ext>
            </a:extLst>
          </p:cNvPr>
          <p:cNvSpPr txBox="1"/>
          <p:nvPr/>
        </p:nvSpPr>
        <p:spPr>
          <a:xfrm>
            <a:off x="9839563" y="6308205"/>
            <a:ext cx="2186111" cy="369332"/>
          </a:xfrm>
          <a:prstGeom prst="rect">
            <a:avLst/>
          </a:prstGeom>
          <a:noFill/>
        </p:spPr>
        <p:txBody>
          <a:bodyPr wrap="none" rtlCol="0">
            <a:spAutoFit/>
          </a:bodyPr>
          <a:lstStyle/>
          <a:p>
            <a:r>
              <a:rPr lang="en-US" dirty="0"/>
              <a:t>Low address (</a:t>
            </a:r>
            <a:r>
              <a:rPr lang="en-US" sz="1400" dirty="0">
                <a:latin typeface="Menlo" panose="020B0609030804020204" pitchFamily="49" charset="0"/>
                <a:ea typeface="Menlo" panose="020B0609030804020204" pitchFamily="49" charset="0"/>
                <a:cs typeface="Menlo" panose="020B0609030804020204" pitchFamily="49" charset="0"/>
              </a:rPr>
              <a:t>000…00</a:t>
            </a:r>
            <a:r>
              <a:rPr lang="en-US" dirty="0"/>
              <a:t>)</a:t>
            </a:r>
          </a:p>
        </p:txBody>
      </p:sp>
      <p:sp>
        <p:nvSpPr>
          <p:cNvPr id="13" name="TextBox 12">
            <a:extLst>
              <a:ext uri="{FF2B5EF4-FFF2-40B4-BE49-F238E27FC236}">
                <a16:creationId xmlns:a16="http://schemas.microsoft.com/office/drawing/2014/main" id="{E2FB7DD7-BDF4-1093-E0DC-40DE6B82BCDC}"/>
              </a:ext>
            </a:extLst>
          </p:cNvPr>
          <p:cNvSpPr txBox="1"/>
          <p:nvPr/>
        </p:nvSpPr>
        <p:spPr>
          <a:xfrm>
            <a:off x="9795383" y="2301421"/>
            <a:ext cx="2230291" cy="369332"/>
          </a:xfrm>
          <a:prstGeom prst="rect">
            <a:avLst/>
          </a:prstGeom>
          <a:noFill/>
        </p:spPr>
        <p:txBody>
          <a:bodyPr wrap="none" rtlCol="0">
            <a:spAutoFit/>
          </a:bodyPr>
          <a:lstStyle/>
          <a:p>
            <a:r>
              <a:rPr lang="en-US" dirty="0"/>
              <a:t>High address (</a:t>
            </a:r>
            <a:r>
              <a:rPr lang="en-US" sz="1400" dirty="0" err="1">
                <a:latin typeface="Menlo" panose="020B0609030804020204" pitchFamily="49" charset="0"/>
                <a:ea typeface="Menlo" panose="020B0609030804020204" pitchFamily="49" charset="0"/>
                <a:cs typeface="Menlo" panose="020B0609030804020204" pitchFamily="49" charset="0"/>
              </a:rPr>
              <a:t>fff</a:t>
            </a:r>
            <a:r>
              <a:rPr lang="en-US" sz="1400" dirty="0">
                <a:latin typeface="Menlo" panose="020B0609030804020204" pitchFamily="49" charset="0"/>
                <a:ea typeface="Menlo" panose="020B0609030804020204" pitchFamily="49" charset="0"/>
                <a:cs typeface="Menlo" panose="020B0609030804020204" pitchFamily="49" charset="0"/>
              </a:rPr>
              <a:t>…ff</a:t>
            </a:r>
            <a:r>
              <a:rPr lang="en-US" dirty="0"/>
              <a:t>)</a:t>
            </a:r>
          </a:p>
        </p:txBody>
      </p:sp>
      <p:sp>
        <p:nvSpPr>
          <p:cNvPr id="14" name="Rectangle 13">
            <a:extLst>
              <a:ext uri="{FF2B5EF4-FFF2-40B4-BE49-F238E27FC236}">
                <a16:creationId xmlns:a16="http://schemas.microsoft.com/office/drawing/2014/main" id="{DEA62F51-F713-583B-050A-0C6BD2A55D8E}"/>
              </a:ext>
            </a:extLst>
          </p:cNvPr>
          <p:cNvSpPr/>
          <p:nvPr/>
        </p:nvSpPr>
        <p:spPr>
          <a:xfrm>
            <a:off x="8899254" y="5161641"/>
            <a:ext cx="896129" cy="846740"/>
          </a:xfrm>
          <a:prstGeom prst="rect">
            <a:avLst/>
          </a:prstGeom>
          <a:solidFill>
            <a:srgbClr val="F5D1CF"/>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5" name="TextBox 14">
            <a:extLst>
              <a:ext uri="{FF2B5EF4-FFF2-40B4-BE49-F238E27FC236}">
                <a16:creationId xmlns:a16="http://schemas.microsoft.com/office/drawing/2014/main" id="{DEC863E5-ED85-3A77-2433-7278A8F052F9}"/>
              </a:ext>
            </a:extLst>
          </p:cNvPr>
          <p:cNvSpPr txBox="1"/>
          <p:nvPr/>
        </p:nvSpPr>
        <p:spPr>
          <a:xfrm>
            <a:off x="10112315" y="3110665"/>
            <a:ext cx="800219" cy="400110"/>
          </a:xfrm>
          <a:prstGeom prst="rect">
            <a:avLst/>
          </a:prstGeom>
          <a:noFill/>
        </p:spPr>
        <p:txBody>
          <a:bodyPr wrap="none" rtlCol="0">
            <a:spAutoFit/>
          </a:bodyPr>
          <a:lstStyle/>
          <a:p>
            <a:r>
              <a:rPr lang="en-US" sz="2000"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main</a:t>
            </a:r>
          </a:p>
        </p:txBody>
      </p:sp>
      <p:sp>
        <p:nvSpPr>
          <p:cNvPr id="16" name="TextBox 15">
            <a:extLst>
              <a:ext uri="{FF2B5EF4-FFF2-40B4-BE49-F238E27FC236}">
                <a16:creationId xmlns:a16="http://schemas.microsoft.com/office/drawing/2014/main" id="{368AAE6A-9364-F9CA-4E3B-1962BE824FF3}"/>
              </a:ext>
            </a:extLst>
          </p:cNvPr>
          <p:cNvSpPr txBox="1"/>
          <p:nvPr/>
        </p:nvSpPr>
        <p:spPr>
          <a:xfrm>
            <a:off x="10114739" y="5325947"/>
            <a:ext cx="800219" cy="400110"/>
          </a:xfrm>
          <a:prstGeom prst="rect">
            <a:avLst/>
          </a:prstGeom>
          <a:noFill/>
        </p:spPr>
        <p:txBody>
          <a:bodyPr wrap="none" rtlCol="0">
            <a:spAutoFit/>
          </a:bodyPr>
          <a:lstStyle/>
          <a:p>
            <a:r>
              <a:rPr lang="en-US" sz="2000" dirty="0">
                <a:solidFill>
                  <a:srgbClr val="C00000"/>
                </a:solidFill>
                <a:latin typeface="Menlo" panose="020B0609030804020204" pitchFamily="49" charset="0"/>
                <a:ea typeface="Menlo" panose="020B0609030804020204" pitchFamily="49" charset="0"/>
                <a:cs typeface="Menlo" panose="020B0609030804020204" pitchFamily="49" charset="0"/>
              </a:rPr>
              <a:t>heap</a:t>
            </a:r>
          </a:p>
        </p:txBody>
      </p:sp>
      <p:sp>
        <p:nvSpPr>
          <p:cNvPr id="17" name="Right Brace 16">
            <a:extLst>
              <a:ext uri="{FF2B5EF4-FFF2-40B4-BE49-F238E27FC236}">
                <a16:creationId xmlns:a16="http://schemas.microsoft.com/office/drawing/2014/main" id="{05AF4C00-C407-4E43-C9B4-C71AF50FE728}"/>
              </a:ext>
            </a:extLst>
          </p:cNvPr>
          <p:cNvSpPr/>
          <p:nvPr/>
        </p:nvSpPr>
        <p:spPr>
          <a:xfrm>
            <a:off x="9836502" y="2941492"/>
            <a:ext cx="278237" cy="820825"/>
          </a:xfrm>
          <a:prstGeom prst="rightBrace">
            <a:avLst>
              <a:gd name="adj1" fmla="val 30242"/>
              <a:gd name="adj2" fmla="val 50000"/>
            </a:avLst>
          </a:prstGeom>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ight Brace 17">
            <a:extLst>
              <a:ext uri="{FF2B5EF4-FFF2-40B4-BE49-F238E27FC236}">
                <a16:creationId xmlns:a16="http://schemas.microsoft.com/office/drawing/2014/main" id="{984FC0B8-91A5-A07F-36CE-DE8750817206}"/>
              </a:ext>
            </a:extLst>
          </p:cNvPr>
          <p:cNvSpPr/>
          <p:nvPr/>
        </p:nvSpPr>
        <p:spPr>
          <a:xfrm>
            <a:off x="9836502" y="5154655"/>
            <a:ext cx="278237" cy="853725"/>
          </a:xfrm>
          <a:prstGeom prst="rightBrace">
            <a:avLst>
              <a:gd name="adj1" fmla="val 30242"/>
              <a:gd name="adj2"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ectangle 19">
            <a:extLst>
              <a:ext uri="{FF2B5EF4-FFF2-40B4-BE49-F238E27FC236}">
                <a16:creationId xmlns:a16="http://schemas.microsoft.com/office/drawing/2014/main" id="{1E65A8C1-9D18-F17A-2DEE-4B9EF8D368D7}"/>
              </a:ext>
            </a:extLst>
          </p:cNvPr>
          <p:cNvSpPr/>
          <p:nvPr/>
        </p:nvSpPr>
        <p:spPr>
          <a:xfrm>
            <a:off x="8897771" y="3247675"/>
            <a:ext cx="896129" cy="18288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s</a:t>
            </a:r>
          </a:p>
        </p:txBody>
      </p:sp>
      <p:cxnSp>
        <p:nvCxnSpPr>
          <p:cNvPr id="21" name="Curved Connector 20">
            <a:extLst>
              <a:ext uri="{FF2B5EF4-FFF2-40B4-BE49-F238E27FC236}">
                <a16:creationId xmlns:a16="http://schemas.microsoft.com/office/drawing/2014/main" id="{30935854-D7C8-2393-D783-91E7F63D24AC}"/>
              </a:ext>
            </a:extLst>
          </p:cNvPr>
          <p:cNvCxnSpPr>
            <a:cxnSpLocks/>
            <a:stCxn id="20" idx="1"/>
          </p:cNvCxnSpPr>
          <p:nvPr/>
        </p:nvCxnSpPr>
        <p:spPr>
          <a:xfrm rot="10800000" flipV="1">
            <a:off x="8897771" y="3339115"/>
            <a:ext cx="12700" cy="2297156"/>
          </a:xfrm>
          <a:prstGeom prst="curvedConnector3">
            <a:avLst>
              <a:gd name="adj1" fmla="val 1800000"/>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sp>
        <p:nvSpPr>
          <p:cNvPr id="22" name="Rectangle 21">
            <a:extLst>
              <a:ext uri="{FF2B5EF4-FFF2-40B4-BE49-F238E27FC236}">
                <a16:creationId xmlns:a16="http://schemas.microsoft.com/office/drawing/2014/main" id="{D85B1358-098B-82CB-B79D-6C7120DA4AC3}"/>
              </a:ext>
            </a:extLst>
          </p:cNvPr>
          <p:cNvSpPr/>
          <p:nvPr/>
        </p:nvSpPr>
        <p:spPr>
          <a:xfrm>
            <a:off x="8897770" y="3762317"/>
            <a:ext cx="896129" cy="802251"/>
          </a:xfrm>
          <a:prstGeom prst="rect">
            <a:avLst/>
          </a:prstGeom>
          <a:solidFill>
            <a:schemeClr val="accent1">
              <a:lumMod val="40000"/>
              <a:lumOff val="60000"/>
            </a:schemeClr>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B2F27466-5CE4-A884-34B3-B25841D650BC}"/>
              </a:ext>
            </a:extLst>
          </p:cNvPr>
          <p:cNvSpPr/>
          <p:nvPr/>
        </p:nvSpPr>
        <p:spPr>
          <a:xfrm>
            <a:off x="8896282" y="3926428"/>
            <a:ext cx="896129" cy="182880"/>
          </a:xfrm>
          <a:prstGeom prst="rect">
            <a:avLst/>
          </a:prstGeom>
          <a:noFill/>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enlo" panose="020B0609030804020204" pitchFamily="49" charset="0"/>
                <a:ea typeface="Menlo" panose="020B0609030804020204" pitchFamily="49" charset="0"/>
                <a:cs typeface="Menlo" panose="020B0609030804020204" pitchFamily="49" charset="0"/>
              </a:rPr>
              <a:t>c</a:t>
            </a:r>
          </a:p>
        </p:txBody>
      </p:sp>
      <p:cxnSp>
        <p:nvCxnSpPr>
          <p:cNvPr id="24" name="Curved Connector 23">
            <a:extLst>
              <a:ext uri="{FF2B5EF4-FFF2-40B4-BE49-F238E27FC236}">
                <a16:creationId xmlns:a16="http://schemas.microsoft.com/office/drawing/2014/main" id="{E369DBF8-0A6A-18B0-6A18-A82F16DF19C4}"/>
              </a:ext>
            </a:extLst>
          </p:cNvPr>
          <p:cNvCxnSpPr>
            <a:cxnSpLocks/>
            <a:stCxn id="23" idx="1"/>
          </p:cNvCxnSpPr>
          <p:nvPr/>
        </p:nvCxnSpPr>
        <p:spPr>
          <a:xfrm rot="10800000" flipH="1" flipV="1">
            <a:off x="8896281" y="4017867"/>
            <a:ext cx="1489" cy="1618403"/>
          </a:xfrm>
          <a:prstGeom prst="curvedConnector3">
            <a:avLst>
              <a:gd name="adj1" fmla="val -9825655"/>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sp>
        <p:nvSpPr>
          <p:cNvPr id="25" name="Rectangle 23">
            <a:extLst>
              <a:ext uri="{FF2B5EF4-FFF2-40B4-BE49-F238E27FC236}">
                <a16:creationId xmlns:a16="http://schemas.microsoft.com/office/drawing/2014/main" id="{EDF75766-0823-2869-649E-8BBD2688B5C1}"/>
              </a:ext>
            </a:extLst>
          </p:cNvPr>
          <p:cNvSpPr>
            <a:spLocks/>
          </p:cNvSpPr>
          <p:nvPr/>
        </p:nvSpPr>
        <p:spPr bwMode="auto">
          <a:xfrm>
            <a:off x="10910528" y="3497885"/>
            <a:ext cx="760413" cy="444500"/>
          </a:xfrm>
          <a:prstGeom prst="rect">
            <a:avLst/>
          </a:prstGeom>
          <a:noFill/>
          <a:ln w="12700" cap="rnd">
            <a:noFill/>
            <a:round/>
            <a:headEnd type="none" w="med" len="med"/>
            <a:tailEnd type="none" w="med" len="med"/>
          </a:ln>
        </p:spPr>
        <p:txBody>
          <a:bodyPr wrap="none" lIns="38100" tIns="38100" rIns="38100" bIns="38100">
            <a:spAutoFit/>
          </a:bodyPr>
          <a:lstStyle/>
          <a:p>
            <a:pPr rtl="0" fontAlgn="base">
              <a:spcBef>
                <a:spcPct val="0"/>
              </a:spcBef>
              <a:spcAft>
                <a:spcPct val="0"/>
              </a:spcAft>
            </a:pPr>
            <a:r>
              <a:rPr lang="en-US" sz="2400" kern="1200" dirty="0">
                <a:solidFill>
                  <a:srgbClr val="000000"/>
                </a:solidFill>
                <a:latin typeface="Calibri Bold" charset="0"/>
                <a:ea typeface="Calibri Bold" charset="0"/>
                <a:cs typeface="Calibri Bold" charset="0"/>
                <a:sym typeface="Calibri Bold" charset="0"/>
              </a:rPr>
              <a:t>Stack</a:t>
            </a:r>
          </a:p>
        </p:txBody>
      </p:sp>
      <p:sp>
        <p:nvSpPr>
          <p:cNvPr id="26" name="TextBox 25">
            <a:extLst>
              <a:ext uri="{FF2B5EF4-FFF2-40B4-BE49-F238E27FC236}">
                <a16:creationId xmlns:a16="http://schemas.microsoft.com/office/drawing/2014/main" id="{64A4CC51-D393-4842-9F5A-FB137657E352}"/>
              </a:ext>
            </a:extLst>
          </p:cNvPr>
          <p:cNvSpPr txBox="1"/>
          <p:nvPr/>
        </p:nvSpPr>
        <p:spPr>
          <a:xfrm>
            <a:off x="10112315" y="3985622"/>
            <a:ext cx="646331" cy="400110"/>
          </a:xfrm>
          <a:prstGeom prst="rect">
            <a:avLst/>
          </a:prstGeom>
          <a:noFill/>
        </p:spPr>
        <p:txBody>
          <a:bodyPr wrap="none" rtlCol="0">
            <a:spAutoFit/>
          </a:bodyPr>
          <a:lstStyle/>
          <a:p>
            <a:r>
              <a:rPr lang="en-US" sz="2000" dirty="0">
                <a:solidFill>
                  <a:schemeClr val="accent1">
                    <a:lumMod val="75000"/>
                  </a:schemeClr>
                </a:solidFill>
                <a:latin typeface="Menlo" panose="020B0609030804020204" pitchFamily="49" charset="0"/>
                <a:ea typeface="Menlo" panose="020B0609030804020204" pitchFamily="49" charset="0"/>
                <a:cs typeface="Menlo" panose="020B0609030804020204" pitchFamily="49" charset="0"/>
              </a:rPr>
              <a:t>bar</a:t>
            </a:r>
          </a:p>
        </p:txBody>
      </p:sp>
      <p:sp>
        <p:nvSpPr>
          <p:cNvPr id="27" name="Right Brace 26">
            <a:extLst>
              <a:ext uri="{FF2B5EF4-FFF2-40B4-BE49-F238E27FC236}">
                <a16:creationId xmlns:a16="http://schemas.microsoft.com/office/drawing/2014/main" id="{8DF4D228-7E79-D2A3-3D21-9F794240C156}"/>
              </a:ext>
            </a:extLst>
          </p:cNvPr>
          <p:cNvSpPr/>
          <p:nvPr/>
        </p:nvSpPr>
        <p:spPr>
          <a:xfrm>
            <a:off x="9836502" y="3816449"/>
            <a:ext cx="278237" cy="748119"/>
          </a:xfrm>
          <a:prstGeom prst="rightBrace">
            <a:avLst>
              <a:gd name="adj1" fmla="val 30242"/>
              <a:gd name="adj2" fmla="val 50000"/>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A09F37DA-A129-0EE0-03C0-7F95A89257AB}"/>
              </a:ext>
            </a:extLst>
          </p:cNvPr>
          <p:cNvSpPr txBox="1"/>
          <p:nvPr/>
        </p:nvSpPr>
        <p:spPr>
          <a:xfrm>
            <a:off x="2804559" y="5962448"/>
            <a:ext cx="3291441" cy="715089"/>
          </a:xfrm>
          <a:prstGeom prst="wedgeRoundRectCallout">
            <a:avLst>
              <a:gd name="adj1" fmla="val -82039"/>
              <a:gd name="adj2" fmla="val -30691"/>
              <a:gd name="adj3" fmla="val 16667"/>
            </a:avLst>
          </a:prstGeom>
          <a:solidFill>
            <a:schemeClr val="accent6">
              <a:lumMod val="20000"/>
              <a:lumOff val="80000"/>
            </a:schemeClr>
          </a:solidFill>
          <a:effectLst>
            <a:outerShdw blurRad="50800" dist="38100" dir="2700000" algn="tl" rotWithShape="0">
              <a:prstClr val="black">
                <a:alpha val="40000"/>
              </a:prstClr>
            </a:outerShdw>
          </a:effectLst>
        </p:spPr>
        <p:txBody>
          <a:bodyPr wrap="square" rtlCol="0">
            <a:spAutoFit/>
          </a:bodyPr>
          <a:lstStyle/>
          <a:p>
            <a:r>
              <a:rPr lang="en-US" sz="1800" dirty="0">
                <a:effectLst/>
                <a:latin typeface="CMSS10"/>
              </a:rPr>
              <a:t>After calling </a:t>
            </a:r>
            <a:r>
              <a:rPr lang="en-US" sz="1800" dirty="0">
                <a:effectLst/>
                <a:latin typeface="CMTT10"/>
              </a:rPr>
              <a:t>free</a:t>
            </a:r>
            <a:r>
              <a:rPr lang="en-US" sz="1800" dirty="0">
                <a:effectLst/>
                <a:latin typeface="CMSS10"/>
              </a:rPr>
              <a:t>, it is no longer proper to access or change </a:t>
            </a:r>
            <a:r>
              <a:rPr lang="en-US" sz="1800" dirty="0">
                <a:effectLst/>
                <a:latin typeface="Menlo" panose="020B0609030804020204" pitchFamily="49" charset="0"/>
                <a:ea typeface="Menlo" panose="020B0609030804020204" pitchFamily="49" charset="0"/>
                <a:cs typeface="Menlo" panose="020B0609030804020204" pitchFamily="49" charset="0"/>
              </a:rPr>
              <a:t>*s</a:t>
            </a:r>
            <a:r>
              <a:rPr lang="en-US" sz="1800" dirty="0">
                <a:effectLst/>
                <a:latin typeface="CMSS10"/>
              </a:rPr>
              <a:t>. </a:t>
            </a:r>
          </a:p>
        </p:txBody>
      </p:sp>
    </p:spTree>
    <p:extLst>
      <p:ext uri="{BB962C8B-B14F-4D97-AF65-F5344CB8AC3E}">
        <p14:creationId xmlns:p14="http://schemas.microsoft.com/office/powerpoint/2010/main" val="1412202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635CC-3602-F2CD-6605-1E9411987208}"/>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1A6FEE51-BA05-8560-0ECD-07AA002E58E7}"/>
              </a:ext>
            </a:extLst>
          </p:cNvPr>
          <p:cNvSpPr>
            <a:spLocks noGrp="1"/>
          </p:cNvSpPr>
          <p:nvPr>
            <p:ph idx="1"/>
          </p:nvPr>
        </p:nvSpPr>
        <p:spPr/>
        <p:txBody>
          <a:bodyPr/>
          <a:lstStyle/>
          <a:p>
            <a:r>
              <a:rPr lang="en-US" strike="sngStrike" dirty="0"/>
              <a:t>Pointers</a:t>
            </a:r>
          </a:p>
          <a:p>
            <a:r>
              <a:rPr lang="en-US" strike="sngStrike" dirty="0"/>
              <a:t>Call Stack</a:t>
            </a:r>
          </a:p>
          <a:p>
            <a:r>
              <a:rPr lang="en-US" strike="sngStrike" dirty="0"/>
              <a:t>Malloc, Heap, and Free</a:t>
            </a:r>
          </a:p>
          <a:p>
            <a:r>
              <a:rPr lang="en-US" dirty="0"/>
              <a:t>Bit Print Example (char*)</a:t>
            </a:r>
          </a:p>
        </p:txBody>
      </p:sp>
    </p:spTree>
    <p:extLst>
      <p:ext uri="{BB962C8B-B14F-4D97-AF65-F5344CB8AC3E}">
        <p14:creationId xmlns:p14="http://schemas.microsoft.com/office/powerpoint/2010/main" val="821718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5CFFC-CF0A-6DFF-DF3E-33BF40858201}"/>
              </a:ext>
            </a:extLst>
          </p:cNvPr>
          <p:cNvSpPr>
            <a:spLocks noGrp="1"/>
          </p:cNvSpPr>
          <p:nvPr>
            <p:ph type="title"/>
          </p:nvPr>
        </p:nvSpPr>
        <p:spPr/>
        <p:txBody>
          <a:bodyPr/>
          <a:lstStyle/>
          <a:p>
            <a:r>
              <a:rPr lang="en-US" dirty="0"/>
              <a:t>Print the bit vector of a char integer</a:t>
            </a:r>
          </a:p>
        </p:txBody>
      </p:sp>
      <p:sp>
        <p:nvSpPr>
          <p:cNvPr id="7" name="TextBox 6">
            <a:extLst>
              <a:ext uri="{FF2B5EF4-FFF2-40B4-BE49-F238E27FC236}">
                <a16:creationId xmlns:a16="http://schemas.microsoft.com/office/drawing/2014/main" id="{67E7402D-B5B5-14A3-2120-AF0E4F47A36E}"/>
              </a:ext>
            </a:extLst>
          </p:cNvPr>
          <p:cNvSpPr txBox="1"/>
          <p:nvPr/>
        </p:nvSpPr>
        <p:spPr>
          <a:xfrm>
            <a:off x="2875789" y="1421821"/>
            <a:ext cx="4684776" cy="5262979"/>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r>
              <a:rPr lang="en-US" sz="1600" dirty="0">
                <a:solidFill>
                  <a:srgbClr val="C814C9"/>
                </a:solidFill>
                <a:effectLst/>
                <a:latin typeface="Menlo" panose="020B0609030804020204" pitchFamily="49" charset="0"/>
              </a:rPr>
              <a:t>#include</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stdio.h</a:t>
            </a:r>
            <a:r>
              <a:rPr lang="en-US" sz="1600" dirty="0">
                <a:solidFill>
                  <a:srgbClr val="B42419"/>
                </a:solidFill>
                <a:effectLst/>
                <a:latin typeface="Menlo" panose="020B0609030804020204" pitchFamily="49" charset="0"/>
              </a:rPr>
              <a:t>&gt;</a:t>
            </a:r>
          </a:p>
          <a:p>
            <a:r>
              <a:rPr lang="en-US" sz="1600" dirty="0">
                <a:solidFill>
                  <a:srgbClr val="C814C9"/>
                </a:solidFill>
                <a:effectLst/>
                <a:latin typeface="Menlo" panose="020B0609030804020204" pitchFamily="49" charset="0"/>
              </a:rPr>
              <a:t>#include</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stdlib.h</a:t>
            </a:r>
            <a:r>
              <a:rPr lang="en-US" sz="1600" dirty="0">
                <a:solidFill>
                  <a:srgbClr val="B42419"/>
                </a:solidFill>
                <a:effectLst/>
                <a:latin typeface="Menlo" panose="020B0609030804020204" pitchFamily="49" charset="0"/>
              </a:rPr>
              <a:t>&gt;</a:t>
            </a:r>
          </a:p>
          <a:p>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char</a:t>
            </a:r>
            <a:r>
              <a:rPr lang="en-US" sz="1600" dirty="0">
                <a:solidFill>
                  <a:srgbClr val="000000"/>
                </a:solidFill>
                <a:effectLst/>
                <a:latin typeface="Menlo" panose="020B0609030804020204" pitchFamily="49" charset="0"/>
              </a:rPr>
              <a:t> *bitstring(</a:t>
            </a:r>
            <a:r>
              <a:rPr lang="en-US" sz="1600" dirty="0">
                <a:solidFill>
                  <a:srgbClr val="2FB41D"/>
                </a:solidFill>
                <a:effectLst/>
                <a:latin typeface="Menlo" panose="020B0609030804020204" pitchFamily="49" charset="0"/>
              </a:rPr>
              <a:t>char</a:t>
            </a:r>
            <a:r>
              <a:rPr lang="en-US" sz="1600" dirty="0">
                <a:solidFill>
                  <a:srgbClr val="000000"/>
                </a:solidFill>
                <a:effectLst/>
                <a:latin typeface="Menlo" panose="020B0609030804020204" pitchFamily="49" charset="0"/>
              </a:rPr>
              <a:t> byte)</a:t>
            </a:r>
          </a:p>
          <a:p>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char</a:t>
            </a:r>
            <a:r>
              <a:rPr lang="en-US" sz="1600" dirty="0">
                <a:solidFill>
                  <a:srgbClr val="000000"/>
                </a:solidFill>
                <a:effectLst/>
                <a:latin typeface="Menlo" panose="020B0609030804020204" pitchFamily="49" charset="0"/>
              </a:rPr>
              <a:t> *result = malloc(</a:t>
            </a:r>
            <a:r>
              <a:rPr lang="en-US" sz="1600" dirty="0">
                <a:solidFill>
                  <a:srgbClr val="B42419"/>
                </a:solidFill>
                <a:effectLst/>
                <a:latin typeface="Menlo" panose="020B0609030804020204" pitchFamily="49" charset="0"/>
              </a:rPr>
              <a:t>9</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result[</a:t>
            </a:r>
            <a:r>
              <a:rPr lang="en-US" sz="1600" dirty="0">
                <a:solidFill>
                  <a:srgbClr val="B42419"/>
                </a:solidFill>
                <a:effectLst/>
                <a:latin typeface="Menlo" panose="020B0609030804020204" pitchFamily="49" charset="0"/>
              </a:rPr>
              <a:t>8</a:t>
            </a:r>
            <a:r>
              <a:rPr lang="en-US" sz="1600" dirty="0">
                <a:solidFill>
                  <a:srgbClr val="000000"/>
                </a:solidFill>
                <a:effectLst/>
                <a:latin typeface="Menlo" panose="020B0609030804020204" pitchFamily="49" charset="0"/>
              </a:rPr>
              <a:t>] = </a:t>
            </a:r>
            <a:r>
              <a:rPr lang="en-US" sz="1600" dirty="0">
                <a:solidFill>
                  <a:srgbClr val="C814C9"/>
                </a:solidFill>
                <a:effectLst/>
                <a:latin typeface="Menlo" panose="020B0609030804020204" pitchFamily="49" charset="0"/>
              </a:rPr>
              <a:t>'\0'</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for</a:t>
            </a:r>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i</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0</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i</a:t>
            </a:r>
            <a:r>
              <a:rPr lang="en-US" sz="1600" dirty="0">
                <a:solidFill>
                  <a:srgbClr val="000000"/>
                </a:solidFill>
                <a:effectLst/>
                <a:latin typeface="Menlo" panose="020B0609030804020204" pitchFamily="49" charset="0"/>
              </a:rPr>
              <a:t>&lt;</a:t>
            </a:r>
            <a:r>
              <a:rPr lang="en-US" sz="1600" dirty="0">
                <a:solidFill>
                  <a:srgbClr val="B42419"/>
                </a:solidFill>
                <a:effectLst/>
                <a:latin typeface="Menlo" panose="020B0609030804020204" pitchFamily="49" charset="0"/>
              </a:rPr>
              <a:t>8</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i</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if</a:t>
            </a:r>
            <a:r>
              <a:rPr lang="en-US" sz="1600" dirty="0">
                <a:solidFill>
                  <a:srgbClr val="000000"/>
                </a:solidFill>
                <a:effectLst/>
                <a:latin typeface="Menlo" panose="020B0609030804020204" pitchFamily="49" charset="0"/>
              </a:rPr>
              <a:t> ((byte&gt;&gt;(</a:t>
            </a:r>
            <a:r>
              <a:rPr lang="en-US" sz="1600" dirty="0">
                <a:solidFill>
                  <a:srgbClr val="B42419"/>
                </a:solidFill>
                <a:effectLst/>
                <a:latin typeface="Menlo" panose="020B0609030804020204" pitchFamily="49" charset="0"/>
              </a:rPr>
              <a:t>7</a:t>
            </a:r>
            <a:r>
              <a:rPr lang="en-US" sz="1600" dirty="0">
                <a:solidFill>
                  <a:srgbClr val="000000"/>
                </a:solidFill>
                <a:effectLst/>
                <a:latin typeface="Menlo" panose="020B0609030804020204" pitchFamily="49" charset="0"/>
              </a:rPr>
              <a:t>-i))&amp;</a:t>
            </a:r>
            <a:r>
              <a:rPr lang="en-US" sz="1600" dirty="0">
                <a:solidFill>
                  <a:srgbClr val="B42419"/>
                </a:solidFill>
                <a:effectLst/>
                <a:latin typeface="Menlo" panose="020B0609030804020204" pitchFamily="49" charset="0"/>
              </a:rPr>
              <a:t>1</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result[</a:t>
            </a:r>
            <a:r>
              <a:rPr lang="en-US" sz="1600" dirty="0" err="1">
                <a:solidFill>
                  <a:srgbClr val="000000"/>
                </a:solidFill>
                <a:effectLst/>
                <a:latin typeface="Menlo" panose="020B0609030804020204" pitchFamily="49" charset="0"/>
              </a:rPr>
              <a:t>i</a:t>
            </a:r>
            <a:r>
              <a:rPr lang="en-US" sz="1600" dirty="0">
                <a:solidFill>
                  <a:srgbClr val="000000"/>
                </a:solidFill>
                <a:effectLst/>
                <a:latin typeface="Menlo" panose="020B0609030804020204" pitchFamily="49" charset="0"/>
              </a:rPr>
              <a:t>] = </a:t>
            </a:r>
            <a:r>
              <a:rPr lang="en-US" sz="1600" dirty="0">
                <a:solidFill>
                  <a:srgbClr val="B42419"/>
                </a:solidFill>
                <a:effectLst/>
                <a:latin typeface="Menlo" panose="020B0609030804020204" pitchFamily="49" charset="0"/>
              </a:rPr>
              <a:t>'1'</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else</a:t>
            </a:r>
            <a:endParaRPr lang="en-US" sz="1600" dirty="0">
              <a:solidFill>
                <a:srgbClr val="000000"/>
              </a:solidFill>
              <a:effectLst/>
              <a:latin typeface="Menlo" panose="020B0609030804020204" pitchFamily="49" charset="0"/>
            </a:endParaRPr>
          </a:p>
          <a:p>
            <a:r>
              <a:rPr lang="en-US" sz="1600" dirty="0">
                <a:solidFill>
                  <a:srgbClr val="000000"/>
                </a:solidFill>
                <a:effectLst/>
                <a:latin typeface="Menlo" panose="020B0609030804020204" pitchFamily="49" charset="0"/>
              </a:rPr>
              <a:t>      result [</a:t>
            </a:r>
            <a:r>
              <a:rPr lang="en-US" sz="1600" dirty="0" err="1">
                <a:solidFill>
                  <a:srgbClr val="000000"/>
                </a:solidFill>
                <a:effectLst/>
                <a:latin typeface="Menlo" panose="020B0609030804020204" pitchFamily="49" charset="0"/>
              </a:rPr>
              <a:t>i</a:t>
            </a:r>
            <a:r>
              <a:rPr lang="en-US" sz="1600" dirty="0">
                <a:solidFill>
                  <a:srgbClr val="000000"/>
                </a:solidFill>
                <a:effectLst/>
                <a:latin typeface="Menlo" panose="020B0609030804020204" pitchFamily="49" charset="0"/>
              </a:rPr>
              <a:t>] = </a:t>
            </a:r>
            <a:r>
              <a:rPr lang="en-US" sz="1600" dirty="0">
                <a:solidFill>
                  <a:srgbClr val="B42419"/>
                </a:solidFill>
                <a:effectLst/>
                <a:latin typeface="Menlo" panose="020B0609030804020204" pitchFamily="49" charset="0"/>
              </a:rPr>
              <a:t>'0'</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result;</a:t>
            </a:r>
          </a:p>
          <a:p>
            <a:r>
              <a:rPr lang="en-US" sz="1600" dirty="0">
                <a:solidFill>
                  <a:srgbClr val="000000"/>
                </a:solidFill>
                <a:effectLst/>
                <a:latin typeface="Menlo" panose="020B0609030804020204" pitchFamily="49" charset="0"/>
              </a:rPr>
              <a:t>}</a:t>
            </a:r>
          </a:p>
          <a:p>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main(</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argc</a:t>
            </a:r>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char</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argv</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char</a:t>
            </a:r>
            <a:r>
              <a:rPr lang="en-US" sz="1600" dirty="0">
                <a:solidFill>
                  <a:srgbClr val="000000"/>
                </a:solidFill>
                <a:effectLst/>
                <a:latin typeface="Menlo" panose="020B0609030804020204" pitchFamily="49" charset="0"/>
              </a:rPr>
              <a:t> byte = </a:t>
            </a:r>
            <a:r>
              <a:rPr lang="en-US" sz="1600" dirty="0" err="1">
                <a:solidFill>
                  <a:srgbClr val="000000"/>
                </a:solidFill>
                <a:effectLst/>
                <a:latin typeface="Menlo" panose="020B0609030804020204" pitchFamily="49" charset="0"/>
              </a:rPr>
              <a:t>atoi</a:t>
            </a:r>
            <a:r>
              <a:rPr lang="en-US" sz="1600" dirty="0">
                <a:solidFill>
                  <a:srgbClr val="000000"/>
                </a:solidFill>
                <a:effectLst/>
                <a:latin typeface="Menlo" panose="020B0609030804020204" pitchFamily="49" charset="0"/>
              </a:rPr>
              <a:t>(</a:t>
            </a:r>
            <a:r>
              <a:rPr lang="en-US" sz="1600" dirty="0" err="1">
                <a:solidFill>
                  <a:srgbClr val="000000"/>
                </a:solidFill>
                <a:effectLst/>
                <a:latin typeface="Menlo" panose="020B0609030804020204" pitchFamily="49" charset="0"/>
              </a:rPr>
              <a:t>argv</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1</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char</a:t>
            </a:r>
            <a:r>
              <a:rPr lang="en-US" sz="1600" dirty="0">
                <a:solidFill>
                  <a:srgbClr val="000000"/>
                </a:solidFill>
                <a:effectLst/>
                <a:latin typeface="Menlo" panose="020B0609030804020204" pitchFamily="49" charset="0"/>
              </a:rPr>
              <a:t> *bits = bitstring(byte);</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a:t>
            </a:r>
            <a:r>
              <a:rPr lang="en-US" sz="1600" dirty="0">
                <a:solidFill>
                  <a:srgbClr val="C814C9"/>
                </a:solidFill>
                <a:effectLst/>
                <a:latin typeface="Menlo" panose="020B0609030804020204" pitchFamily="49" charset="0"/>
              </a:rPr>
              <a:t>%s\n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bits);</a:t>
            </a: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0</a:t>
            </a:r>
            <a:r>
              <a:rPr lang="en-US" sz="1600" dirty="0">
                <a:solidFill>
                  <a:srgbClr val="000000"/>
                </a:solidFill>
                <a:effectLst/>
                <a:latin typeface="Menlo" panose="020B0609030804020204" pitchFamily="49" charset="0"/>
              </a:rPr>
              <a:t>;</a:t>
            </a:r>
            <a:endParaRPr lang="en-US" sz="1600" dirty="0">
              <a:solidFill>
                <a:srgbClr val="C1651C"/>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p>
        </p:txBody>
      </p:sp>
      <p:sp>
        <p:nvSpPr>
          <p:cNvPr id="8" name="TextBox 7">
            <a:extLst>
              <a:ext uri="{FF2B5EF4-FFF2-40B4-BE49-F238E27FC236}">
                <a16:creationId xmlns:a16="http://schemas.microsoft.com/office/drawing/2014/main" id="{C582DA71-12BE-E5B1-3A8C-A33D773A2A06}"/>
              </a:ext>
            </a:extLst>
          </p:cNvPr>
          <p:cNvSpPr txBox="1"/>
          <p:nvPr/>
        </p:nvSpPr>
        <p:spPr>
          <a:xfrm>
            <a:off x="9356137" y="4837465"/>
            <a:ext cx="1997663" cy="646331"/>
          </a:xfrm>
          <a:prstGeom prst="rect">
            <a:avLst/>
          </a:prstGeom>
          <a:noFill/>
        </p:spPr>
        <p:txBody>
          <a:bodyPr wrap="none" rtlCol="0">
            <a:spAutoFit/>
          </a:bodyPr>
          <a:lstStyle/>
          <a:p>
            <a:r>
              <a:rPr lang="en-US" dirty="0">
                <a:solidFill>
                  <a:srgbClr val="000000"/>
                </a:solidFill>
                <a:effectLst/>
                <a:latin typeface="Menlo" panose="020B0609030804020204" pitchFamily="49" charset="0"/>
              </a:rPr>
              <a:t>$ ./</a:t>
            </a:r>
            <a:r>
              <a:rPr lang="en-US" dirty="0" err="1">
                <a:solidFill>
                  <a:srgbClr val="000000"/>
                </a:solidFill>
                <a:effectLst/>
                <a:latin typeface="Menlo" panose="020B0609030804020204" pitchFamily="49" charset="0"/>
              </a:rPr>
              <a:t>a.out</a:t>
            </a:r>
            <a:r>
              <a:rPr lang="en-US" dirty="0">
                <a:solidFill>
                  <a:srgbClr val="000000"/>
                </a:solidFill>
                <a:effectLst/>
                <a:latin typeface="Menlo" panose="020B0609030804020204" pitchFamily="49" charset="0"/>
              </a:rPr>
              <a:t> 53 </a:t>
            </a:r>
          </a:p>
          <a:p>
            <a:r>
              <a:rPr lang="en-US" dirty="0">
                <a:solidFill>
                  <a:srgbClr val="000000"/>
                </a:solidFill>
                <a:effectLst/>
                <a:latin typeface="Menlo" panose="020B0609030804020204" pitchFamily="49" charset="0"/>
              </a:rPr>
              <a:t>00110101</a:t>
            </a:r>
          </a:p>
        </p:txBody>
      </p:sp>
      <p:sp>
        <p:nvSpPr>
          <p:cNvPr id="9" name="TextBox 8">
            <a:extLst>
              <a:ext uri="{FF2B5EF4-FFF2-40B4-BE49-F238E27FC236}">
                <a16:creationId xmlns:a16="http://schemas.microsoft.com/office/drawing/2014/main" id="{25564549-DC88-2600-ED8D-94BF87861FEC}"/>
              </a:ext>
            </a:extLst>
          </p:cNvPr>
          <p:cNvSpPr txBox="1"/>
          <p:nvPr/>
        </p:nvSpPr>
        <p:spPr>
          <a:xfrm>
            <a:off x="6758181" y="2652225"/>
            <a:ext cx="3653026" cy="783193"/>
          </a:xfrm>
          <a:prstGeom prst="wedgeRoundRectCallout">
            <a:avLst>
              <a:gd name="adj1" fmla="val -64980"/>
              <a:gd name="adj2" fmla="val -29946"/>
              <a:gd name="adj3" fmla="val 16667"/>
            </a:avLst>
          </a:prstGeom>
          <a:solidFill>
            <a:schemeClr val="accent6">
              <a:lumMod val="20000"/>
              <a:lumOff val="80000"/>
            </a:schemeClr>
          </a:solidFill>
          <a:effectLst>
            <a:outerShdw blurRad="50800" dist="38100" dir="2700000" algn="tl" rotWithShape="0">
              <a:prstClr val="black">
                <a:alpha val="40000"/>
              </a:prstClr>
            </a:outerShdw>
          </a:effectLst>
        </p:spPr>
        <p:txBody>
          <a:bodyPr wrap="square" rtlCol="0">
            <a:spAutoFit/>
          </a:bodyPr>
          <a:lstStyle/>
          <a:p>
            <a:r>
              <a:rPr lang="en-US" dirty="0">
                <a:latin typeface="Menlo" panose="020B0609030804020204" pitchFamily="49" charset="0"/>
                <a:ea typeface="Menlo" panose="020B0609030804020204" pitchFamily="49" charset="0"/>
                <a:cs typeface="Menlo" panose="020B0609030804020204" pitchFamily="49" charset="0"/>
              </a:rPr>
              <a:t>malloc(9)</a:t>
            </a:r>
            <a:r>
              <a:rPr lang="en-US" sz="2000" dirty="0">
                <a:latin typeface="Calibri" panose="020F0502020204030204" pitchFamily="34" charset="0"/>
                <a:cs typeface="Calibri" panose="020F0502020204030204" pitchFamily="34" charset="0"/>
              </a:rPr>
              <a:t>allocates a memory region of 9 bytes (i.e., 9 chars).</a:t>
            </a:r>
            <a:endParaRPr lang="en-US" sz="2400" dirty="0">
              <a:effectLst/>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8C3AAFEB-49E8-218A-062E-594D81E09BA3}"/>
              </a:ext>
            </a:extLst>
          </p:cNvPr>
          <p:cNvSpPr txBox="1"/>
          <p:nvPr/>
        </p:nvSpPr>
        <p:spPr>
          <a:xfrm>
            <a:off x="110870" y="3297171"/>
            <a:ext cx="3156965" cy="1123712"/>
          </a:xfrm>
          <a:prstGeom prst="wedgeRoundRectCallout">
            <a:avLst>
              <a:gd name="adj1" fmla="val 46714"/>
              <a:gd name="adj2" fmla="val -91719"/>
              <a:gd name="adj3" fmla="val 16667"/>
            </a:avLst>
          </a:prstGeom>
          <a:solidFill>
            <a:schemeClr val="accent6">
              <a:lumMod val="20000"/>
              <a:lumOff val="80000"/>
            </a:schemeClr>
          </a:solidFill>
          <a:effectLst>
            <a:outerShdw blurRad="50800" dist="38100" dir="2700000" algn="tl" rotWithShape="0">
              <a:prstClr val="black">
                <a:alpha val="40000"/>
              </a:prstClr>
            </a:outerShdw>
          </a:effectLst>
        </p:spPr>
        <p:txBody>
          <a:bodyPr wrap="square" rtlCol="0">
            <a:spAutoFit/>
          </a:bodyPr>
          <a:lstStyle/>
          <a:p>
            <a:r>
              <a:rPr lang="en-US" dirty="0">
                <a:effectLst/>
                <a:latin typeface="Menlo" panose="020B0609030804020204" pitchFamily="49" charset="0"/>
                <a:ea typeface="Menlo" panose="020B0609030804020204" pitchFamily="49" charset="0"/>
                <a:cs typeface="Menlo" panose="020B0609030804020204" pitchFamily="49" charset="0"/>
              </a:rPr>
              <a:t>char*</a:t>
            </a:r>
            <a:r>
              <a:rPr lang="en-US" sz="2000" dirty="0">
                <a:effectLst/>
                <a:latin typeface="Calibri" panose="020F0502020204030204" pitchFamily="34" charset="0"/>
                <a:ea typeface="Menlo" panose="020B0609030804020204" pitchFamily="49" charset="0"/>
                <a:cs typeface="Calibri" panose="020F0502020204030204" pitchFamily="34" charset="0"/>
              </a:rPr>
              <a:t> </a:t>
            </a:r>
            <a:r>
              <a:rPr lang="en-US" sz="2000" dirty="0">
                <a:latin typeface="Calibri" panose="020F0502020204030204" pitchFamily="34" charset="0"/>
                <a:ea typeface="Menlo" panose="020B0609030804020204" pitchFamily="49" charset="0"/>
                <a:cs typeface="Calibri" panose="020F0502020204030204" pitchFamily="34" charset="0"/>
              </a:rPr>
              <a:t>is a char array (effectively a string in C)</a:t>
            </a:r>
          </a:p>
          <a:p>
            <a:r>
              <a:rPr lang="en-US" sz="2000" dirty="0">
                <a:effectLst/>
                <a:latin typeface="Calibri" panose="020F0502020204030204" pitchFamily="34" charset="0"/>
                <a:ea typeface="Menlo" panose="020B0609030804020204" pitchFamily="49" charset="0"/>
                <a:cs typeface="Calibri" panose="020F0502020204030204" pitchFamily="34" charset="0"/>
              </a:rPr>
              <a:t>More on this in next lecture</a:t>
            </a:r>
            <a:endParaRPr lang="en-US" sz="2000" dirty="0">
              <a:effectLst/>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3587346B-150D-5A36-4B8E-5C10EE06A06C}"/>
              </a:ext>
            </a:extLst>
          </p:cNvPr>
          <p:cNvSpPr txBox="1"/>
          <p:nvPr/>
        </p:nvSpPr>
        <p:spPr>
          <a:xfrm>
            <a:off x="6388160" y="3671742"/>
            <a:ext cx="2922405" cy="749141"/>
          </a:xfrm>
          <a:prstGeom prst="wedgeRoundRectCallout">
            <a:avLst>
              <a:gd name="adj1" fmla="val -72649"/>
              <a:gd name="adj2" fmla="val -56729"/>
              <a:gd name="adj3" fmla="val 16667"/>
            </a:avLst>
          </a:prstGeom>
          <a:solidFill>
            <a:schemeClr val="accent6">
              <a:lumMod val="20000"/>
              <a:lumOff val="80000"/>
            </a:schemeClr>
          </a:solidFill>
          <a:effectLst>
            <a:outerShdw blurRad="50800" dist="38100" dir="2700000" algn="tl" rotWithShape="0">
              <a:prstClr val="black">
                <a:alpha val="40000"/>
              </a:prstClr>
            </a:outerShdw>
          </a:effectLst>
        </p:spPr>
        <p:txBody>
          <a:bodyPr wrap="square" rtlCol="0">
            <a:spAutoFit/>
          </a:bodyPr>
          <a:lstStyle/>
          <a:p>
            <a:r>
              <a:rPr lang="en-US" dirty="0">
                <a:effectLst/>
                <a:latin typeface="Menlo" panose="020B0609030804020204" pitchFamily="49" charset="0"/>
                <a:ea typeface="Menlo" panose="020B0609030804020204" pitchFamily="49" charset="0"/>
                <a:cs typeface="Menlo" panose="020B0609030804020204" pitchFamily="49" charset="0"/>
              </a:rPr>
              <a:t>((byte &gt;&gt; </a:t>
            </a:r>
            <a:r>
              <a:rPr lang="en-US" dirty="0">
                <a:latin typeface="Menlo" panose="020B0609030804020204" pitchFamily="49" charset="0"/>
                <a:ea typeface="Menlo" panose="020B0609030804020204" pitchFamily="49" charset="0"/>
                <a:cs typeface="Menlo" panose="020B0609030804020204" pitchFamily="49" charset="0"/>
              </a:rPr>
              <a:t>n) &amp; 1)</a:t>
            </a:r>
            <a:r>
              <a:rPr lang="en-US" dirty="0">
                <a:latin typeface="Calibri" panose="020F0502020204030204" pitchFamily="34" charset="0"/>
                <a:ea typeface="Menlo" panose="020B0609030804020204" pitchFamily="49" charset="0"/>
                <a:cs typeface="Calibri" panose="020F0502020204030204" pitchFamily="34" charset="0"/>
              </a:rPr>
              <a:t> </a:t>
            </a:r>
            <a:r>
              <a:rPr lang="en-US" sz="2000" dirty="0">
                <a:latin typeface="Calibri" panose="020F0502020204030204" pitchFamily="34" charset="0"/>
                <a:ea typeface="Menlo" panose="020B0609030804020204" pitchFamily="49" charset="0"/>
                <a:cs typeface="Calibri" panose="020F0502020204030204" pitchFamily="34" charset="0"/>
              </a:rPr>
              <a:t>checks if the </a:t>
            </a:r>
            <a:r>
              <a:rPr lang="en-US" dirty="0">
                <a:latin typeface="Menlo" panose="020B0609030804020204" pitchFamily="49" charset="0"/>
                <a:ea typeface="Menlo" panose="020B0609030804020204" pitchFamily="49" charset="0"/>
                <a:cs typeface="Menlo" panose="020B0609030804020204" pitchFamily="49" charset="0"/>
              </a:rPr>
              <a:t>n</a:t>
            </a:r>
            <a:r>
              <a:rPr lang="en-US" sz="2000" dirty="0">
                <a:latin typeface="Calibri" panose="020F0502020204030204" pitchFamily="34" charset="0"/>
                <a:ea typeface="Menlo" panose="020B0609030804020204" pitchFamily="49" charset="0"/>
                <a:cs typeface="Calibri" panose="020F0502020204030204" pitchFamily="34" charset="0"/>
              </a:rPr>
              <a:t>th bit is set</a:t>
            </a:r>
            <a:endParaRPr lang="en-US" sz="2400" dirty="0">
              <a:effectLst/>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59504F64-D5FB-7842-BB2D-B57CFCEDAD9A}"/>
              </a:ext>
            </a:extLst>
          </p:cNvPr>
          <p:cNvSpPr txBox="1"/>
          <p:nvPr/>
        </p:nvSpPr>
        <p:spPr>
          <a:xfrm>
            <a:off x="7680506" y="6214527"/>
            <a:ext cx="4465774" cy="461665"/>
          </a:xfrm>
          <a:prstGeom prst="rect">
            <a:avLst/>
          </a:prstGeom>
          <a:noFill/>
        </p:spPr>
        <p:txBody>
          <a:bodyPr wrap="none" rtlCol="0">
            <a:spAutoFit/>
          </a:bodyPr>
          <a:lstStyle/>
          <a:p>
            <a:r>
              <a:rPr lang="en-US" sz="2400" b="1" dirty="0"/>
              <a:t>More on this in the next lecture…</a:t>
            </a:r>
          </a:p>
        </p:txBody>
      </p:sp>
      <p:sp>
        <p:nvSpPr>
          <p:cNvPr id="14" name="Rectangle 13">
            <a:extLst>
              <a:ext uri="{FF2B5EF4-FFF2-40B4-BE49-F238E27FC236}">
                <a16:creationId xmlns:a16="http://schemas.microsoft.com/office/drawing/2014/main" id="{2CB6F778-81B1-15D4-7D57-52F92BC9DB98}"/>
              </a:ext>
            </a:extLst>
          </p:cNvPr>
          <p:cNvSpPr/>
          <p:nvPr/>
        </p:nvSpPr>
        <p:spPr>
          <a:xfrm>
            <a:off x="2925708" y="5082406"/>
            <a:ext cx="4384547" cy="1508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3DF8F17-8282-1922-DA33-0BFE94378776}"/>
              </a:ext>
            </a:extLst>
          </p:cNvPr>
          <p:cNvSpPr txBox="1"/>
          <p:nvPr/>
        </p:nvSpPr>
        <p:spPr>
          <a:xfrm>
            <a:off x="7100316" y="5301575"/>
            <a:ext cx="1885570" cy="783193"/>
          </a:xfrm>
          <a:prstGeom prst="wedgeRoundRectCallout">
            <a:avLst>
              <a:gd name="adj1" fmla="val -78402"/>
              <a:gd name="adj2" fmla="val -41516"/>
              <a:gd name="adj3" fmla="val 16667"/>
            </a:avLst>
          </a:prstGeom>
          <a:solidFill>
            <a:schemeClr val="accent6">
              <a:lumMod val="20000"/>
              <a:lumOff val="80000"/>
            </a:schemeClr>
          </a:solidFill>
          <a:effectLst>
            <a:outerShdw blurRad="50800" dist="38100" dir="2700000" algn="tl" rotWithShape="0">
              <a:prstClr val="black">
                <a:alpha val="40000"/>
              </a:prstClr>
            </a:outerShdw>
          </a:effectLst>
        </p:spPr>
        <p:txBody>
          <a:bodyPr wrap="square" rtlCol="0">
            <a:spAutoFit/>
          </a:bodyPr>
          <a:lstStyle/>
          <a:p>
            <a:r>
              <a:rPr lang="en-US" dirty="0">
                <a:effectLst/>
                <a:latin typeface="Menlo" panose="020B0609030804020204" pitchFamily="49" charset="0"/>
                <a:ea typeface="Menlo" panose="020B0609030804020204" pitchFamily="49" charset="0"/>
                <a:cs typeface="Menlo" panose="020B0609030804020204" pitchFamily="49" charset="0"/>
              </a:rPr>
              <a:t>char**</a:t>
            </a:r>
            <a:r>
              <a:rPr lang="en-US" sz="2000" dirty="0">
                <a:effectLst/>
                <a:latin typeface="Calibri" panose="020F0502020204030204" pitchFamily="34" charset="0"/>
                <a:ea typeface="Menlo" panose="020B0609030804020204" pitchFamily="49" charset="0"/>
                <a:cs typeface="Calibri" panose="020F0502020204030204" pitchFamily="34" charset="0"/>
              </a:rPr>
              <a:t> </a:t>
            </a:r>
            <a:r>
              <a:rPr lang="en-US" sz="2000" dirty="0">
                <a:latin typeface="Calibri" panose="020F0502020204030204" pitchFamily="34" charset="0"/>
                <a:ea typeface="Menlo" panose="020B0609030804020204" pitchFamily="49" charset="0"/>
                <a:cs typeface="Calibri" panose="020F0502020204030204" pitchFamily="34" charset="0"/>
              </a:rPr>
              <a:t>is an array of strings</a:t>
            </a:r>
            <a:endParaRPr lang="en-US" sz="2000" dirty="0">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08889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P spid="14" grpId="0" animBg="1"/>
      <p:bldP spid="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25E49-7ECA-AB6A-68B1-012DE1FDAC92}"/>
              </a:ext>
            </a:extLst>
          </p:cNvPr>
          <p:cNvSpPr>
            <a:spLocks noGrp="1"/>
          </p:cNvSpPr>
          <p:nvPr>
            <p:ph type="title"/>
          </p:nvPr>
        </p:nvSpPr>
        <p:spPr/>
        <p:txBody>
          <a:bodyPr/>
          <a:lstStyle/>
          <a:p>
            <a:r>
              <a:rPr lang="en-US" dirty="0"/>
              <a:t>Recap</a:t>
            </a:r>
          </a:p>
        </p:txBody>
      </p:sp>
      <p:sp>
        <p:nvSpPr>
          <p:cNvPr id="3" name="Content Placeholder 2">
            <a:extLst>
              <a:ext uri="{FF2B5EF4-FFF2-40B4-BE49-F238E27FC236}">
                <a16:creationId xmlns:a16="http://schemas.microsoft.com/office/drawing/2014/main" id="{351FEC2F-27D9-C5F2-DE6A-3998822E85B5}"/>
              </a:ext>
            </a:extLst>
          </p:cNvPr>
          <p:cNvSpPr>
            <a:spLocks noGrp="1"/>
          </p:cNvSpPr>
          <p:nvPr>
            <p:ph idx="1"/>
          </p:nvPr>
        </p:nvSpPr>
        <p:spPr/>
        <p:txBody>
          <a:bodyPr/>
          <a:lstStyle/>
          <a:p>
            <a:r>
              <a:rPr lang="en-US" dirty="0"/>
              <a:t>Pointers vs. Addresses</a:t>
            </a:r>
          </a:p>
          <a:p>
            <a:r>
              <a:rPr lang="en-US" dirty="0"/>
              <a:t>Pass-by-value vs. Pass-by-reference</a:t>
            </a:r>
          </a:p>
          <a:p>
            <a:endParaRPr lang="en-US" dirty="0"/>
          </a:p>
          <a:p>
            <a:r>
              <a:rPr lang="en-US" dirty="0"/>
              <a:t>Call Stack </a:t>
            </a:r>
          </a:p>
          <a:p>
            <a:r>
              <a:rPr lang="en-US" dirty="0"/>
              <a:t>Where are local variables?</a:t>
            </a:r>
          </a:p>
          <a:p>
            <a:endParaRPr lang="en-US" dirty="0"/>
          </a:p>
          <a:p>
            <a:r>
              <a:rPr lang="en-US" dirty="0">
                <a:latin typeface="Menlo" panose="020B0609030804020204" pitchFamily="49" charset="0"/>
                <a:ea typeface="Menlo" panose="020B0609030804020204" pitchFamily="49" charset="0"/>
                <a:cs typeface="Menlo" panose="020B0609030804020204" pitchFamily="49" charset="0"/>
              </a:rPr>
              <a:t>malloc</a:t>
            </a:r>
            <a:r>
              <a:rPr lang="en-US" dirty="0"/>
              <a:t> (allocation) vs. </a:t>
            </a:r>
            <a:r>
              <a:rPr lang="en-US" dirty="0">
                <a:latin typeface="Menlo" panose="020B0609030804020204" pitchFamily="49" charset="0"/>
                <a:ea typeface="Menlo" panose="020B0609030804020204" pitchFamily="49" charset="0"/>
                <a:cs typeface="Menlo" panose="020B0609030804020204" pitchFamily="49" charset="0"/>
              </a:rPr>
              <a:t>free</a:t>
            </a:r>
            <a:r>
              <a:rPr lang="en-US" dirty="0"/>
              <a:t> (deallocation)</a:t>
            </a:r>
          </a:p>
          <a:p>
            <a:r>
              <a:rPr lang="en-US" dirty="0"/>
              <a:t>Pointers to heap</a:t>
            </a:r>
          </a:p>
        </p:txBody>
      </p:sp>
    </p:spTree>
    <p:extLst>
      <p:ext uri="{BB962C8B-B14F-4D97-AF65-F5344CB8AC3E}">
        <p14:creationId xmlns:p14="http://schemas.microsoft.com/office/powerpoint/2010/main" val="513264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94E0F-84E5-A469-6B71-1EE0DEAE979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A70FD11-28FA-E464-05BE-B8F7375E7F9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991809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35C9F-242E-675D-04CB-D7CBCB80A5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4C6F58-E035-089E-561A-FF55BB30829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148796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FB9BA-9FB0-27F3-84C1-08F8CB5A2E1C}"/>
              </a:ext>
            </a:extLst>
          </p:cNvPr>
          <p:cNvSpPr>
            <a:spLocks noGrp="1"/>
          </p:cNvSpPr>
          <p:nvPr>
            <p:ph type="title"/>
          </p:nvPr>
        </p:nvSpPr>
        <p:spPr/>
        <p:txBody>
          <a:bodyPr/>
          <a:lstStyle/>
          <a:p>
            <a:r>
              <a:rPr lang="en-US" dirty="0"/>
              <a:t>Motivating Example (III)</a:t>
            </a:r>
          </a:p>
        </p:txBody>
      </p:sp>
      <p:pic>
        <p:nvPicPr>
          <p:cNvPr id="4" name="Picture 3">
            <a:extLst>
              <a:ext uri="{FF2B5EF4-FFF2-40B4-BE49-F238E27FC236}">
                <a16:creationId xmlns:a16="http://schemas.microsoft.com/office/drawing/2014/main" id="{619AEDB0-8535-BE03-59CF-205DF1A784B7}"/>
              </a:ext>
            </a:extLst>
          </p:cNvPr>
          <p:cNvPicPr>
            <a:picLocks noChangeAspect="1"/>
          </p:cNvPicPr>
          <p:nvPr/>
        </p:nvPicPr>
        <p:blipFill>
          <a:blip r:embed="rId2"/>
          <a:stretch>
            <a:fillRect/>
          </a:stretch>
        </p:blipFill>
        <p:spPr>
          <a:xfrm>
            <a:off x="5410200" y="1426018"/>
            <a:ext cx="6400066" cy="809885"/>
          </a:xfrm>
          <a:prstGeom prst="rect">
            <a:avLst/>
          </a:prstGeom>
        </p:spPr>
      </p:pic>
      <p:pic>
        <p:nvPicPr>
          <p:cNvPr id="5" name="Picture 4">
            <a:extLst>
              <a:ext uri="{FF2B5EF4-FFF2-40B4-BE49-F238E27FC236}">
                <a16:creationId xmlns:a16="http://schemas.microsoft.com/office/drawing/2014/main" id="{6E3FFA7C-DD86-29A6-4B10-896D4B48079E}"/>
              </a:ext>
            </a:extLst>
          </p:cNvPr>
          <p:cNvPicPr>
            <a:picLocks noChangeAspect="1"/>
          </p:cNvPicPr>
          <p:nvPr/>
        </p:nvPicPr>
        <p:blipFill>
          <a:blip r:embed="rId3"/>
          <a:stretch>
            <a:fillRect/>
          </a:stretch>
        </p:blipFill>
        <p:spPr>
          <a:xfrm>
            <a:off x="5410200" y="2638868"/>
            <a:ext cx="6153150" cy="790132"/>
          </a:xfrm>
          <a:prstGeom prst="rect">
            <a:avLst/>
          </a:prstGeom>
        </p:spPr>
      </p:pic>
      <p:sp>
        <p:nvSpPr>
          <p:cNvPr id="6" name="Rectangle 5">
            <a:extLst>
              <a:ext uri="{FF2B5EF4-FFF2-40B4-BE49-F238E27FC236}">
                <a16:creationId xmlns:a16="http://schemas.microsoft.com/office/drawing/2014/main" id="{FEED4519-78AB-0ABD-9C68-4BC573D3FE99}"/>
              </a:ext>
            </a:extLst>
          </p:cNvPr>
          <p:cNvSpPr/>
          <p:nvPr/>
        </p:nvSpPr>
        <p:spPr>
          <a:xfrm>
            <a:off x="6781800" y="1791403"/>
            <a:ext cx="1579880" cy="4445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1B28DAD-27FD-4AFD-09DE-374E76E9EDDB}"/>
              </a:ext>
            </a:extLst>
          </p:cNvPr>
          <p:cNvSpPr/>
          <p:nvPr/>
        </p:nvSpPr>
        <p:spPr>
          <a:xfrm>
            <a:off x="6781800" y="3003454"/>
            <a:ext cx="1386840" cy="4445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User with solid fill">
            <a:extLst>
              <a:ext uri="{FF2B5EF4-FFF2-40B4-BE49-F238E27FC236}">
                <a16:creationId xmlns:a16="http://schemas.microsoft.com/office/drawing/2014/main" id="{78EB3879-AB78-22AF-8EF9-C0A9D86D62A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28160" y="1880493"/>
            <a:ext cx="1238250" cy="1238250"/>
          </a:xfrm>
          <a:prstGeom prst="rect">
            <a:avLst/>
          </a:prstGeom>
        </p:spPr>
      </p:pic>
      <p:pic>
        <p:nvPicPr>
          <p:cNvPr id="10" name="Graphic 9" descr="Server with solid fill">
            <a:extLst>
              <a:ext uri="{FF2B5EF4-FFF2-40B4-BE49-F238E27FC236}">
                <a16:creationId xmlns:a16="http://schemas.microsoft.com/office/drawing/2014/main" id="{429A3E34-2A90-7F64-2B26-DB4B1E6BBFB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536" y="2042418"/>
            <a:ext cx="914400" cy="914400"/>
          </a:xfrm>
          <a:prstGeom prst="rect">
            <a:avLst/>
          </a:prstGeom>
        </p:spPr>
      </p:pic>
      <p:cxnSp>
        <p:nvCxnSpPr>
          <p:cNvPr id="11" name="Straight Arrow Connector 10">
            <a:extLst>
              <a:ext uri="{FF2B5EF4-FFF2-40B4-BE49-F238E27FC236}">
                <a16:creationId xmlns:a16="http://schemas.microsoft.com/office/drawing/2014/main" id="{A4189358-37F5-E57A-409E-9775909DC287}"/>
              </a:ext>
            </a:extLst>
          </p:cNvPr>
          <p:cNvCxnSpPr>
            <a:cxnSpLocks/>
            <a:stCxn id="8" idx="1"/>
            <a:endCxn id="10" idx="3"/>
          </p:cNvCxnSpPr>
          <p:nvPr/>
        </p:nvCxnSpPr>
        <p:spPr>
          <a:xfrm flipH="1">
            <a:off x="1019936" y="2499618"/>
            <a:ext cx="3308224"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4747082-44B1-9721-2F6E-4D4E8ECCE632}"/>
              </a:ext>
            </a:extLst>
          </p:cNvPr>
          <p:cNvSpPr txBox="1"/>
          <p:nvPr/>
        </p:nvSpPr>
        <p:spPr>
          <a:xfrm>
            <a:off x="1032488" y="1983550"/>
            <a:ext cx="3393878" cy="338554"/>
          </a:xfrm>
          <a:prstGeom prst="rect">
            <a:avLst/>
          </a:prstGeom>
          <a:noFill/>
        </p:spPr>
        <p:txBody>
          <a:bodyPr wrap="none" rtlCol="0">
            <a:spAutoFit/>
          </a:bodyPr>
          <a:lstStyle/>
          <a:p>
            <a:r>
              <a:rPr lang="en-US" sz="1600" dirty="0">
                <a:solidFill>
                  <a:srgbClr val="000000"/>
                </a:solidFill>
                <a:effectLst/>
                <a:latin typeface="Menlo" panose="020B0609030804020204" pitchFamily="49" charset="0"/>
              </a:rPr>
              <a:t>ping </a:t>
            </a:r>
            <a:r>
              <a:rPr lang="en-US" sz="1600" dirty="0" err="1">
                <a:solidFill>
                  <a:srgbClr val="000000"/>
                </a:solidFill>
                <a:effectLst/>
                <a:latin typeface="Menlo" panose="020B0609030804020204" pitchFamily="49" charset="0"/>
              </a:rPr>
              <a:t>linux.cs.uchicago.edu</a:t>
            </a:r>
            <a:endParaRPr lang="en-US" sz="1600" dirty="0">
              <a:solidFill>
                <a:srgbClr val="000000"/>
              </a:solidFill>
              <a:effectLst/>
              <a:latin typeface="Menlo" panose="020B0609030804020204" pitchFamily="49" charset="0"/>
            </a:endParaRPr>
          </a:p>
        </p:txBody>
      </p:sp>
      <p:pic>
        <p:nvPicPr>
          <p:cNvPr id="27" name="Graphic 26" descr="User with solid fill">
            <a:extLst>
              <a:ext uri="{FF2B5EF4-FFF2-40B4-BE49-F238E27FC236}">
                <a16:creationId xmlns:a16="http://schemas.microsoft.com/office/drawing/2014/main" id="{5C178341-D251-1503-C376-70A2B9FF509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28160" y="4452407"/>
            <a:ext cx="1238250" cy="1238250"/>
          </a:xfrm>
          <a:prstGeom prst="rect">
            <a:avLst/>
          </a:prstGeom>
        </p:spPr>
      </p:pic>
      <p:pic>
        <p:nvPicPr>
          <p:cNvPr id="28" name="Graphic 27" descr="Server with solid fill">
            <a:extLst>
              <a:ext uri="{FF2B5EF4-FFF2-40B4-BE49-F238E27FC236}">
                <a16:creationId xmlns:a16="http://schemas.microsoft.com/office/drawing/2014/main" id="{738AEDC6-CDB9-0AB5-440C-2D8D7B9BAAB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536" y="4614332"/>
            <a:ext cx="914400" cy="914400"/>
          </a:xfrm>
          <a:prstGeom prst="rect">
            <a:avLst/>
          </a:prstGeom>
        </p:spPr>
      </p:pic>
      <p:cxnSp>
        <p:nvCxnSpPr>
          <p:cNvPr id="29" name="Straight Arrow Connector 28">
            <a:extLst>
              <a:ext uri="{FF2B5EF4-FFF2-40B4-BE49-F238E27FC236}">
                <a16:creationId xmlns:a16="http://schemas.microsoft.com/office/drawing/2014/main" id="{968FE091-6CA3-CFC9-578E-5DC1B95EBF4B}"/>
              </a:ext>
            </a:extLst>
          </p:cNvPr>
          <p:cNvCxnSpPr>
            <a:cxnSpLocks/>
            <a:stCxn id="27" idx="1"/>
            <a:endCxn id="28" idx="3"/>
          </p:cNvCxnSpPr>
          <p:nvPr/>
        </p:nvCxnSpPr>
        <p:spPr>
          <a:xfrm flipH="1">
            <a:off x="1019936" y="5071532"/>
            <a:ext cx="3308224"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C2B08AF-7F95-C87D-E1FD-5835E73AD3E2}"/>
              </a:ext>
            </a:extLst>
          </p:cNvPr>
          <p:cNvSpPr txBox="1"/>
          <p:nvPr/>
        </p:nvSpPr>
        <p:spPr>
          <a:xfrm>
            <a:off x="1032488" y="4555464"/>
            <a:ext cx="3270447" cy="338554"/>
          </a:xfrm>
          <a:prstGeom prst="rect">
            <a:avLst/>
          </a:prstGeom>
          <a:noFill/>
        </p:spPr>
        <p:txBody>
          <a:bodyPr wrap="none" rtlCol="0">
            <a:spAutoFit/>
          </a:bodyPr>
          <a:lstStyle/>
          <a:p>
            <a:r>
              <a:rPr lang="en-US" sz="1600" dirty="0" err="1">
                <a:solidFill>
                  <a:srgbClr val="000000"/>
                </a:solidFill>
                <a:effectLst/>
                <a:latin typeface="Menlo" panose="020B0609030804020204" pitchFamily="49" charset="0"/>
              </a:rPr>
              <a:t>ssh</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linux.cs.uchicago.edu</a:t>
            </a:r>
            <a:endParaRPr lang="en-US" sz="1600" dirty="0">
              <a:solidFill>
                <a:srgbClr val="000000"/>
              </a:solidFill>
              <a:effectLst/>
              <a:latin typeface="Menlo" panose="020B0609030804020204" pitchFamily="49" charset="0"/>
            </a:endParaRPr>
          </a:p>
        </p:txBody>
      </p:sp>
      <p:pic>
        <p:nvPicPr>
          <p:cNvPr id="33" name="Picture 32">
            <a:extLst>
              <a:ext uri="{FF2B5EF4-FFF2-40B4-BE49-F238E27FC236}">
                <a16:creationId xmlns:a16="http://schemas.microsoft.com/office/drawing/2014/main" id="{AE2E8E1A-78A9-86B1-B8EA-DB8C04999209}"/>
              </a:ext>
            </a:extLst>
          </p:cNvPr>
          <p:cNvPicPr>
            <a:picLocks noChangeAspect="1"/>
          </p:cNvPicPr>
          <p:nvPr/>
        </p:nvPicPr>
        <p:blipFill>
          <a:blip r:embed="rId8"/>
          <a:stretch>
            <a:fillRect/>
          </a:stretch>
        </p:blipFill>
        <p:spPr>
          <a:xfrm>
            <a:off x="5755640" y="4360332"/>
            <a:ext cx="2860358" cy="400050"/>
          </a:xfrm>
          <a:prstGeom prst="rect">
            <a:avLst/>
          </a:prstGeom>
        </p:spPr>
      </p:pic>
      <p:pic>
        <p:nvPicPr>
          <p:cNvPr id="34" name="Picture 33">
            <a:extLst>
              <a:ext uri="{FF2B5EF4-FFF2-40B4-BE49-F238E27FC236}">
                <a16:creationId xmlns:a16="http://schemas.microsoft.com/office/drawing/2014/main" id="{E86F7395-CE1C-C499-34B6-99D1AE0BF954}"/>
              </a:ext>
            </a:extLst>
          </p:cNvPr>
          <p:cNvPicPr>
            <a:picLocks noChangeAspect="1"/>
          </p:cNvPicPr>
          <p:nvPr/>
        </p:nvPicPr>
        <p:blipFill>
          <a:blip r:embed="rId9"/>
          <a:stretch>
            <a:fillRect/>
          </a:stretch>
        </p:blipFill>
        <p:spPr>
          <a:xfrm>
            <a:off x="5755640" y="5291664"/>
            <a:ext cx="2880360" cy="400050"/>
          </a:xfrm>
          <a:prstGeom prst="rect">
            <a:avLst/>
          </a:prstGeom>
        </p:spPr>
      </p:pic>
      <p:sp>
        <p:nvSpPr>
          <p:cNvPr id="35" name="Rectangle 34">
            <a:extLst>
              <a:ext uri="{FF2B5EF4-FFF2-40B4-BE49-F238E27FC236}">
                <a16:creationId xmlns:a16="http://schemas.microsoft.com/office/drawing/2014/main" id="{AB9C29F9-32DB-4E74-B6B3-3B2FFF4B517D}"/>
              </a:ext>
            </a:extLst>
          </p:cNvPr>
          <p:cNvSpPr/>
          <p:nvPr/>
        </p:nvSpPr>
        <p:spPr>
          <a:xfrm>
            <a:off x="7099934" y="4551043"/>
            <a:ext cx="1536065" cy="20933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A9D05C9-2FED-30E2-B33F-C076F96C70E9}"/>
              </a:ext>
            </a:extLst>
          </p:cNvPr>
          <p:cNvSpPr/>
          <p:nvPr/>
        </p:nvSpPr>
        <p:spPr>
          <a:xfrm>
            <a:off x="7099933" y="5481318"/>
            <a:ext cx="1536065" cy="20933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474E84B-D7F3-D948-3869-ABF9A54EB36F}"/>
              </a:ext>
            </a:extLst>
          </p:cNvPr>
          <p:cNvSpPr/>
          <p:nvPr/>
        </p:nvSpPr>
        <p:spPr>
          <a:xfrm>
            <a:off x="6693535" y="4320327"/>
            <a:ext cx="631825" cy="22935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08B4963-9E63-B56B-A490-43A530E1E001}"/>
              </a:ext>
            </a:extLst>
          </p:cNvPr>
          <p:cNvSpPr/>
          <p:nvPr/>
        </p:nvSpPr>
        <p:spPr>
          <a:xfrm>
            <a:off x="6693535" y="5251496"/>
            <a:ext cx="631825" cy="22935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0E0EA2F0-30D9-C681-2D38-01E08AEBADE0}"/>
              </a:ext>
            </a:extLst>
          </p:cNvPr>
          <p:cNvSpPr txBox="1"/>
          <p:nvPr/>
        </p:nvSpPr>
        <p:spPr>
          <a:xfrm>
            <a:off x="8874634" y="4768846"/>
            <a:ext cx="3181064" cy="369332"/>
          </a:xfrm>
          <a:prstGeom prst="rect">
            <a:avLst/>
          </a:prstGeom>
          <a:noFill/>
        </p:spPr>
        <p:txBody>
          <a:bodyPr wrap="none" rtlCol="0">
            <a:spAutoFit/>
          </a:bodyPr>
          <a:lstStyle/>
          <a:p>
            <a:r>
              <a:rPr lang="en-US" dirty="0"/>
              <a:t>Two different physical machines</a:t>
            </a:r>
          </a:p>
        </p:txBody>
      </p:sp>
    </p:spTree>
    <p:extLst>
      <p:ext uri="{BB962C8B-B14F-4D97-AF65-F5344CB8AC3E}">
        <p14:creationId xmlns:p14="http://schemas.microsoft.com/office/powerpoint/2010/main" val="18827742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3EF0-0DF0-DC04-8F2B-FB9D13D0E16D}"/>
              </a:ext>
            </a:extLst>
          </p:cNvPr>
          <p:cNvSpPr>
            <a:spLocks noGrp="1"/>
          </p:cNvSpPr>
          <p:nvPr>
            <p:ph type="title"/>
          </p:nvPr>
        </p:nvSpPr>
        <p:spPr/>
        <p:txBody>
          <a:bodyPr/>
          <a:lstStyle/>
          <a:p>
            <a:r>
              <a:rPr lang="en-US" dirty="0"/>
              <a:t>Where is a variable in memory?</a:t>
            </a:r>
          </a:p>
        </p:txBody>
      </p:sp>
      <p:sp>
        <p:nvSpPr>
          <p:cNvPr id="6" name="TextBox 5">
            <a:extLst>
              <a:ext uri="{FF2B5EF4-FFF2-40B4-BE49-F238E27FC236}">
                <a16:creationId xmlns:a16="http://schemas.microsoft.com/office/drawing/2014/main" id="{93EF06AF-0F21-C07F-72E1-CA388232D1CF}"/>
              </a:ext>
            </a:extLst>
          </p:cNvPr>
          <p:cNvSpPr txBox="1"/>
          <p:nvPr/>
        </p:nvSpPr>
        <p:spPr>
          <a:xfrm>
            <a:off x="916998" y="1818275"/>
            <a:ext cx="6949440" cy="156966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 = </a:t>
            </a:r>
            <a:r>
              <a:rPr lang="en-US" sz="1600" dirty="0">
                <a:solidFill>
                  <a:srgbClr val="B42419"/>
                </a:solidFill>
                <a:effectLst/>
                <a:latin typeface="Menlo" panose="020B0609030804020204" pitchFamily="49" charset="0"/>
              </a:rPr>
              <a:t>10</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b = </a:t>
            </a:r>
            <a:r>
              <a:rPr lang="en-US" sz="1600" dirty="0">
                <a:solidFill>
                  <a:srgbClr val="B42419"/>
                </a:solidFill>
                <a:effectLst/>
                <a:latin typeface="Menlo" panose="020B0609030804020204" pitchFamily="49" charset="0"/>
              </a:rPr>
              <a:t>20</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c = a + b;</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"a's value: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a's address: </a:t>
            </a:r>
            <a:r>
              <a:rPr lang="en-US" sz="1600" dirty="0">
                <a:solidFill>
                  <a:srgbClr val="C814C9"/>
                </a:solidFill>
                <a:effectLst/>
                <a:latin typeface="Menlo" panose="020B0609030804020204" pitchFamily="49" charset="0"/>
              </a:rPr>
              <a:t>%p\n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 &amp;a);</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"b's value: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b's address: </a:t>
            </a:r>
            <a:r>
              <a:rPr lang="en-US" sz="1600" dirty="0">
                <a:solidFill>
                  <a:srgbClr val="C814C9"/>
                </a:solidFill>
                <a:effectLst/>
                <a:latin typeface="Menlo" panose="020B0609030804020204" pitchFamily="49" charset="0"/>
              </a:rPr>
              <a:t>%p\n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b, &amp;b);</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"c's value: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c's address: </a:t>
            </a:r>
            <a:r>
              <a:rPr lang="en-US" sz="1600" dirty="0">
                <a:solidFill>
                  <a:srgbClr val="C814C9"/>
                </a:solidFill>
                <a:effectLst/>
                <a:latin typeface="Menlo" panose="020B0609030804020204" pitchFamily="49" charset="0"/>
              </a:rPr>
              <a:t>%p\n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c, &amp;c);</a:t>
            </a:r>
            <a:endParaRPr lang="en-US" sz="1600" dirty="0">
              <a:solidFill>
                <a:srgbClr val="B42419"/>
              </a:solidFill>
              <a:effectLst/>
              <a:latin typeface="Menlo" panose="020B0609030804020204" pitchFamily="49" charset="0"/>
            </a:endParaRPr>
          </a:p>
        </p:txBody>
      </p:sp>
      <p:pic>
        <p:nvPicPr>
          <p:cNvPr id="7" name="Picture 6">
            <a:extLst>
              <a:ext uri="{FF2B5EF4-FFF2-40B4-BE49-F238E27FC236}">
                <a16:creationId xmlns:a16="http://schemas.microsoft.com/office/drawing/2014/main" id="{4C7EEAAE-0009-6ECC-B5F3-1C03047ECBF5}"/>
              </a:ext>
            </a:extLst>
          </p:cNvPr>
          <p:cNvPicPr>
            <a:picLocks noChangeAspect="1"/>
          </p:cNvPicPr>
          <p:nvPr/>
        </p:nvPicPr>
        <p:blipFill>
          <a:blip r:embed="rId2"/>
          <a:stretch>
            <a:fillRect/>
          </a:stretch>
        </p:blipFill>
        <p:spPr>
          <a:xfrm>
            <a:off x="924560" y="3865427"/>
            <a:ext cx="5019040" cy="1008790"/>
          </a:xfrm>
          <a:prstGeom prst="rect">
            <a:avLst/>
          </a:prstGeom>
          <a:ln>
            <a:solidFill>
              <a:schemeClr val="tx1"/>
            </a:solidFill>
          </a:ln>
          <a:effectLst>
            <a:outerShdw blurRad="50800" dist="38100" dir="2700000" algn="tl" rotWithShape="0">
              <a:prstClr val="black">
                <a:alpha val="40000"/>
              </a:prstClr>
            </a:outerShdw>
          </a:effectLst>
        </p:spPr>
      </p:pic>
      <p:sp>
        <p:nvSpPr>
          <p:cNvPr id="8" name="TextBox 7">
            <a:extLst>
              <a:ext uri="{FF2B5EF4-FFF2-40B4-BE49-F238E27FC236}">
                <a16:creationId xmlns:a16="http://schemas.microsoft.com/office/drawing/2014/main" id="{877BEBD2-2C98-5B6A-4417-C3BCA3337A44}"/>
              </a:ext>
            </a:extLst>
          </p:cNvPr>
          <p:cNvSpPr txBox="1"/>
          <p:nvPr/>
        </p:nvSpPr>
        <p:spPr>
          <a:xfrm>
            <a:off x="3909508" y="5196147"/>
            <a:ext cx="3075714" cy="400110"/>
          </a:xfrm>
          <a:prstGeom prst="rect">
            <a:avLst/>
          </a:prstGeom>
          <a:noFill/>
        </p:spPr>
        <p:txBody>
          <a:bodyPr wrap="none" rtlCol="0">
            <a:spAutoFit/>
          </a:bodyPr>
          <a:lstStyle/>
          <a:p>
            <a:r>
              <a:rPr lang="en-US" sz="2000" dirty="0"/>
              <a:t>Addresses of variable a, b, c</a:t>
            </a:r>
          </a:p>
        </p:txBody>
      </p:sp>
      <p:grpSp>
        <p:nvGrpSpPr>
          <p:cNvPr id="9" name="Group 8">
            <a:extLst>
              <a:ext uri="{FF2B5EF4-FFF2-40B4-BE49-F238E27FC236}">
                <a16:creationId xmlns:a16="http://schemas.microsoft.com/office/drawing/2014/main" id="{04D268FE-E174-E117-FE8D-16F871CB82E9}"/>
              </a:ext>
            </a:extLst>
          </p:cNvPr>
          <p:cNvGrpSpPr/>
          <p:nvPr/>
        </p:nvGrpSpPr>
        <p:grpSpPr>
          <a:xfrm>
            <a:off x="7221801" y="4217477"/>
            <a:ext cx="896130" cy="2361188"/>
            <a:chOff x="7211641" y="2964924"/>
            <a:chExt cx="896130" cy="2361188"/>
          </a:xfrm>
        </p:grpSpPr>
        <p:sp>
          <p:nvSpPr>
            <p:cNvPr id="10" name="Rectangle 9">
              <a:extLst>
                <a:ext uri="{FF2B5EF4-FFF2-40B4-BE49-F238E27FC236}">
                  <a16:creationId xmlns:a16="http://schemas.microsoft.com/office/drawing/2014/main" id="{440DCFA5-7FBB-80A1-1576-2FC7C5B61B2E}"/>
                </a:ext>
              </a:extLst>
            </p:cNvPr>
            <p:cNvSpPr/>
            <p:nvPr/>
          </p:nvSpPr>
          <p:spPr>
            <a:xfrm>
              <a:off x="7211641" y="2964924"/>
              <a:ext cx="896130" cy="23611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3DCEC94A-5F1D-4E9A-5EF7-18EE649783A6}"/>
                </a:ext>
              </a:extLst>
            </p:cNvPr>
            <p:cNvSpPr txBox="1"/>
            <p:nvPr/>
          </p:nvSpPr>
          <p:spPr>
            <a:xfrm rot="5400000">
              <a:off x="7460773" y="4603807"/>
              <a:ext cx="397866" cy="461665"/>
            </a:xfrm>
            <a:prstGeom prst="rect">
              <a:avLst/>
            </a:prstGeom>
            <a:noFill/>
          </p:spPr>
          <p:txBody>
            <a:bodyPr wrap="none" rtlCol="0">
              <a:spAutoFit/>
            </a:bodyPr>
            <a:lstStyle/>
            <a:p>
              <a:r>
                <a:rPr lang="en-US" sz="2400" dirty="0"/>
                <a:t>…</a:t>
              </a:r>
            </a:p>
          </p:txBody>
        </p:sp>
        <p:sp>
          <p:nvSpPr>
            <p:cNvPr id="12" name="TextBox 11">
              <a:extLst>
                <a:ext uri="{FF2B5EF4-FFF2-40B4-BE49-F238E27FC236}">
                  <a16:creationId xmlns:a16="http://schemas.microsoft.com/office/drawing/2014/main" id="{952D4E85-42BB-2016-DFA8-7786BCA1DF1B}"/>
                </a:ext>
              </a:extLst>
            </p:cNvPr>
            <p:cNvSpPr txBox="1"/>
            <p:nvPr/>
          </p:nvSpPr>
          <p:spPr>
            <a:xfrm rot="5400000">
              <a:off x="7464004" y="2990901"/>
              <a:ext cx="397866" cy="461665"/>
            </a:xfrm>
            <a:prstGeom prst="rect">
              <a:avLst/>
            </a:prstGeom>
            <a:noFill/>
          </p:spPr>
          <p:txBody>
            <a:bodyPr wrap="none" rtlCol="0">
              <a:spAutoFit/>
            </a:bodyPr>
            <a:lstStyle/>
            <a:p>
              <a:r>
                <a:rPr lang="en-US" sz="2400" dirty="0"/>
                <a:t>…</a:t>
              </a:r>
            </a:p>
          </p:txBody>
        </p:sp>
      </p:grpSp>
      <p:sp>
        <p:nvSpPr>
          <p:cNvPr id="13" name="Rectangle 12">
            <a:extLst>
              <a:ext uri="{FF2B5EF4-FFF2-40B4-BE49-F238E27FC236}">
                <a16:creationId xmlns:a16="http://schemas.microsoft.com/office/drawing/2014/main" id="{25F95B45-1A9E-A2E2-888E-CE42AD72EFF9}"/>
              </a:ext>
            </a:extLst>
          </p:cNvPr>
          <p:cNvSpPr/>
          <p:nvPr/>
        </p:nvSpPr>
        <p:spPr>
          <a:xfrm>
            <a:off x="7221802" y="4726153"/>
            <a:ext cx="896129" cy="2480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10</a:t>
            </a:r>
          </a:p>
        </p:txBody>
      </p:sp>
      <p:sp>
        <p:nvSpPr>
          <p:cNvPr id="14" name="Rectangle 13">
            <a:extLst>
              <a:ext uri="{FF2B5EF4-FFF2-40B4-BE49-F238E27FC236}">
                <a16:creationId xmlns:a16="http://schemas.microsoft.com/office/drawing/2014/main" id="{082791BB-348B-78C6-1EF6-A8C201CEDA7E}"/>
              </a:ext>
            </a:extLst>
          </p:cNvPr>
          <p:cNvSpPr/>
          <p:nvPr/>
        </p:nvSpPr>
        <p:spPr>
          <a:xfrm>
            <a:off x="7221802" y="4968937"/>
            <a:ext cx="896129" cy="2480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20</a:t>
            </a:r>
          </a:p>
        </p:txBody>
      </p:sp>
      <p:sp>
        <p:nvSpPr>
          <p:cNvPr id="15" name="Rectangle 14">
            <a:extLst>
              <a:ext uri="{FF2B5EF4-FFF2-40B4-BE49-F238E27FC236}">
                <a16:creationId xmlns:a16="http://schemas.microsoft.com/office/drawing/2014/main" id="{9ADC578B-1E58-C38F-185F-43A825F46BF8}"/>
              </a:ext>
            </a:extLst>
          </p:cNvPr>
          <p:cNvSpPr/>
          <p:nvPr/>
        </p:nvSpPr>
        <p:spPr>
          <a:xfrm>
            <a:off x="7221802" y="5217507"/>
            <a:ext cx="896129" cy="2480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30</a:t>
            </a:r>
          </a:p>
        </p:txBody>
      </p:sp>
      <p:sp>
        <p:nvSpPr>
          <p:cNvPr id="17" name="TextBox 16">
            <a:extLst>
              <a:ext uri="{FF2B5EF4-FFF2-40B4-BE49-F238E27FC236}">
                <a16:creationId xmlns:a16="http://schemas.microsoft.com/office/drawing/2014/main" id="{0FFD4642-E347-CCEB-46BC-5FA56BCE1650}"/>
              </a:ext>
            </a:extLst>
          </p:cNvPr>
          <p:cNvSpPr txBox="1"/>
          <p:nvPr/>
        </p:nvSpPr>
        <p:spPr>
          <a:xfrm>
            <a:off x="6803442" y="3718806"/>
            <a:ext cx="1732847" cy="400110"/>
          </a:xfrm>
          <a:prstGeom prst="rect">
            <a:avLst/>
          </a:prstGeom>
          <a:noFill/>
        </p:spPr>
        <p:txBody>
          <a:bodyPr wrap="none" rtlCol="0">
            <a:spAutoFit/>
          </a:bodyPr>
          <a:lstStyle/>
          <a:p>
            <a:r>
              <a:rPr lang="en-US" sz="2000" dirty="0"/>
              <a:t>Memory space</a:t>
            </a:r>
          </a:p>
        </p:txBody>
      </p:sp>
      <p:sp>
        <p:nvSpPr>
          <p:cNvPr id="18" name="TextBox 17">
            <a:extLst>
              <a:ext uri="{FF2B5EF4-FFF2-40B4-BE49-F238E27FC236}">
                <a16:creationId xmlns:a16="http://schemas.microsoft.com/office/drawing/2014/main" id="{7A13FA3A-4A63-CFA9-8CDF-6FA03329C2E2}"/>
              </a:ext>
            </a:extLst>
          </p:cNvPr>
          <p:cNvSpPr txBox="1"/>
          <p:nvPr/>
        </p:nvSpPr>
        <p:spPr>
          <a:xfrm>
            <a:off x="8209280" y="6286126"/>
            <a:ext cx="2422843" cy="400110"/>
          </a:xfrm>
          <a:prstGeom prst="rect">
            <a:avLst/>
          </a:prstGeom>
          <a:noFill/>
        </p:spPr>
        <p:txBody>
          <a:bodyPr wrap="none" rtlCol="0">
            <a:spAutoFit/>
          </a:bodyPr>
          <a:lstStyle/>
          <a:p>
            <a:r>
              <a:rPr lang="en-US" sz="2000" dirty="0"/>
              <a:t>Low address (</a:t>
            </a:r>
            <a:r>
              <a:rPr lang="en-US" sz="1600" dirty="0">
                <a:latin typeface="Menlo" panose="020B0609030804020204" pitchFamily="49" charset="0"/>
                <a:ea typeface="Menlo" panose="020B0609030804020204" pitchFamily="49" charset="0"/>
                <a:cs typeface="Menlo" panose="020B0609030804020204" pitchFamily="49" charset="0"/>
              </a:rPr>
              <a:t>000…00</a:t>
            </a:r>
            <a:r>
              <a:rPr lang="en-US" sz="2000" dirty="0"/>
              <a:t>)</a:t>
            </a:r>
          </a:p>
        </p:txBody>
      </p:sp>
      <p:sp>
        <p:nvSpPr>
          <p:cNvPr id="19" name="TextBox 18">
            <a:extLst>
              <a:ext uri="{FF2B5EF4-FFF2-40B4-BE49-F238E27FC236}">
                <a16:creationId xmlns:a16="http://schemas.microsoft.com/office/drawing/2014/main" id="{401C7170-8069-6A3B-005E-3FCE8463C23E}"/>
              </a:ext>
            </a:extLst>
          </p:cNvPr>
          <p:cNvSpPr txBox="1"/>
          <p:nvPr/>
        </p:nvSpPr>
        <p:spPr>
          <a:xfrm>
            <a:off x="8209280" y="4032811"/>
            <a:ext cx="2473562" cy="400110"/>
          </a:xfrm>
          <a:prstGeom prst="rect">
            <a:avLst/>
          </a:prstGeom>
          <a:noFill/>
        </p:spPr>
        <p:txBody>
          <a:bodyPr wrap="none" rtlCol="0">
            <a:spAutoFit/>
          </a:bodyPr>
          <a:lstStyle/>
          <a:p>
            <a:r>
              <a:rPr lang="en-US" sz="2000" dirty="0"/>
              <a:t>High address (</a:t>
            </a:r>
            <a:r>
              <a:rPr lang="en-US" sz="1600" dirty="0" err="1">
                <a:latin typeface="Menlo" panose="020B0609030804020204" pitchFamily="49" charset="0"/>
                <a:ea typeface="Menlo" panose="020B0609030804020204" pitchFamily="49" charset="0"/>
                <a:cs typeface="Menlo" panose="020B0609030804020204" pitchFamily="49" charset="0"/>
              </a:rPr>
              <a:t>fff</a:t>
            </a:r>
            <a:r>
              <a:rPr lang="en-US" sz="1600" dirty="0">
                <a:latin typeface="Menlo" panose="020B0609030804020204" pitchFamily="49" charset="0"/>
                <a:ea typeface="Menlo" panose="020B0609030804020204" pitchFamily="49" charset="0"/>
                <a:cs typeface="Menlo" panose="020B0609030804020204" pitchFamily="49" charset="0"/>
              </a:rPr>
              <a:t>…ff</a:t>
            </a:r>
            <a:r>
              <a:rPr lang="en-US" sz="2000" dirty="0"/>
              <a:t>)</a:t>
            </a:r>
          </a:p>
        </p:txBody>
      </p:sp>
      <p:cxnSp>
        <p:nvCxnSpPr>
          <p:cNvPr id="20" name="Straight Arrow Connector 19">
            <a:extLst>
              <a:ext uri="{FF2B5EF4-FFF2-40B4-BE49-F238E27FC236}">
                <a16:creationId xmlns:a16="http://schemas.microsoft.com/office/drawing/2014/main" id="{7D0AF64C-F84A-D22B-5E7E-4617D772B863}"/>
              </a:ext>
            </a:extLst>
          </p:cNvPr>
          <p:cNvCxnSpPr>
            <a:cxnSpLocks/>
            <a:endCxn id="13" idx="1"/>
          </p:cNvCxnSpPr>
          <p:nvPr/>
        </p:nvCxnSpPr>
        <p:spPr>
          <a:xfrm>
            <a:off x="5856716" y="4211400"/>
            <a:ext cx="1365086" cy="638774"/>
          </a:xfrm>
          <a:prstGeom prst="straightConnector1">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D784BA61-BC21-A962-3690-D5D6974520FF}"/>
              </a:ext>
            </a:extLst>
          </p:cNvPr>
          <p:cNvCxnSpPr>
            <a:cxnSpLocks/>
            <a:endCxn id="14" idx="1"/>
          </p:cNvCxnSpPr>
          <p:nvPr/>
        </p:nvCxnSpPr>
        <p:spPr>
          <a:xfrm>
            <a:off x="5856716" y="4477583"/>
            <a:ext cx="1365086" cy="615375"/>
          </a:xfrm>
          <a:prstGeom prst="straightConnector1">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C28B3465-FB15-146F-A043-216A338768E9}"/>
              </a:ext>
            </a:extLst>
          </p:cNvPr>
          <p:cNvCxnSpPr>
            <a:cxnSpLocks/>
            <a:endCxn id="15" idx="1"/>
          </p:cNvCxnSpPr>
          <p:nvPr/>
        </p:nvCxnSpPr>
        <p:spPr>
          <a:xfrm>
            <a:off x="5856716" y="4726153"/>
            <a:ext cx="1365086" cy="615375"/>
          </a:xfrm>
          <a:prstGeom prst="straightConnector1">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E948BECC-D891-9266-C87C-30A6B0303446}"/>
              </a:ext>
            </a:extLst>
          </p:cNvPr>
          <p:cNvSpPr txBox="1"/>
          <p:nvPr/>
        </p:nvSpPr>
        <p:spPr>
          <a:xfrm>
            <a:off x="924560" y="6178555"/>
            <a:ext cx="4893647" cy="461665"/>
          </a:xfrm>
          <a:prstGeom prst="rect">
            <a:avLst/>
          </a:prstGeom>
          <a:noFill/>
        </p:spPr>
        <p:txBody>
          <a:bodyPr wrap="none" rtlCol="0">
            <a:spAutoFit/>
          </a:bodyPr>
          <a:lstStyle/>
          <a:p>
            <a:r>
              <a:rPr lang="en-US" sz="2400" i="1" dirty="0"/>
              <a:t>Why do the addresses with gaps of 4?</a:t>
            </a:r>
          </a:p>
        </p:txBody>
      </p:sp>
      <p:sp>
        <p:nvSpPr>
          <p:cNvPr id="35" name="TextBox 34">
            <a:extLst>
              <a:ext uri="{FF2B5EF4-FFF2-40B4-BE49-F238E27FC236}">
                <a16:creationId xmlns:a16="http://schemas.microsoft.com/office/drawing/2014/main" id="{1B9CFCE9-8725-275B-C5F6-D67AC8B4DE56}"/>
              </a:ext>
            </a:extLst>
          </p:cNvPr>
          <p:cNvSpPr txBox="1"/>
          <p:nvPr/>
        </p:nvSpPr>
        <p:spPr>
          <a:xfrm>
            <a:off x="838200" y="1191202"/>
            <a:ext cx="3874266" cy="461665"/>
          </a:xfrm>
          <a:prstGeom prst="rect">
            <a:avLst/>
          </a:prstGeom>
          <a:noFill/>
        </p:spPr>
        <p:txBody>
          <a:bodyPr wrap="none" rtlCol="0">
            <a:spAutoFit/>
          </a:bodyPr>
          <a:lstStyle/>
          <a:p>
            <a:r>
              <a:rPr lang="en-US" sz="2000" dirty="0">
                <a:latin typeface="Menlo" panose="020B0609030804020204" pitchFamily="49" charset="0"/>
                <a:ea typeface="Menlo" panose="020B0609030804020204" pitchFamily="49" charset="0"/>
                <a:cs typeface="Menlo" panose="020B0609030804020204" pitchFamily="49" charset="0"/>
              </a:rPr>
              <a:t>&amp;x</a:t>
            </a:r>
            <a:r>
              <a:rPr lang="en-US" sz="2400" dirty="0"/>
              <a:t> is the address of variable </a:t>
            </a:r>
            <a:r>
              <a:rPr lang="en-US" sz="2000" dirty="0">
                <a:latin typeface="Menlo" panose="020B0609030804020204" pitchFamily="49" charset="0"/>
                <a:ea typeface="Menlo" panose="020B0609030804020204" pitchFamily="49" charset="0"/>
                <a:cs typeface="Menlo" panose="020B0609030804020204" pitchFamily="49" charset="0"/>
              </a:rPr>
              <a:t>x</a:t>
            </a:r>
            <a:endParaRPr lang="en-US" sz="2400" dirty="0"/>
          </a:p>
        </p:txBody>
      </p:sp>
    </p:spTree>
    <p:extLst>
      <p:ext uri="{BB962C8B-B14F-4D97-AF65-F5344CB8AC3E}">
        <p14:creationId xmlns:p14="http://schemas.microsoft.com/office/powerpoint/2010/main" val="1152738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44265-1CCB-FC77-C103-22A4E8025E5F}"/>
              </a:ext>
            </a:extLst>
          </p:cNvPr>
          <p:cNvSpPr>
            <a:spLocks noGrp="1"/>
          </p:cNvSpPr>
          <p:nvPr>
            <p:ph type="title"/>
          </p:nvPr>
        </p:nvSpPr>
        <p:spPr/>
        <p:txBody>
          <a:bodyPr/>
          <a:lstStyle/>
          <a:p>
            <a:r>
              <a:rPr lang="en-US" dirty="0"/>
              <a:t>Call Stack Example</a:t>
            </a:r>
          </a:p>
        </p:txBody>
      </p:sp>
      <p:sp>
        <p:nvSpPr>
          <p:cNvPr id="4" name="TextBox 3">
            <a:extLst>
              <a:ext uri="{FF2B5EF4-FFF2-40B4-BE49-F238E27FC236}">
                <a16:creationId xmlns:a16="http://schemas.microsoft.com/office/drawing/2014/main" id="{E7C325AB-D712-891C-0B11-63FA8370D794}"/>
              </a:ext>
            </a:extLst>
          </p:cNvPr>
          <p:cNvSpPr txBox="1"/>
          <p:nvPr/>
        </p:nvSpPr>
        <p:spPr>
          <a:xfrm>
            <a:off x="462463" y="1505394"/>
            <a:ext cx="5633538" cy="3785652"/>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stdio.h</a:t>
            </a:r>
            <a:r>
              <a:rPr lang="en-US" sz="1600" dirty="0">
                <a:solidFill>
                  <a:srgbClr val="B42419"/>
                </a:solidFill>
                <a:effectLst/>
                <a:latin typeface="Menlo" panose="020B0609030804020204" pitchFamily="49" charset="0"/>
              </a:rPr>
              <a:t>&gt;</a:t>
            </a:r>
            <a:br>
              <a:rPr lang="en-US" sz="1600" dirty="0">
                <a:solidFill>
                  <a:srgbClr val="000000"/>
                </a:solidFill>
                <a:effectLst/>
                <a:latin typeface="Menlo" panose="020B0609030804020204" pitchFamily="49" charset="0"/>
              </a:rPr>
            </a:br>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void</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swapB</a:t>
            </a:r>
            <a:r>
              <a:rPr lang="en-US" sz="1600" dirty="0">
                <a:solidFill>
                  <a:srgbClr val="000000"/>
                </a:solidFill>
                <a:effectLst/>
                <a:latin typeface="Menlo" panose="020B0609030804020204" pitchFamily="49" charset="0"/>
              </a:rPr>
              <a:t>(</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x,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y)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tmp</a:t>
            </a:r>
            <a:r>
              <a:rPr lang="en-US" sz="1600" dirty="0">
                <a:solidFill>
                  <a:srgbClr val="000000"/>
                </a:solidFill>
                <a:effectLst/>
                <a:latin typeface="Menlo" panose="020B0609030804020204" pitchFamily="49" charset="0"/>
              </a:rPr>
              <a:t> = *x;</a:t>
            </a:r>
          </a:p>
          <a:p>
            <a:r>
              <a:rPr lang="en-US" sz="1600" dirty="0">
                <a:solidFill>
                  <a:srgbClr val="000000"/>
                </a:solidFill>
                <a:effectLst/>
                <a:latin typeface="Menlo" panose="020B0609030804020204" pitchFamily="49" charset="0"/>
              </a:rPr>
              <a:t>  *x=*y; *y = </a:t>
            </a:r>
            <a:r>
              <a:rPr lang="en-US" sz="1600" dirty="0" err="1">
                <a:solidFill>
                  <a:srgbClr val="000000"/>
                </a:solidFill>
                <a:effectLst/>
                <a:latin typeface="Menlo" panose="020B0609030804020204" pitchFamily="49" charset="0"/>
              </a:rPr>
              <a:t>tmp</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"in </a:t>
            </a:r>
            <a:r>
              <a:rPr lang="en-US" sz="1600" dirty="0" err="1">
                <a:solidFill>
                  <a:srgbClr val="B42419"/>
                </a:solidFill>
                <a:effectLst/>
                <a:latin typeface="Menlo" panose="020B0609030804020204" pitchFamily="49" charset="0"/>
              </a:rPr>
              <a:t>swapB</a:t>
            </a:r>
            <a:r>
              <a:rPr lang="en-US" sz="1600" dirty="0">
                <a:solidFill>
                  <a:srgbClr val="B42419"/>
                </a:solidFill>
                <a:effectLst/>
                <a:latin typeface="Menlo" panose="020B0609030804020204" pitchFamily="49" charset="0"/>
              </a:rPr>
              <a:t>: *x =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*y = </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t>
            </a:r>
          </a:p>
          <a:p>
            <a:r>
              <a:rPr lang="en-US" sz="1600" dirty="0">
                <a:solidFill>
                  <a:srgbClr val="000000"/>
                </a:solidFill>
                <a:latin typeface="Menlo" panose="020B0609030804020204" pitchFamily="49" charset="0"/>
              </a:rPr>
              <a:t>	</a:t>
            </a:r>
            <a:r>
              <a:rPr lang="en-US" sz="1600" dirty="0">
                <a:solidFill>
                  <a:srgbClr val="000000"/>
                </a:solidFill>
                <a:effectLst/>
                <a:latin typeface="Menlo" panose="020B0609030804020204" pitchFamily="49" charset="0"/>
              </a:rPr>
              <a:t>*x, *y);</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br>
              <a:rPr lang="en-US" sz="1600" dirty="0">
                <a:solidFill>
                  <a:srgbClr val="000000"/>
                </a:solidFill>
                <a:effectLst/>
                <a:latin typeface="Menlo" panose="020B0609030804020204" pitchFamily="49" charset="0"/>
              </a:rPr>
            </a:br>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main()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 = </a:t>
            </a:r>
            <a:r>
              <a:rPr lang="en-US" sz="1600" dirty="0">
                <a:solidFill>
                  <a:srgbClr val="B42419"/>
                </a:solidFill>
                <a:effectLst/>
                <a:latin typeface="Menlo" panose="020B0609030804020204" pitchFamily="49" charset="0"/>
              </a:rPr>
              <a:t>7</a:t>
            </a:r>
            <a:r>
              <a:rPr lang="en-US" sz="1600" dirty="0">
                <a:solidFill>
                  <a:srgbClr val="000000"/>
                </a:solidFill>
                <a:effectLst/>
                <a:latin typeface="Menlo" panose="020B0609030804020204" pitchFamily="49" charset="0"/>
              </a:rPr>
              <a:t>, b = </a:t>
            </a:r>
            <a:r>
              <a:rPr lang="en-US" sz="1600" dirty="0">
                <a:solidFill>
                  <a:srgbClr val="B42419"/>
                </a:solidFill>
                <a:effectLst/>
                <a:latin typeface="Menlo" panose="020B0609030804020204" pitchFamily="49" charset="0"/>
              </a:rPr>
              <a:t>13</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swapB</a:t>
            </a:r>
            <a:r>
              <a:rPr lang="en-US" sz="1600" dirty="0">
                <a:solidFill>
                  <a:srgbClr val="000000"/>
                </a:solidFill>
                <a:effectLst/>
                <a:latin typeface="Menlo" panose="020B0609030804020204" pitchFamily="49" charset="0"/>
              </a:rPr>
              <a:t>(&amp;a, &amp;b);</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"in main: a =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b = </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 b);</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0</a:t>
            </a:r>
            <a:r>
              <a:rPr lang="en-US" sz="1600" dirty="0">
                <a:solidFill>
                  <a:srgbClr val="000000"/>
                </a:solidFill>
                <a:effectLst/>
                <a:latin typeface="Menlo" panose="020B0609030804020204" pitchFamily="49" charset="0"/>
              </a:rPr>
              <a:t>;</a:t>
            </a:r>
            <a:endParaRPr lang="en-US" sz="1600" dirty="0">
              <a:solidFill>
                <a:srgbClr val="C1651C"/>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p>
        </p:txBody>
      </p:sp>
      <p:grpSp>
        <p:nvGrpSpPr>
          <p:cNvPr id="10" name="Group 9">
            <a:extLst>
              <a:ext uri="{FF2B5EF4-FFF2-40B4-BE49-F238E27FC236}">
                <a16:creationId xmlns:a16="http://schemas.microsoft.com/office/drawing/2014/main" id="{8D62CD2A-D5B9-2D3C-BBB3-F84A32C60461}"/>
              </a:ext>
            </a:extLst>
          </p:cNvPr>
          <p:cNvGrpSpPr/>
          <p:nvPr/>
        </p:nvGrpSpPr>
        <p:grpSpPr>
          <a:xfrm>
            <a:off x="7750645" y="2004065"/>
            <a:ext cx="896130" cy="4488810"/>
            <a:chOff x="7211641" y="2964924"/>
            <a:chExt cx="896130" cy="2033799"/>
          </a:xfrm>
        </p:grpSpPr>
        <p:sp>
          <p:nvSpPr>
            <p:cNvPr id="11" name="Rectangle 10">
              <a:extLst>
                <a:ext uri="{FF2B5EF4-FFF2-40B4-BE49-F238E27FC236}">
                  <a16:creationId xmlns:a16="http://schemas.microsoft.com/office/drawing/2014/main" id="{124DAF54-3A1E-6566-12E3-5221FFEFA3E4}"/>
                </a:ext>
              </a:extLst>
            </p:cNvPr>
            <p:cNvSpPr/>
            <p:nvPr/>
          </p:nvSpPr>
          <p:spPr>
            <a:xfrm>
              <a:off x="7211641" y="2964924"/>
              <a:ext cx="896130" cy="20337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11736A46-8C16-9646-67FC-7C2B2332AAA0}"/>
                </a:ext>
              </a:extLst>
            </p:cNvPr>
            <p:cNvSpPr txBox="1"/>
            <p:nvPr/>
          </p:nvSpPr>
          <p:spPr>
            <a:xfrm rot="5400000">
              <a:off x="7536617" y="4510399"/>
              <a:ext cx="246177" cy="461665"/>
            </a:xfrm>
            <a:prstGeom prst="rect">
              <a:avLst/>
            </a:prstGeom>
            <a:noFill/>
          </p:spPr>
          <p:txBody>
            <a:bodyPr wrap="none" rtlCol="0">
              <a:spAutoFit/>
            </a:bodyPr>
            <a:lstStyle/>
            <a:p>
              <a:pPr algn="ctr"/>
              <a:r>
                <a:rPr lang="en-US" sz="2400" dirty="0"/>
                <a:t>…</a:t>
              </a:r>
            </a:p>
          </p:txBody>
        </p:sp>
        <p:sp>
          <p:nvSpPr>
            <p:cNvPr id="13" name="TextBox 12">
              <a:extLst>
                <a:ext uri="{FF2B5EF4-FFF2-40B4-BE49-F238E27FC236}">
                  <a16:creationId xmlns:a16="http://schemas.microsoft.com/office/drawing/2014/main" id="{54AC51CA-9F99-16DA-4A8B-2B7A14E5BAD5}"/>
                </a:ext>
              </a:extLst>
            </p:cNvPr>
            <p:cNvSpPr txBox="1"/>
            <p:nvPr/>
          </p:nvSpPr>
          <p:spPr>
            <a:xfrm rot="5400000">
              <a:off x="7539848" y="2885026"/>
              <a:ext cx="246177" cy="461665"/>
            </a:xfrm>
            <a:prstGeom prst="rect">
              <a:avLst/>
            </a:prstGeom>
            <a:noFill/>
          </p:spPr>
          <p:txBody>
            <a:bodyPr wrap="none" rtlCol="0">
              <a:spAutoFit/>
            </a:bodyPr>
            <a:lstStyle/>
            <a:p>
              <a:pPr algn="ctr"/>
              <a:r>
                <a:rPr lang="en-US" sz="2400" dirty="0"/>
                <a:t>…</a:t>
              </a:r>
            </a:p>
          </p:txBody>
        </p:sp>
      </p:grpSp>
      <p:sp>
        <p:nvSpPr>
          <p:cNvPr id="15" name="Rectangle 14">
            <a:extLst>
              <a:ext uri="{FF2B5EF4-FFF2-40B4-BE49-F238E27FC236}">
                <a16:creationId xmlns:a16="http://schemas.microsoft.com/office/drawing/2014/main" id="{2FD0E0B7-355E-B472-9831-6390C2715972}"/>
              </a:ext>
            </a:extLst>
          </p:cNvPr>
          <p:cNvSpPr/>
          <p:nvPr/>
        </p:nvSpPr>
        <p:spPr>
          <a:xfrm>
            <a:off x="7750644" y="2624098"/>
            <a:ext cx="896129" cy="1391363"/>
          </a:xfrm>
          <a:prstGeom prst="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7" name="TextBox 16">
            <a:extLst>
              <a:ext uri="{FF2B5EF4-FFF2-40B4-BE49-F238E27FC236}">
                <a16:creationId xmlns:a16="http://schemas.microsoft.com/office/drawing/2014/main" id="{A89E8CB6-79CB-E8E4-D6BE-7000E9462E65}"/>
              </a:ext>
            </a:extLst>
          </p:cNvPr>
          <p:cNvSpPr txBox="1"/>
          <p:nvPr/>
        </p:nvSpPr>
        <p:spPr>
          <a:xfrm>
            <a:off x="7613628" y="1605327"/>
            <a:ext cx="1078821" cy="400110"/>
          </a:xfrm>
          <a:prstGeom prst="rect">
            <a:avLst/>
          </a:prstGeom>
          <a:noFill/>
        </p:spPr>
        <p:txBody>
          <a:bodyPr wrap="none" rtlCol="0">
            <a:spAutoFit/>
          </a:bodyPr>
          <a:lstStyle/>
          <a:p>
            <a:r>
              <a:rPr lang="en-US" sz="2000" dirty="0"/>
              <a:t>Memory</a:t>
            </a:r>
          </a:p>
        </p:txBody>
      </p:sp>
      <p:sp>
        <p:nvSpPr>
          <p:cNvPr id="18" name="TextBox 17">
            <a:extLst>
              <a:ext uri="{FF2B5EF4-FFF2-40B4-BE49-F238E27FC236}">
                <a16:creationId xmlns:a16="http://schemas.microsoft.com/office/drawing/2014/main" id="{B263196B-98FB-5016-7942-6719EED4B4B4}"/>
              </a:ext>
            </a:extLst>
          </p:cNvPr>
          <p:cNvSpPr txBox="1"/>
          <p:nvPr/>
        </p:nvSpPr>
        <p:spPr>
          <a:xfrm>
            <a:off x="8738124" y="6292820"/>
            <a:ext cx="2186111" cy="369332"/>
          </a:xfrm>
          <a:prstGeom prst="rect">
            <a:avLst/>
          </a:prstGeom>
          <a:noFill/>
        </p:spPr>
        <p:txBody>
          <a:bodyPr wrap="none" rtlCol="0">
            <a:spAutoFit/>
          </a:bodyPr>
          <a:lstStyle/>
          <a:p>
            <a:r>
              <a:rPr lang="en-US" dirty="0"/>
              <a:t>Low address (</a:t>
            </a:r>
            <a:r>
              <a:rPr lang="en-US" sz="1400" dirty="0">
                <a:latin typeface="Menlo" panose="020B0609030804020204" pitchFamily="49" charset="0"/>
                <a:ea typeface="Menlo" panose="020B0609030804020204" pitchFamily="49" charset="0"/>
                <a:cs typeface="Menlo" panose="020B0609030804020204" pitchFamily="49" charset="0"/>
              </a:rPr>
              <a:t>000…00</a:t>
            </a:r>
            <a:r>
              <a:rPr lang="en-US" dirty="0"/>
              <a:t>)</a:t>
            </a:r>
          </a:p>
        </p:txBody>
      </p:sp>
      <p:sp>
        <p:nvSpPr>
          <p:cNvPr id="19" name="TextBox 18">
            <a:extLst>
              <a:ext uri="{FF2B5EF4-FFF2-40B4-BE49-F238E27FC236}">
                <a16:creationId xmlns:a16="http://schemas.microsoft.com/office/drawing/2014/main" id="{01E47954-0B9B-573B-9764-40599FE60481}"/>
              </a:ext>
            </a:extLst>
          </p:cNvPr>
          <p:cNvSpPr txBox="1"/>
          <p:nvPr/>
        </p:nvSpPr>
        <p:spPr>
          <a:xfrm>
            <a:off x="8738124" y="1819399"/>
            <a:ext cx="2230291" cy="369332"/>
          </a:xfrm>
          <a:prstGeom prst="rect">
            <a:avLst/>
          </a:prstGeom>
          <a:noFill/>
        </p:spPr>
        <p:txBody>
          <a:bodyPr wrap="none" rtlCol="0">
            <a:spAutoFit/>
          </a:bodyPr>
          <a:lstStyle/>
          <a:p>
            <a:r>
              <a:rPr lang="en-US" dirty="0"/>
              <a:t>High address (</a:t>
            </a:r>
            <a:r>
              <a:rPr lang="en-US" sz="1400" dirty="0" err="1">
                <a:latin typeface="Menlo" panose="020B0609030804020204" pitchFamily="49" charset="0"/>
                <a:ea typeface="Menlo" panose="020B0609030804020204" pitchFamily="49" charset="0"/>
                <a:cs typeface="Menlo" panose="020B0609030804020204" pitchFamily="49" charset="0"/>
              </a:rPr>
              <a:t>fff</a:t>
            </a:r>
            <a:r>
              <a:rPr lang="en-US" sz="1400" dirty="0">
                <a:latin typeface="Menlo" panose="020B0609030804020204" pitchFamily="49" charset="0"/>
                <a:ea typeface="Menlo" panose="020B0609030804020204" pitchFamily="49" charset="0"/>
                <a:cs typeface="Menlo" panose="020B0609030804020204" pitchFamily="49" charset="0"/>
              </a:rPr>
              <a:t>…ff</a:t>
            </a:r>
            <a:r>
              <a:rPr lang="en-US" dirty="0"/>
              <a:t>)</a:t>
            </a:r>
          </a:p>
        </p:txBody>
      </p:sp>
      <p:sp>
        <p:nvSpPr>
          <p:cNvPr id="21" name="Rectangle 20">
            <a:extLst>
              <a:ext uri="{FF2B5EF4-FFF2-40B4-BE49-F238E27FC236}">
                <a16:creationId xmlns:a16="http://schemas.microsoft.com/office/drawing/2014/main" id="{1A81524D-3F0C-1F85-AEC1-4425E5EF17E9}"/>
              </a:ext>
            </a:extLst>
          </p:cNvPr>
          <p:cNvSpPr/>
          <p:nvPr/>
        </p:nvSpPr>
        <p:spPr>
          <a:xfrm>
            <a:off x="7750646" y="2998281"/>
            <a:ext cx="896129" cy="19488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p>
        </p:txBody>
      </p:sp>
      <p:sp>
        <p:nvSpPr>
          <p:cNvPr id="26" name="Rectangle 25">
            <a:extLst>
              <a:ext uri="{FF2B5EF4-FFF2-40B4-BE49-F238E27FC236}">
                <a16:creationId xmlns:a16="http://schemas.microsoft.com/office/drawing/2014/main" id="{9F9145D3-23A4-B697-56CD-B9C0BCB9418D}"/>
              </a:ext>
            </a:extLst>
          </p:cNvPr>
          <p:cNvSpPr/>
          <p:nvPr/>
        </p:nvSpPr>
        <p:spPr>
          <a:xfrm>
            <a:off x="7750642" y="3193165"/>
            <a:ext cx="896129" cy="19488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p>
        </p:txBody>
      </p:sp>
      <p:sp>
        <p:nvSpPr>
          <p:cNvPr id="27" name="TextBox 26">
            <a:extLst>
              <a:ext uri="{FF2B5EF4-FFF2-40B4-BE49-F238E27FC236}">
                <a16:creationId xmlns:a16="http://schemas.microsoft.com/office/drawing/2014/main" id="{D89057EB-A053-4E9D-537E-1479077BED64}"/>
              </a:ext>
            </a:extLst>
          </p:cNvPr>
          <p:cNvSpPr txBox="1"/>
          <p:nvPr/>
        </p:nvSpPr>
        <p:spPr>
          <a:xfrm>
            <a:off x="9016365" y="3084356"/>
            <a:ext cx="2337435" cy="400110"/>
          </a:xfrm>
          <a:prstGeom prst="rect">
            <a:avLst/>
          </a:prstGeom>
          <a:noFill/>
        </p:spPr>
        <p:txBody>
          <a:bodyPr wrap="none" rtlCol="0">
            <a:spAutoFit/>
          </a:bodyPr>
          <a:lstStyle/>
          <a:p>
            <a:r>
              <a:rPr lang="en-US" sz="2000" dirty="0">
                <a:solidFill>
                  <a:schemeClr val="accent6">
                    <a:lumMod val="75000"/>
                  </a:schemeClr>
                </a:solidFill>
              </a:rPr>
              <a:t>stack frame of </a:t>
            </a:r>
            <a:r>
              <a:rPr lang="en-US" sz="2000"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main</a:t>
            </a:r>
          </a:p>
        </p:txBody>
      </p:sp>
      <p:sp>
        <p:nvSpPr>
          <p:cNvPr id="28" name="TextBox 27">
            <a:extLst>
              <a:ext uri="{FF2B5EF4-FFF2-40B4-BE49-F238E27FC236}">
                <a16:creationId xmlns:a16="http://schemas.microsoft.com/office/drawing/2014/main" id="{54B5A02F-1CC1-68BD-3480-CEB66FC6307A}"/>
              </a:ext>
            </a:extLst>
          </p:cNvPr>
          <p:cNvSpPr txBox="1"/>
          <p:nvPr/>
        </p:nvSpPr>
        <p:spPr>
          <a:xfrm>
            <a:off x="6496580" y="1075079"/>
            <a:ext cx="4909742" cy="400110"/>
          </a:xfrm>
          <a:prstGeom prst="rect">
            <a:avLst/>
          </a:prstGeom>
          <a:noFill/>
        </p:spPr>
        <p:txBody>
          <a:bodyPr wrap="none" rtlCol="0">
            <a:spAutoFit/>
          </a:bodyPr>
          <a:lstStyle/>
          <a:p>
            <a:r>
              <a:rPr lang="en-US" sz="2000" dirty="0"/>
              <a:t>Call stack frame contains temporary variables</a:t>
            </a:r>
          </a:p>
        </p:txBody>
      </p:sp>
      <p:sp>
        <p:nvSpPr>
          <p:cNvPr id="29" name="Rectangle 28">
            <a:extLst>
              <a:ext uri="{FF2B5EF4-FFF2-40B4-BE49-F238E27FC236}">
                <a16:creationId xmlns:a16="http://schemas.microsoft.com/office/drawing/2014/main" id="{C0E5B830-CC14-F1F4-5E98-0C070CC8DD67}"/>
              </a:ext>
            </a:extLst>
          </p:cNvPr>
          <p:cNvSpPr/>
          <p:nvPr/>
        </p:nvSpPr>
        <p:spPr>
          <a:xfrm>
            <a:off x="7750642" y="4015461"/>
            <a:ext cx="896129" cy="13913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135759DB-7951-1692-9D04-73625A8E7250}"/>
              </a:ext>
            </a:extLst>
          </p:cNvPr>
          <p:cNvSpPr/>
          <p:nvPr/>
        </p:nvSpPr>
        <p:spPr>
          <a:xfrm>
            <a:off x="7750642" y="4567288"/>
            <a:ext cx="896129" cy="19488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tmp</a:t>
            </a:r>
            <a:endParaRPr lang="en-US" dirty="0"/>
          </a:p>
        </p:txBody>
      </p:sp>
      <p:sp>
        <p:nvSpPr>
          <p:cNvPr id="32" name="TextBox 31">
            <a:extLst>
              <a:ext uri="{FF2B5EF4-FFF2-40B4-BE49-F238E27FC236}">
                <a16:creationId xmlns:a16="http://schemas.microsoft.com/office/drawing/2014/main" id="{1C45C3C4-1F8F-2874-AA16-4D2327F2C757}"/>
              </a:ext>
            </a:extLst>
          </p:cNvPr>
          <p:cNvSpPr txBox="1"/>
          <p:nvPr/>
        </p:nvSpPr>
        <p:spPr>
          <a:xfrm>
            <a:off x="8996045" y="4506757"/>
            <a:ext cx="2491323" cy="400110"/>
          </a:xfrm>
          <a:prstGeom prst="rect">
            <a:avLst/>
          </a:prstGeom>
          <a:noFill/>
        </p:spPr>
        <p:txBody>
          <a:bodyPr wrap="none" rtlCol="0">
            <a:spAutoFit/>
          </a:bodyPr>
          <a:lstStyle/>
          <a:p>
            <a:r>
              <a:rPr lang="en-US" sz="2000" dirty="0">
                <a:solidFill>
                  <a:schemeClr val="accent1">
                    <a:lumMod val="75000"/>
                  </a:schemeClr>
                </a:solidFill>
              </a:rPr>
              <a:t>stack frame of </a:t>
            </a:r>
            <a:r>
              <a:rPr lang="en-US" sz="2000" dirty="0" err="1">
                <a:solidFill>
                  <a:schemeClr val="accent1">
                    <a:lumMod val="75000"/>
                  </a:schemeClr>
                </a:solidFill>
                <a:latin typeface="Menlo" panose="020B0609030804020204" pitchFamily="49" charset="0"/>
                <a:ea typeface="Menlo" panose="020B0609030804020204" pitchFamily="49" charset="0"/>
                <a:cs typeface="Menlo" panose="020B0609030804020204" pitchFamily="49" charset="0"/>
              </a:rPr>
              <a:t>swapB</a:t>
            </a:r>
            <a:endParaRPr lang="en-US" sz="2000" dirty="0">
              <a:solidFill>
                <a:schemeClr val="accent1">
                  <a:lumMod val="75000"/>
                </a:schemeClr>
              </a:solidFill>
              <a:latin typeface="Menlo" panose="020B0609030804020204" pitchFamily="49" charset="0"/>
              <a:ea typeface="Menlo" panose="020B0609030804020204" pitchFamily="49" charset="0"/>
              <a:cs typeface="Menlo" panose="020B0609030804020204" pitchFamily="49" charset="0"/>
            </a:endParaRPr>
          </a:p>
        </p:txBody>
      </p:sp>
      <p:sp>
        <p:nvSpPr>
          <p:cNvPr id="33" name="Right Brace 32">
            <a:extLst>
              <a:ext uri="{FF2B5EF4-FFF2-40B4-BE49-F238E27FC236}">
                <a16:creationId xmlns:a16="http://schemas.microsoft.com/office/drawing/2014/main" id="{1FFF5BC0-5F09-C364-B7F4-F07F40B9655B}"/>
              </a:ext>
            </a:extLst>
          </p:cNvPr>
          <p:cNvSpPr/>
          <p:nvPr/>
        </p:nvSpPr>
        <p:spPr>
          <a:xfrm>
            <a:off x="8718216" y="2624098"/>
            <a:ext cx="278237" cy="1376128"/>
          </a:xfrm>
          <a:prstGeom prst="rightBrace">
            <a:avLst>
              <a:gd name="adj1" fmla="val 30242"/>
              <a:gd name="adj2" fmla="val 50000"/>
            </a:avLst>
          </a:prstGeom>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Right Brace 33">
            <a:extLst>
              <a:ext uri="{FF2B5EF4-FFF2-40B4-BE49-F238E27FC236}">
                <a16:creationId xmlns:a16="http://schemas.microsoft.com/office/drawing/2014/main" id="{C92026B9-E85D-BA77-AC84-EB1A834A6740}"/>
              </a:ext>
            </a:extLst>
          </p:cNvPr>
          <p:cNvSpPr/>
          <p:nvPr/>
        </p:nvSpPr>
        <p:spPr>
          <a:xfrm>
            <a:off x="8717808" y="4030695"/>
            <a:ext cx="278237" cy="1376128"/>
          </a:xfrm>
          <a:prstGeom prst="rightBrace">
            <a:avLst>
              <a:gd name="adj1" fmla="val 30242"/>
              <a:gd name="adj2" fmla="val 50000"/>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27216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44265-1CCB-FC77-C103-22A4E8025E5F}"/>
              </a:ext>
            </a:extLst>
          </p:cNvPr>
          <p:cNvSpPr>
            <a:spLocks noGrp="1"/>
          </p:cNvSpPr>
          <p:nvPr>
            <p:ph type="title"/>
          </p:nvPr>
        </p:nvSpPr>
        <p:spPr/>
        <p:txBody>
          <a:bodyPr/>
          <a:lstStyle/>
          <a:p>
            <a:r>
              <a:rPr lang="en-US" dirty="0"/>
              <a:t>Call Stack</a:t>
            </a:r>
          </a:p>
        </p:txBody>
      </p:sp>
      <p:sp>
        <p:nvSpPr>
          <p:cNvPr id="4" name="TextBox 3">
            <a:extLst>
              <a:ext uri="{FF2B5EF4-FFF2-40B4-BE49-F238E27FC236}">
                <a16:creationId xmlns:a16="http://schemas.microsoft.com/office/drawing/2014/main" id="{E7C325AB-D712-891C-0B11-63FA8370D794}"/>
              </a:ext>
            </a:extLst>
          </p:cNvPr>
          <p:cNvSpPr txBox="1"/>
          <p:nvPr/>
        </p:nvSpPr>
        <p:spPr>
          <a:xfrm>
            <a:off x="462463" y="1505394"/>
            <a:ext cx="5633538" cy="3785652"/>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solidFill>
                  <a:srgbClr val="C814C9"/>
                </a:solidFill>
                <a:effectLst/>
                <a:latin typeface="Menlo" panose="020B0609030804020204" pitchFamily="49" charset="0"/>
              </a:rPr>
              <a:t>#include </a:t>
            </a:r>
            <a:r>
              <a:rPr lang="en-US" sz="1600" dirty="0">
                <a:solidFill>
                  <a:srgbClr val="B42419"/>
                </a:solidFill>
                <a:effectLst/>
                <a:latin typeface="Menlo" panose="020B0609030804020204" pitchFamily="49" charset="0"/>
              </a:rPr>
              <a:t>&lt;</a:t>
            </a:r>
            <a:r>
              <a:rPr lang="en-US" sz="1600" dirty="0" err="1">
                <a:solidFill>
                  <a:srgbClr val="B42419"/>
                </a:solidFill>
                <a:effectLst/>
                <a:latin typeface="Menlo" panose="020B0609030804020204" pitchFamily="49" charset="0"/>
              </a:rPr>
              <a:t>stdio.h</a:t>
            </a:r>
            <a:r>
              <a:rPr lang="en-US" sz="1600" dirty="0">
                <a:solidFill>
                  <a:srgbClr val="B42419"/>
                </a:solidFill>
                <a:effectLst/>
                <a:latin typeface="Menlo" panose="020B0609030804020204" pitchFamily="49" charset="0"/>
              </a:rPr>
              <a:t>&gt;</a:t>
            </a:r>
            <a:br>
              <a:rPr lang="en-US" sz="1600" dirty="0">
                <a:solidFill>
                  <a:srgbClr val="000000"/>
                </a:solidFill>
                <a:effectLst/>
                <a:latin typeface="Menlo" panose="020B0609030804020204" pitchFamily="49" charset="0"/>
              </a:rPr>
            </a:br>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void</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swapB</a:t>
            </a:r>
            <a:r>
              <a:rPr lang="en-US" sz="1600" dirty="0">
                <a:solidFill>
                  <a:srgbClr val="000000"/>
                </a:solidFill>
                <a:effectLst/>
                <a:latin typeface="Menlo" panose="020B0609030804020204" pitchFamily="49" charset="0"/>
              </a:rPr>
              <a:t>(</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x,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y)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tmp</a:t>
            </a:r>
            <a:r>
              <a:rPr lang="en-US" sz="1600" dirty="0">
                <a:solidFill>
                  <a:srgbClr val="000000"/>
                </a:solidFill>
                <a:effectLst/>
                <a:latin typeface="Menlo" panose="020B0609030804020204" pitchFamily="49" charset="0"/>
              </a:rPr>
              <a:t> = *x;</a:t>
            </a:r>
          </a:p>
          <a:p>
            <a:r>
              <a:rPr lang="en-US" sz="1600" dirty="0">
                <a:solidFill>
                  <a:srgbClr val="000000"/>
                </a:solidFill>
                <a:effectLst/>
                <a:latin typeface="Menlo" panose="020B0609030804020204" pitchFamily="49" charset="0"/>
              </a:rPr>
              <a:t>  *x=*y; *y = </a:t>
            </a:r>
            <a:r>
              <a:rPr lang="en-US" sz="1600" dirty="0" err="1">
                <a:solidFill>
                  <a:srgbClr val="000000"/>
                </a:solidFill>
                <a:effectLst/>
                <a:latin typeface="Menlo" panose="020B0609030804020204" pitchFamily="49" charset="0"/>
              </a:rPr>
              <a:t>tmp</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"in </a:t>
            </a:r>
            <a:r>
              <a:rPr lang="en-US" sz="1600" dirty="0" err="1">
                <a:solidFill>
                  <a:srgbClr val="B42419"/>
                </a:solidFill>
                <a:effectLst/>
                <a:latin typeface="Menlo" panose="020B0609030804020204" pitchFamily="49" charset="0"/>
              </a:rPr>
              <a:t>swapB</a:t>
            </a:r>
            <a:r>
              <a:rPr lang="en-US" sz="1600" dirty="0">
                <a:solidFill>
                  <a:srgbClr val="B42419"/>
                </a:solidFill>
                <a:effectLst/>
                <a:latin typeface="Menlo" panose="020B0609030804020204" pitchFamily="49" charset="0"/>
              </a:rPr>
              <a:t>: *x =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*y = </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t>
            </a:r>
          </a:p>
          <a:p>
            <a:r>
              <a:rPr lang="en-US" sz="1600" dirty="0">
                <a:solidFill>
                  <a:srgbClr val="000000"/>
                </a:solidFill>
                <a:latin typeface="Menlo" panose="020B0609030804020204" pitchFamily="49" charset="0"/>
              </a:rPr>
              <a:t>	</a:t>
            </a:r>
            <a:r>
              <a:rPr lang="en-US" sz="1600" dirty="0">
                <a:solidFill>
                  <a:srgbClr val="000000"/>
                </a:solidFill>
                <a:effectLst/>
                <a:latin typeface="Menlo" panose="020B0609030804020204" pitchFamily="49" charset="0"/>
              </a:rPr>
              <a:t>*x, *y);</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br>
              <a:rPr lang="en-US" sz="1600" dirty="0">
                <a:solidFill>
                  <a:srgbClr val="000000"/>
                </a:solidFill>
                <a:effectLst/>
                <a:latin typeface="Menlo" panose="020B0609030804020204" pitchFamily="49" charset="0"/>
              </a:rPr>
            </a:br>
            <a:endParaRPr lang="en-US" sz="1600" dirty="0">
              <a:solidFill>
                <a:srgbClr val="000000"/>
              </a:solidFill>
              <a:effectLst/>
              <a:latin typeface="Menlo" panose="020B0609030804020204" pitchFamily="49" charset="0"/>
            </a:endParaRPr>
          </a:p>
          <a:p>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main() {</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 = </a:t>
            </a:r>
            <a:r>
              <a:rPr lang="en-US" sz="1600" dirty="0">
                <a:solidFill>
                  <a:srgbClr val="B42419"/>
                </a:solidFill>
                <a:effectLst/>
                <a:latin typeface="Menlo" panose="020B0609030804020204" pitchFamily="49" charset="0"/>
              </a:rPr>
              <a:t>7</a:t>
            </a:r>
            <a:r>
              <a:rPr lang="en-US" sz="1600" dirty="0">
                <a:solidFill>
                  <a:srgbClr val="000000"/>
                </a:solidFill>
                <a:effectLst/>
                <a:latin typeface="Menlo" panose="020B0609030804020204" pitchFamily="49" charset="0"/>
              </a:rPr>
              <a:t>, b = </a:t>
            </a:r>
            <a:r>
              <a:rPr lang="en-US" sz="1600" dirty="0">
                <a:solidFill>
                  <a:srgbClr val="B42419"/>
                </a:solidFill>
                <a:effectLst/>
                <a:latin typeface="Menlo" panose="020B0609030804020204" pitchFamily="49" charset="0"/>
              </a:rPr>
              <a:t>13</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swapB</a:t>
            </a:r>
            <a:r>
              <a:rPr lang="en-US" sz="1600" dirty="0">
                <a:solidFill>
                  <a:srgbClr val="000000"/>
                </a:solidFill>
                <a:effectLst/>
                <a:latin typeface="Menlo" panose="020B0609030804020204" pitchFamily="49" charset="0"/>
              </a:rPr>
              <a:t>(&amp;a, &amp;b);</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"in main: a =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b = </a:t>
            </a:r>
            <a:r>
              <a:rPr lang="en-US" sz="1600" dirty="0">
                <a:solidFill>
                  <a:srgbClr val="C814C9"/>
                </a:solidFill>
                <a:effectLst/>
                <a:latin typeface="Menlo" panose="020B0609030804020204" pitchFamily="49" charset="0"/>
              </a:rPr>
              <a:t>%d\n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 b);</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  </a:t>
            </a:r>
            <a:r>
              <a:rPr lang="en-US" sz="1600" dirty="0">
                <a:solidFill>
                  <a:srgbClr val="C1651C"/>
                </a:solidFill>
                <a:effectLst/>
                <a:latin typeface="Menlo" panose="020B0609030804020204" pitchFamily="49" charset="0"/>
              </a:rPr>
              <a:t>return</a:t>
            </a:r>
            <a:r>
              <a:rPr lang="en-US" sz="1600" dirty="0">
                <a:solidFill>
                  <a:srgbClr val="000000"/>
                </a:solidFill>
                <a:effectLst/>
                <a:latin typeface="Menlo" panose="020B0609030804020204" pitchFamily="49" charset="0"/>
              </a:rPr>
              <a:t> </a:t>
            </a:r>
            <a:r>
              <a:rPr lang="en-US" sz="1600" dirty="0">
                <a:solidFill>
                  <a:srgbClr val="B42419"/>
                </a:solidFill>
                <a:effectLst/>
                <a:latin typeface="Menlo" panose="020B0609030804020204" pitchFamily="49" charset="0"/>
              </a:rPr>
              <a:t>0</a:t>
            </a:r>
            <a:r>
              <a:rPr lang="en-US" sz="1600" dirty="0">
                <a:solidFill>
                  <a:srgbClr val="000000"/>
                </a:solidFill>
                <a:effectLst/>
                <a:latin typeface="Menlo" panose="020B0609030804020204" pitchFamily="49" charset="0"/>
              </a:rPr>
              <a:t>;</a:t>
            </a:r>
            <a:endParaRPr lang="en-US" sz="1600" dirty="0">
              <a:solidFill>
                <a:srgbClr val="C1651C"/>
              </a:solidFill>
              <a:effectLst/>
              <a:latin typeface="Menlo" panose="020B0609030804020204" pitchFamily="49" charset="0"/>
            </a:endParaRPr>
          </a:p>
          <a:p>
            <a:r>
              <a:rPr lang="en-US" sz="1600" dirty="0">
                <a:solidFill>
                  <a:srgbClr val="000000"/>
                </a:solidFill>
                <a:effectLst/>
                <a:latin typeface="Menlo" panose="020B0609030804020204" pitchFamily="49" charset="0"/>
              </a:rPr>
              <a:t>}</a:t>
            </a:r>
          </a:p>
        </p:txBody>
      </p:sp>
      <p:grpSp>
        <p:nvGrpSpPr>
          <p:cNvPr id="10" name="Group 9">
            <a:extLst>
              <a:ext uri="{FF2B5EF4-FFF2-40B4-BE49-F238E27FC236}">
                <a16:creationId xmlns:a16="http://schemas.microsoft.com/office/drawing/2014/main" id="{8D62CD2A-D5B9-2D3C-BBB3-F84A32C60461}"/>
              </a:ext>
            </a:extLst>
          </p:cNvPr>
          <p:cNvGrpSpPr/>
          <p:nvPr/>
        </p:nvGrpSpPr>
        <p:grpSpPr>
          <a:xfrm>
            <a:off x="7750645" y="2004065"/>
            <a:ext cx="896130" cy="4488810"/>
            <a:chOff x="7211641" y="2964924"/>
            <a:chExt cx="896130" cy="2033799"/>
          </a:xfrm>
        </p:grpSpPr>
        <p:sp>
          <p:nvSpPr>
            <p:cNvPr id="11" name="Rectangle 10">
              <a:extLst>
                <a:ext uri="{FF2B5EF4-FFF2-40B4-BE49-F238E27FC236}">
                  <a16:creationId xmlns:a16="http://schemas.microsoft.com/office/drawing/2014/main" id="{124DAF54-3A1E-6566-12E3-5221FFEFA3E4}"/>
                </a:ext>
              </a:extLst>
            </p:cNvPr>
            <p:cNvSpPr/>
            <p:nvPr/>
          </p:nvSpPr>
          <p:spPr>
            <a:xfrm>
              <a:off x="7211641" y="2964924"/>
              <a:ext cx="896130" cy="20337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11736A46-8C16-9646-67FC-7C2B2332AAA0}"/>
                </a:ext>
              </a:extLst>
            </p:cNvPr>
            <p:cNvSpPr txBox="1"/>
            <p:nvPr/>
          </p:nvSpPr>
          <p:spPr>
            <a:xfrm rot="5400000">
              <a:off x="7536617" y="4510399"/>
              <a:ext cx="246177" cy="461665"/>
            </a:xfrm>
            <a:prstGeom prst="rect">
              <a:avLst/>
            </a:prstGeom>
            <a:noFill/>
          </p:spPr>
          <p:txBody>
            <a:bodyPr wrap="none" rtlCol="0">
              <a:spAutoFit/>
            </a:bodyPr>
            <a:lstStyle/>
            <a:p>
              <a:pPr algn="ctr"/>
              <a:r>
                <a:rPr lang="en-US" sz="2400" dirty="0"/>
                <a:t>…</a:t>
              </a:r>
            </a:p>
          </p:txBody>
        </p:sp>
        <p:sp>
          <p:nvSpPr>
            <p:cNvPr id="13" name="TextBox 12">
              <a:extLst>
                <a:ext uri="{FF2B5EF4-FFF2-40B4-BE49-F238E27FC236}">
                  <a16:creationId xmlns:a16="http://schemas.microsoft.com/office/drawing/2014/main" id="{54AC51CA-9F99-16DA-4A8B-2B7A14E5BAD5}"/>
                </a:ext>
              </a:extLst>
            </p:cNvPr>
            <p:cNvSpPr txBox="1"/>
            <p:nvPr/>
          </p:nvSpPr>
          <p:spPr>
            <a:xfrm rot="5400000">
              <a:off x="7539848" y="2885026"/>
              <a:ext cx="246177" cy="461665"/>
            </a:xfrm>
            <a:prstGeom prst="rect">
              <a:avLst/>
            </a:prstGeom>
            <a:noFill/>
          </p:spPr>
          <p:txBody>
            <a:bodyPr wrap="none" rtlCol="0">
              <a:spAutoFit/>
            </a:bodyPr>
            <a:lstStyle/>
            <a:p>
              <a:pPr algn="ctr"/>
              <a:r>
                <a:rPr lang="en-US" sz="2400" dirty="0"/>
                <a:t>…</a:t>
              </a:r>
            </a:p>
          </p:txBody>
        </p:sp>
      </p:grpSp>
      <p:sp>
        <p:nvSpPr>
          <p:cNvPr id="15" name="Rectangle 14">
            <a:extLst>
              <a:ext uri="{FF2B5EF4-FFF2-40B4-BE49-F238E27FC236}">
                <a16:creationId xmlns:a16="http://schemas.microsoft.com/office/drawing/2014/main" id="{2FD0E0B7-355E-B472-9831-6390C2715972}"/>
              </a:ext>
            </a:extLst>
          </p:cNvPr>
          <p:cNvSpPr/>
          <p:nvPr/>
        </p:nvSpPr>
        <p:spPr>
          <a:xfrm>
            <a:off x="7750644" y="2624098"/>
            <a:ext cx="896129" cy="1391363"/>
          </a:xfrm>
          <a:prstGeom prst="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7" name="TextBox 16">
            <a:extLst>
              <a:ext uri="{FF2B5EF4-FFF2-40B4-BE49-F238E27FC236}">
                <a16:creationId xmlns:a16="http://schemas.microsoft.com/office/drawing/2014/main" id="{A89E8CB6-79CB-E8E4-D6BE-7000E9462E65}"/>
              </a:ext>
            </a:extLst>
          </p:cNvPr>
          <p:cNvSpPr txBox="1"/>
          <p:nvPr/>
        </p:nvSpPr>
        <p:spPr>
          <a:xfrm>
            <a:off x="7613628" y="1605327"/>
            <a:ext cx="1078821" cy="400110"/>
          </a:xfrm>
          <a:prstGeom prst="rect">
            <a:avLst/>
          </a:prstGeom>
          <a:noFill/>
        </p:spPr>
        <p:txBody>
          <a:bodyPr wrap="none" rtlCol="0">
            <a:spAutoFit/>
          </a:bodyPr>
          <a:lstStyle/>
          <a:p>
            <a:r>
              <a:rPr lang="en-US" sz="2000" dirty="0"/>
              <a:t>Memory</a:t>
            </a:r>
          </a:p>
        </p:txBody>
      </p:sp>
      <p:sp>
        <p:nvSpPr>
          <p:cNvPr id="18" name="TextBox 17">
            <a:extLst>
              <a:ext uri="{FF2B5EF4-FFF2-40B4-BE49-F238E27FC236}">
                <a16:creationId xmlns:a16="http://schemas.microsoft.com/office/drawing/2014/main" id="{B263196B-98FB-5016-7942-6719EED4B4B4}"/>
              </a:ext>
            </a:extLst>
          </p:cNvPr>
          <p:cNvSpPr txBox="1"/>
          <p:nvPr/>
        </p:nvSpPr>
        <p:spPr>
          <a:xfrm>
            <a:off x="8738124" y="6292820"/>
            <a:ext cx="2186111" cy="369332"/>
          </a:xfrm>
          <a:prstGeom prst="rect">
            <a:avLst/>
          </a:prstGeom>
          <a:noFill/>
        </p:spPr>
        <p:txBody>
          <a:bodyPr wrap="none" rtlCol="0">
            <a:spAutoFit/>
          </a:bodyPr>
          <a:lstStyle/>
          <a:p>
            <a:r>
              <a:rPr lang="en-US" dirty="0"/>
              <a:t>Low address (</a:t>
            </a:r>
            <a:r>
              <a:rPr lang="en-US" sz="1400" dirty="0">
                <a:latin typeface="Menlo" panose="020B0609030804020204" pitchFamily="49" charset="0"/>
                <a:ea typeface="Menlo" panose="020B0609030804020204" pitchFamily="49" charset="0"/>
                <a:cs typeface="Menlo" panose="020B0609030804020204" pitchFamily="49" charset="0"/>
              </a:rPr>
              <a:t>000…00</a:t>
            </a:r>
            <a:r>
              <a:rPr lang="en-US" dirty="0"/>
              <a:t>)</a:t>
            </a:r>
          </a:p>
        </p:txBody>
      </p:sp>
      <p:sp>
        <p:nvSpPr>
          <p:cNvPr id="19" name="TextBox 18">
            <a:extLst>
              <a:ext uri="{FF2B5EF4-FFF2-40B4-BE49-F238E27FC236}">
                <a16:creationId xmlns:a16="http://schemas.microsoft.com/office/drawing/2014/main" id="{01E47954-0B9B-573B-9764-40599FE60481}"/>
              </a:ext>
            </a:extLst>
          </p:cNvPr>
          <p:cNvSpPr txBox="1"/>
          <p:nvPr/>
        </p:nvSpPr>
        <p:spPr>
          <a:xfrm>
            <a:off x="8738124" y="1819399"/>
            <a:ext cx="2230291" cy="369332"/>
          </a:xfrm>
          <a:prstGeom prst="rect">
            <a:avLst/>
          </a:prstGeom>
          <a:noFill/>
        </p:spPr>
        <p:txBody>
          <a:bodyPr wrap="none" rtlCol="0">
            <a:spAutoFit/>
          </a:bodyPr>
          <a:lstStyle/>
          <a:p>
            <a:r>
              <a:rPr lang="en-US" dirty="0"/>
              <a:t>High address (</a:t>
            </a:r>
            <a:r>
              <a:rPr lang="en-US" sz="1400" dirty="0" err="1">
                <a:latin typeface="Menlo" panose="020B0609030804020204" pitchFamily="49" charset="0"/>
                <a:ea typeface="Menlo" panose="020B0609030804020204" pitchFamily="49" charset="0"/>
                <a:cs typeface="Menlo" panose="020B0609030804020204" pitchFamily="49" charset="0"/>
              </a:rPr>
              <a:t>fff</a:t>
            </a:r>
            <a:r>
              <a:rPr lang="en-US" sz="1400" dirty="0">
                <a:latin typeface="Menlo" panose="020B0609030804020204" pitchFamily="49" charset="0"/>
                <a:ea typeface="Menlo" panose="020B0609030804020204" pitchFamily="49" charset="0"/>
                <a:cs typeface="Menlo" panose="020B0609030804020204" pitchFamily="49" charset="0"/>
              </a:rPr>
              <a:t>…ff</a:t>
            </a:r>
            <a:r>
              <a:rPr lang="en-US" dirty="0"/>
              <a:t>)</a:t>
            </a:r>
          </a:p>
        </p:txBody>
      </p:sp>
      <p:sp>
        <p:nvSpPr>
          <p:cNvPr id="21" name="Rectangle 20">
            <a:extLst>
              <a:ext uri="{FF2B5EF4-FFF2-40B4-BE49-F238E27FC236}">
                <a16:creationId xmlns:a16="http://schemas.microsoft.com/office/drawing/2014/main" id="{1A81524D-3F0C-1F85-AEC1-4425E5EF17E9}"/>
              </a:ext>
            </a:extLst>
          </p:cNvPr>
          <p:cNvSpPr/>
          <p:nvPr/>
        </p:nvSpPr>
        <p:spPr>
          <a:xfrm>
            <a:off x="7750646" y="2998281"/>
            <a:ext cx="896129" cy="19488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p>
        </p:txBody>
      </p:sp>
      <p:sp>
        <p:nvSpPr>
          <p:cNvPr id="26" name="Rectangle 25">
            <a:extLst>
              <a:ext uri="{FF2B5EF4-FFF2-40B4-BE49-F238E27FC236}">
                <a16:creationId xmlns:a16="http://schemas.microsoft.com/office/drawing/2014/main" id="{9F9145D3-23A4-B697-56CD-B9C0BCB9418D}"/>
              </a:ext>
            </a:extLst>
          </p:cNvPr>
          <p:cNvSpPr/>
          <p:nvPr/>
        </p:nvSpPr>
        <p:spPr>
          <a:xfrm>
            <a:off x="7750642" y="3193165"/>
            <a:ext cx="896129" cy="19488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p>
        </p:txBody>
      </p:sp>
      <p:sp>
        <p:nvSpPr>
          <p:cNvPr id="27" name="TextBox 26">
            <a:extLst>
              <a:ext uri="{FF2B5EF4-FFF2-40B4-BE49-F238E27FC236}">
                <a16:creationId xmlns:a16="http://schemas.microsoft.com/office/drawing/2014/main" id="{D89057EB-A053-4E9D-537E-1479077BED64}"/>
              </a:ext>
            </a:extLst>
          </p:cNvPr>
          <p:cNvSpPr txBox="1"/>
          <p:nvPr/>
        </p:nvSpPr>
        <p:spPr>
          <a:xfrm>
            <a:off x="9016365" y="3084356"/>
            <a:ext cx="2337435" cy="400110"/>
          </a:xfrm>
          <a:prstGeom prst="rect">
            <a:avLst/>
          </a:prstGeom>
          <a:noFill/>
        </p:spPr>
        <p:txBody>
          <a:bodyPr wrap="none" rtlCol="0">
            <a:spAutoFit/>
          </a:bodyPr>
          <a:lstStyle/>
          <a:p>
            <a:r>
              <a:rPr lang="en-US" sz="2000" dirty="0">
                <a:solidFill>
                  <a:schemeClr val="accent6">
                    <a:lumMod val="75000"/>
                  </a:schemeClr>
                </a:solidFill>
              </a:rPr>
              <a:t>stack frame of </a:t>
            </a:r>
            <a:r>
              <a:rPr lang="en-US" sz="2000"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main</a:t>
            </a:r>
          </a:p>
        </p:txBody>
      </p:sp>
      <p:sp>
        <p:nvSpPr>
          <p:cNvPr id="28" name="TextBox 27">
            <a:extLst>
              <a:ext uri="{FF2B5EF4-FFF2-40B4-BE49-F238E27FC236}">
                <a16:creationId xmlns:a16="http://schemas.microsoft.com/office/drawing/2014/main" id="{54B5A02F-1CC1-68BD-3480-CEB66FC6307A}"/>
              </a:ext>
            </a:extLst>
          </p:cNvPr>
          <p:cNvSpPr txBox="1"/>
          <p:nvPr/>
        </p:nvSpPr>
        <p:spPr>
          <a:xfrm>
            <a:off x="6496580" y="1075079"/>
            <a:ext cx="4909742" cy="400110"/>
          </a:xfrm>
          <a:prstGeom prst="rect">
            <a:avLst/>
          </a:prstGeom>
          <a:noFill/>
        </p:spPr>
        <p:txBody>
          <a:bodyPr wrap="none" rtlCol="0">
            <a:spAutoFit/>
          </a:bodyPr>
          <a:lstStyle/>
          <a:p>
            <a:r>
              <a:rPr lang="en-US" sz="2000" dirty="0"/>
              <a:t>Call stack frame contains temporary variables</a:t>
            </a:r>
          </a:p>
        </p:txBody>
      </p:sp>
      <p:sp>
        <p:nvSpPr>
          <p:cNvPr id="29" name="Rectangle 28">
            <a:extLst>
              <a:ext uri="{FF2B5EF4-FFF2-40B4-BE49-F238E27FC236}">
                <a16:creationId xmlns:a16="http://schemas.microsoft.com/office/drawing/2014/main" id="{C0E5B830-CC14-F1F4-5E98-0C070CC8DD67}"/>
              </a:ext>
            </a:extLst>
          </p:cNvPr>
          <p:cNvSpPr/>
          <p:nvPr/>
        </p:nvSpPr>
        <p:spPr>
          <a:xfrm>
            <a:off x="7750642" y="4015461"/>
            <a:ext cx="896129" cy="13913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135759DB-7951-1692-9D04-73625A8E7250}"/>
              </a:ext>
            </a:extLst>
          </p:cNvPr>
          <p:cNvSpPr/>
          <p:nvPr/>
        </p:nvSpPr>
        <p:spPr>
          <a:xfrm>
            <a:off x="7750642" y="4567288"/>
            <a:ext cx="896129" cy="19488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tmp</a:t>
            </a:r>
            <a:endParaRPr lang="en-US" dirty="0"/>
          </a:p>
        </p:txBody>
      </p:sp>
      <p:sp>
        <p:nvSpPr>
          <p:cNvPr id="32" name="TextBox 31">
            <a:extLst>
              <a:ext uri="{FF2B5EF4-FFF2-40B4-BE49-F238E27FC236}">
                <a16:creationId xmlns:a16="http://schemas.microsoft.com/office/drawing/2014/main" id="{1C45C3C4-1F8F-2874-AA16-4D2327F2C757}"/>
              </a:ext>
            </a:extLst>
          </p:cNvPr>
          <p:cNvSpPr txBox="1"/>
          <p:nvPr/>
        </p:nvSpPr>
        <p:spPr>
          <a:xfrm>
            <a:off x="8996045" y="4506757"/>
            <a:ext cx="2491323" cy="400110"/>
          </a:xfrm>
          <a:prstGeom prst="rect">
            <a:avLst/>
          </a:prstGeom>
          <a:noFill/>
        </p:spPr>
        <p:txBody>
          <a:bodyPr wrap="none" rtlCol="0">
            <a:spAutoFit/>
          </a:bodyPr>
          <a:lstStyle/>
          <a:p>
            <a:r>
              <a:rPr lang="en-US" sz="2000" dirty="0">
                <a:solidFill>
                  <a:schemeClr val="accent1">
                    <a:lumMod val="75000"/>
                  </a:schemeClr>
                </a:solidFill>
              </a:rPr>
              <a:t>stack frame of </a:t>
            </a:r>
            <a:r>
              <a:rPr lang="en-US" sz="2000" dirty="0" err="1">
                <a:solidFill>
                  <a:schemeClr val="accent1">
                    <a:lumMod val="75000"/>
                  </a:schemeClr>
                </a:solidFill>
                <a:latin typeface="Menlo" panose="020B0609030804020204" pitchFamily="49" charset="0"/>
                <a:ea typeface="Menlo" panose="020B0609030804020204" pitchFamily="49" charset="0"/>
                <a:cs typeface="Menlo" panose="020B0609030804020204" pitchFamily="49" charset="0"/>
              </a:rPr>
              <a:t>swapB</a:t>
            </a:r>
            <a:endParaRPr lang="en-US" sz="2000" dirty="0">
              <a:solidFill>
                <a:schemeClr val="accent1">
                  <a:lumMod val="75000"/>
                </a:schemeClr>
              </a:solidFill>
              <a:latin typeface="Menlo" panose="020B0609030804020204" pitchFamily="49" charset="0"/>
              <a:ea typeface="Menlo" panose="020B0609030804020204" pitchFamily="49" charset="0"/>
              <a:cs typeface="Menlo" panose="020B0609030804020204" pitchFamily="49" charset="0"/>
            </a:endParaRPr>
          </a:p>
        </p:txBody>
      </p:sp>
      <p:sp>
        <p:nvSpPr>
          <p:cNvPr id="33" name="Right Brace 32">
            <a:extLst>
              <a:ext uri="{FF2B5EF4-FFF2-40B4-BE49-F238E27FC236}">
                <a16:creationId xmlns:a16="http://schemas.microsoft.com/office/drawing/2014/main" id="{1FFF5BC0-5F09-C364-B7F4-F07F40B9655B}"/>
              </a:ext>
            </a:extLst>
          </p:cNvPr>
          <p:cNvSpPr/>
          <p:nvPr/>
        </p:nvSpPr>
        <p:spPr>
          <a:xfrm>
            <a:off x="8718216" y="2624098"/>
            <a:ext cx="278237" cy="1376128"/>
          </a:xfrm>
          <a:prstGeom prst="rightBrace">
            <a:avLst>
              <a:gd name="adj1" fmla="val 30242"/>
              <a:gd name="adj2" fmla="val 50000"/>
            </a:avLst>
          </a:prstGeom>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Right Brace 33">
            <a:extLst>
              <a:ext uri="{FF2B5EF4-FFF2-40B4-BE49-F238E27FC236}">
                <a16:creationId xmlns:a16="http://schemas.microsoft.com/office/drawing/2014/main" id="{C92026B9-E85D-BA77-AC84-EB1A834A6740}"/>
              </a:ext>
            </a:extLst>
          </p:cNvPr>
          <p:cNvSpPr/>
          <p:nvPr/>
        </p:nvSpPr>
        <p:spPr>
          <a:xfrm>
            <a:off x="8717808" y="4030695"/>
            <a:ext cx="278237" cy="1376128"/>
          </a:xfrm>
          <a:prstGeom prst="rightBrace">
            <a:avLst>
              <a:gd name="adj1" fmla="val 30242"/>
              <a:gd name="adj2" fmla="val 50000"/>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6432670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CAAF-629C-EEB1-BB6F-0D1676082EAE}"/>
              </a:ext>
            </a:extLst>
          </p:cNvPr>
          <p:cNvSpPr>
            <a:spLocks noGrp="1"/>
          </p:cNvSpPr>
          <p:nvPr>
            <p:ph type="title"/>
          </p:nvPr>
        </p:nvSpPr>
        <p:spPr/>
        <p:txBody>
          <a:bodyPr>
            <a:normAutofit/>
          </a:bodyPr>
          <a:lstStyle/>
          <a:p>
            <a:r>
              <a:rPr lang="en-US" dirty="0"/>
              <a:t>Addresses vs. Values </a:t>
            </a:r>
          </a:p>
        </p:txBody>
      </p:sp>
      <p:sp>
        <p:nvSpPr>
          <p:cNvPr id="4" name="TextBox 3">
            <a:extLst>
              <a:ext uri="{FF2B5EF4-FFF2-40B4-BE49-F238E27FC236}">
                <a16:creationId xmlns:a16="http://schemas.microsoft.com/office/drawing/2014/main" id="{B3CAB61A-C972-CCF9-B767-6A64B4759EC3}"/>
              </a:ext>
            </a:extLst>
          </p:cNvPr>
          <p:cNvSpPr txBox="1"/>
          <p:nvPr/>
        </p:nvSpPr>
        <p:spPr>
          <a:xfrm>
            <a:off x="975360" y="1656080"/>
            <a:ext cx="3213829" cy="400110"/>
          </a:xfrm>
          <a:prstGeom prst="rect">
            <a:avLst/>
          </a:prstGeom>
          <a:noFill/>
        </p:spPr>
        <p:txBody>
          <a:bodyPr wrap="none" rtlCol="0">
            <a:spAutoFit/>
          </a:bodyPr>
          <a:lstStyle/>
          <a:p>
            <a:r>
              <a:rPr lang="en-US" sz="2000" dirty="0"/>
              <a:t>Consider the following code: </a:t>
            </a:r>
          </a:p>
        </p:txBody>
      </p:sp>
      <p:sp>
        <p:nvSpPr>
          <p:cNvPr id="5" name="TextBox 4">
            <a:extLst>
              <a:ext uri="{FF2B5EF4-FFF2-40B4-BE49-F238E27FC236}">
                <a16:creationId xmlns:a16="http://schemas.microsoft.com/office/drawing/2014/main" id="{AD264174-7A92-1538-7AB4-C1212E4D2521}"/>
              </a:ext>
            </a:extLst>
          </p:cNvPr>
          <p:cNvSpPr txBox="1"/>
          <p:nvPr/>
        </p:nvSpPr>
        <p:spPr>
          <a:xfrm>
            <a:off x="701040" y="2166332"/>
            <a:ext cx="5065810" cy="646331"/>
          </a:xfrm>
          <a:prstGeom prst="rect">
            <a:avLst/>
          </a:prstGeom>
          <a:noFill/>
        </p:spPr>
        <p:txBody>
          <a:bodyPr wrap="none" rtlCol="0">
            <a:spAutoFit/>
          </a:bodyPr>
          <a:lstStyle/>
          <a:p>
            <a:r>
              <a:rPr lang="en-US" dirty="0">
                <a:solidFill>
                  <a:srgbClr val="000000"/>
                </a:solidFill>
                <a:effectLst/>
                <a:latin typeface="Menlo" panose="020B0609030804020204" pitchFamily="49" charset="0"/>
              </a:rPr>
              <a:t>  </a:t>
            </a:r>
            <a:r>
              <a:rPr lang="en-US" dirty="0">
                <a:solidFill>
                  <a:srgbClr val="2FB41D"/>
                </a:solidFill>
                <a:effectLst/>
                <a:latin typeface="Menlo" panose="020B0609030804020204" pitchFamily="49" charset="0"/>
              </a:rPr>
              <a:t>int</a:t>
            </a:r>
            <a:r>
              <a:rPr lang="en-US" dirty="0">
                <a:solidFill>
                  <a:srgbClr val="000000"/>
                </a:solidFill>
                <a:effectLst/>
                <a:latin typeface="Menlo" panose="020B0609030804020204" pitchFamily="49" charset="0"/>
              </a:rPr>
              <a:t> a = </a:t>
            </a:r>
            <a:r>
              <a:rPr lang="en-US" dirty="0">
                <a:solidFill>
                  <a:srgbClr val="B42419"/>
                </a:solidFill>
                <a:effectLst/>
                <a:latin typeface="Menlo" panose="020B0609030804020204" pitchFamily="49" charset="0"/>
              </a:rPr>
              <a:t>7</a:t>
            </a:r>
            <a:r>
              <a:rPr lang="en-US" dirty="0">
                <a:solidFill>
                  <a:srgbClr val="000000"/>
                </a:solidFill>
                <a:effectLst/>
                <a:latin typeface="Menlo" panose="020B0609030804020204" pitchFamily="49" charset="0"/>
              </a:rPr>
              <a:t>, b = </a:t>
            </a:r>
            <a:r>
              <a:rPr lang="en-US" dirty="0">
                <a:solidFill>
                  <a:srgbClr val="B42419"/>
                </a:solidFill>
                <a:effectLst/>
                <a:latin typeface="Menlo" panose="020B0609030804020204" pitchFamily="49" charset="0"/>
              </a:rPr>
              <a:t>7</a:t>
            </a:r>
            <a:r>
              <a:rPr lang="en-US" dirty="0">
                <a:solidFill>
                  <a:srgbClr val="000000"/>
                </a:solidFill>
                <a:effectLst/>
                <a:latin typeface="Menlo" panose="020B0609030804020204" pitchFamily="49" charset="0"/>
              </a:rPr>
              <a:t>, c = </a:t>
            </a:r>
            <a:r>
              <a:rPr lang="en-US" dirty="0">
                <a:solidFill>
                  <a:srgbClr val="B42419"/>
                </a:solidFill>
                <a:effectLst/>
                <a:latin typeface="Menlo" panose="020B0609030804020204" pitchFamily="49" charset="0"/>
              </a:rPr>
              <a:t>13</a:t>
            </a:r>
            <a:r>
              <a:rPr lang="en-US" dirty="0">
                <a:solidFill>
                  <a:srgbClr val="000000"/>
                </a:solidFill>
                <a:effectLst/>
                <a:latin typeface="Menlo" panose="020B0609030804020204" pitchFamily="49" charset="0"/>
              </a:rPr>
              <a:t>;</a:t>
            </a:r>
          </a:p>
          <a:p>
            <a:r>
              <a:rPr lang="en-US" dirty="0">
                <a:solidFill>
                  <a:srgbClr val="000000"/>
                </a:solidFill>
                <a:effectLst/>
                <a:latin typeface="Menlo" panose="020B0609030804020204" pitchFamily="49" charset="0"/>
              </a:rPr>
              <a:t>  </a:t>
            </a:r>
            <a:r>
              <a:rPr lang="en-US" dirty="0">
                <a:solidFill>
                  <a:srgbClr val="2FB41D"/>
                </a:solidFill>
                <a:effectLst/>
                <a:latin typeface="Menlo" panose="020B0609030804020204" pitchFamily="49" charset="0"/>
              </a:rPr>
              <a:t>int</a:t>
            </a:r>
            <a:r>
              <a:rPr lang="en-US" dirty="0">
                <a:solidFill>
                  <a:srgbClr val="000000"/>
                </a:solidFill>
                <a:effectLst/>
                <a:latin typeface="Menlo" panose="020B0609030804020204" pitchFamily="49" charset="0"/>
              </a:rPr>
              <a:t> *ap = &amp;a, *bp = &amp;b, *cp = &amp;c;</a:t>
            </a:r>
          </a:p>
        </p:txBody>
      </p:sp>
      <p:sp>
        <p:nvSpPr>
          <p:cNvPr id="6" name="TextBox 5">
            <a:extLst>
              <a:ext uri="{FF2B5EF4-FFF2-40B4-BE49-F238E27FC236}">
                <a16:creationId xmlns:a16="http://schemas.microsoft.com/office/drawing/2014/main" id="{6BDB67A5-CBF2-DB7C-7FDA-8DEEFA2C920D}"/>
              </a:ext>
            </a:extLst>
          </p:cNvPr>
          <p:cNvSpPr txBox="1"/>
          <p:nvPr/>
        </p:nvSpPr>
        <p:spPr>
          <a:xfrm>
            <a:off x="975360" y="2860164"/>
            <a:ext cx="5098255" cy="400110"/>
          </a:xfrm>
          <a:prstGeom prst="rect">
            <a:avLst/>
          </a:prstGeom>
          <a:noFill/>
        </p:spPr>
        <p:txBody>
          <a:bodyPr wrap="none" rtlCol="0">
            <a:spAutoFit/>
          </a:bodyPr>
          <a:lstStyle/>
          <a:p>
            <a:r>
              <a:rPr lang="en-US" sz="2000" dirty="0"/>
              <a:t>Note: must place </a:t>
            </a:r>
            <a:r>
              <a:rPr lang="en-US" sz="2000" dirty="0">
                <a:latin typeface="Menlo" panose="020B0609030804020204" pitchFamily="49" charset="0"/>
                <a:ea typeface="Menlo" panose="020B0609030804020204" pitchFamily="49" charset="0"/>
                <a:cs typeface="Menlo" panose="020B0609030804020204" pitchFamily="49" charset="0"/>
              </a:rPr>
              <a:t>*</a:t>
            </a:r>
            <a:r>
              <a:rPr lang="en-US" sz="2000" dirty="0"/>
              <a:t> before each variable name. </a:t>
            </a:r>
          </a:p>
        </p:txBody>
      </p:sp>
      <p:sp>
        <p:nvSpPr>
          <p:cNvPr id="7" name="TextBox 6">
            <a:extLst>
              <a:ext uri="{FF2B5EF4-FFF2-40B4-BE49-F238E27FC236}">
                <a16:creationId xmlns:a16="http://schemas.microsoft.com/office/drawing/2014/main" id="{F625AC52-8C66-94C5-C635-75DF76CD86C9}"/>
              </a:ext>
            </a:extLst>
          </p:cNvPr>
          <p:cNvSpPr txBox="1"/>
          <p:nvPr/>
        </p:nvSpPr>
        <p:spPr>
          <a:xfrm>
            <a:off x="975360" y="3693815"/>
            <a:ext cx="3611694" cy="1508105"/>
          </a:xfrm>
          <a:prstGeom prst="rect">
            <a:avLst/>
          </a:prstGeom>
          <a:noFill/>
        </p:spPr>
        <p:txBody>
          <a:bodyPr wrap="none" rtlCol="0">
            <a:spAutoFit/>
          </a:bodyPr>
          <a:lstStyle/>
          <a:p>
            <a:r>
              <a:rPr lang="en-US" sz="2000" dirty="0"/>
              <a:t>Which of the following are true? </a:t>
            </a:r>
          </a:p>
          <a:p>
            <a:r>
              <a:rPr lang="en-US" dirty="0">
                <a:latin typeface="Menlo" panose="020B0609030804020204" pitchFamily="49" charset="0"/>
                <a:ea typeface="Menlo" panose="020B0609030804020204" pitchFamily="49" charset="0"/>
                <a:cs typeface="Menlo" panose="020B0609030804020204" pitchFamily="49" charset="0"/>
              </a:rPr>
              <a:t>a == b </a:t>
            </a:r>
          </a:p>
          <a:p>
            <a:r>
              <a:rPr lang="en-US" dirty="0">
                <a:latin typeface="Menlo" panose="020B0609030804020204" pitchFamily="49" charset="0"/>
                <a:ea typeface="Menlo" panose="020B0609030804020204" pitchFamily="49" charset="0"/>
                <a:cs typeface="Menlo" panose="020B0609030804020204" pitchFamily="49" charset="0"/>
              </a:rPr>
              <a:t>ap == bp </a:t>
            </a:r>
          </a:p>
          <a:p>
            <a:r>
              <a:rPr lang="en-US" dirty="0">
                <a:latin typeface="Menlo" panose="020B0609030804020204" pitchFamily="49" charset="0"/>
                <a:ea typeface="Menlo" panose="020B0609030804020204" pitchFamily="49" charset="0"/>
                <a:cs typeface="Menlo" panose="020B0609030804020204" pitchFamily="49" charset="0"/>
              </a:rPr>
              <a:t>ap == cp </a:t>
            </a:r>
          </a:p>
          <a:p>
            <a:r>
              <a:rPr lang="en-US" dirty="0">
                <a:latin typeface="Menlo" panose="020B0609030804020204" pitchFamily="49" charset="0"/>
                <a:ea typeface="Menlo" panose="020B0609030804020204" pitchFamily="49" charset="0"/>
                <a:cs typeface="Menlo" panose="020B0609030804020204" pitchFamily="49" charset="0"/>
              </a:rPr>
              <a:t>*ap == *bp </a:t>
            </a:r>
          </a:p>
        </p:txBody>
      </p:sp>
      <p:sp>
        <p:nvSpPr>
          <p:cNvPr id="8" name="TextBox 7">
            <a:extLst>
              <a:ext uri="{FF2B5EF4-FFF2-40B4-BE49-F238E27FC236}">
                <a16:creationId xmlns:a16="http://schemas.microsoft.com/office/drawing/2014/main" id="{2D072EC3-5A0F-4229-F7C8-4343B0815DBA}"/>
              </a:ext>
            </a:extLst>
          </p:cNvPr>
          <p:cNvSpPr txBox="1"/>
          <p:nvPr/>
        </p:nvSpPr>
        <p:spPr>
          <a:xfrm>
            <a:off x="514072" y="4001591"/>
            <a:ext cx="324128" cy="1200329"/>
          </a:xfrm>
          <a:prstGeom prst="rect">
            <a:avLst/>
          </a:prstGeom>
          <a:noFill/>
        </p:spPr>
        <p:txBody>
          <a:bodyPr wrap="none" rtlCol="0">
            <a:spAutoFit/>
          </a:bodyPr>
          <a:lstStyle/>
          <a:p>
            <a:r>
              <a:rPr lang="en-US" b="1" dirty="0">
                <a:latin typeface="Menlo" panose="020B0609030804020204" pitchFamily="49" charset="0"/>
                <a:ea typeface="Menlo" panose="020B0609030804020204" pitchFamily="49" charset="0"/>
                <a:cs typeface="Menlo" panose="020B0609030804020204" pitchFamily="49" charset="0"/>
              </a:rPr>
              <a:t>T</a:t>
            </a:r>
          </a:p>
          <a:p>
            <a:r>
              <a:rPr lang="en-US" b="1" dirty="0">
                <a:latin typeface="Menlo" panose="020B0609030804020204" pitchFamily="49" charset="0"/>
                <a:ea typeface="Menlo" panose="020B0609030804020204" pitchFamily="49" charset="0"/>
                <a:cs typeface="Menlo" panose="020B0609030804020204" pitchFamily="49" charset="0"/>
              </a:rPr>
              <a:t>F</a:t>
            </a:r>
          </a:p>
          <a:p>
            <a:r>
              <a:rPr lang="en-US" b="1" dirty="0">
                <a:latin typeface="Menlo" panose="020B0609030804020204" pitchFamily="49" charset="0"/>
                <a:ea typeface="Menlo" panose="020B0609030804020204" pitchFamily="49" charset="0"/>
                <a:cs typeface="Menlo" panose="020B0609030804020204" pitchFamily="49" charset="0"/>
              </a:rPr>
              <a:t>F</a:t>
            </a:r>
          </a:p>
          <a:p>
            <a:r>
              <a:rPr lang="en-US" b="1" dirty="0">
                <a:latin typeface="Menlo" panose="020B0609030804020204" pitchFamily="49" charset="0"/>
                <a:ea typeface="Menlo" panose="020B0609030804020204" pitchFamily="49" charset="0"/>
                <a:cs typeface="Menlo" panose="020B0609030804020204" pitchFamily="49" charset="0"/>
              </a:rPr>
              <a:t>T</a:t>
            </a:r>
          </a:p>
        </p:txBody>
      </p:sp>
      <p:sp>
        <p:nvSpPr>
          <p:cNvPr id="9" name="TextBox 8">
            <a:extLst>
              <a:ext uri="{FF2B5EF4-FFF2-40B4-BE49-F238E27FC236}">
                <a16:creationId xmlns:a16="http://schemas.microsoft.com/office/drawing/2014/main" id="{AB846A0D-48F0-A19E-AE02-0FE64CB9C1E6}"/>
              </a:ext>
            </a:extLst>
          </p:cNvPr>
          <p:cNvSpPr txBox="1"/>
          <p:nvPr/>
        </p:nvSpPr>
        <p:spPr>
          <a:xfrm>
            <a:off x="701040" y="5515810"/>
            <a:ext cx="10504799" cy="646331"/>
          </a:xfrm>
          <a:prstGeom prst="rect">
            <a:avLst/>
          </a:prstGeom>
          <a:noFill/>
        </p:spPr>
        <p:txBody>
          <a:bodyPr wrap="none" rtlCol="0">
            <a:spAutoFit/>
          </a:bodyPr>
          <a:lstStyle/>
          <a:p>
            <a:r>
              <a:rPr lang="en-US" dirty="0">
                <a:solidFill>
                  <a:srgbClr val="000000"/>
                </a:solidFill>
                <a:effectLst/>
                <a:latin typeface="Menlo" panose="020B0609030804020204" pitchFamily="49" charset="0"/>
              </a:rPr>
              <a:t>  </a:t>
            </a:r>
            <a:r>
              <a:rPr lang="en-US" dirty="0" err="1">
                <a:solidFill>
                  <a:srgbClr val="000000"/>
                </a:solidFill>
                <a:effectLst/>
                <a:latin typeface="Menlo" panose="020B0609030804020204" pitchFamily="49" charset="0"/>
              </a:rPr>
              <a:t>printf</a:t>
            </a:r>
            <a:r>
              <a:rPr lang="en-US" dirty="0">
                <a:solidFill>
                  <a:srgbClr val="000000"/>
                </a:solidFill>
                <a:effectLst/>
                <a:latin typeface="Menlo" panose="020B0609030804020204" pitchFamily="49" charset="0"/>
              </a:rPr>
              <a:t>(</a:t>
            </a:r>
            <a:r>
              <a:rPr lang="en-US" dirty="0">
                <a:solidFill>
                  <a:srgbClr val="B42419"/>
                </a:solidFill>
                <a:effectLst/>
                <a:latin typeface="Menlo" panose="020B0609030804020204" pitchFamily="49" charset="0"/>
              </a:rPr>
              <a:t>"</a:t>
            </a:r>
            <a:r>
              <a:rPr lang="en-US" dirty="0">
                <a:solidFill>
                  <a:srgbClr val="C814C9"/>
                </a:solidFill>
                <a:effectLst/>
                <a:latin typeface="Menlo" panose="020B0609030804020204" pitchFamily="49" charset="0"/>
              </a:rPr>
              <a:t>%d</a:t>
            </a:r>
            <a:r>
              <a:rPr lang="en-US" dirty="0">
                <a:solidFill>
                  <a:srgbClr val="B42419"/>
                </a:solidFill>
                <a:effectLst/>
                <a:latin typeface="Menlo" panose="020B0609030804020204" pitchFamily="49" charset="0"/>
              </a:rPr>
              <a:t> </a:t>
            </a:r>
            <a:r>
              <a:rPr lang="en-US" dirty="0">
                <a:solidFill>
                  <a:srgbClr val="C814C9"/>
                </a:solidFill>
                <a:effectLst/>
                <a:latin typeface="Menlo" panose="020B0609030804020204" pitchFamily="49" charset="0"/>
              </a:rPr>
              <a:t>%d</a:t>
            </a:r>
            <a:r>
              <a:rPr lang="en-US" dirty="0">
                <a:solidFill>
                  <a:srgbClr val="B42419"/>
                </a:solidFill>
                <a:effectLst/>
                <a:latin typeface="Menlo" panose="020B0609030804020204" pitchFamily="49" charset="0"/>
              </a:rPr>
              <a:t> </a:t>
            </a:r>
            <a:r>
              <a:rPr lang="en-US" dirty="0">
                <a:solidFill>
                  <a:srgbClr val="C814C9"/>
                </a:solidFill>
                <a:effectLst/>
                <a:latin typeface="Menlo" panose="020B0609030804020204" pitchFamily="49" charset="0"/>
              </a:rPr>
              <a:t>%d\n</a:t>
            </a:r>
            <a:r>
              <a:rPr lang="en-US" dirty="0">
                <a:solidFill>
                  <a:srgbClr val="B42419"/>
                </a:solidFill>
                <a:effectLst/>
                <a:latin typeface="Menlo" panose="020B0609030804020204" pitchFamily="49" charset="0"/>
              </a:rPr>
              <a:t>"</a:t>
            </a:r>
            <a:r>
              <a:rPr lang="en-US" dirty="0">
                <a:solidFill>
                  <a:srgbClr val="000000"/>
                </a:solidFill>
                <a:effectLst/>
                <a:latin typeface="Menlo" panose="020B0609030804020204" pitchFamily="49" charset="0"/>
              </a:rPr>
              <a:t>, a, b, c);  </a:t>
            </a:r>
            <a:r>
              <a:rPr lang="en-US" dirty="0">
                <a:solidFill>
                  <a:srgbClr val="400BD9"/>
                </a:solidFill>
                <a:effectLst/>
                <a:latin typeface="Menlo" panose="020B0609030804020204" pitchFamily="49" charset="0"/>
              </a:rPr>
              <a:t>// 7 7 13</a:t>
            </a:r>
          </a:p>
          <a:p>
            <a:r>
              <a:rPr lang="en-US" dirty="0">
                <a:solidFill>
                  <a:srgbClr val="000000"/>
                </a:solidFill>
                <a:effectLst/>
                <a:latin typeface="Menlo" panose="020B0609030804020204" pitchFamily="49" charset="0"/>
              </a:rPr>
              <a:t>  </a:t>
            </a:r>
            <a:r>
              <a:rPr lang="en-US" dirty="0" err="1">
                <a:solidFill>
                  <a:srgbClr val="000000"/>
                </a:solidFill>
                <a:effectLst/>
                <a:latin typeface="Menlo" panose="020B0609030804020204" pitchFamily="49" charset="0"/>
              </a:rPr>
              <a:t>printf</a:t>
            </a:r>
            <a:r>
              <a:rPr lang="en-US" dirty="0">
                <a:solidFill>
                  <a:srgbClr val="000000"/>
                </a:solidFill>
                <a:effectLst/>
                <a:latin typeface="Menlo" panose="020B0609030804020204" pitchFamily="49" charset="0"/>
              </a:rPr>
              <a:t>(</a:t>
            </a:r>
            <a:r>
              <a:rPr lang="en-US" dirty="0">
                <a:solidFill>
                  <a:srgbClr val="B42419"/>
                </a:solidFill>
                <a:effectLst/>
                <a:latin typeface="Menlo" panose="020B0609030804020204" pitchFamily="49" charset="0"/>
              </a:rPr>
              <a:t>"</a:t>
            </a:r>
            <a:r>
              <a:rPr lang="en-US" dirty="0">
                <a:solidFill>
                  <a:srgbClr val="C814C9"/>
                </a:solidFill>
                <a:effectLst/>
                <a:latin typeface="Menlo" panose="020B0609030804020204" pitchFamily="49" charset="0"/>
              </a:rPr>
              <a:t>%p</a:t>
            </a:r>
            <a:r>
              <a:rPr lang="en-US" dirty="0">
                <a:solidFill>
                  <a:srgbClr val="B42419"/>
                </a:solidFill>
                <a:effectLst/>
                <a:latin typeface="Menlo" panose="020B0609030804020204" pitchFamily="49" charset="0"/>
              </a:rPr>
              <a:t> </a:t>
            </a:r>
            <a:r>
              <a:rPr lang="en-US" dirty="0">
                <a:solidFill>
                  <a:srgbClr val="C814C9"/>
                </a:solidFill>
                <a:effectLst/>
                <a:latin typeface="Menlo" panose="020B0609030804020204" pitchFamily="49" charset="0"/>
              </a:rPr>
              <a:t>%p</a:t>
            </a:r>
            <a:r>
              <a:rPr lang="en-US" dirty="0">
                <a:solidFill>
                  <a:srgbClr val="B42419"/>
                </a:solidFill>
                <a:effectLst/>
                <a:latin typeface="Menlo" panose="020B0609030804020204" pitchFamily="49" charset="0"/>
              </a:rPr>
              <a:t> </a:t>
            </a:r>
            <a:r>
              <a:rPr lang="en-US" dirty="0">
                <a:solidFill>
                  <a:srgbClr val="C814C9"/>
                </a:solidFill>
                <a:effectLst/>
                <a:latin typeface="Menlo" panose="020B0609030804020204" pitchFamily="49" charset="0"/>
              </a:rPr>
              <a:t>%p\n</a:t>
            </a:r>
            <a:r>
              <a:rPr lang="en-US" dirty="0">
                <a:solidFill>
                  <a:srgbClr val="B42419"/>
                </a:solidFill>
                <a:effectLst/>
                <a:latin typeface="Menlo" panose="020B0609030804020204" pitchFamily="49" charset="0"/>
              </a:rPr>
              <a:t>"</a:t>
            </a:r>
            <a:r>
              <a:rPr lang="en-US" dirty="0">
                <a:solidFill>
                  <a:srgbClr val="000000"/>
                </a:solidFill>
                <a:effectLst/>
                <a:latin typeface="Menlo" panose="020B0609030804020204" pitchFamily="49" charset="0"/>
              </a:rPr>
              <a:t>, ap, bp, cp);  </a:t>
            </a:r>
            <a:r>
              <a:rPr lang="en-US" dirty="0">
                <a:solidFill>
                  <a:srgbClr val="400BD9"/>
                </a:solidFill>
                <a:effectLst/>
                <a:latin typeface="Menlo" panose="020B0609030804020204" pitchFamily="49" charset="0"/>
              </a:rPr>
              <a:t>//0x16d15b61c 0x16d15b618 0x16d15b614</a:t>
            </a:r>
          </a:p>
        </p:txBody>
      </p:sp>
    </p:spTree>
    <p:extLst>
      <p:ext uri="{BB962C8B-B14F-4D97-AF65-F5344CB8AC3E}">
        <p14:creationId xmlns:p14="http://schemas.microsoft.com/office/powerpoint/2010/main" val="12600586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080C8-F6B4-3CE9-A5D3-FCE78C286CC2}"/>
              </a:ext>
            </a:extLst>
          </p:cNvPr>
          <p:cNvSpPr>
            <a:spLocks noGrp="1"/>
          </p:cNvSpPr>
          <p:nvPr>
            <p:ph type="title"/>
          </p:nvPr>
        </p:nvSpPr>
        <p:spPr/>
        <p:txBody>
          <a:bodyPr/>
          <a:lstStyle/>
          <a:p>
            <a:r>
              <a:rPr lang="en-US" dirty="0"/>
              <a:t>Addresses vs. Values </a:t>
            </a:r>
          </a:p>
        </p:txBody>
      </p:sp>
      <p:sp>
        <p:nvSpPr>
          <p:cNvPr id="4" name="TextBox 3">
            <a:extLst>
              <a:ext uri="{FF2B5EF4-FFF2-40B4-BE49-F238E27FC236}">
                <a16:creationId xmlns:a16="http://schemas.microsoft.com/office/drawing/2014/main" id="{73F7AB0F-526C-C0D9-59F1-4778EDE79D28}"/>
              </a:ext>
            </a:extLst>
          </p:cNvPr>
          <p:cNvSpPr txBox="1"/>
          <p:nvPr/>
        </p:nvSpPr>
        <p:spPr>
          <a:xfrm>
            <a:off x="422656" y="1670182"/>
            <a:ext cx="6949440" cy="156966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a = </a:t>
            </a:r>
            <a:r>
              <a:rPr lang="en-US" sz="1600" dirty="0">
                <a:solidFill>
                  <a:srgbClr val="B42419"/>
                </a:solidFill>
                <a:effectLst/>
                <a:latin typeface="Menlo" panose="020B0609030804020204" pitchFamily="49" charset="0"/>
              </a:rPr>
              <a:t>10</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b = </a:t>
            </a:r>
            <a:r>
              <a:rPr lang="en-US" sz="1600" dirty="0">
                <a:solidFill>
                  <a:srgbClr val="B42419"/>
                </a:solidFill>
                <a:effectLst/>
                <a:latin typeface="Menlo" panose="020B0609030804020204" pitchFamily="49" charset="0"/>
              </a:rPr>
              <a:t>20</a:t>
            </a:r>
            <a:r>
              <a:rPr lang="en-US" sz="1600" dirty="0">
                <a:solidFill>
                  <a:srgbClr val="000000"/>
                </a:solidFill>
                <a:effectLst/>
                <a:latin typeface="Menlo" panose="020B0609030804020204" pitchFamily="49" charset="0"/>
              </a:rPr>
              <a:t>;</a:t>
            </a:r>
          </a:p>
          <a:p>
            <a:r>
              <a:rPr lang="en-US" sz="1600" dirty="0">
                <a:solidFill>
                  <a:srgbClr val="000000"/>
                </a:solidFill>
                <a:effectLst/>
                <a:latin typeface="Menlo" panose="020B0609030804020204" pitchFamily="49" charset="0"/>
              </a:rPr>
              <a:t>  </a:t>
            </a:r>
            <a:r>
              <a:rPr lang="en-US" sz="1600" dirty="0">
                <a:solidFill>
                  <a:srgbClr val="2FB41D"/>
                </a:solidFill>
                <a:effectLst/>
                <a:latin typeface="Menlo" panose="020B0609030804020204" pitchFamily="49" charset="0"/>
              </a:rPr>
              <a:t>int</a:t>
            </a:r>
            <a:r>
              <a:rPr lang="en-US" sz="1600" dirty="0">
                <a:solidFill>
                  <a:srgbClr val="000000"/>
                </a:solidFill>
                <a:effectLst/>
                <a:latin typeface="Menlo" panose="020B0609030804020204" pitchFamily="49" charset="0"/>
              </a:rPr>
              <a:t> c = a + b;</a:t>
            </a: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"a's value: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a's address: </a:t>
            </a:r>
            <a:r>
              <a:rPr lang="en-US" sz="1600" dirty="0">
                <a:solidFill>
                  <a:srgbClr val="C814C9"/>
                </a:solidFill>
                <a:effectLst/>
                <a:latin typeface="Menlo" panose="020B0609030804020204" pitchFamily="49" charset="0"/>
              </a:rPr>
              <a:t>%p\n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a, &amp;a);</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"b's value: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b's address: </a:t>
            </a:r>
            <a:r>
              <a:rPr lang="en-US" sz="1600" dirty="0">
                <a:solidFill>
                  <a:srgbClr val="C814C9"/>
                </a:solidFill>
                <a:effectLst/>
                <a:latin typeface="Menlo" panose="020B0609030804020204" pitchFamily="49" charset="0"/>
              </a:rPr>
              <a:t>%p\n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b, &amp;b);</a:t>
            </a:r>
            <a:endParaRPr lang="en-US" sz="1600" dirty="0">
              <a:solidFill>
                <a:srgbClr val="B42419"/>
              </a:solidFill>
              <a:effectLst/>
              <a:latin typeface="Menlo" panose="020B0609030804020204" pitchFamily="49" charset="0"/>
            </a:endParaRPr>
          </a:p>
          <a:p>
            <a:r>
              <a:rPr lang="en-US" sz="1600" dirty="0">
                <a:solidFill>
                  <a:srgbClr val="000000"/>
                </a:solidFill>
                <a:effectLst/>
                <a:latin typeface="Menlo" panose="020B0609030804020204" pitchFamily="49" charset="0"/>
              </a:rPr>
              <a:t>  </a:t>
            </a:r>
            <a:r>
              <a:rPr lang="en-US" sz="1600" dirty="0" err="1">
                <a:solidFill>
                  <a:srgbClr val="000000"/>
                </a:solidFill>
                <a:effectLst/>
                <a:latin typeface="Menlo" panose="020B0609030804020204" pitchFamily="49" charset="0"/>
              </a:rPr>
              <a:t>printf</a:t>
            </a:r>
            <a:r>
              <a:rPr lang="en-US" sz="1600" dirty="0">
                <a:solidFill>
                  <a:srgbClr val="000000"/>
                </a:solidFill>
                <a:effectLst/>
                <a:latin typeface="Menlo" panose="020B0609030804020204" pitchFamily="49" charset="0"/>
              </a:rPr>
              <a:t>(</a:t>
            </a:r>
            <a:r>
              <a:rPr lang="en-US" sz="1600" dirty="0">
                <a:solidFill>
                  <a:srgbClr val="B42419"/>
                </a:solidFill>
                <a:effectLst/>
                <a:latin typeface="Menlo" panose="020B0609030804020204" pitchFamily="49" charset="0"/>
              </a:rPr>
              <a:t>"c's value: </a:t>
            </a:r>
            <a:r>
              <a:rPr lang="en-US" sz="1600" dirty="0">
                <a:solidFill>
                  <a:srgbClr val="C814C9"/>
                </a:solidFill>
                <a:effectLst/>
                <a:latin typeface="Menlo" panose="020B0609030804020204" pitchFamily="49" charset="0"/>
              </a:rPr>
              <a:t>%d</a:t>
            </a:r>
            <a:r>
              <a:rPr lang="en-US" sz="1600" dirty="0">
                <a:solidFill>
                  <a:srgbClr val="B42419"/>
                </a:solidFill>
                <a:effectLst/>
                <a:latin typeface="Menlo" panose="020B0609030804020204" pitchFamily="49" charset="0"/>
              </a:rPr>
              <a:t>, c's address: </a:t>
            </a:r>
            <a:r>
              <a:rPr lang="en-US" sz="1600" dirty="0">
                <a:solidFill>
                  <a:srgbClr val="C814C9"/>
                </a:solidFill>
                <a:effectLst/>
                <a:latin typeface="Menlo" panose="020B0609030804020204" pitchFamily="49" charset="0"/>
              </a:rPr>
              <a:t>%p\n</a:t>
            </a:r>
            <a:r>
              <a:rPr lang="en-US" sz="1600" dirty="0">
                <a:solidFill>
                  <a:srgbClr val="B42419"/>
                </a:solidFill>
                <a:effectLst/>
                <a:latin typeface="Menlo" panose="020B0609030804020204" pitchFamily="49" charset="0"/>
              </a:rPr>
              <a:t>"</a:t>
            </a:r>
            <a:r>
              <a:rPr lang="en-US" sz="1600" dirty="0">
                <a:solidFill>
                  <a:srgbClr val="000000"/>
                </a:solidFill>
                <a:effectLst/>
                <a:latin typeface="Menlo" panose="020B0609030804020204" pitchFamily="49" charset="0"/>
              </a:rPr>
              <a:t>, c, &amp;c);</a:t>
            </a:r>
            <a:endParaRPr lang="en-US" sz="1600" dirty="0">
              <a:solidFill>
                <a:srgbClr val="B42419"/>
              </a:solidFill>
              <a:effectLst/>
              <a:latin typeface="Menlo" panose="020B0609030804020204" pitchFamily="49" charset="0"/>
            </a:endParaRPr>
          </a:p>
        </p:txBody>
      </p:sp>
      <p:pic>
        <p:nvPicPr>
          <p:cNvPr id="5" name="Picture 4">
            <a:extLst>
              <a:ext uri="{FF2B5EF4-FFF2-40B4-BE49-F238E27FC236}">
                <a16:creationId xmlns:a16="http://schemas.microsoft.com/office/drawing/2014/main" id="{08ECFCD9-2E5B-C8C3-092A-E6C826C54FCC}"/>
              </a:ext>
            </a:extLst>
          </p:cNvPr>
          <p:cNvPicPr>
            <a:picLocks noChangeAspect="1"/>
          </p:cNvPicPr>
          <p:nvPr/>
        </p:nvPicPr>
        <p:blipFill>
          <a:blip r:embed="rId3"/>
          <a:stretch>
            <a:fillRect/>
          </a:stretch>
        </p:blipFill>
        <p:spPr>
          <a:xfrm>
            <a:off x="3200400" y="4548361"/>
            <a:ext cx="4976592" cy="1000258"/>
          </a:xfrm>
          <a:prstGeom prst="rect">
            <a:avLst/>
          </a:prstGeom>
          <a:ln>
            <a:solidFill>
              <a:schemeClr val="tx1"/>
            </a:solidFill>
          </a:ln>
          <a:effectLst>
            <a:outerShdw blurRad="50800" dist="38100" dir="2700000" algn="tl" rotWithShape="0">
              <a:prstClr val="black">
                <a:alpha val="40000"/>
              </a:prstClr>
            </a:outerShdw>
          </a:effectLst>
        </p:spPr>
      </p:pic>
      <p:grpSp>
        <p:nvGrpSpPr>
          <p:cNvPr id="6" name="Group 5">
            <a:extLst>
              <a:ext uri="{FF2B5EF4-FFF2-40B4-BE49-F238E27FC236}">
                <a16:creationId xmlns:a16="http://schemas.microsoft.com/office/drawing/2014/main" id="{F83C3C9E-A58B-87DE-372F-8735FC19253A}"/>
              </a:ext>
            </a:extLst>
          </p:cNvPr>
          <p:cNvGrpSpPr/>
          <p:nvPr/>
        </p:nvGrpSpPr>
        <p:grpSpPr>
          <a:xfrm>
            <a:off x="8654885" y="3683831"/>
            <a:ext cx="896130" cy="2033799"/>
            <a:chOff x="7211641" y="2964924"/>
            <a:chExt cx="896130" cy="2033799"/>
          </a:xfrm>
        </p:grpSpPr>
        <p:sp>
          <p:nvSpPr>
            <p:cNvPr id="7" name="Rectangle 6">
              <a:extLst>
                <a:ext uri="{FF2B5EF4-FFF2-40B4-BE49-F238E27FC236}">
                  <a16:creationId xmlns:a16="http://schemas.microsoft.com/office/drawing/2014/main" id="{D350D03D-1CBF-BED0-2924-EB535E741679}"/>
                </a:ext>
              </a:extLst>
            </p:cNvPr>
            <p:cNvSpPr/>
            <p:nvPr/>
          </p:nvSpPr>
          <p:spPr>
            <a:xfrm>
              <a:off x="7211641" y="2964924"/>
              <a:ext cx="896130" cy="20337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DEDC363A-40E5-A6F8-01FA-B9327771FD43}"/>
                </a:ext>
              </a:extLst>
            </p:cNvPr>
            <p:cNvSpPr txBox="1"/>
            <p:nvPr/>
          </p:nvSpPr>
          <p:spPr>
            <a:xfrm rot="5400000">
              <a:off x="7460773" y="4441247"/>
              <a:ext cx="397866" cy="461665"/>
            </a:xfrm>
            <a:prstGeom prst="rect">
              <a:avLst/>
            </a:prstGeom>
            <a:noFill/>
          </p:spPr>
          <p:txBody>
            <a:bodyPr wrap="none" rtlCol="0">
              <a:spAutoFit/>
            </a:bodyPr>
            <a:lstStyle/>
            <a:p>
              <a:r>
                <a:rPr lang="en-US" sz="2400" dirty="0"/>
                <a:t>…</a:t>
              </a:r>
            </a:p>
          </p:txBody>
        </p:sp>
        <p:sp>
          <p:nvSpPr>
            <p:cNvPr id="9" name="TextBox 8">
              <a:extLst>
                <a:ext uri="{FF2B5EF4-FFF2-40B4-BE49-F238E27FC236}">
                  <a16:creationId xmlns:a16="http://schemas.microsoft.com/office/drawing/2014/main" id="{2EF1D447-9100-07D0-669E-0D63EF1B3758}"/>
                </a:ext>
              </a:extLst>
            </p:cNvPr>
            <p:cNvSpPr txBox="1"/>
            <p:nvPr/>
          </p:nvSpPr>
          <p:spPr>
            <a:xfrm rot="5400000">
              <a:off x="7464004" y="2990901"/>
              <a:ext cx="397866" cy="461665"/>
            </a:xfrm>
            <a:prstGeom prst="rect">
              <a:avLst/>
            </a:prstGeom>
            <a:noFill/>
          </p:spPr>
          <p:txBody>
            <a:bodyPr wrap="none" rtlCol="0">
              <a:spAutoFit/>
            </a:bodyPr>
            <a:lstStyle/>
            <a:p>
              <a:r>
                <a:rPr lang="en-US" sz="2400" dirty="0"/>
                <a:t>…</a:t>
              </a:r>
            </a:p>
          </p:txBody>
        </p:sp>
      </p:grpSp>
      <p:sp>
        <p:nvSpPr>
          <p:cNvPr id="10" name="Rectangle 9">
            <a:extLst>
              <a:ext uri="{FF2B5EF4-FFF2-40B4-BE49-F238E27FC236}">
                <a16:creationId xmlns:a16="http://schemas.microsoft.com/office/drawing/2014/main" id="{B23ACED7-4D38-2035-11E5-3B8638EE6941}"/>
              </a:ext>
            </a:extLst>
          </p:cNvPr>
          <p:cNvSpPr/>
          <p:nvPr/>
        </p:nvSpPr>
        <p:spPr>
          <a:xfrm>
            <a:off x="8654886" y="4192507"/>
            <a:ext cx="896129" cy="2480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10</a:t>
            </a:r>
          </a:p>
        </p:txBody>
      </p:sp>
      <p:sp>
        <p:nvSpPr>
          <p:cNvPr id="11" name="Rectangle 10">
            <a:extLst>
              <a:ext uri="{FF2B5EF4-FFF2-40B4-BE49-F238E27FC236}">
                <a16:creationId xmlns:a16="http://schemas.microsoft.com/office/drawing/2014/main" id="{15E6AD24-5109-C1CC-6751-EE3FF35085F0}"/>
              </a:ext>
            </a:extLst>
          </p:cNvPr>
          <p:cNvSpPr/>
          <p:nvPr/>
        </p:nvSpPr>
        <p:spPr>
          <a:xfrm>
            <a:off x="8654886" y="4435291"/>
            <a:ext cx="896129" cy="2480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20</a:t>
            </a:r>
          </a:p>
        </p:txBody>
      </p:sp>
      <p:sp>
        <p:nvSpPr>
          <p:cNvPr id="12" name="Rectangle 11">
            <a:extLst>
              <a:ext uri="{FF2B5EF4-FFF2-40B4-BE49-F238E27FC236}">
                <a16:creationId xmlns:a16="http://schemas.microsoft.com/office/drawing/2014/main" id="{A0F533EF-FDB2-C9CC-D55A-8F1E7ABA13A4}"/>
              </a:ext>
            </a:extLst>
          </p:cNvPr>
          <p:cNvSpPr/>
          <p:nvPr/>
        </p:nvSpPr>
        <p:spPr>
          <a:xfrm>
            <a:off x="8654886" y="4683861"/>
            <a:ext cx="896129" cy="2480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30</a:t>
            </a:r>
          </a:p>
        </p:txBody>
      </p:sp>
      <p:sp>
        <p:nvSpPr>
          <p:cNvPr id="13" name="TextBox 12">
            <a:extLst>
              <a:ext uri="{FF2B5EF4-FFF2-40B4-BE49-F238E27FC236}">
                <a16:creationId xmlns:a16="http://schemas.microsoft.com/office/drawing/2014/main" id="{148D7AAD-41BA-6162-8393-01AF3EC359DE}"/>
              </a:ext>
            </a:extLst>
          </p:cNvPr>
          <p:cNvSpPr txBox="1"/>
          <p:nvPr/>
        </p:nvSpPr>
        <p:spPr>
          <a:xfrm>
            <a:off x="8602458" y="3236555"/>
            <a:ext cx="1078821" cy="400110"/>
          </a:xfrm>
          <a:prstGeom prst="rect">
            <a:avLst/>
          </a:prstGeom>
          <a:noFill/>
        </p:spPr>
        <p:txBody>
          <a:bodyPr wrap="none" rtlCol="0">
            <a:spAutoFit/>
          </a:bodyPr>
          <a:lstStyle/>
          <a:p>
            <a:r>
              <a:rPr lang="en-US" sz="2000" dirty="0"/>
              <a:t>Memory</a:t>
            </a:r>
          </a:p>
        </p:txBody>
      </p:sp>
      <p:sp>
        <p:nvSpPr>
          <p:cNvPr id="14" name="TextBox 13">
            <a:extLst>
              <a:ext uri="{FF2B5EF4-FFF2-40B4-BE49-F238E27FC236}">
                <a16:creationId xmlns:a16="http://schemas.microsoft.com/office/drawing/2014/main" id="{6406DECD-13CC-403C-3B22-7C2C235CF0CA}"/>
              </a:ext>
            </a:extLst>
          </p:cNvPr>
          <p:cNvSpPr txBox="1"/>
          <p:nvPr/>
        </p:nvSpPr>
        <p:spPr>
          <a:xfrm>
            <a:off x="9553068" y="5455136"/>
            <a:ext cx="2186111" cy="369332"/>
          </a:xfrm>
          <a:prstGeom prst="rect">
            <a:avLst/>
          </a:prstGeom>
          <a:noFill/>
        </p:spPr>
        <p:txBody>
          <a:bodyPr wrap="none" rtlCol="0">
            <a:spAutoFit/>
          </a:bodyPr>
          <a:lstStyle/>
          <a:p>
            <a:r>
              <a:rPr lang="en-US" dirty="0"/>
              <a:t>Low address (</a:t>
            </a:r>
            <a:r>
              <a:rPr lang="en-US" sz="1400" dirty="0">
                <a:latin typeface="Menlo" panose="020B0609030804020204" pitchFamily="49" charset="0"/>
                <a:ea typeface="Menlo" panose="020B0609030804020204" pitchFamily="49" charset="0"/>
                <a:cs typeface="Menlo" panose="020B0609030804020204" pitchFamily="49" charset="0"/>
              </a:rPr>
              <a:t>000…00</a:t>
            </a:r>
            <a:r>
              <a:rPr lang="en-US" dirty="0"/>
              <a:t>)</a:t>
            </a:r>
          </a:p>
        </p:txBody>
      </p:sp>
      <p:sp>
        <p:nvSpPr>
          <p:cNvPr id="15" name="TextBox 14">
            <a:extLst>
              <a:ext uri="{FF2B5EF4-FFF2-40B4-BE49-F238E27FC236}">
                <a16:creationId xmlns:a16="http://schemas.microsoft.com/office/drawing/2014/main" id="{916027C0-924B-79BD-D773-6A5D588DA2D5}"/>
              </a:ext>
            </a:extLst>
          </p:cNvPr>
          <p:cNvSpPr txBox="1"/>
          <p:nvPr/>
        </p:nvSpPr>
        <p:spPr>
          <a:xfrm>
            <a:off x="9642364" y="3499165"/>
            <a:ext cx="2230291" cy="369332"/>
          </a:xfrm>
          <a:prstGeom prst="rect">
            <a:avLst/>
          </a:prstGeom>
          <a:noFill/>
        </p:spPr>
        <p:txBody>
          <a:bodyPr wrap="none" rtlCol="0">
            <a:spAutoFit/>
          </a:bodyPr>
          <a:lstStyle/>
          <a:p>
            <a:r>
              <a:rPr lang="en-US" dirty="0"/>
              <a:t>High address (</a:t>
            </a:r>
            <a:r>
              <a:rPr lang="en-US" sz="1400" dirty="0" err="1">
                <a:latin typeface="Menlo" panose="020B0609030804020204" pitchFamily="49" charset="0"/>
                <a:ea typeface="Menlo" panose="020B0609030804020204" pitchFamily="49" charset="0"/>
                <a:cs typeface="Menlo" panose="020B0609030804020204" pitchFamily="49" charset="0"/>
              </a:rPr>
              <a:t>fff</a:t>
            </a:r>
            <a:r>
              <a:rPr lang="en-US" sz="1400" dirty="0">
                <a:latin typeface="Menlo" panose="020B0609030804020204" pitchFamily="49" charset="0"/>
                <a:ea typeface="Menlo" panose="020B0609030804020204" pitchFamily="49" charset="0"/>
                <a:cs typeface="Menlo" panose="020B0609030804020204" pitchFamily="49" charset="0"/>
              </a:rPr>
              <a:t>…ff</a:t>
            </a:r>
            <a:r>
              <a:rPr lang="en-US" dirty="0"/>
              <a:t>)</a:t>
            </a:r>
          </a:p>
        </p:txBody>
      </p:sp>
      <p:grpSp>
        <p:nvGrpSpPr>
          <p:cNvPr id="20" name="Group 19">
            <a:extLst>
              <a:ext uri="{FF2B5EF4-FFF2-40B4-BE49-F238E27FC236}">
                <a16:creationId xmlns:a16="http://schemas.microsoft.com/office/drawing/2014/main" id="{D2C1BE9F-89E7-FD25-9374-F425AFF60955}"/>
              </a:ext>
            </a:extLst>
          </p:cNvPr>
          <p:cNvGrpSpPr/>
          <p:nvPr/>
        </p:nvGrpSpPr>
        <p:grpSpPr>
          <a:xfrm flipV="1">
            <a:off x="8107680" y="4297675"/>
            <a:ext cx="547205" cy="1097283"/>
            <a:chOff x="7289800" y="3715700"/>
            <a:chExt cx="1365086" cy="1289157"/>
          </a:xfrm>
        </p:grpSpPr>
        <p:cxnSp>
          <p:nvCxnSpPr>
            <p:cNvPr id="16" name="Straight Arrow Connector 15">
              <a:extLst>
                <a:ext uri="{FF2B5EF4-FFF2-40B4-BE49-F238E27FC236}">
                  <a16:creationId xmlns:a16="http://schemas.microsoft.com/office/drawing/2014/main" id="{F523AE12-F1BA-A4B4-DA1D-EA20921CB7DA}"/>
                </a:ext>
              </a:extLst>
            </p:cNvPr>
            <p:cNvCxnSpPr>
              <a:cxnSpLocks/>
            </p:cNvCxnSpPr>
            <p:nvPr/>
          </p:nvCxnSpPr>
          <p:spPr>
            <a:xfrm>
              <a:off x="7289800" y="3715700"/>
              <a:ext cx="1365086" cy="638773"/>
            </a:xfrm>
            <a:prstGeom prst="straightConnector1">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C664A293-7823-247C-57AA-3E2C2D04B367}"/>
                </a:ext>
              </a:extLst>
            </p:cNvPr>
            <p:cNvCxnSpPr>
              <a:cxnSpLocks/>
            </p:cNvCxnSpPr>
            <p:nvPr/>
          </p:nvCxnSpPr>
          <p:spPr>
            <a:xfrm>
              <a:off x="7289800" y="4047181"/>
              <a:ext cx="1365086" cy="615375"/>
            </a:xfrm>
            <a:prstGeom prst="straightConnector1">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746DCBA5-3F9F-D2D1-9B04-B0D70C10112A}"/>
                </a:ext>
              </a:extLst>
            </p:cNvPr>
            <p:cNvCxnSpPr>
              <a:cxnSpLocks/>
            </p:cNvCxnSpPr>
            <p:nvPr/>
          </p:nvCxnSpPr>
          <p:spPr>
            <a:xfrm>
              <a:off x="7289800" y="4389482"/>
              <a:ext cx="1365086" cy="615375"/>
            </a:xfrm>
            <a:prstGeom prst="straightConnector1">
              <a:avLst/>
            </a:prstGeom>
            <a:ln w="19050">
              <a:solidFill>
                <a:srgbClr val="C00000"/>
              </a:solidFill>
              <a:tailEnd type="triangle" w="lg" len="lg"/>
            </a:ln>
          </p:spPr>
          <p:style>
            <a:lnRef idx="1">
              <a:schemeClr val="dk1"/>
            </a:lnRef>
            <a:fillRef idx="0">
              <a:schemeClr val="dk1"/>
            </a:fillRef>
            <a:effectRef idx="0">
              <a:schemeClr val="dk1"/>
            </a:effectRef>
            <a:fontRef idx="minor">
              <a:schemeClr val="tx1"/>
            </a:fontRef>
          </p:style>
        </p:cxnSp>
      </p:grpSp>
      <p:sp>
        <p:nvSpPr>
          <p:cNvPr id="21" name="TextBox 20">
            <a:extLst>
              <a:ext uri="{FF2B5EF4-FFF2-40B4-BE49-F238E27FC236}">
                <a16:creationId xmlns:a16="http://schemas.microsoft.com/office/drawing/2014/main" id="{9FE9EC1C-E489-3524-A4EC-B0A1432D8FD6}"/>
              </a:ext>
            </a:extLst>
          </p:cNvPr>
          <p:cNvSpPr txBox="1"/>
          <p:nvPr/>
        </p:nvSpPr>
        <p:spPr>
          <a:xfrm>
            <a:off x="7441735" y="6034553"/>
            <a:ext cx="4750265" cy="400110"/>
          </a:xfrm>
          <a:prstGeom prst="rect">
            <a:avLst/>
          </a:prstGeom>
          <a:noFill/>
        </p:spPr>
        <p:txBody>
          <a:bodyPr wrap="square" rtlCol="0">
            <a:spAutoFit/>
          </a:bodyPr>
          <a:lstStyle/>
          <a:p>
            <a:r>
              <a:rPr lang="en-US" sz="2000" b="1" i="1" dirty="0"/>
              <a:t>Q: Why do the addresses have gaps of 4?</a:t>
            </a:r>
          </a:p>
        </p:txBody>
      </p:sp>
    </p:spTree>
    <p:extLst>
      <p:ext uri="{BB962C8B-B14F-4D97-AF65-F5344CB8AC3E}">
        <p14:creationId xmlns:p14="http://schemas.microsoft.com/office/powerpoint/2010/main" val="4158597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1" grpId="0" animBg="1"/>
      <p:bldP spid="12" grpId="0" animBg="1"/>
      <p:bldP spid="13" grpId="0"/>
      <p:bldP spid="14" grpId="0"/>
      <p:bldP spid="15" grpId="0"/>
      <p:bldP spid="2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10594</TotalTime>
  <Words>3649</Words>
  <Application>Microsoft Macintosh PowerPoint</Application>
  <PresentationFormat>Widescreen</PresentationFormat>
  <Paragraphs>562</Paragraphs>
  <Slides>32</Slides>
  <Notes>3</Notes>
  <HiddenSlides>6</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32</vt:i4>
      </vt:variant>
    </vt:vector>
  </HeadingPairs>
  <TitlesOfParts>
    <vt:vector size="43" baseType="lpstr">
      <vt:lpstr>Calibri Bold</vt:lpstr>
      <vt:lpstr>CMSS10</vt:lpstr>
      <vt:lpstr>CMSS8</vt:lpstr>
      <vt:lpstr>CMTT10</vt:lpstr>
      <vt:lpstr>CMTT8</vt:lpstr>
      <vt:lpstr>Arial</vt:lpstr>
      <vt:lpstr>Calibri</vt:lpstr>
      <vt:lpstr>Calibri Light</vt:lpstr>
      <vt:lpstr>Menlo</vt:lpstr>
      <vt:lpstr>Wingdings</vt:lpstr>
      <vt:lpstr>Office Theme</vt:lpstr>
      <vt:lpstr>Pointers I  CMSC 14300: System Programming I 6th Lecture</vt:lpstr>
      <vt:lpstr>Motivating Example (I)</vt:lpstr>
      <vt:lpstr>Motivating Example (II)</vt:lpstr>
      <vt:lpstr>Motivating Example (III)</vt:lpstr>
      <vt:lpstr>Key concept: Indirection</vt:lpstr>
      <vt:lpstr>Overview</vt:lpstr>
      <vt:lpstr>Memory address</vt:lpstr>
      <vt:lpstr>Pointer</vt:lpstr>
      <vt:lpstr>Addresses vs. Values </vt:lpstr>
      <vt:lpstr>Pass-by-Value</vt:lpstr>
      <vt:lpstr>Pass-by-Reference </vt:lpstr>
      <vt:lpstr>“Returning” Multiple Values </vt:lpstr>
      <vt:lpstr>Overview</vt:lpstr>
      <vt:lpstr>Call Stack</vt:lpstr>
      <vt:lpstr>Call Stack Example</vt:lpstr>
      <vt:lpstr>Call Stack Example</vt:lpstr>
      <vt:lpstr>Overview</vt:lpstr>
      <vt:lpstr>malloc: Getting a pointer for a region of memory</vt:lpstr>
      <vt:lpstr>malloc: Where the data is in memory</vt:lpstr>
      <vt:lpstr>free: Deallocation</vt:lpstr>
      <vt:lpstr>free: Deallocation</vt:lpstr>
      <vt:lpstr>Overview</vt:lpstr>
      <vt:lpstr>Print the bit vector of a char integer</vt:lpstr>
      <vt:lpstr>Recap</vt:lpstr>
      <vt:lpstr>PowerPoint Presentation</vt:lpstr>
      <vt:lpstr>PowerPoint Presentation</vt:lpstr>
      <vt:lpstr>Motivating Example (III)</vt:lpstr>
      <vt:lpstr>Where is a variable in memory?</vt:lpstr>
      <vt:lpstr>Call Stack Example</vt:lpstr>
      <vt:lpstr>Call Stack</vt:lpstr>
      <vt:lpstr>Addresses vs. Values </vt:lpstr>
      <vt:lpstr>Addresses vs. Values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Overview  CMSC 14300: System programming I 1st Lecture</dc:title>
  <dc:creator>Junchen Jiang</dc:creator>
  <cp:lastModifiedBy>Junchen Jiang</cp:lastModifiedBy>
  <cp:revision>441</cp:revision>
  <dcterms:created xsi:type="dcterms:W3CDTF">2023-03-12T16:00:37Z</dcterms:created>
  <dcterms:modified xsi:type="dcterms:W3CDTF">2023-03-31T19:26:32Z</dcterms:modified>
</cp:coreProperties>
</file>