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20" r:id="rId3"/>
    <p:sldId id="306" r:id="rId4"/>
    <p:sldId id="308" r:id="rId5"/>
    <p:sldId id="309" r:id="rId6"/>
    <p:sldId id="310" r:id="rId7"/>
    <p:sldId id="317" r:id="rId8"/>
    <p:sldId id="318" r:id="rId9"/>
    <p:sldId id="342" r:id="rId10"/>
    <p:sldId id="331" r:id="rId11"/>
    <p:sldId id="338" r:id="rId12"/>
    <p:sldId id="339" r:id="rId13"/>
    <p:sldId id="343" r:id="rId14"/>
    <p:sldId id="334" r:id="rId15"/>
    <p:sldId id="344" r:id="rId16"/>
    <p:sldId id="336" r:id="rId17"/>
    <p:sldId id="341" r:id="rId18"/>
    <p:sldId id="33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8"/>
    <p:restoredTop sz="80867"/>
  </p:normalViewPr>
  <p:slideViewPr>
    <p:cSldViewPr snapToGrid="0">
      <p:cViewPr>
        <p:scale>
          <a:sx n="90" d="100"/>
          <a:sy n="90" d="100"/>
        </p:scale>
        <p:origin x="848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 sz="4400" b="1" kern="0" dirty="0">
                <a:solidFill>
                  <a:schemeClr val="tx1"/>
                </a:solidFill>
                <a:latin typeface="Calibri" pitchFamily="34" charset="0"/>
              </a:rPr>
              <a:t>Thread III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19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300B-3F42-8BD2-76DA-A38514CE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Concurrency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04B1F-A120-1495-9064-56EDD13D0DDF}"/>
              </a:ext>
            </a:extLst>
          </p:cNvPr>
          <p:cNvSpPr txBox="1"/>
          <p:nvPr/>
        </p:nvSpPr>
        <p:spPr>
          <a:xfrm>
            <a:off x="995880" y="1321237"/>
            <a:ext cx="5017720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*func1(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*func2(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func1,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A21EF-5DB9-419C-0CB8-711F5795EC06}"/>
              </a:ext>
            </a:extLst>
          </p:cNvPr>
          <p:cNvSpPr txBox="1"/>
          <p:nvPr/>
        </p:nvSpPr>
        <p:spPr>
          <a:xfrm>
            <a:off x="6618083" y="1919335"/>
            <a:ext cx="369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the following outcomes possible?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D8DCB-2210-2597-108F-947729E3B49E}"/>
              </a:ext>
            </a:extLst>
          </p:cNvPr>
          <p:cNvSpPr txBox="1"/>
          <p:nvPr/>
        </p:nvSpPr>
        <p:spPr>
          <a:xfrm>
            <a:off x="6699560" y="2689155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func1 func2 func1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0E685-F452-C1E6-652E-6DFF9F48F900}"/>
              </a:ext>
            </a:extLst>
          </p:cNvPr>
          <p:cNvSpPr txBox="1"/>
          <p:nvPr/>
        </p:nvSpPr>
        <p:spPr>
          <a:xfrm>
            <a:off x="9850170" y="2634558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42CA11-AEE2-60B9-E2F9-E4E0137F5E02}"/>
              </a:ext>
            </a:extLst>
          </p:cNvPr>
          <p:cNvSpPr txBox="1"/>
          <p:nvPr/>
        </p:nvSpPr>
        <p:spPr>
          <a:xfrm>
            <a:off x="9850170" y="3391590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601DE-DA09-AD57-A940-D3C5AD159E05}"/>
              </a:ext>
            </a:extLst>
          </p:cNvPr>
          <p:cNvSpPr txBox="1"/>
          <p:nvPr/>
        </p:nvSpPr>
        <p:spPr>
          <a:xfrm>
            <a:off x="9850170" y="416141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3A0E93-4C25-E30D-175F-B9B211919A98}"/>
              </a:ext>
            </a:extLst>
          </p:cNvPr>
          <p:cNvSpPr txBox="1"/>
          <p:nvPr/>
        </p:nvSpPr>
        <p:spPr>
          <a:xfrm>
            <a:off x="6699560" y="3406979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func2 func1 func1 main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5CA376-14E0-610A-3D1F-C1816D40AA9F}"/>
              </a:ext>
            </a:extLst>
          </p:cNvPr>
          <p:cNvSpPr txBox="1"/>
          <p:nvPr/>
        </p:nvSpPr>
        <p:spPr>
          <a:xfrm>
            <a:off x="6699560" y="4192188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func1 func1 func2 main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F6F9C-D8CC-CE14-07FF-551251331F5D}"/>
              </a:ext>
            </a:extLst>
          </p:cNvPr>
          <p:cNvSpPr txBox="1"/>
          <p:nvPr/>
        </p:nvSpPr>
        <p:spPr>
          <a:xfrm>
            <a:off x="6444189" y="816412"/>
            <a:ext cx="51478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Concurrency among threads:</a:t>
            </a:r>
          </a:p>
          <a:p>
            <a:r>
              <a:rPr lang="en-US" sz="2000" dirty="0"/>
              <a:t>Different threads can proceed in 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234747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AB6B-78CF-8D32-C21E-7657379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Accessing Data Across 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84F45-9B17-B088-8957-4F3CED916EFB}"/>
              </a:ext>
            </a:extLst>
          </p:cNvPr>
          <p:cNvSpPr txBox="1"/>
          <p:nvPr/>
        </p:nvSpPr>
        <p:spPr>
          <a:xfrm>
            <a:off x="426268" y="1221749"/>
            <a:ext cx="566973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"foo"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"bar"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{s1, s2};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29BEB-F0B4-78AB-9154-9068F3B23A14}"/>
              </a:ext>
            </a:extLst>
          </p:cNvPr>
          <p:cNvSpPr txBox="1"/>
          <p:nvPr/>
        </p:nvSpPr>
        <p:spPr>
          <a:xfrm>
            <a:off x="6485486" y="1871670"/>
            <a:ext cx="3899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Will </a:t>
            </a:r>
            <a:r>
              <a:rPr lang="en-US" sz="2400" dirty="0" err="1"/>
              <a:t>func</a:t>
            </a:r>
            <a:r>
              <a:rPr lang="en-US" sz="2400" dirty="0"/>
              <a:t> print "foo" or "bar"?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8B765-9B7B-9482-5287-4F8D6FDCC029}"/>
              </a:ext>
            </a:extLst>
          </p:cNvPr>
          <p:cNvSpPr txBox="1"/>
          <p:nvPr/>
        </p:nvSpPr>
        <p:spPr>
          <a:xfrm>
            <a:off x="10479617" y="1866714"/>
            <a:ext cx="63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0C4F9DF-1DE1-9CD9-8012-D2ECFB0A84DF}"/>
              </a:ext>
            </a:extLst>
          </p:cNvPr>
          <p:cNvSpPr/>
          <p:nvPr/>
        </p:nvSpPr>
        <p:spPr>
          <a:xfrm>
            <a:off x="2545567" y="2210211"/>
            <a:ext cx="1287524" cy="3297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72EE65-719D-9C4B-108C-38DE72C61EE6}"/>
              </a:ext>
            </a:extLst>
          </p:cNvPr>
          <p:cNvSpPr txBox="1"/>
          <p:nvPr/>
        </p:nvSpPr>
        <p:spPr>
          <a:xfrm>
            <a:off x="2545567" y="2853567"/>
            <a:ext cx="2494312" cy="442674"/>
          </a:xfrm>
          <a:prstGeom prst="wedgeRoundRectCallout">
            <a:avLst>
              <a:gd name="adj1" fmla="val -37124"/>
              <a:gd name="adj2" fmla="val -134604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/>
              <a:t>ptr</a:t>
            </a:r>
            <a:r>
              <a:rPr lang="en-US" sz="2000" dirty="0"/>
              <a:t> is a global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7BE17B-245F-731C-9ADF-2965B26465E7}"/>
              </a:ext>
            </a:extLst>
          </p:cNvPr>
          <p:cNvSpPr txBox="1"/>
          <p:nvPr/>
        </p:nvSpPr>
        <p:spPr>
          <a:xfrm>
            <a:off x="6326909" y="4304146"/>
            <a:ext cx="5669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threads share the same memory space</a:t>
            </a:r>
          </a:p>
          <a:p>
            <a:endParaRPr lang="en-US" sz="2000" dirty="0"/>
          </a:p>
          <a:p>
            <a:r>
              <a:rPr lang="en-US" sz="2000" dirty="0"/>
              <a:t>One thread cannot directly access another thread's stack by variable name, but it is possible via pointers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326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Arguments &amp; Return Values</a:t>
            </a:r>
          </a:p>
          <a:p>
            <a:r>
              <a:rPr lang="en-US" dirty="0"/>
              <a:t>Modularization</a:t>
            </a:r>
          </a:p>
          <a:p>
            <a:r>
              <a:rPr lang="en-US" dirty="0"/>
              <a:t>Risks of Sharing</a:t>
            </a:r>
          </a:p>
        </p:txBody>
      </p:sp>
    </p:spTree>
    <p:extLst>
      <p:ext uri="{BB962C8B-B14F-4D97-AF65-F5344CB8AC3E}">
        <p14:creationId xmlns:p14="http://schemas.microsoft.com/office/powerpoint/2010/main" val="230069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4527-50B1-4A58-03D4-5AE079E9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struct to pass argument and return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5C60-E31D-9B93-9206-C039718E8F77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a2, ret;};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p-&gt;ret =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p-&gt;ret);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0BAD4-BEAB-40AD-D61C-AB0DB31FEBF8}"/>
              </a:ext>
            </a:extLst>
          </p:cNvPr>
          <p:cNvSpPr/>
          <p:nvPr/>
        </p:nvSpPr>
        <p:spPr>
          <a:xfrm>
            <a:off x="8819580" y="1377353"/>
            <a:ext cx="1456102" cy="700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3309E-9E71-4834-4623-29018AC3C0DF}"/>
              </a:ext>
            </a:extLst>
          </p:cNvPr>
          <p:cNvSpPr/>
          <p:nvPr/>
        </p:nvSpPr>
        <p:spPr>
          <a:xfrm>
            <a:off x="8819579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53A85-9B6D-5C80-8EE0-1D140D479F2E}"/>
              </a:ext>
            </a:extLst>
          </p:cNvPr>
          <p:cNvSpPr txBox="1"/>
          <p:nvPr/>
        </p:nvSpPr>
        <p:spPr>
          <a:xfrm>
            <a:off x="9136931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C6BA9-1C30-FDFB-89BF-0CBFB24DCA9B}"/>
              </a:ext>
            </a:extLst>
          </p:cNvPr>
          <p:cNvSpPr/>
          <p:nvPr/>
        </p:nvSpPr>
        <p:spPr>
          <a:xfrm>
            <a:off x="8819580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00196-B164-D2C3-3617-E8C4C0148EC2}"/>
              </a:ext>
            </a:extLst>
          </p:cNvPr>
          <p:cNvSpPr/>
          <p:nvPr/>
        </p:nvSpPr>
        <p:spPr>
          <a:xfrm>
            <a:off x="8819388" y="2257075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4C55F-6500-DF07-6184-6B465FC1CEE2}"/>
              </a:ext>
            </a:extLst>
          </p:cNvPr>
          <p:cNvSpPr txBox="1"/>
          <p:nvPr/>
        </p:nvSpPr>
        <p:spPr>
          <a:xfrm>
            <a:off x="8688669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3BEC1-C506-C2BE-48A8-018E1F82CFAC}"/>
              </a:ext>
            </a:extLst>
          </p:cNvPr>
          <p:cNvSpPr txBox="1"/>
          <p:nvPr/>
        </p:nvSpPr>
        <p:spPr>
          <a:xfrm>
            <a:off x="8837315" y="2264196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25494-E1A4-A692-CD25-98E2568463E0}"/>
              </a:ext>
            </a:extLst>
          </p:cNvPr>
          <p:cNvSpPr/>
          <p:nvPr/>
        </p:nvSpPr>
        <p:spPr>
          <a:xfrm>
            <a:off x="8819388" y="535965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{a1, a2, ret}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97E11F-61F7-A833-07D0-CCE559802FAE}"/>
              </a:ext>
            </a:extLst>
          </p:cNvPr>
          <p:cNvSpPr/>
          <p:nvPr/>
        </p:nvSpPr>
        <p:spPr>
          <a:xfrm>
            <a:off x="8818015" y="1727715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6E5C99E8-282E-0C14-6AB1-B7C75B705CB9}"/>
              </a:ext>
            </a:extLst>
          </p:cNvPr>
          <p:cNvCxnSpPr>
            <a:stCxn id="19" idx="3"/>
            <a:endCxn id="18" idx="3"/>
          </p:cNvCxnSpPr>
          <p:nvPr/>
        </p:nvCxnSpPr>
        <p:spPr>
          <a:xfrm>
            <a:off x="10274117" y="1845411"/>
            <a:ext cx="1373" cy="3631936"/>
          </a:xfrm>
          <a:prstGeom prst="curvedConnector3">
            <a:avLst>
              <a:gd name="adj1" fmla="val 27299927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A3CC7BD-351B-0EC8-1C9D-1739E60BB2D7}"/>
              </a:ext>
            </a:extLst>
          </p:cNvPr>
          <p:cNvSpPr/>
          <p:nvPr/>
        </p:nvSpPr>
        <p:spPr>
          <a:xfrm>
            <a:off x="8818015" y="2731054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endParaRPr lang="en-US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2A77EB45-B679-6035-50BE-4839A583D8DC}"/>
              </a:ext>
            </a:extLst>
          </p:cNvPr>
          <p:cNvCxnSpPr>
            <a:cxnSpLocks/>
            <a:stCxn id="22" idx="3"/>
            <a:endCxn id="18" idx="3"/>
          </p:cNvCxnSpPr>
          <p:nvPr/>
        </p:nvCxnSpPr>
        <p:spPr>
          <a:xfrm>
            <a:off x="10274117" y="2848750"/>
            <a:ext cx="1373" cy="2628597"/>
          </a:xfrm>
          <a:prstGeom prst="curvedConnector3">
            <a:avLst>
              <a:gd name="adj1" fmla="val 16749672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09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pthread_exit</a:t>
            </a:r>
            <a:r>
              <a:rPr lang="en-US" dirty="0"/>
              <a:t> to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pthread_exit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(p-&gt;a1 + p-&gt;a2);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*ret;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DA927-B42F-48A6-5700-2B24149CA3AE}"/>
              </a:ext>
            </a:extLst>
          </p:cNvPr>
          <p:cNvSpPr/>
          <p:nvPr/>
        </p:nvSpPr>
        <p:spPr>
          <a:xfrm>
            <a:off x="1242215" y="4873722"/>
            <a:ext cx="3637604" cy="24053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F03964-465F-55E6-7010-C6A328371A7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79819" y="4928116"/>
            <a:ext cx="404942" cy="658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364BE2B-DBBF-BC81-06E0-D238568C1F77}"/>
              </a:ext>
            </a:extLst>
          </p:cNvPr>
          <p:cNvSpPr/>
          <p:nvPr/>
        </p:nvSpPr>
        <p:spPr>
          <a:xfrm>
            <a:off x="5199829" y="4597351"/>
            <a:ext cx="2822005" cy="933290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0B7E2-B3E7-B3B8-4C0F-29EEBD263A5C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1C6A85-756E-481B-A31F-AF68BE6DD2B0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AC628-3518-9F3E-A9B1-07145A5C3FA2}"/>
              </a:ext>
            </a:extLst>
          </p:cNvPr>
          <p:cNvSpPr txBox="1"/>
          <p:nvPr/>
        </p:nvSpPr>
        <p:spPr>
          <a:xfrm>
            <a:off x="8485087" y="4290433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7B977-F4AF-1160-A0ED-A0930876284F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975E2-319A-F61E-46E2-C8F389E690AA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C0511-8479-F4DB-7066-C3B2DF48E693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6DC7F5-B2DC-C2F3-8C58-739097CE537F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20B402-52DB-6061-001B-1853EF3F767D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2E38E634-DE15-8FFE-6A08-5E354C507C29}"/>
              </a:ext>
            </a:extLst>
          </p:cNvPr>
          <p:cNvCxnSpPr>
            <a:cxnSpLocks/>
            <a:stCxn id="38" idx="0"/>
            <a:endCxn id="26" idx="3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00C6A32-ADF2-AFCC-87CF-D660304E260B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30DA7D3-BC33-2CE8-74D8-F116597F8B3E}"/>
              </a:ext>
            </a:extLst>
          </p:cNvPr>
          <p:cNvSpPr/>
          <p:nvPr/>
        </p:nvSpPr>
        <p:spPr>
          <a:xfrm>
            <a:off x="1242214" y="2417056"/>
            <a:ext cx="3556123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4A2334-EBEF-0E7F-6551-B62BE1B3B324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245A2-C3FD-6377-015D-356FD8A7E81C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0E56BE13-4A12-E457-235F-624BDAB19E19}"/>
              </a:ext>
            </a:extLst>
          </p:cNvPr>
          <p:cNvCxnSpPr>
            <a:cxnSpLocks/>
            <a:stCxn id="44" idx="3"/>
            <a:endCxn id="38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8EDD88-61A7-D444-EED5-777C9DFBF69E}"/>
              </a:ext>
            </a:extLst>
          </p:cNvPr>
          <p:cNvCxnSpPr>
            <a:cxnSpLocks/>
          </p:cNvCxnSpPr>
          <p:nvPr/>
        </p:nvCxnSpPr>
        <p:spPr>
          <a:xfrm flipH="1">
            <a:off x="4533943" y="2016317"/>
            <a:ext cx="888841" cy="3584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9041FB38-1556-AB70-96EB-3491EE383240}"/>
              </a:ext>
            </a:extLst>
          </p:cNvPr>
          <p:cNvSpPr/>
          <p:nvPr/>
        </p:nvSpPr>
        <p:spPr>
          <a:xfrm>
            <a:off x="4879820" y="1573444"/>
            <a:ext cx="2435380" cy="635602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 err="1">
                <a:solidFill>
                  <a:schemeClr val="tx1"/>
                </a:solidFill>
              </a:rPr>
              <a:t>pthread_exit</a:t>
            </a:r>
            <a:r>
              <a:rPr lang="en-US" sz="1900" b="1" dirty="0">
                <a:solidFill>
                  <a:schemeClr val="tx1"/>
                </a:solidFill>
              </a:rPr>
              <a:t>(code) gives code to OS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B19F6E-951B-82CE-FA15-D5759B65FB85}"/>
              </a:ext>
            </a:extLst>
          </p:cNvPr>
          <p:cNvSpPr txBox="1"/>
          <p:nvPr/>
        </p:nvSpPr>
        <p:spPr>
          <a:xfrm>
            <a:off x="9467854" y="2918593"/>
            <a:ext cx="63959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2FDE1A40-0884-D35E-8798-389455DDAF82}"/>
              </a:ext>
            </a:extLst>
          </p:cNvPr>
          <p:cNvSpPr/>
          <p:nvPr/>
        </p:nvSpPr>
        <p:spPr>
          <a:xfrm>
            <a:off x="1242215" y="5706652"/>
            <a:ext cx="1449960" cy="981927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The type of ret doesn't matter!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25755C1D-8C2A-914D-968A-3F015B6FA7B0}"/>
              </a:ext>
            </a:extLst>
          </p:cNvPr>
          <p:cNvCxnSpPr>
            <a:cxnSpLocks/>
          </p:cNvCxnSpPr>
          <p:nvPr/>
        </p:nvCxnSpPr>
        <p:spPr>
          <a:xfrm rot="10800000">
            <a:off x="1242215" y="4788729"/>
            <a:ext cx="12700" cy="1194570"/>
          </a:xfrm>
          <a:prstGeom prst="curvedConnector3">
            <a:avLst>
              <a:gd name="adj1" fmla="val 1800000"/>
            </a:avLst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8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375E-6 -4.81481E-6 C 0.04688 -0.01712 0.09388 -0.03425 0.08763 -0.05949 C 0.08151 -0.08472 0.02214 -0.11828 -0.0371 -0.15162 " pathEditMode="relative" rAng="0" ptsTypes="AAA">
                                      <p:cBhvr>
                                        <p:cTn id="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9" grpId="0" animBg="1"/>
      <p:bldP spid="30" grpId="0"/>
      <p:bldP spid="38" grpId="0" animBg="1"/>
      <p:bldP spid="43" grpId="0" animBg="1"/>
      <p:bldP spid="55" grpId="0" animBg="1"/>
      <p:bldP spid="70" grpId="0" animBg="1"/>
      <p:bldP spid="70" grpId="1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return to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*ret;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DA927-B42F-48A6-5700-2B24149CA3AE}"/>
              </a:ext>
            </a:extLst>
          </p:cNvPr>
          <p:cNvSpPr/>
          <p:nvPr/>
        </p:nvSpPr>
        <p:spPr>
          <a:xfrm>
            <a:off x="1242215" y="4882777"/>
            <a:ext cx="3637604" cy="24053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F03964-465F-55E6-7010-C6A328371A7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79819" y="4937171"/>
            <a:ext cx="404942" cy="658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364BE2B-DBBF-BC81-06E0-D238568C1F77}"/>
              </a:ext>
            </a:extLst>
          </p:cNvPr>
          <p:cNvSpPr/>
          <p:nvPr/>
        </p:nvSpPr>
        <p:spPr>
          <a:xfrm>
            <a:off x="5199829" y="4606406"/>
            <a:ext cx="2822005" cy="933290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30DA7D3-BC33-2CE8-74D8-F116597F8B3E}"/>
              </a:ext>
            </a:extLst>
          </p:cNvPr>
          <p:cNvSpPr/>
          <p:nvPr/>
        </p:nvSpPr>
        <p:spPr>
          <a:xfrm>
            <a:off x="1242215" y="2426111"/>
            <a:ext cx="3031022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8EDD88-61A7-D444-EED5-777C9DFBF69E}"/>
              </a:ext>
            </a:extLst>
          </p:cNvPr>
          <p:cNvCxnSpPr>
            <a:cxnSpLocks/>
          </p:cNvCxnSpPr>
          <p:nvPr/>
        </p:nvCxnSpPr>
        <p:spPr>
          <a:xfrm flipH="1">
            <a:off x="4273237" y="2210729"/>
            <a:ext cx="888841" cy="3584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9041FB38-1556-AB70-96EB-3491EE383240}"/>
              </a:ext>
            </a:extLst>
          </p:cNvPr>
          <p:cNvSpPr/>
          <p:nvPr/>
        </p:nvSpPr>
        <p:spPr>
          <a:xfrm>
            <a:off x="4619114" y="1767856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"return code" is same as "</a:t>
            </a:r>
            <a:r>
              <a:rPr lang="en-US" sz="1900" b="1" dirty="0" err="1">
                <a:solidFill>
                  <a:schemeClr val="tx1"/>
                </a:solidFill>
              </a:rPr>
              <a:t>pthread_exit</a:t>
            </a:r>
            <a:r>
              <a:rPr lang="en-US" sz="1900" b="1" dirty="0">
                <a:solidFill>
                  <a:schemeClr val="tx1"/>
                </a:solidFill>
              </a:rPr>
              <a:t>(code)"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D27C88-3EB7-EEE9-276D-13E15C7F4B28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8A8308-AEF4-367E-A016-B6F5E04E73E8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D01CDF-8BD6-5BFC-1BDF-C6544F06E349}"/>
              </a:ext>
            </a:extLst>
          </p:cNvPr>
          <p:cNvSpPr txBox="1"/>
          <p:nvPr/>
        </p:nvSpPr>
        <p:spPr>
          <a:xfrm>
            <a:off x="8485087" y="4290433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3FABF-F7B5-7380-EA92-841486BC4DEF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0CFED6-BE71-DFCE-9B05-7D371DE4CEFE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120043-7533-0A91-C18C-C61550EE7B55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07D933-DAB5-08A8-478D-33A1437DCE8D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669E23-EDFC-A7E4-B2A2-9E71CB725F02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14E62CDC-8289-21DF-9D00-8C7C4235E3EC}"/>
              </a:ext>
            </a:extLst>
          </p:cNvPr>
          <p:cNvCxnSpPr>
            <a:cxnSpLocks/>
            <a:stCxn id="48" idx="0"/>
            <a:endCxn id="40" idx="3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38446CF-B387-91A9-0586-FE9BC8C9806C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E08497-8960-22C7-C112-A2306D9F7699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CC94BE-1CEB-BA27-3768-B1145565C999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3E7FC49A-5C63-2D9B-10BB-434E3613286E}"/>
              </a:ext>
            </a:extLst>
          </p:cNvPr>
          <p:cNvCxnSpPr>
            <a:cxnSpLocks/>
            <a:stCxn id="49" idx="3"/>
            <a:endCxn id="48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1B139CE-0CFC-EE58-3C9A-B058175FBA04}"/>
              </a:ext>
            </a:extLst>
          </p:cNvPr>
          <p:cNvSpPr txBox="1"/>
          <p:nvPr/>
        </p:nvSpPr>
        <p:spPr>
          <a:xfrm>
            <a:off x="9467854" y="2918593"/>
            <a:ext cx="63959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6878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375E-6 -4.81481E-6 C 0.04688 -0.01712 0.09388 -0.03425 0.08763 -0.05949 C 0.08151 -0.08472 0.02214 -0.11828 -0.0371 -0.15162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multiple values using </a:t>
            </a:r>
            <a:r>
              <a:rPr lang="en-US" dirty="0" err="1"/>
              <a:t>pthread_exit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035559"/>
            <a:ext cx="6479659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results results;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r>
              <a:rPr lang="en-US" sz="1600" b="1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results{</a:t>
            </a:r>
            <a:r>
              <a:rPr lang="en-US" sz="1600" b="1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sum,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  </a:t>
            </a: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results *res = (results*)malloc(</a:t>
            </a:r>
            <a:r>
              <a:rPr lang="en-US" sz="1600" b="1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(results));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res-&gt;sum =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p-&gt;a1 * p-&gt;a2;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pthread_exit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results *ret;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"sum=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ret-&gt;sum, ret-&gt;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51535-F11C-E7A3-3451-DA62C2720EB2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9EB3-E90C-1D6B-44ED-1816072B4E39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00F0C-9459-D66B-2E97-524AFC50192E}"/>
              </a:ext>
            </a:extLst>
          </p:cNvPr>
          <p:cNvSpPr txBox="1"/>
          <p:nvPr/>
        </p:nvSpPr>
        <p:spPr>
          <a:xfrm>
            <a:off x="8485087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31B50-964B-DF97-C02F-F967AFA11502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6C68A-134E-E1AB-0865-40BA3D97827A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4BF394-FF22-EB32-49F8-DC68DBD962C1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DE3E75-7F7F-996D-4312-EB4BFB4BBE1E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118BAD-910C-3094-C4E6-621EF340C048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9C756-C593-6E5F-C87E-2EAA7FB9A8DB}"/>
              </a:ext>
            </a:extLst>
          </p:cNvPr>
          <p:cNvSpPr/>
          <p:nvPr/>
        </p:nvSpPr>
        <p:spPr>
          <a:xfrm>
            <a:off x="8158492" y="535965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{sum, </a:t>
            </a:r>
            <a:r>
              <a:rPr lang="en-US" dirty="0" err="1"/>
              <a:t>mul</a:t>
            </a:r>
            <a:r>
              <a:rPr lang="en-US" dirty="0"/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00BFDF-0D93-38A6-9816-78717DF44717}"/>
              </a:ext>
            </a:extLst>
          </p:cNvPr>
          <p:cNvSpPr/>
          <p:nvPr/>
        </p:nvSpPr>
        <p:spPr>
          <a:xfrm>
            <a:off x="8166172" y="3156563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E7F9E02-3569-D263-20BF-5E0EEAB3A9EE}"/>
              </a:ext>
            </a:extLst>
          </p:cNvPr>
          <p:cNvCxnSpPr>
            <a:cxnSpLocks/>
            <a:stCxn id="17" idx="3"/>
            <a:endCxn id="14" idx="3"/>
          </p:cNvCxnSpPr>
          <p:nvPr/>
        </p:nvCxnSpPr>
        <p:spPr>
          <a:xfrm flipH="1">
            <a:off x="9614594" y="3274259"/>
            <a:ext cx="7680" cy="2203088"/>
          </a:xfrm>
          <a:prstGeom prst="curvedConnector3">
            <a:avLst>
              <a:gd name="adj1" fmla="val -2976563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62121DA-E32F-A162-D36C-504AA535DED5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E54C-4ADC-C026-E908-480705FD8283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B4DF9CDF-3AAE-3800-BEC0-F0EE369455AA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27789FA-E96C-63D2-E04A-498449CBD8E2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C6AEFF5B-B132-532B-C234-C54E6C6685B9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2A54D55-5BC2-F0F0-9130-0B1EC62910B1}"/>
              </a:ext>
            </a:extLst>
          </p:cNvPr>
          <p:cNvSpPr txBox="1"/>
          <p:nvPr/>
        </p:nvSpPr>
        <p:spPr>
          <a:xfrm>
            <a:off x="9323757" y="3053662"/>
            <a:ext cx="4669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1D56045-5FDE-940C-8B1D-4177AA009D51}"/>
              </a:ext>
            </a:extLst>
          </p:cNvPr>
          <p:cNvSpPr/>
          <p:nvPr/>
        </p:nvSpPr>
        <p:spPr>
          <a:xfrm>
            <a:off x="1219184" y="3526078"/>
            <a:ext cx="2361556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ACD627-4F4E-408A-9E90-895EBEEF220D}"/>
              </a:ext>
            </a:extLst>
          </p:cNvPr>
          <p:cNvCxnSpPr>
            <a:cxnSpLocks/>
          </p:cNvCxnSpPr>
          <p:nvPr/>
        </p:nvCxnSpPr>
        <p:spPr>
          <a:xfrm flipH="1" flipV="1">
            <a:off x="3556879" y="3685973"/>
            <a:ext cx="1110086" cy="1006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C4B5D415-7FAC-B904-5471-3C28DA0BC740}"/>
              </a:ext>
            </a:extLst>
          </p:cNvPr>
          <p:cNvSpPr/>
          <p:nvPr/>
        </p:nvSpPr>
        <p:spPr>
          <a:xfrm>
            <a:off x="4413660" y="3405852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return code is the pointer to a result struct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7F139E7-2FB2-7F7C-B23A-0F9626711592}"/>
              </a:ext>
            </a:extLst>
          </p:cNvPr>
          <p:cNvSpPr/>
          <p:nvPr/>
        </p:nvSpPr>
        <p:spPr>
          <a:xfrm>
            <a:off x="1275029" y="5972808"/>
            <a:ext cx="3048766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2349155-8E45-BB93-CE32-5293AA049736}"/>
              </a:ext>
            </a:extLst>
          </p:cNvPr>
          <p:cNvCxnSpPr>
            <a:cxnSpLocks/>
          </p:cNvCxnSpPr>
          <p:nvPr/>
        </p:nvCxnSpPr>
        <p:spPr>
          <a:xfrm flipH="1">
            <a:off x="4311961" y="5972808"/>
            <a:ext cx="659974" cy="7738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ular Callout 40">
            <a:extLst>
              <a:ext uri="{FF2B5EF4-FFF2-40B4-BE49-F238E27FC236}">
                <a16:creationId xmlns:a16="http://schemas.microsoft.com/office/drawing/2014/main" id="{9403DEA6-A881-1E40-D675-A26BEE17803E}"/>
              </a:ext>
            </a:extLst>
          </p:cNvPr>
          <p:cNvSpPr/>
          <p:nvPr/>
        </p:nvSpPr>
        <p:spPr>
          <a:xfrm>
            <a:off x="4971935" y="5356034"/>
            <a:ext cx="2896272" cy="877281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1C42A69-2B22-3B62-29F9-F5FA48148DF3}"/>
              </a:ext>
            </a:extLst>
          </p:cNvPr>
          <p:cNvSpPr/>
          <p:nvPr/>
        </p:nvSpPr>
        <p:spPr>
          <a:xfrm>
            <a:off x="1038994" y="1819947"/>
            <a:ext cx="3695967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EE32A3-523B-F0C8-5C33-EAA6974A3A6B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4734961" y="1842222"/>
            <a:ext cx="896294" cy="107979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094CF9A-BD37-E209-3553-CF24FFA3C2A5}"/>
              </a:ext>
            </a:extLst>
          </p:cNvPr>
          <p:cNvSpPr/>
          <p:nvPr/>
        </p:nvSpPr>
        <p:spPr>
          <a:xfrm>
            <a:off x="1219184" y="2787174"/>
            <a:ext cx="6077909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9EE579A-2B3F-8594-55F4-BDD7B255863C}"/>
              </a:ext>
            </a:extLst>
          </p:cNvPr>
          <p:cNvCxnSpPr>
            <a:cxnSpLocks/>
          </p:cNvCxnSpPr>
          <p:nvPr/>
        </p:nvCxnSpPr>
        <p:spPr>
          <a:xfrm flipH="1">
            <a:off x="4413660" y="1994622"/>
            <a:ext cx="1369995" cy="79255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ular Callout 55">
            <a:extLst>
              <a:ext uri="{FF2B5EF4-FFF2-40B4-BE49-F238E27FC236}">
                <a16:creationId xmlns:a16="http://schemas.microsoft.com/office/drawing/2014/main" id="{3A899A18-402C-5760-07F8-FE76AEB847DE}"/>
              </a:ext>
            </a:extLst>
          </p:cNvPr>
          <p:cNvSpPr/>
          <p:nvPr/>
        </p:nvSpPr>
        <p:spPr>
          <a:xfrm>
            <a:off x="5222993" y="1444835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use a struct to hold multiple returned values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21E80B5A-E3A7-BD79-2431-1048D1ED0662}"/>
              </a:ext>
            </a:extLst>
          </p:cNvPr>
          <p:cNvCxnSpPr>
            <a:cxnSpLocks/>
            <a:stCxn id="22" idx="3"/>
            <a:endCxn id="14" idx="3"/>
          </p:cNvCxnSpPr>
          <p:nvPr/>
        </p:nvCxnSpPr>
        <p:spPr>
          <a:xfrm flipH="1">
            <a:off x="9614594" y="2067897"/>
            <a:ext cx="7679" cy="3409450"/>
          </a:xfrm>
          <a:prstGeom prst="curvedConnector3">
            <a:avLst>
              <a:gd name="adj1" fmla="val -5806524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64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repeatCount="indefinite" accel="50000" decel="50000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5586 -0.0257 0.11159 -0.05116 0.10768 -0.0794 C 0.10377 -0.10741 0.03997 -0.1382 -0.0237 -0.16898 " pathEditMode="relative" ptsTypes="AAA">
                                      <p:cBhvr>
                                        <p:cTn id="5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 animBg="1"/>
      <p:bldP spid="17" grpId="0" animBg="1"/>
      <p:bldP spid="21" grpId="0" animBg="1"/>
      <p:bldP spid="26" grpId="0"/>
      <p:bldP spid="30" grpId="0" animBg="1"/>
      <p:bldP spid="34" grpId="0" animBg="1"/>
      <p:bldP spid="34" grpId="1" animBg="1"/>
      <p:bldP spid="35" grpId="0" animBg="1"/>
      <p:bldP spid="37" grpId="0" animBg="1"/>
      <p:bldP spid="39" grpId="0" animBg="1"/>
      <p:bldP spid="41" grpId="0" animBg="1"/>
      <p:bldP spid="44" grpId="0" animBg="1"/>
      <p:bldP spid="51" grpId="0" animBg="1"/>
      <p:bldP spid="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Arguments &amp; Return Values</a:t>
            </a:r>
          </a:p>
          <a:p>
            <a:r>
              <a:rPr lang="en-US" b="1" dirty="0"/>
              <a:t>Modularization</a:t>
            </a:r>
          </a:p>
          <a:p>
            <a:r>
              <a:rPr lang="en-US" dirty="0"/>
              <a:t>Risks of Sharing</a:t>
            </a:r>
          </a:p>
        </p:txBody>
      </p:sp>
    </p:spTree>
    <p:extLst>
      <p:ext uri="{BB962C8B-B14F-4D97-AF65-F5344CB8AC3E}">
        <p14:creationId xmlns:p14="http://schemas.microsoft.com/office/powerpoint/2010/main" val="288336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6FCB-5BCE-DAFF-D786-9AA7E8AB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Loops to Threads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CFC77-308B-5699-6F3A-CC7F85B07E27}"/>
              </a:ext>
            </a:extLst>
          </p:cNvPr>
          <p:cNvSpPr txBox="1"/>
          <p:nvPr/>
        </p:nvSpPr>
        <p:spPr>
          <a:xfrm>
            <a:off x="674254" y="2898951"/>
            <a:ext cx="4802918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transform x to y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y;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AAF71-8C53-FAF4-6A42-84F052290323}"/>
              </a:ext>
            </a:extLst>
          </p:cNvPr>
          <p:cNvSpPr txBox="1"/>
          <p:nvPr/>
        </p:nvSpPr>
        <p:spPr>
          <a:xfrm>
            <a:off x="6735612" y="1063067"/>
            <a:ext cx="5017720" cy="54784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 input;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output output;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x;};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output{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y;};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input* in = malloc(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(input));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in-&gt;x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in);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output *out;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&amp;out);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out-&gt;y;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B1184-770E-C6A8-049E-05A345A15205}"/>
              </a:ext>
            </a:extLst>
          </p:cNvPr>
          <p:cNvSpPr txBox="1"/>
          <p:nvPr/>
        </p:nvSpPr>
        <p:spPr>
          <a:xfrm>
            <a:off x="497817" y="6518306"/>
            <a:ext cx="554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Warning</a:t>
            </a:r>
            <a:r>
              <a:rPr lang="en-US" i="1">
                <a:solidFill>
                  <a:schemeClr val="bg1">
                    <a:lumMod val="65000"/>
                  </a:schemeClr>
                </a:solidFill>
              </a:rPr>
              <a:t>: Incomplete code,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only for illustrative purposes.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DB1417-094C-77C3-1A69-499DBC2D47AC}"/>
              </a:ext>
            </a:extLst>
          </p:cNvPr>
          <p:cNvSpPr/>
          <p:nvPr/>
        </p:nvSpPr>
        <p:spPr>
          <a:xfrm>
            <a:off x="1140612" y="4185922"/>
            <a:ext cx="4262661" cy="260508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5CD48E-C866-D199-1A98-0AF11C419824}"/>
              </a:ext>
            </a:extLst>
          </p:cNvPr>
          <p:cNvSpPr/>
          <p:nvPr/>
        </p:nvSpPr>
        <p:spPr>
          <a:xfrm>
            <a:off x="7204285" y="4265664"/>
            <a:ext cx="4405824" cy="260508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AB23BC-535F-76D0-4E0A-04010722FE1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03273" y="4316176"/>
            <a:ext cx="1801012" cy="79742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7068A28-2174-3585-B029-9BC08BC6F3B9}"/>
              </a:ext>
            </a:extLst>
          </p:cNvPr>
          <p:cNvSpPr/>
          <p:nvPr/>
        </p:nvSpPr>
        <p:spPr>
          <a:xfrm>
            <a:off x="1140612" y="3762213"/>
            <a:ext cx="4262661" cy="225237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121397-5D36-C127-72B7-022A186E627D}"/>
              </a:ext>
            </a:extLst>
          </p:cNvPr>
          <p:cNvSpPr/>
          <p:nvPr/>
        </p:nvSpPr>
        <p:spPr>
          <a:xfrm>
            <a:off x="7204285" y="3862127"/>
            <a:ext cx="4405824" cy="219239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D4EC1E-4AA9-638F-33B7-6252C092313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5403273" y="3874832"/>
            <a:ext cx="1801012" cy="96915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2D2EBC9-64F3-DFC8-2D9D-75394BBDDC49}"/>
              </a:ext>
            </a:extLst>
          </p:cNvPr>
          <p:cNvSpPr/>
          <p:nvPr/>
        </p:nvSpPr>
        <p:spPr>
          <a:xfrm>
            <a:off x="1140612" y="4662540"/>
            <a:ext cx="4262661" cy="225237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57A8D2E-C8E3-6B1D-AF83-D64F30F5DE12}"/>
              </a:ext>
            </a:extLst>
          </p:cNvPr>
          <p:cNvSpPr/>
          <p:nvPr/>
        </p:nvSpPr>
        <p:spPr>
          <a:xfrm>
            <a:off x="7204285" y="5567978"/>
            <a:ext cx="4405824" cy="458616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FC6E78-786D-A276-C4A2-3C5D62EFB7AB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5403273" y="4775159"/>
            <a:ext cx="1801012" cy="1022127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54F2F5D-5B23-010F-4015-8F9B2BA9B2B2}"/>
              </a:ext>
            </a:extLst>
          </p:cNvPr>
          <p:cNvSpPr/>
          <p:nvPr/>
        </p:nvSpPr>
        <p:spPr>
          <a:xfrm>
            <a:off x="7204285" y="5169014"/>
            <a:ext cx="4405824" cy="214738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AF5BF17-F03F-7A9B-66CC-E6DED59D9773}"/>
              </a:ext>
            </a:extLst>
          </p:cNvPr>
          <p:cNvSpPr/>
          <p:nvPr/>
        </p:nvSpPr>
        <p:spPr>
          <a:xfrm>
            <a:off x="7202513" y="3456399"/>
            <a:ext cx="4405824" cy="214738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046312E-8F71-0738-638F-3A839ECDC9F5}"/>
              </a:ext>
            </a:extLst>
          </p:cNvPr>
          <p:cNvSpPr/>
          <p:nvPr/>
        </p:nvSpPr>
        <p:spPr>
          <a:xfrm>
            <a:off x="6802020" y="1541052"/>
            <a:ext cx="4405824" cy="408250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8084E3-6B11-3BB4-EF2E-7EDA98A67467}"/>
              </a:ext>
            </a:extLst>
          </p:cNvPr>
          <p:cNvSpPr txBox="1"/>
          <p:nvPr/>
        </p:nvSpPr>
        <p:spPr>
          <a:xfrm>
            <a:off x="3749109" y="1982533"/>
            <a:ext cx="241713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Setting up input/output data wrappers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887634E-9E9B-416E-F066-BB3BCBB11C3E}"/>
              </a:ext>
            </a:extLst>
          </p:cNvPr>
          <p:cNvCxnSpPr>
            <a:cxnSpLocks/>
            <a:stCxn id="42" idx="3"/>
            <a:endCxn id="40" idx="1"/>
          </p:cNvCxnSpPr>
          <p:nvPr/>
        </p:nvCxnSpPr>
        <p:spPr>
          <a:xfrm flipV="1">
            <a:off x="6166244" y="1745177"/>
            <a:ext cx="635776" cy="56052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BF1C58-1CE0-99F1-54F1-7B7216ED825C}"/>
              </a:ext>
            </a:extLst>
          </p:cNvPr>
          <p:cNvCxnSpPr>
            <a:cxnSpLocks/>
            <a:stCxn id="42" idx="3"/>
            <a:endCxn id="39" idx="1"/>
          </p:cNvCxnSpPr>
          <p:nvPr/>
        </p:nvCxnSpPr>
        <p:spPr>
          <a:xfrm>
            <a:off x="6166244" y="2305699"/>
            <a:ext cx="1036269" cy="125806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111AA4-55BA-5272-9520-686D16DC5942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>
            <a:off x="6166244" y="2305699"/>
            <a:ext cx="1038041" cy="297068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522DED5-3C39-5297-2F7E-C9699D2EBE8A}"/>
              </a:ext>
            </a:extLst>
          </p:cNvPr>
          <p:cNvSpPr txBox="1"/>
          <p:nvPr/>
        </p:nvSpPr>
        <p:spPr>
          <a:xfrm>
            <a:off x="5756159" y="353727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2774DE-9AAF-B8ED-5AAE-225BECAA4674}"/>
              </a:ext>
            </a:extLst>
          </p:cNvPr>
          <p:cNvSpPr txBox="1"/>
          <p:nvPr/>
        </p:nvSpPr>
        <p:spPr>
          <a:xfrm>
            <a:off x="5588725" y="4278788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Processing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62FDC7-83AF-2F20-7EF6-B27DB5FD32FD}"/>
              </a:ext>
            </a:extLst>
          </p:cNvPr>
          <p:cNvSpPr txBox="1"/>
          <p:nvPr/>
        </p:nvSpPr>
        <p:spPr>
          <a:xfrm>
            <a:off x="5685461" y="534070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Output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51FDE3-4AE1-1148-DDCD-0CC594219B56}"/>
              </a:ext>
            </a:extLst>
          </p:cNvPr>
          <p:cNvSpPr txBox="1"/>
          <p:nvPr/>
        </p:nvSpPr>
        <p:spPr>
          <a:xfrm>
            <a:off x="74254" y="362145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A08252-B1F9-8F07-0F53-2BD155A870AD}"/>
              </a:ext>
            </a:extLst>
          </p:cNvPr>
          <p:cNvSpPr txBox="1"/>
          <p:nvPr/>
        </p:nvSpPr>
        <p:spPr>
          <a:xfrm>
            <a:off x="-14818" y="4148592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Processing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13EF60-5BED-9A49-7427-4EEB06736E1F}"/>
              </a:ext>
            </a:extLst>
          </p:cNvPr>
          <p:cNvSpPr txBox="1"/>
          <p:nvPr/>
        </p:nvSpPr>
        <p:spPr>
          <a:xfrm>
            <a:off x="51108" y="457021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Output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6C59AF-280D-54B8-A024-9F01F16BE5EC}"/>
              </a:ext>
            </a:extLst>
          </p:cNvPr>
          <p:cNvSpPr txBox="1"/>
          <p:nvPr/>
        </p:nvSpPr>
        <p:spPr>
          <a:xfrm>
            <a:off x="467833" y="1474381"/>
            <a:ext cx="5402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General recipe for converting for loops to threads</a:t>
            </a:r>
          </a:p>
        </p:txBody>
      </p:sp>
    </p:spTree>
    <p:extLst>
      <p:ext uri="{BB962C8B-B14F-4D97-AF65-F5344CB8AC3E}">
        <p14:creationId xmlns:p14="http://schemas.microsoft.com/office/powerpoint/2010/main" val="307459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1" animBg="1"/>
      <p:bldP spid="11" grpId="0" animBg="1"/>
      <p:bldP spid="21" grpId="1" animBg="1"/>
      <p:bldP spid="22" grpId="0" animBg="1"/>
      <p:bldP spid="29" grpId="1" animBg="1"/>
      <p:bldP spid="30" grpId="0" animBg="1"/>
      <p:bldP spid="33" grpId="0" animBg="1"/>
      <p:bldP spid="39" grpId="0" animBg="1"/>
      <p:bldP spid="40" grpId="0" animBg="1"/>
      <p:bldP spid="42" grpId="0" animBg="1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D942-D561-0022-1FCC-C7DAE72A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Loops to Threads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B1CBA-92C3-AD68-EAC6-32B880059427}"/>
              </a:ext>
            </a:extLst>
          </p:cNvPr>
          <p:cNvSpPr txBox="1"/>
          <p:nvPr/>
        </p:nvSpPr>
        <p:spPr>
          <a:xfrm>
            <a:off x="6571780" y="2331887"/>
            <a:ext cx="514465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j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j);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transform x to y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y;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map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back to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E4A9E-4276-A621-D603-FD323AC72F0D}"/>
              </a:ext>
            </a:extLst>
          </p:cNvPr>
          <p:cNvSpPr txBox="1"/>
          <p:nvPr/>
        </p:nvSpPr>
        <p:spPr>
          <a:xfrm>
            <a:off x="688431" y="2909479"/>
            <a:ext cx="4802918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transform x to y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y;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E59BAE-506A-4866-7111-63C5B301EFC9}"/>
              </a:ext>
            </a:extLst>
          </p:cNvPr>
          <p:cNvSpPr/>
          <p:nvPr/>
        </p:nvSpPr>
        <p:spPr>
          <a:xfrm>
            <a:off x="1154789" y="4196450"/>
            <a:ext cx="4262661" cy="260508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5DA7187-CEEC-070F-DEF1-694118B74FA9}"/>
              </a:ext>
            </a:extLst>
          </p:cNvPr>
          <p:cNvSpPr/>
          <p:nvPr/>
        </p:nvSpPr>
        <p:spPr>
          <a:xfrm>
            <a:off x="1154789" y="3772741"/>
            <a:ext cx="4262661" cy="225237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2C6F2B-D757-B4FD-4FD1-26501F695BA6}"/>
              </a:ext>
            </a:extLst>
          </p:cNvPr>
          <p:cNvSpPr/>
          <p:nvPr/>
        </p:nvSpPr>
        <p:spPr>
          <a:xfrm>
            <a:off x="1154789" y="4673068"/>
            <a:ext cx="4262661" cy="225237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D1A9CE-19CA-562A-7669-66149CF2C1D8}"/>
              </a:ext>
            </a:extLst>
          </p:cNvPr>
          <p:cNvSpPr/>
          <p:nvPr/>
        </p:nvSpPr>
        <p:spPr>
          <a:xfrm>
            <a:off x="7012776" y="3660123"/>
            <a:ext cx="4504969" cy="414460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307E7F-6A8F-2AFE-435E-FC040BC5C1CA}"/>
              </a:ext>
            </a:extLst>
          </p:cNvPr>
          <p:cNvSpPr/>
          <p:nvPr/>
        </p:nvSpPr>
        <p:spPr>
          <a:xfrm>
            <a:off x="7012776" y="5148266"/>
            <a:ext cx="4504969" cy="225237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D0FF69E-97D5-8EA2-EE60-C8638E19FAAA}"/>
              </a:ext>
            </a:extLst>
          </p:cNvPr>
          <p:cNvSpPr/>
          <p:nvPr/>
        </p:nvSpPr>
        <p:spPr>
          <a:xfrm>
            <a:off x="7012776" y="4081671"/>
            <a:ext cx="4504969" cy="1060111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8F23DA-350E-68D0-A275-3AB6C6C0682C}"/>
              </a:ext>
            </a:extLst>
          </p:cNvPr>
          <p:cNvSpPr txBox="1"/>
          <p:nvPr/>
        </p:nvSpPr>
        <p:spPr>
          <a:xfrm>
            <a:off x="5778309" y="349802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B1B87-A49D-925F-2321-3FF78B5E3C8A}"/>
              </a:ext>
            </a:extLst>
          </p:cNvPr>
          <p:cNvSpPr txBox="1"/>
          <p:nvPr/>
        </p:nvSpPr>
        <p:spPr>
          <a:xfrm>
            <a:off x="5473529" y="4029420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Processing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A2166C-632B-484B-39DD-0A59ECD27419}"/>
              </a:ext>
            </a:extLst>
          </p:cNvPr>
          <p:cNvSpPr txBox="1"/>
          <p:nvPr/>
        </p:nvSpPr>
        <p:spPr>
          <a:xfrm>
            <a:off x="5661121" y="5012103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Output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E5B9B3-01C3-9DF2-C32B-95950711CDC4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417450" y="4326704"/>
            <a:ext cx="1595326" cy="285023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CA37C9-4A3D-DBBC-2AC3-56F2FE0E5C60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5417450" y="3867353"/>
            <a:ext cx="1595326" cy="18007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BF7F6E-67B9-667D-43F1-DC1E932C174E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5417450" y="4785687"/>
            <a:ext cx="1595326" cy="475198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108128-787A-5918-962F-266244ABCECA}"/>
              </a:ext>
            </a:extLst>
          </p:cNvPr>
          <p:cNvSpPr txBox="1"/>
          <p:nvPr/>
        </p:nvSpPr>
        <p:spPr>
          <a:xfrm>
            <a:off x="1155405" y="1403498"/>
            <a:ext cx="5382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With a fixed number of threads (&lt; # of iterations)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5370C7-B7A1-8FC1-0897-BF850E8D712B}"/>
              </a:ext>
            </a:extLst>
          </p:cNvPr>
          <p:cNvSpPr txBox="1"/>
          <p:nvPr/>
        </p:nvSpPr>
        <p:spPr>
          <a:xfrm>
            <a:off x="6846779" y="1950910"/>
            <a:ext cx="4594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Sequential version of "</a:t>
            </a:r>
            <a:r>
              <a:rPr lang="en-US" dirty="0" err="1"/>
              <a:t>num_threads</a:t>
            </a:r>
            <a:r>
              <a:rPr lang="en-US" dirty="0"/>
              <a:t>" iterations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05D1EB-F994-C22D-47EA-82480E412A1D}"/>
              </a:ext>
            </a:extLst>
          </p:cNvPr>
          <p:cNvSpPr txBox="1"/>
          <p:nvPr/>
        </p:nvSpPr>
        <p:spPr>
          <a:xfrm>
            <a:off x="497817" y="6518306"/>
            <a:ext cx="554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Warning</a:t>
            </a:r>
            <a:r>
              <a:rPr lang="en-US" i="1">
                <a:solidFill>
                  <a:schemeClr val="bg1">
                    <a:lumMod val="65000"/>
                  </a:schemeClr>
                </a:solidFill>
              </a:rPr>
              <a:t>: Incomplete code,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only for illustrative purposes. </a:t>
            </a:r>
          </a:p>
        </p:txBody>
      </p:sp>
    </p:spTree>
    <p:extLst>
      <p:ext uri="{BB962C8B-B14F-4D97-AF65-F5344CB8AC3E}">
        <p14:creationId xmlns:p14="http://schemas.microsoft.com/office/powerpoint/2010/main" val="338909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D942-D561-0022-1FCC-C7DAE72A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Loops to Threads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99010-EDC7-6F2E-7CE4-AEF58C8DE3B9}"/>
              </a:ext>
            </a:extLst>
          </p:cNvPr>
          <p:cNvSpPr txBox="1"/>
          <p:nvPr/>
        </p:nvSpPr>
        <p:spPr>
          <a:xfrm>
            <a:off x="6891387" y="1414403"/>
            <a:ext cx="5125121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 input;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output output;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output{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j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input* in = malloc(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(input));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j);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func2, in);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j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output *out;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[j], &amp;out);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out-&gt;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map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back to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C4B94-429E-4B25-438D-A911A87990E6}"/>
              </a:ext>
            </a:extLst>
          </p:cNvPr>
          <p:cNvSpPr txBox="1"/>
          <p:nvPr/>
        </p:nvSpPr>
        <p:spPr>
          <a:xfrm>
            <a:off x="468692" y="2331886"/>
            <a:ext cx="514465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j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j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num_threads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j);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transform x to y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y;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map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ys_section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back to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ys</a:t>
            </a:r>
            <a:endParaRPr lang="en-US" sz="1400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389769-AD71-77C3-F092-2B83DF0DCAE2}"/>
              </a:ext>
            </a:extLst>
          </p:cNvPr>
          <p:cNvSpPr/>
          <p:nvPr/>
        </p:nvSpPr>
        <p:spPr>
          <a:xfrm>
            <a:off x="909688" y="3660122"/>
            <a:ext cx="4504969" cy="238480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BC5C05-433C-525C-4922-055FC7F38C1A}"/>
              </a:ext>
            </a:extLst>
          </p:cNvPr>
          <p:cNvSpPr/>
          <p:nvPr/>
        </p:nvSpPr>
        <p:spPr>
          <a:xfrm>
            <a:off x="909688" y="5148265"/>
            <a:ext cx="4504969" cy="225237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0B2CB0-43C5-70C7-071C-F6E14429A403}"/>
              </a:ext>
            </a:extLst>
          </p:cNvPr>
          <p:cNvSpPr/>
          <p:nvPr/>
        </p:nvSpPr>
        <p:spPr>
          <a:xfrm>
            <a:off x="909688" y="4081670"/>
            <a:ext cx="4504969" cy="1060111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D8AA85-4AA6-DA45-097B-741DA2BB2E78}"/>
              </a:ext>
            </a:extLst>
          </p:cNvPr>
          <p:cNvSpPr/>
          <p:nvPr/>
        </p:nvSpPr>
        <p:spPr>
          <a:xfrm>
            <a:off x="6947976" y="1916733"/>
            <a:ext cx="4405824" cy="408250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56C77-E5C1-F2D3-C50C-B09F521EEADC}"/>
              </a:ext>
            </a:extLst>
          </p:cNvPr>
          <p:cNvSpPr txBox="1"/>
          <p:nvPr/>
        </p:nvSpPr>
        <p:spPr>
          <a:xfrm>
            <a:off x="3901342" y="2474859"/>
            <a:ext cx="241713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Setting up input/output data wrappers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EAE8FD-A200-BD1C-CC3B-6D69A3295931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6318477" y="2120858"/>
            <a:ext cx="629499" cy="67716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72D6717-6676-F7BE-2110-9019412EE518}"/>
              </a:ext>
            </a:extLst>
          </p:cNvPr>
          <p:cNvSpPr/>
          <p:nvPr/>
        </p:nvSpPr>
        <p:spPr>
          <a:xfrm>
            <a:off x="7218339" y="3993372"/>
            <a:ext cx="4504969" cy="245475"/>
          </a:xfrm>
          <a:prstGeom prst="roundRect">
            <a:avLst/>
          </a:prstGeom>
          <a:solidFill>
            <a:schemeClr val="accent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3D84E6-1CB2-150C-170F-D0C3F58321BF}"/>
              </a:ext>
            </a:extLst>
          </p:cNvPr>
          <p:cNvSpPr/>
          <p:nvPr/>
        </p:nvSpPr>
        <p:spPr>
          <a:xfrm>
            <a:off x="7218339" y="4238848"/>
            <a:ext cx="4683038" cy="245476"/>
          </a:xfrm>
          <a:prstGeom prst="roundRect">
            <a:avLst/>
          </a:prstGeom>
          <a:solidFill>
            <a:srgbClr val="C00000">
              <a:alpha val="30000"/>
            </a:srgb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903299-7206-EDBC-9F54-1BE2A694C8E9}"/>
              </a:ext>
            </a:extLst>
          </p:cNvPr>
          <p:cNvSpPr/>
          <p:nvPr/>
        </p:nvSpPr>
        <p:spPr>
          <a:xfrm>
            <a:off x="7218339" y="3792352"/>
            <a:ext cx="4250647" cy="194396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888295-2EE1-2C84-88A0-97A5CDFEC13C}"/>
              </a:ext>
            </a:extLst>
          </p:cNvPr>
          <p:cNvSpPr/>
          <p:nvPr/>
        </p:nvSpPr>
        <p:spPr>
          <a:xfrm>
            <a:off x="7218338" y="4896864"/>
            <a:ext cx="4250647" cy="194396"/>
          </a:xfrm>
          <a:prstGeom prst="roundRect">
            <a:avLst/>
          </a:prstGeom>
          <a:solidFill>
            <a:schemeClr val="tx1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678F14-3FB3-AA85-852E-DB8F5E2ADFCA}"/>
              </a:ext>
            </a:extLst>
          </p:cNvPr>
          <p:cNvSpPr/>
          <p:nvPr/>
        </p:nvSpPr>
        <p:spPr>
          <a:xfrm>
            <a:off x="7200623" y="5116801"/>
            <a:ext cx="4504969" cy="813336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4A29BB-196F-2408-B189-4CDC29F0BF3E}"/>
              </a:ext>
            </a:extLst>
          </p:cNvPr>
          <p:cNvSpPr txBox="1"/>
          <p:nvPr/>
        </p:nvSpPr>
        <p:spPr>
          <a:xfrm>
            <a:off x="5887579" y="35661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A75BD-D396-D72F-6B54-0481222697D3}"/>
              </a:ext>
            </a:extLst>
          </p:cNvPr>
          <p:cNvSpPr txBox="1"/>
          <p:nvPr/>
        </p:nvSpPr>
        <p:spPr>
          <a:xfrm>
            <a:off x="5741608" y="4553380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Processing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07F91E-DC7D-888A-6EAA-835BA7942126}"/>
              </a:ext>
            </a:extLst>
          </p:cNvPr>
          <p:cNvSpPr txBox="1"/>
          <p:nvPr/>
        </p:nvSpPr>
        <p:spPr>
          <a:xfrm>
            <a:off x="5654033" y="549230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Output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2AE39F-CE1B-EF91-D870-6DC26098FA30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5414657" y="4361586"/>
            <a:ext cx="1803682" cy="25014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A70DC7-25B9-73A9-4F93-4634D60F86E2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5414657" y="3779362"/>
            <a:ext cx="1803682" cy="336748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0310A0-A643-F636-D9BD-0926EBF8CC47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5414657" y="5260884"/>
            <a:ext cx="1785966" cy="262585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BB27CA-1C1C-A309-7620-8C49A9B1C665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6318477" y="2798025"/>
            <a:ext cx="899862" cy="109152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A5FD85-4ACD-804C-CA4C-08338ACABC71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6318477" y="2798025"/>
            <a:ext cx="899861" cy="219603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CEBB1B0-96EF-642D-2630-CC6E4E22C728}"/>
              </a:ext>
            </a:extLst>
          </p:cNvPr>
          <p:cNvSpPr txBox="1"/>
          <p:nvPr/>
        </p:nvSpPr>
        <p:spPr>
          <a:xfrm>
            <a:off x="904686" y="1266701"/>
            <a:ext cx="5402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General recipe for converting for loops to threads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013E10-DA0D-1AEB-BADC-C0CCA0467183}"/>
              </a:ext>
            </a:extLst>
          </p:cNvPr>
          <p:cNvSpPr txBox="1"/>
          <p:nvPr/>
        </p:nvSpPr>
        <p:spPr>
          <a:xfrm>
            <a:off x="743691" y="1957509"/>
            <a:ext cx="4594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Sequential version of "</a:t>
            </a:r>
            <a:r>
              <a:rPr lang="en-US" dirty="0" err="1"/>
              <a:t>num_threads</a:t>
            </a:r>
            <a:r>
              <a:rPr lang="en-US" dirty="0"/>
              <a:t>" iterations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B7F20B-39A3-880E-9B0F-C42E91CCF0F0}"/>
              </a:ext>
            </a:extLst>
          </p:cNvPr>
          <p:cNvSpPr txBox="1"/>
          <p:nvPr/>
        </p:nvSpPr>
        <p:spPr>
          <a:xfrm>
            <a:off x="497817" y="6518306"/>
            <a:ext cx="554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Warning</a:t>
            </a:r>
            <a:r>
              <a:rPr lang="en-US" i="1">
                <a:solidFill>
                  <a:schemeClr val="bg1">
                    <a:lumMod val="65000"/>
                  </a:schemeClr>
                </a:solidFill>
              </a:rPr>
              <a:t>: Incomplete code,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only for illustrative purposes. </a:t>
            </a:r>
          </a:p>
        </p:txBody>
      </p:sp>
    </p:spTree>
    <p:extLst>
      <p:ext uri="{BB962C8B-B14F-4D97-AF65-F5344CB8AC3E}">
        <p14:creationId xmlns:p14="http://schemas.microsoft.com/office/powerpoint/2010/main" val="3209945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Arguments &amp; Return Values</a:t>
            </a:r>
          </a:p>
          <a:p>
            <a:r>
              <a:rPr lang="en-US" dirty="0"/>
              <a:t>Modularization</a:t>
            </a:r>
          </a:p>
          <a:p>
            <a:r>
              <a:rPr lang="en-US" b="1" dirty="0"/>
              <a:t>Risks of Sharing</a:t>
            </a:r>
          </a:p>
        </p:txBody>
      </p:sp>
    </p:spTree>
    <p:extLst>
      <p:ext uri="{BB962C8B-B14F-4D97-AF65-F5344CB8AC3E}">
        <p14:creationId xmlns:p14="http://schemas.microsoft.com/office/powerpoint/2010/main" val="3082681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1FCB-A8E6-0FEC-BFDB-AE710405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of 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B6DD0-F25E-BBEE-0220-3AED34F04F1F}"/>
              </a:ext>
            </a:extLst>
          </p:cNvPr>
          <p:cNvSpPr txBox="1"/>
          <p:nvPr/>
        </p:nvSpPr>
        <p:spPr>
          <a:xfrm>
            <a:off x="646546" y="1330037"/>
            <a:ext cx="491031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 node;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node *x = (node*)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node *x = malloc(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(node));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 /*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en-US" sz="1400" dirty="0" err="1">
                <a:solidFill>
                  <a:srgbClr val="400BD9"/>
                </a:solidFill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[0], </a:t>
            </a:r>
            <a:r>
              <a:rPr lang="en-US" sz="1400" dirty="0" err="1">
                <a:solidFill>
                  <a:srgbClr val="400BD9"/>
                </a:solidFill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[1]...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*/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A1839-9D44-C98C-2C98-8B929ECCFECE}"/>
              </a:ext>
            </a:extLst>
          </p:cNvPr>
          <p:cNvSpPr txBox="1"/>
          <p:nvPr/>
        </p:nvSpPr>
        <p:spPr>
          <a:xfrm>
            <a:off x="6530109" y="985488"/>
            <a:ext cx="377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 it print each integer exactly once?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967134-AF51-59B9-7075-ABD267BF677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123814" y="2344515"/>
            <a:ext cx="0" cy="3198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322BCB-19FB-2E03-B376-7567E46A05E1}"/>
              </a:ext>
            </a:extLst>
          </p:cNvPr>
          <p:cNvSpPr txBox="1"/>
          <p:nvPr/>
        </p:nvSpPr>
        <p:spPr>
          <a:xfrm>
            <a:off x="6451899" y="1975183"/>
            <a:ext cx="1343829" cy="369332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Main thread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99D435-D311-F1E0-EE32-5E414BE34C01}"/>
              </a:ext>
            </a:extLst>
          </p:cNvPr>
          <p:cNvCxnSpPr>
            <a:cxnSpLocks/>
          </p:cNvCxnSpPr>
          <p:nvPr/>
        </p:nvCxnSpPr>
        <p:spPr>
          <a:xfrm flipH="1">
            <a:off x="9125883" y="3487479"/>
            <a:ext cx="396" cy="196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4A0D1B2-F8F2-A3E9-E5C3-8B89EAE61A29}"/>
              </a:ext>
            </a:extLst>
          </p:cNvPr>
          <p:cNvSpPr txBox="1"/>
          <p:nvPr/>
        </p:nvSpPr>
        <p:spPr>
          <a:xfrm>
            <a:off x="8677983" y="2489090"/>
            <a:ext cx="896591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Thread </a:t>
            </a:r>
          </a:p>
          <a:p>
            <a:pPr algn="ctr"/>
            <a:r>
              <a:rPr lang="en-US" dirty="0" err="1"/>
              <a:t>tids</a:t>
            </a:r>
            <a:r>
              <a:rPr lang="en-US" dirty="0"/>
              <a:t>[0]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AD1550-5675-66A1-B094-D95EE5E116EC}"/>
              </a:ext>
            </a:extLst>
          </p:cNvPr>
          <p:cNvCxnSpPr>
            <a:cxnSpLocks/>
          </p:cNvCxnSpPr>
          <p:nvPr/>
        </p:nvCxnSpPr>
        <p:spPr>
          <a:xfrm>
            <a:off x="7111033" y="3135421"/>
            <a:ext cx="2015246" cy="352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71317CD-7D4A-976E-B424-A65ED513FE60}"/>
              </a:ext>
            </a:extLst>
          </p:cNvPr>
          <p:cNvSpPr txBox="1"/>
          <p:nvPr/>
        </p:nvSpPr>
        <p:spPr>
          <a:xfrm>
            <a:off x="6548016" y="408408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B6A95-99AC-3D4A-D910-593C4EE57FB8}"/>
              </a:ext>
            </a:extLst>
          </p:cNvPr>
          <p:cNvSpPr txBox="1"/>
          <p:nvPr/>
        </p:nvSpPr>
        <p:spPr>
          <a:xfrm>
            <a:off x="6530109" y="24429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1D3EB9-4C52-8BAA-5173-61AF9E0CF553}"/>
              </a:ext>
            </a:extLst>
          </p:cNvPr>
          <p:cNvSpPr txBox="1"/>
          <p:nvPr/>
        </p:nvSpPr>
        <p:spPr>
          <a:xfrm>
            <a:off x="6040359" y="2803619"/>
            <a:ext cx="117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x-&gt;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210A66-0ACC-9DB0-20BC-AA36231E6683}"/>
              </a:ext>
            </a:extLst>
          </p:cNvPr>
          <p:cNvSpPr txBox="1"/>
          <p:nvPr/>
        </p:nvSpPr>
        <p:spPr>
          <a:xfrm>
            <a:off x="9125883" y="3561417"/>
            <a:ext cx="178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print(x-&gt;</a:t>
            </a:r>
            <a:r>
              <a:rPr lang="en-US" dirty="0" err="1"/>
              <a:t>val</a:t>
            </a:r>
            <a:r>
              <a:rPr lang="en-US" dirty="0"/>
              <a:t>) </a:t>
            </a:r>
            <a:r>
              <a:rPr lang="en-US" dirty="0">
                <a:sym typeface="Wingdings" pitchFamily="2" charset="2"/>
              </a:rPr>
              <a:t> ?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58E232-7943-5EF5-08FE-BBF3767DBE1E}"/>
              </a:ext>
            </a:extLst>
          </p:cNvPr>
          <p:cNvSpPr txBox="1"/>
          <p:nvPr/>
        </p:nvSpPr>
        <p:spPr>
          <a:xfrm>
            <a:off x="6047059" y="4444776"/>
            <a:ext cx="117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x-&gt;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A97B17-A166-344E-AC8A-464CA6935359}"/>
              </a:ext>
            </a:extLst>
          </p:cNvPr>
          <p:cNvSpPr txBox="1"/>
          <p:nvPr/>
        </p:nvSpPr>
        <p:spPr>
          <a:xfrm>
            <a:off x="10759727" y="2999568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Good Case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6256E3-7528-D92C-8F80-D86C095D0DC4}"/>
              </a:ext>
            </a:extLst>
          </p:cNvPr>
          <p:cNvSpPr txBox="1"/>
          <p:nvPr/>
        </p:nvSpPr>
        <p:spPr>
          <a:xfrm>
            <a:off x="10858868" y="351525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3823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37" grpId="0"/>
      <p:bldP spid="38" grpId="0"/>
      <p:bldP spid="39" grpId="0"/>
      <p:bldP spid="40" grpId="0"/>
      <p:bldP spid="41" grpId="0"/>
      <p:bldP spid="44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1FCB-A8E6-0FEC-BFDB-AE710405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of 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B6DD0-F25E-BBEE-0220-3AED34F04F1F}"/>
              </a:ext>
            </a:extLst>
          </p:cNvPr>
          <p:cNvSpPr txBox="1"/>
          <p:nvPr/>
        </p:nvSpPr>
        <p:spPr>
          <a:xfrm>
            <a:off x="646546" y="1330037"/>
            <a:ext cx="491031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 node;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node *x = (node*)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node *x = malloc(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(node));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 /* </a:t>
            </a:r>
            <a:r>
              <a:rPr lang="en-US" sz="14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en-US" sz="1400" dirty="0" err="1">
                <a:solidFill>
                  <a:srgbClr val="400BD9"/>
                </a:solidFill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[0], </a:t>
            </a:r>
            <a:r>
              <a:rPr lang="en-US" sz="1400" dirty="0" err="1">
                <a:solidFill>
                  <a:srgbClr val="400BD9"/>
                </a:solidFill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400BD9"/>
                </a:solidFill>
                <a:latin typeface="Menlo" panose="020B0609030804020204" pitchFamily="49" charset="0"/>
              </a:rPr>
              <a:t>[1]...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*/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A1839-9D44-C98C-2C98-8B929ECCFECE}"/>
              </a:ext>
            </a:extLst>
          </p:cNvPr>
          <p:cNvSpPr txBox="1"/>
          <p:nvPr/>
        </p:nvSpPr>
        <p:spPr>
          <a:xfrm>
            <a:off x="6530109" y="985488"/>
            <a:ext cx="377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 it print each integer exactly once?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A2DC04E-5DB0-6426-8B94-F616495BE82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123814" y="2344515"/>
            <a:ext cx="0" cy="3198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BE5B7D9-1A0A-9889-3D96-626FBBC756BA}"/>
              </a:ext>
            </a:extLst>
          </p:cNvPr>
          <p:cNvSpPr txBox="1"/>
          <p:nvPr/>
        </p:nvSpPr>
        <p:spPr>
          <a:xfrm>
            <a:off x="6451899" y="1975183"/>
            <a:ext cx="1343829" cy="369332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Main thread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F82751-5967-4BED-235A-08A624E5E68C}"/>
              </a:ext>
            </a:extLst>
          </p:cNvPr>
          <p:cNvCxnSpPr>
            <a:cxnSpLocks/>
          </p:cNvCxnSpPr>
          <p:nvPr/>
        </p:nvCxnSpPr>
        <p:spPr>
          <a:xfrm flipH="1">
            <a:off x="9125883" y="3487479"/>
            <a:ext cx="396" cy="196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7A885B-B9CB-FFB1-9817-48CF29BF17A3}"/>
              </a:ext>
            </a:extLst>
          </p:cNvPr>
          <p:cNvSpPr txBox="1"/>
          <p:nvPr/>
        </p:nvSpPr>
        <p:spPr>
          <a:xfrm>
            <a:off x="8677983" y="2489090"/>
            <a:ext cx="896591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Thread </a:t>
            </a:r>
          </a:p>
          <a:p>
            <a:pPr algn="ctr"/>
            <a:r>
              <a:rPr lang="en-US" dirty="0" err="1"/>
              <a:t>tids</a:t>
            </a:r>
            <a:r>
              <a:rPr lang="en-US" dirty="0"/>
              <a:t>[0]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7C6CFC-4851-DF28-3493-E6E4F8DFE0BC}"/>
              </a:ext>
            </a:extLst>
          </p:cNvPr>
          <p:cNvCxnSpPr>
            <a:cxnSpLocks/>
          </p:cNvCxnSpPr>
          <p:nvPr/>
        </p:nvCxnSpPr>
        <p:spPr>
          <a:xfrm>
            <a:off x="7111033" y="3135421"/>
            <a:ext cx="2015246" cy="352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5C678B-704C-DF24-6EBE-B536C1D93CA9}"/>
              </a:ext>
            </a:extLst>
          </p:cNvPr>
          <p:cNvSpPr txBox="1"/>
          <p:nvPr/>
        </p:nvSpPr>
        <p:spPr>
          <a:xfrm>
            <a:off x="6548016" y="34036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C514F-9222-93FD-B2A3-3791A841C500}"/>
              </a:ext>
            </a:extLst>
          </p:cNvPr>
          <p:cNvSpPr txBox="1"/>
          <p:nvPr/>
        </p:nvSpPr>
        <p:spPr>
          <a:xfrm>
            <a:off x="6530109" y="24429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13641-35A0-E065-8456-10871DC3A781}"/>
              </a:ext>
            </a:extLst>
          </p:cNvPr>
          <p:cNvSpPr txBox="1"/>
          <p:nvPr/>
        </p:nvSpPr>
        <p:spPr>
          <a:xfrm>
            <a:off x="6040359" y="2803619"/>
            <a:ext cx="117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x-&gt;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1DFE6-8FD0-7CEC-134F-FA75C48994D8}"/>
              </a:ext>
            </a:extLst>
          </p:cNvPr>
          <p:cNvSpPr txBox="1"/>
          <p:nvPr/>
        </p:nvSpPr>
        <p:spPr>
          <a:xfrm>
            <a:off x="9125883" y="4163927"/>
            <a:ext cx="178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print(x-&gt;</a:t>
            </a:r>
            <a:r>
              <a:rPr lang="en-US" dirty="0" err="1"/>
              <a:t>val</a:t>
            </a:r>
            <a:r>
              <a:rPr lang="en-US" dirty="0"/>
              <a:t>) </a:t>
            </a:r>
            <a:r>
              <a:rPr lang="en-US" dirty="0">
                <a:sym typeface="Wingdings" pitchFamily="2" charset="2"/>
              </a:rPr>
              <a:t> 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9094B-73E1-ACD2-B57B-6B7A497F7148}"/>
              </a:ext>
            </a:extLst>
          </p:cNvPr>
          <p:cNvSpPr txBox="1"/>
          <p:nvPr/>
        </p:nvSpPr>
        <p:spPr>
          <a:xfrm>
            <a:off x="6047059" y="3764295"/>
            <a:ext cx="117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x-&gt;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dirty="0"/>
              <a:t>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4BD22-44D5-AC2C-2D2B-CD166E79FF0E}"/>
              </a:ext>
            </a:extLst>
          </p:cNvPr>
          <p:cNvSpPr txBox="1"/>
          <p:nvPr/>
        </p:nvSpPr>
        <p:spPr>
          <a:xfrm>
            <a:off x="10759727" y="299956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Bad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AE1F0-5168-F4D1-478D-F931D42DF6A8}"/>
              </a:ext>
            </a:extLst>
          </p:cNvPr>
          <p:cNvSpPr txBox="1"/>
          <p:nvPr/>
        </p:nvSpPr>
        <p:spPr>
          <a:xfrm>
            <a:off x="10858868" y="41177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711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87AF-F271-D12A-911B-0DF14D4F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Read-Write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D352-A16E-A341-3CF8-1E774A256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1"/>
            <a:ext cx="10623697" cy="912412"/>
          </a:xfrm>
        </p:spPr>
        <p:txBody>
          <a:bodyPr/>
          <a:lstStyle/>
          <a:p>
            <a:r>
              <a:rPr lang="en-US" dirty="0"/>
              <a:t>Read-write conflict is a "concurrency bug" associated with interleaved execution between two concurrent threads (or processes).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24C20BD-C81A-E21F-EFAF-89F6DBED1F7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401452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222D33-05F7-39E9-9FEA-A32F5B328BD2}"/>
              </a:ext>
            </a:extLst>
          </p:cNvPr>
          <p:cNvSpPr txBox="1"/>
          <p:nvPr/>
        </p:nvSpPr>
        <p:spPr>
          <a:xfrm>
            <a:off x="965125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6A226D-9587-B7A1-ADAD-7874D9A8EB4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03304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3C1CF2-F8D5-6FD8-8BA4-9DC38F73A162}"/>
              </a:ext>
            </a:extLst>
          </p:cNvPr>
          <p:cNvSpPr txBox="1"/>
          <p:nvPr/>
        </p:nvSpPr>
        <p:spPr>
          <a:xfrm>
            <a:off x="2066977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B4163-238E-2113-7464-125861D71162}"/>
              </a:ext>
            </a:extLst>
          </p:cNvPr>
          <p:cNvSpPr txBox="1"/>
          <p:nvPr/>
        </p:nvSpPr>
        <p:spPr>
          <a:xfrm>
            <a:off x="836437" y="3595549"/>
            <a:ext cx="1162945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x</a:t>
            </a:r>
            <a:r>
              <a:rPr lang="en-US" dirty="0"/>
              <a:t> to Mem[A]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A049F-FB6B-3C2F-99B1-EE9AC4019A91}"/>
              </a:ext>
            </a:extLst>
          </p:cNvPr>
          <p:cNvSpPr txBox="1"/>
          <p:nvPr/>
        </p:nvSpPr>
        <p:spPr>
          <a:xfrm>
            <a:off x="833105" y="4751297"/>
            <a:ext cx="1165840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y</a:t>
            </a:r>
            <a:r>
              <a:rPr lang="en-US" dirty="0"/>
              <a:t> to Mem[A]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B3F9B-8A98-AAEF-C9E8-13A38586FEF7}"/>
              </a:ext>
            </a:extLst>
          </p:cNvPr>
          <p:cNvSpPr txBox="1"/>
          <p:nvPr/>
        </p:nvSpPr>
        <p:spPr>
          <a:xfrm>
            <a:off x="1860641" y="4165224"/>
            <a:ext cx="1530355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2D2E10-8741-E68D-7257-CCC859C8A140}"/>
              </a:ext>
            </a:extLst>
          </p:cNvPr>
          <p:cNvSpPr txBox="1"/>
          <p:nvPr/>
        </p:nvSpPr>
        <p:spPr>
          <a:xfrm>
            <a:off x="1855395" y="5320972"/>
            <a:ext cx="147745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5F896F-B056-A3C0-319A-787CA102E62C}"/>
              </a:ext>
            </a:extLst>
          </p:cNvPr>
          <p:cNvSpPr txBox="1"/>
          <p:nvPr/>
        </p:nvSpPr>
        <p:spPr>
          <a:xfrm>
            <a:off x="2122546" y="5603415"/>
            <a:ext cx="1038874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y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B638BA-878D-45B2-937E-F04BF3EB20CC}"/>
              </a:ext>
            </a:extLst>
          </p:cNvPr>
          <p:cNvSpPr txBox="1"/>
          <p:nvPr/>
        </p:nvSpPr>
        <p:spPr>
          <a:xfrm>
            <a:off x="2090851" y="4476017"/>
            <a:ext cx="103406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x</a:t>
            </a:r>
            <a:endParaRPr lang="en-US" b="1" dirty="0">
              <a:highlight>
                <a:srgbClr val="FFFF00"/>
              </a:highlight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11B02A-F085-6B6D-F92B-AB458D082FCA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5494375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E4FAD8-1BE1-7948-C66B-9C0EA1E4D264}"/>
              </a:ext>
            </a:extLst>
          </p:cNvPr>
          <p:cNvSpPr txBox="1"/>
          <p:nvPr/>
        </p:nvSpPr>
        <p:spPr>
          <a:xfrm>
            <a:off x="5058048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059FCE-A755-6674-F09D-E77CA8CB5648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6596227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EB8C515-A0E9-718B-59C0-C631C4AF5DF3}"/>
              </a:ext>
            </a:extLst>
          </p:cNvPr>
          <p:cNvSpPr txBox="1"/>
          <p:nvPr/>
        </p:nvSpPr>
        <p:spPr>
          <a:xfrm>
            <a:off x="6159900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470333-F045-0DA5-26A4-1FE7250EDF79}"/>
              </a:ext>
            </a:extLst>
          </p:cNvPr>
          <p:cNvSpPr txBox="1"/>
          <p:nvPr/>
        </p:nvSpPr>
        <p:spPr>
          <a:xfrm>
            <a:off x="4929360" y="3595549"/>
            <a:ext cx="1162945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x</a:t>
            </a:r>
            <a:r>
              <a:rPr lang="en-US" dirty="0"/>
              <a:t> to Mem[A]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4D750C-30D1-062C-CC14-923AD6D05770}"/>
              </a:ext>
            </a:extLst>
          </p:cNvPr>
          <p:cNvSpPr txBox="1"/>
          <p:nvPr/>
        </p:nvSpPr>
        <p:spPr>
          <a:xfrm>
            <a:off x="4926028" y="5410514"/>
            <a:ext cx="1165840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y</a:t>
            </a:r>
            <a:r>
              <a:rPr lang="en-US" dirty="0"/>
              <a:t> to Mem[A]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49BB19-4ECA-BF0C-96CB-4562F827C602}"/>
              </a:ext>
            </a:extLst>
          </p:cNvPr>
          <p:cNvSpPr txBox="1"/>
          <p:nvPr/>
        </p:nvSpPr>
        <p:spPr>
          <a:xfrm>
            <a:off x="5953564" y="4165224"/>
            <a:ext cx="1530355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FB765F-A446-3DD7-493E-BD5A0609BC67}"/>
              </a:ext>
            </a:extLst>
          </p:cNvPr>
          <p:cNvSpPr txBox="1"/>
          <p:nvPr/>
        </p:nvSpPr>
        <p:spPr>
          <a:xfrm>
            <a:off x="5948318" y="4952379"/>
            <a:ext cx="147745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4936B6-57FE-211A-9024-B3C2965746C5}"/>
              </a:ext>
            </a:extLst>
          </p:cNvPr>
          <p:cNvSpPr txBox="1"/>
          <p:nvPr/>
        </p:nvSpPr>
        <p:spPr>
          <a:xfrm>
            <a:off x="6215469" y="5234822"/>
            <a:ext cx="1038874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x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D9C023-4E9E-AA7D-4D74-01CB9335EA71}"/>
              </a:ext>
            </a:extLst>
          </p:cNvPr>
          <p:cNvSpPr txBox="1"/>
          <p:nvPr/>
        </p:nvSpPr>
        <p:spPr>
          <a:xfrm>
            <a:off x="6183774" y="4476017"/>
            <a:ext cx="103406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x</a:t>
            </a:r>
            <a:endParaRPr lang="en-US" b="1" dirty="0">
              <a:highlight>
                <a:srgbClr val="FFFF00"/>
              </a:highlight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C7018D-EA91-F753-EE01-A666777A74AB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577645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77EF4DA-D868-BB88-2699-FB250CAAB898}"/>
              </a:ext>
            </a:extLst>
          </p:cNvPr>
          <p:cNvSpPr txBox="1"/>
          <p:nvPr/>
        </p:nvSpPr>
        <p:spPr>
          <a:xfrm>
            <a:off x="9141318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T1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0DB00A8-AE7A-1716-B113-6484AA5C82FD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10679497" y="3429000"/>
            <a:ext cx="0" cy="292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75B7B47-1D11-03BF-FD96-64F590F92530}"/>
              </a:ext>
            </a:extLst>
          </p:cNvPr>
          <p:cNvSpPr txBox="1"/>
          <p:nvPr/>
        </p:nvSpPr>
        <p:spPr>
          <a:xfrm>
            <a:off x="10243170" y="2782669"/>
            <a:ext cx="872654" cy="646331"/>
          </a:xfrm>
          <a:prstGeom prst="rect">
            <a:avLst/>
          </a:prstGeom>
          <a:solidFill>
            <a:srgbClr val="F5D1CF"/>
          </a:solidFill>
          <a:ln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T2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565FDF-06EF-115E-885B-DC5AC6C1C3AF}"/>
              </a:ext>
            </a:extLst>
          </p:cNvPr>
          <p:cNvSpPr txBox="1"/>
          <p:nvPr/>
        </p:nvSpPr>
        <p:spPr>
          <a:xfrm>
            <a:off x="9012630" y="3595549"/>
            <a:ext cx="1162945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x</a:t>
            </a:r>
            <a:r>
              <a:rPr lang="en-US" dirty="0"/>
              <a:t> to Mem[A]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6D8530-0968-EF45-1E69-323F00BF66B9}"/>
              </a:ext>
            </a:extLst>
          </p:cNvPr>
          <p:cNvSpPr txBox="1"/>
          <p:nvPr/>
        </p:nvSpPr>
        <p:spPr>
          <a:xfrm>
            <a:off x="9009298" y="4382704"/>
            <a:ext cx="1165840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Write </a:t>
            </a:r>
            <a:r>
              <a:rPr lang="en-US" b="1" dirty="0"/>
              <a:t>y</a:t>
            </a:r>
            <a:r>
              <a:rPr lang="en-US" dirty="0"/>
              <a:t> to Mem[A]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5A596A-A4F4-A12A-0538-966379D0DC47}"/>
              </a:ext>
            </a:extLst>
          </p:cNvPr>
          <p:cNvSpPr txBox="1"/>
          <p:nvPr/>
        </p:nvSpPr>
        <p:spPr>
          <a:xfrm>
            <a:off x="10036834" y="4874056"/>
            <a:ext cx="1530355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9182E1-2299-FE60-F52D-EEA681CA62D8}"/>
              </a:ext>
            </a:extLst>
          </p:cNvPr>
          <p:cNvSpPr txBox="1"/>
          <p:nvPr/>
        </p:nvSpPr>
        <p:spPr>
          <a:xfrm>
            <a:off x="10031588" y="5576151"/>
            <a:ext cx="147745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Mem[A]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5E8166-9DC6-F087-65D9-AACCE5E89FD3}"/>
              </a:ext>
            </a:extLst>
          </p:cNvPr>
          <p:cNvSpPr txBox="1"/>
          <p:nvPr/>
        </p:nvSpPr>
        <p:spPr>
          <a:xfrm>
            <a:off x="10298739" y="5858594"/>
            <a:ext cx="1038874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y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FB036E-2794-D5F1-BFDA-8BFB4F287EB9}"/>
              </a:ext>
            </a:extLst>
          </p:cNvPr>
          <p:cNvSpPr txBox="1"/>
          <p:nvPr/>
        </p:nvSpPr>
        <p:spPr>
          <a:xfrm>
            <a:off x="10267044" y="5184849"/>
            <a:ext cx="1034066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value is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y</a:t>
            </a: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2582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1FCB-A8E6-0FEC-BFDB-AE710405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it thread-safe?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B6DD0-F25E-BBEE-0220-3AED34F04F1F}"/>
              </a:ext>
            </a:extLst>
          </p:cNvPr>
          <p:cNvSpPr txBox="1"/>
          <p:nvPr/>
        </p:nvSpPr>
        <p:spPr>
          <a:xfrm>
            <a:off x="6551160" y="1641925"/>
            <a:ext cx="4910319" cy="4185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 node;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EE62D9-0BE3-4252-755A-8B39B67D7AAD}"/>
              </a:ext>
            </a:extLst>
          </p:cNvPr>
          <p:cNvSpPr/>
          <p:nvPr/>
        </p:nvSpPr>
        <p:spPr>
          <a:xfrm>
            <a:off x="10959463" y="4851684"/>
            <a:ext cx="396109" cy="30865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341D0-E3E3-F893-95DB-02352728D2CA}"/>
              </a:ext>
            </a:extLst>
          </p:cNvPr>
          <p:cNvSpPr txBox="1"/>
          <p:nvPr/>
        </p:nvSpPr>
        <p:spPr>
          <a:xfrm>
            <a:off x="8726806" y="3529543"/>
            <a:ext cx="2626994" cy="715089"/>
          </a:xfrm>
          <a:prstGeom prst="wedgeRoundRectCallout">
            <a:avLst>
              <a:gd name="adj1" fmla="val 40025"/>
              <a:gd name="adj2" fmla="val 130401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Method 2: pass by value, not by reference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4D2A5-F91A-1E08-573B-AAAC926CCB51}"/>
              </a:ext>
            </a:extLst>
          </p:cNvPr>
          <p:cNvSpPr txBox="1"/>
          <p:nvPr/>
        </p:nvSpPr>
        <p:spPr>
          <a:xfrm>
            <a:off x="836428" y="1641925"/>
            <a:ext cx="4910319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 node;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node{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node *x = (node*)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[n];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node *x = malloc(</a:t>
            </a:r>
            <a:r>
              <a:rPr lang="en-US" sz="14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(node));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E83B6F-E12B-4795-5947-BBFAD128B6FB}"/>
              </a:ext>
            </a:extLst>
          </p:cNvPr>
          <p:cNvSpPr/>
          <p:nvPr/>
        </p:nvSpPr>
        <p:spPr>
          <a:xfrm>
            <a:off x="1310685" y="4854174"/>
            <a:ext cx="3507903" cy="27071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46F81-1FC7-A88C-398A-ED4ECE04DBD1}"/>
              </a:ext>
            </a:extLst>
          </p:cNvPr>
          <p:cNvSpPr txBox="1"/>
          <p:nvPr/>
        </p:nvSpPr>
        <p:spPr>
          <a:xfrm>
            <a:off x="2736982" y="3592704"/>
            <a:ext cx="2988500" cy="715089"/>
          </a:xfrm>
          <a:prstGeom prst="wedgeRoundRectCallout">
            <a:avLst>
              <a:gd name="adj1" fmla="val -31324"/>
              <a:gd name="adj2" fmla="val 125940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Method 1: Create a separate instance every time</a:t>
            </a:r>
          </a:p>
        </p:txBody>
      </p:sp>
    </p:spTree>
    <p:extLst>
      <p:ext uri="{BB962C8B-B14F-4D97-AF65-F5344CB8AC3E}">
        <p14:creationId xmlns:p14="http://schemas.microsoft.com/office/powerpoint/2010/main" val="216135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A937-9E47-B078-E0E9-3C65453B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208E-BE54-31F1-1F39-7B296F968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pass (any number of) arguments to threads and return (any number of) values from a thread.</a:t>
            </a:r>
          </a:p>
          <a:p>
            <a:endParaRPr lang="en-US" dirty="0"/>
          </a:p>
          <a:p>
            <a:r>
              <a:rPr lang="en-US" dirty="0"/>
              <a:t>How to use it to convert loops to threads</a:t>
            </a:r>
          </a:p>
          <a:p>
            <a:endParaRPr lang="en-US" dirty="0"/>
          </a:p>
          <a:p>
            <a:r>
              <a:rPr lang="en-US" dirty="0"/>
              <a:t>Read-write conflict: occurs when reading and writing the same memory location</a:t>
            </a:r>
          </a:p>
          <a:p>
            <a:pPr lvl="1"/>
            <a:r>
              <a:rPr lang="en-US" dirty="0"/>
              <a:t>Understand how to spot it.</a:t>
            </a:r>
          </a:p>
          <a:p>
            <a:pPr lvl="1"/>
            <a:r>
              <a:rPr lang="en-US" dirty="0"/>
              <a:t>Fix: (1) pass by value, and (2) pass a new (unshared) instance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4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32773</TotalTime>
  <Words>2807</Words>
  <Application>Microsoft Macintosh PowerPoint</Application>
  <PresentationFormat>Widescreen</PresentationFormat>
  <Paragraphs>454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Menlo</vt:lpstr>
      <vt:lpstr>Wingdings</vt:lpstr>
      <vt:lpstr>Office Theme</vt:lpstr>
      <vt:lpstr>Thread III  CMSC 14300: System Programming I 19th Lecture</vt:lpstr>
      <vt:lpstr>Recap: Concurrency</vt:lpstr>
      <vt:lpstr>Recap: Accessing Data Across Threads</vt:lpstr>
      <vt:lpstr>Outline</vt:lpstr>
      <vt:lpstr>Use struct to pass argument and return values</vt:lpstr>
      <vt:lpstr>Using pthread_exit to return value</vt:lpstr>
      <vt:lpstr>Using return to return value</vt:lpstr>
      <vt:lpstr>Return multiple values using pthread_exit</vt:lpstr>
      <vt:lpstr>Outline</vt:lpstr>
      <vt:lpstr>Transforming Loops to Threads</vt:lpstr>
      <vt:lpstr>Transforming Loops to Threads</vt:lpstr>
      <vt:lpstr>Transforming Loops to Threads</vt:lpstr>
      <vt:lpstr>Outline</vt:lpstr>
      <vt:lpstr>Risk of Sharing</vt:lpstr>
      <vt:lpstr>Risk of Sharing</vt:lpstr>
      <vt:lpstr>Read-Write conflict</vt:lpstr>
      <vt:lpstr>How to make it thread-safe?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1110</cp:revision>
  <dcterms:created xsi:type="dcterms:W3CDTF">2023-03-12T16:00:37Z</dcterms:created>
  <dcterms:modified xsi:type="dcterms:W3CDTF">2023-05-07T04:51:25Z</dcterms:modified>
</cp:coreProperties>
</file>