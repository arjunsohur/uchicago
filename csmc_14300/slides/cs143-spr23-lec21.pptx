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12" r:id="rId3"/>
    <p:sldId id="340" r:id="rId4"/>
    <p:sldId id="367" r:id="rId5"/>
    <p:sldId id="343" r:id="rId6"/>
    <p:sldId id="344" r:id="rId7"/>
    <p:sldId id="345" r:id="rId8"/>
    <p:sldId id="368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24" r:id="rId18"/>
    <p:sldId id="354" r:id="rId19"/>
    <p:sldId id="355" r:id="rId20"/>
    <p:sldId id="369" r:id="rId21"/>
    <p:sldId id="342" r:id="rId22"/>
    <p:sldId id="356" r:id="rId23"/>
    <p:sldId id="357" r:id="rId24"/>
    <p:sldId id="362" r:id="rId25"/>
    <p:sldId id="358" r:id="rId26"/>
    <p:sldId id="370" r:id="rId27"/>
    <p:sldId id="363" r:id="rId28"/>
    <p:sldId id="365" r:id="rId29"/>
    <p:sldId id="359" r:id="rId30"/>
    <p:sldId id="371" r:id="rId31"/>
    <p:sldId id="36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3"/>
    <p:restoredTop sz="88454"/>
  </p:normalViewPr>
  <p:slideViewPr>
    <p:cSldViewPr snapToGrid="0">
      <p:cViewPr varScale="1">
        <p:scale>
          <a:sx n="166" d="100"/>
          <a:sy n="166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5/11/23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5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38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78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86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5/11/23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etter_frequenc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en-US" sz="4400" b="1" kern="0" dirty="0">
                <a:solidFill>
                  <a:schemeClr val="tx1"/>
                </a:solidFill>
                <a:latin typeface="Calibri" pitchFamily="34" charset="0"/>
              </a:rPr>
              <a:t>Hash Table (2)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21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st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ABD3-8BFA-0D82-F4D4-0F537209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Behind Hash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54DD5-F94E-F480-86FE-3DF8E9BA2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10515600" cy="51511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we learned so far…</a:t>
            </a:r>
          </a:p>
          <a:p>
            <a:pPr lvl="1"/>
            <a:r>
              <a:rPr lang="en-US" dirty="0"/>
              <a:t>Basic idea: Map integer keys to a relatively small number of hash indices. </a:t>
            </a:r>
          </a:p>
          <a:p>
            <a:pPr lvl="1"/>
            <a:r>
              <a:rPr lang="en-US" dirty="0"/>
              <a:t>Performance: constant-time key lookup using small amount of space.</a:t>
            </a:r>
          </a:p>
          <a:p>
            <a:endParaRPr lang="en-US" dirty="0"/>
          </a:p>
          <a:p>
            <a:r>
              <a:rPr lang="en-US" dirty="0"/>
              <a:t>Today:</a:t>
            </a:r>
          </a:p>
          <a:p>
            <a:pPr lvl="1"/>
            <a:r>
              <a:rPr lang="en-US" dirty="0"/>
              <a:t>How to handle hash collisions?</a:t>
            </a:r>
          </a:p>
          <a:p>
            <a:pPr lvl="1"/>
            <a:r>
              <a:rPr lang="en-US" dirty="0"/>
              <a:t>How to minimize hash collisions?</a:t>
            </a:r>
          </a:p>
          <a:p>
            <a:pPr lvl="1"/>
            <a:r>
              <a:rPr lang="en-US" dirty="0"/>
              <a:t>How to apply hash table to non-integer keys (strings, doubles, </a:t>
            </a:r>
            <a:r>
              <a:rPr lang="en-US" dirty="0" err="1"/>
              <a:t>etc</a:t>
            </a:r>
            <a:r>
              <a:rPr lang="en-US" dirty="0"/>
              <a:t>)? </a:t>
            </a:r>
          </a:p>
          <a:p>
            <a:endParaRPr lang="en-US" dirty="0"/>
          </a:p>
          <a:p>
            <a:r>
              <a:rPr lang="en-US" dirty="0"/>
              <a:t>Next lecture:</a:t>
            </a:r>
          </a:p>
          <a:p>
            <a:pPr lvl="1"/>
            <a:r>
              <a:rPr lang="en-US" dirty="0"/>
              <a:t>How to insert new key-value pairs to a hash table?</a:t>
            </a:r>
          </a:p>
          <a:p>
            <a:pPr lvl="1"/>
            <a:r>
              <a:rPr lang="en-US" dirty="0"/>
              <a:t>How to remove key-value pairs from a hash table?</a:t>
            </a:r>
          </a:p>
          <a:p>
            <a:pPr lvl="1"/>
            <a:r>
              <a:rPr lang="en-US" dirty="0"/>
              <a:t>How to resize hash table</a:t>
            </a:r>
          </a:p>
        </p:txBody>
      </p:sp>
    </p:spTree>
    <p:extLst>
      <p:ext uri="{BB962C8B-B14F-4D97-AF65-F5344CB8AC3E}">
        <p14:creationId xmlns:p14="http://schemas.microsoft.com/office/powerpoint/2010/main" val="180198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47B0-4C6C-5178-417C-DC83B263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Hashing Integer Keys </a:t>
            </a:r>
            <a:r>
              <a:rPr lang="en-US" sz="3600" dirty="0"/>
              <a:t>(no hash collision)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8C8D9E-E49C-1D17-F787-110EF7FB2F6C}"/>
              </a:ext>
            </a:extLst>
          </p:cNvPr>
          <p:cNvSpPr txBox="1">
            <a:spLocks/>
          </p:cNvSpPr>
          <p:nvPr/>
        </p:nvSpPr>
        <p:spPr>
          <a:xfrm>
            <a:off x="318176" y="1360457"/>
            <a:ext cx="9983636" cy="569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dictionary D = {5: "str0", 4423: "str1", 4: "str2", 25: "str3", 1100: "str4"}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5CDC10-A344-2A73-CA41-13557B260736}"/>
              </a:ext>
            </a:extLst>
          </p:cNvPr>
          <p:cNvSpPr txBox="1"/>
          <p:nvPr/>
        </p:nvSpPr>
        <p:spPr>
          <a:xfrm>
            <a:off x="441601" y="3554413"/>
            <a:ext cx="79948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Key lookup: </a:t>
            </a:r>
            <a:r>
              <a:rPr lang="en-US" sz="2400" dirty="0"/>
              <a:t>Check whether the dictionary contains a given key</a:t>
            </a:r>
          </a:p>
          <a:p>
            <a:r>
              <a:rPr lang="en-US" sz="2400" dirty="0"/>
              <a:t>Ex. Lookup (7)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819C47-4F3C-B291-3D7D-F92745BFACE7}"/>
              </a:ext>
            </a:extLst>
          </p:cNvPr>
          <p:cNvSpPr txBox="1"/>
          <p:nvPr/>
        </p:nvSpPr>
        <p:spPr>
          <a:xfrm>
            <a:off x="4561840" y="2936185"/>
            <a:ext cx="748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Keys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1B801C1-D4CD-5445-44F5-266CCF6135E4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3128562" y="1717040"/>
            <a:ext cx="1807355" cy="1219145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AEEEFC6-1DEB-161E-BF55-975F65D25BCC}"/>
              </a:ext>
            </a:extLst>
          </p:cNvPr>
          <p:cNvCxnSpPr/>
          <p:nvPr/>
        </p:nvCxnSpPr>
        <p:spPr>
          <a:xfrm>
            <a:off x="2985604" y="1717040"/>
            <a:ext cx="32583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F9835D8-1E6D-2CD1-998D-600E6A9B6207}"/>
              </a:ext>
            </a:extLst>
          </p:cNvPr>
          <p:cNvCxnSpPr>
            <a:cxnSpLocks/>
          </p:cNvCxnSpPr>
          <p:nvPr/>
        </p:nvCxnSpPr>
        <p:spPr>
          <a:xfrm>
            <a:off x="4236002" y="1717040"/>
            <a:ext cx="62047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18A941D-51A2-AF48-53CB-FD9A9EB5D017}"/>
              </a:ext>
            </a:extLst>
          </p:cNvPr>
          <p:cNvCxnSpPr>
            <a:cxnSpLocks/>
          </p:cNvCxnSpPr>
          <p:nvPr/>
        </p:nvCxnSpPr>
        <p:spPr>
          <a:xfrm>
            <a:off x="8381282" y="1717040"/>
            <a:ext cx="62047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A2D4DE-05D2-E32B-903F-83D38971F80F}"/>
              </a:ext>
            </a:extLst>
          </p:cNvPr>
          <p:cNvCxnSpPr/>
          <p:nvPr/>
        </p:nvCxnSpPr>
        <p:spPr>
          <a:xfrm>
            <a:off x="5820244" y="1717040"/>
            <a:ext cx="32583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A3A51F0-0AF8-F4D6-4151-88FB234C5860}"/>
              </a:ext>
            </a:extLst>
          </p:cNvPr>
          <p:cNvCxnSpPr/>
          <p:nvPr/>
        </p:nvCxnSpPr>
        <p:spPr>
          <a:xfrm>
            <a:off x="6969042" y="1717040"/>
            <a:ext cx="32583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BDFE3E7-720D-9119-677F-820266F2F648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4561840" y="1717039"/>
            <a:ext cx="374077" cy="1219146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1A35AB-B345-A3BB-A97A-C26793A8F920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4935917" y="1717038"/>
            <a:ext cx="1048323" cy="1219147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7A81655-C81E-F769-A33B-51B4DCCFF5DA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4935917" y="1717037"/>
            <a:ext cx="2226883" cy="1219148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2D55F08-ED11-122A-58B2-F8B772ED62C3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4935917" y="1717036"/>
            <a:ext cx="3811843" cy="1219149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335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47B0-4C6C-5178-417C-DC83B263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Hashing Integer Keys </a:t>
            </a:r>
            <a:r>
              <a:rPr lang="en-US" sz="3600" dirty="0"/>
              <a:t>(no hash collision)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8C8D9E-E49C-1D17-F787-110EF7FB2F6C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4: "str2", 25: "str3", 1100: "str4"}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ED424-8B88-7A92-6817-608BDDA36B51}"/>
              </a:ext>
            </a:extLst>
          </p:cNvPr>
          <p:cNvSpPr txBox="1"/>
          <p:nvPr/>
        </p:nvSpPr>
        <p:spPr>
          <a:xfrm>
            <a:off x="7620744" y="2282578"/>
            <a:ext cx="33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index = h(k) = </a:t>
            </a:r>
            <a:r>
              <a:rPr lang="en-US" sz="2400" b="1" dirty="0">
                <a:solidFill>
                  <a:srgbClr val="C00000"/>
                </a:solidFill>
              </a:rPr>
              <a:t>(k * 7) % 11</a:t>
            </a:r>
            <a:endParaRPr lang="en-US" sz="2400" dirty="0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EEFEFCA0-1225-2354-BFA4-508F20E16BB2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642ECCB7-4B58-3C5A-FCFF-FDEF745CB036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655351-8629-81DD-23B8-40A31CDE3351}"/>
              </a:ext>
            </a:extLst>
          </p:cNvPr>
          <p:cNvCxnSpPr>
            <a:cxnSpLocks/>
          </p:cNvCxnSpPr>
          <p:nvPr/>
        </p:nvCxnSpPr>
        <p:spPr>
          <a:xfrm>
            <a:off x="2025587" y="1696720"/>
            <a:ext cx="1005141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DD6C8A-74C1-C29D-92AC-FBAC48A8FA96}"/>
              </a:ext>
            </a:extLst>
          </p:cNvPr>
          <p:cNvCxnSpPr>
            <a:cxnSpLocks/>
          </p:cNvCxnSpPr>
          <p:nvPr/>
        </p:nvCxnSpPr>
        <p:spPr>
          <a:xfrm>
            <a:off x="3464560" y="1696720"/>
            <a:ext cx="2839720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739A95-135A-9055-BE03-2748D1C2BB83}"/>
              </a:ext>
            </a:extLst>
          </p:cNvPr>
          <p:cNvCxnSpPr>
            <a:cxnSpLocks/>
          </p:cNvCxnSpPr>
          <p:nvPr/>
        </p:nvCxnSpPr>
        <p:spPr>
          <a:xfrm>
            <a:off x="4785360" y="1771932"/>
            <a:ext cx="87376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F476A6-F653-4DEF-1406-2C2EBB14AF94}"/>
              </a:ext>
            </a:extLst>
          </p:cNvPr>
          <p:cNvCxnSpPr>
            <a:cxnSpLocks/>
          </p:cNvCxnSpPr>
          <p:nvPr/>
        </p:nvCxnSpPr>
        <p:spPr>
          <a:xfrm>
            <a:off x="6085840" y="1771932"/>
            <a:ext cx="2156968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F13FF8-97E4-F325-7C24-B2720E6EA77D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5653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8857FD5-A6AE-66B7-12A7-0AA88C8C7E8C}"/>
              </a:ext>
            </a:extLst>
          </p:cNvPr>
          <p:cNvSpPr txBox="1"/>
          <p:nvPr/>
        </p:nvSpPr>
        <p:spPr>
          <a:xfrm>
            <a:off x="99409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0646B8-5082-A4F7-EDDC-1DF892310376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71993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F5547A7-F684-9E1F-760C-3A949EA641C4}"/>
              </a:ext>
            </a:extLst>
          </p:cNvPr>
          <p:cNvSpPr txBox="1"/>
          <p:nvPr/>
        </p:nvSpPr>
        <p:spPr>
          <a:xfrm>
            <a:off x="248041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6E7EFC-A7C7-2645-AF3F-2EEE671FC774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03072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EE5EC17-FDB2-765C-7EFF-635178BD3657}"/>
              </a:ext>
            </a:extLst>
          </p:cNvPr>
          <p:cNvSpPr txBox="1"/>
          <p:nvPr/>
        </p:nvSpPr>
        <p:spPr>
          <a:xfrm>
            <a:off x="5578441" y="4081106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C8F81C-3CAE-35A0-2847-6A41E2AAA81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6304280" y="3622176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07049B3-6CDC-A2CA-D666-199108906C2D}"/>
              </a:ext>
            </a:extLst>
          </p:cNvPr>
          <p:cNvSpPr txBox="1"/>
          <p:nvPr/>
        </p:nvSpPr>
        <p:spPr>
          <a:xfrm>
            <a:off x="5060007" y="4450438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9F68FB-4F5C-C356-9D5C-20CA6DBBA52C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610318" y="3650421"/>
            <a:ext cx="0" cy="80001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292E5C-E308-5C13-F765-73196A019C26}"/>
              </a:ext>
            </a:extLst>
          </p:cNvPr>
          <p:cNvSpPr txBox="1"/>
          <p:nvPr/>
        </p:nvSpPr>
        <p:spPr>
          <a:xfrm>
            <a:off x="768232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9FA218-E73E-14F6-516C-1AFF42126FC0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29114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65EE90D-209D-E3DE-DA00-146CA5F3BC43}"/>
              </a:ext>
            </a:extLst>
          </p:cNvPr>
          <p:cNvSpPr txBox="1"/>
          <p:nvPr/>
        </p:nvSpPr>
        <p:spPr>
          <a:xfrm>
            <a:off x="8556218" y="3162240"/>
            <a:ext cx="2062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[11]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50259C-C80A-FA9A-17B8-66A42BC18599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94E693-38F8-5F7C-27C3-AEE79F57704E}"/>
              </a:ext>
            </a:extLst>
          </p:cNvPr>
          <p:cNvSpPr/>
          <p:nvPr/>
        </p:nvSpPr>
        <p:spPr>
          <a:xfrm>
            <a:off x="273792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BF1F84-90AC-E7F5-9C2D-999C4E72FFF0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B2CE8C-EBB3-4099-FEC8-44CAEA633854}"/>
              </a:ext>
            </a:extLst>
          </p:cNvPr>
          <p:cNvSpPr/>
          <p:nvPr/>
        </p:nvSpPr>
        <p:spPr>
          <a:xfrm>
            <a:off x="5364603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945C16-B326-E01B-4949-727762DC4979}"/>
              </a:ext>
            </a:extLst>
          </p:cNvPr>
          <p:cNvSpPr/>
          <p:nvPr/>
        </p:nvSpPr>
        <p:spPr>
          <a:xfrm>
            <a:off x="796231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420432-8CEB-9309-3021-438FD6C0D212}"/>
              </a:ext>
            </a:extLst>
          </p:cNvPr>
          <p:cNvSpPr txBox="1"/>
          <p:nvPr/>
        </p:nvSpPr>
        <p:spPr>
          <a:xfrm>
            <a:off x="9168286" y="1771932"/>
            <a:ext cx="1480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Hash code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9F3A533F-6701-FCA7-D3A1-747BCB44C39D}"/>
              </a:ext>
            </a:extLst>
          </p:cNvPr>
          <p:cNvSpPr/>
          <p:nvPr/>
        </p:nvSpPr>
        <p:spPr>
          <a:xfrm rot="5400000">
            <a:off x="9735377" y="1789047"/>
            <a:ext cx="188066" cy="905426"/>
          </a:xfrm>
          <a:prstGeom prst="leftBrace">
            <a:avLst>
              <a:gd name="adj1" fmla="val 41235"/>
              <a:gd name="adj2" fmla="val 46203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0D038A-0D60-F593-1C23-0E6D8C5B954D}"/>
              </a:ext>
            </a:extLst>
          </p:cNvPr>
          <p:cNvSpPr txBox="1"/>
          <p:nvPr/>
        </p:nvSpPr>
        <p:spPr>
          <a:xfrm>
            <a:off x="10023514" y="2704491"/>
            <a:ext cx="2036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Hash table size</a:t>
            </a: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824D5617-7D39-292F-B908-AFA2A33416E8}"/>
              </a:ext>
            </a:extLst>
          </p:cNvPr>
          <p:cNvSpPr/>
          <p:nvPr/>
        </p:nvSpPr>
        <p:spPr>
          <a:xfrm rot="5400000" flipH="1">
            <a:off x="10657122" y="2577855"/>
            <a:ext cx="188067" cy="332775"/>
          </a:xfrm>
          <a:prstGeom prst="leftBrace">
            <a:avLst>
              <a:gd name="adj1" fmla="val 41235"/>
              <a:gd name="adj2" fmla="val 48427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5CDC10-A344-2A73-CA41-13557B260736}"/>
              </a:ext>
            </a:extLst>
          </p:cNvPr>
          <p:cNvSpPr txBox="1"/>
          <p:nvPr/>
        </p:nvSpPr>
        <p:spPr>
          <a:xfrm>
            <a:off x="776614" y="5205413"/>
            <a:ext cx="1508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 (7)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8596DB-100A-33F4-07CB-9E4D93DAF6B4}"/>
              </a:ext>
            </a:extLst>
          </p:cNvPr>
          <p:cNvSpPr txBox="1"/>
          <p:nvPr/>
        </p:nvSpPr>
        <p:spPr>
          <a:xfrm>
            <a:off x="2945452" y="5205412"/>
            <a:ext cx="6029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Calculate hash index: hash(7) = (7*7) % 11 = 5</a:t>
            </a:r>
            <a:endParaRPr lang="en-US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7FC126-6365-2989-5477-606F992D3AC8}"/>
              </a:ext>
            </a:extLst>
          </p:cNvPr>
          <p:cNvSpPr txBox="1"/>
          <p:nvPr/>
        </p:nvSpPr>
        <p:spPr>
          <a:xfrm>
            <a:off x="2945452" y="5662642"/>
            <a:ext cx="4169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index 5 occupied (not NULL)?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3141EC5-2EB7-D226-E00C-58FCC74482D9}"/>
              </a:ext>
            </a:extLst>
          </p:cNvPr>
          <p:cNvSpPr/>
          <p:nvPr/>
        </p:nvSpPr>
        <p:spPr>
          <a:xfrm>
            <a:off x="4692779" y="2891905"/>
            <a:ext cx="596133" cy="100725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50D17F7-19BD-2DF7-23F6-50725B407E63}"/>
              </a:ext>
            </a:extLst>
          </p:cNvPr>
          <p:cNvCxnSpPr>
            <a:cxnSpLocks/>
            <a:endCxn id="44" idx="2"/>
          </p:cNvCxnSpPr>
          <p:nvPr/>
        </p:nvCxnSpPr>
        <p:spPr>
          <a:xfrm flipH="1" flipV="1">
            <a:off x="4990846" y="3899161"/>
            <a:ext cx="1094994" cy="123513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985194A-E5F3-8A02-CF0E-CE9ED9BB7DA1}"/>
              </a:ext>
            </a:extLst>
          </p:cNvPr>
          <p:cNvSpPr txBox="1"/>
          <p:nvPr/>
        </p:nvSpPr>
        <p:spPr>
          <a:xfrm>
            <a:off x="7337347" y="5711026"/>
            <a:ext cx="43364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 Not occupied, so no match!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40A9-1920-288C-7D21-149607E30BDA}"/>
              </a:ext>
            </a:extLst>
          </p:cNvPr>
          <p:cNvSpPr txBox="1"/>
          <p:nvPr/>
        </p:nvSpPr>
        <p:spPr>
          <a:xfrm>
            <a:off x="8899968" y="4132031"/>
            <a:ext cx="317474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 dirty="0"/>
              <a:t>Incomplete design: </a:t>
            </a:r>
          </a:p>
          <a:p>
            <a:r>
              <a:rPr lang="en-US" sz="2400" b="1" i="1" dirty="0"/>
              <a:t>Only one key-value pair is stored per hash index</a:t>
            </a:r>
          </a:p>
        </p:txBody>
      </p:sp>
    </p:spTree>
    <p:extLst>
      <p:ext uri="{BB962C8B-B14F-4D97-AF65-F5344CB8AC3E}">
        <p14:creationId xmlns:p14="http://schemas.microsoft.com/office/powerpoint/2010/main" val="120485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6" grpId="0"/>
      <p:bldP spid="18" grpId="0"/>
      <p:bldP spid="20" grpId="0"/>
      <p:bldP spid="22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5" grpId="0"/>
      <p:bldP spid="34" grpId="0" animBg="1"/>
      <p:bldP spid="36" grpId="0"/>
      <p:bldP spid="37" grpId="0" animBg="1"/>
      <p:bldP spid="41" grpId="0"/>
      <p:bldP spid="42" grpId="0"/>
      <p:bldP spid="43" grpId="0"/>
      <p:bldP spid="44" grpId="0" animBg="1"/>
      <p:bldP spid="30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47B0-4C6C-5178-417C-DC83B263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Integer Keys </a:t>
            </a:r>
            <a:r>
              <a:rPr lang="en-US" sz="3600" dirty="0"/>
              <a:t>(no hash collision)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ED424-8B88-7A92-6817-608BDDA36B51}"/>
              </a:ext>
            </a:extLst>
          </p:cNvPr>
          <p:cNvSpPr txBox="1"/>
          <p:nvPr/>
        </p:nvSpPr>
        <p:spPr>
          <a:xfrm>
            <a:off x="7620744" y="2282578"/>
            <a:ext cx="33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index = h(k) = </a:t>
            </a:r>
            <a:r>
              <a:rPr lang="en-US" sz="2400" b="1" dirty="0">
                <a:solidFill>
                  <a:srgbClr val="C00000"/>
                </a:solidFill>
              </a:rPr>
              <a:t>(k * 7) % 11</a:t>
            </a:r>
            <a:endParaRPr lang="en-US" sz="2400" dirty="0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EEFEFCA0-1225-2354-BFA4-508F20E16BB2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642ECCB7-4B58-3C5A-FCFF-FDEF745CB036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655351-8629-81DD-23B8-40A31CDE3351}"/>
              </a:ext>
            </a:extLst>
          </p:cNvPr>
          <p:cNvCxnSpPr>
            <a:cxnSpLocks/>
          </p:cNvCxnSpPr>
          <p:nvPr/>
        </p:nvCxnSpPr>
        <p:spPr>
          <a:xfrm>
            <a:off x="2025587" y="1696720"/>
            <a:ext cx="1005141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DD6C8A-74C1-C29D-92AC-FBAC48A8FA96}"/>
              </a:ext>
            </a:extLst>
          </p:cNvPr>
          <p:cNvCxnSpPr>
            <a:cxnSpLocks/>
          </p:cNvCxnSpPr>
          <p:nvPr/>
        </p:nvCxnSpPr>
        <p:spPr>
          <a:xfrm>
            <a:off x="3464560" y="1696720"/>
            <a:ext cx="2839720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AF476A6-F653-4DEF-1406-2C2EBB14AF94}"/>
              </a:ext>
            </a:extLst>
          </p:cNvPr>
          <p:cNvCxnSpPr>
            <a:cxnSpLocks/>
          </p:cNvCxnSpPr>
          <p:nvPr/>
        </p:nvCxnSpPr>
        <p:spPr>
          <a:xfrm>
            <a:off x="6085840" y="1771932"/>
            <a:ext cx="2156968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9F13FF8-97E4-F325-7C24-B2720E6EA77D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5653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8857FD5-A6AE-66B7-12A7-0AA88C8C7E8C}"/>
              </a:ext>
            </a:extLst>
          </p:cNvPr>
          <p:cNvSpPr txBox="1"/>
          <p:nvPr/>
        </p:nvSpPr>
        <p:spPr>
          <a:xfrm>
            <a:off x="99409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0646B8-5082-A4F7-EDDC-1DF892310376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71993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F5547A7-F684-9E1F-760C-3A949EA641C4}"/>
              </a:ext>
            </a:extLst>
          </p:cNvPr>
          <p:cNvSpPr txBox="1"/>
          <p:nvPr/>
        </p:nvSpPr>
        <p:spPr>
          <a:xfrm>
            <a:off x="248041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6E7EFC-A7C7-2645-AF3F-2EEE671FC774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03072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EE5EC17-FDB2-765C-7EFF-635178BD3657}"/>
              </a:ext>
            </a:extLst>
          </p:cNvPr>
          <p:cNvSpPr txBox="1"/>
          <p:nvPr/>
        </p:nvSpPr>
        <p:spPr>
          <a:xfrm>
            <a:off x="5578441" y="4081106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C8F81C-3CAE-35A0-2847-6A41E2AAA81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6304280" y="3622176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9292E5C-E308-5C13-F765-73196A019C26}"/>
              </a:ext>
            </a:extLst>
          </p:cNvPr>
          <p:cNvSpPr txBox="1"/>
          <p:nvPr/>
        </p:nvSpPr>
        <p:spPr>
          <a:xfrm>
            <a:off x="768232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9FA218-E73E-14F6-516C-1AFF42126FC0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29114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65EE90D-209D-E3DE-DA00-146CA5F3BC43}"/>
              </a:ext>
            </a:extLst>
          </p:cNvPr>
          <p:cNvSpPr txBox="1"/>
          <p:nvPr/>
        </p:nvSpPr>
        <p:spPr>
          <a:xfrm>
            <a:off x="8556218" y="3162240"/>
            <a:ext cx="20628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hash table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[11]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50259C-C80A-FA9A-17B8-66A42BC18599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94E693-38F8-5F7C-27C3-AEE79F57704E}"/>
              </a:ext>
            </a:extLst>
          </p:cNvPr>
          <p:cNvSpPr/>
          <p:nvPr/>
        </p:nvSpPr>
        <p:spPr>
          <a:xfrm>
            <a:off x="273792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BF1F84-90AC-E7F5-9C2D-999C4E72FFF0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945C16-B326-E01B-4949-727762DC4979}"/>
              </a:ext>
            </a:extLst>
          </p:cNvPr>
          <p:cNvSpPr/>
          <p:nvPr/>
        </p:nvSpPr>
        <p:spPr>
          <a:xfrm>
            <a:off x="796231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420432-8CEB-9309-3021-438FD6C0D212}"/>
              </a:ext>
            </a:extLst>
          </p:cNvPr>
          <p:cNvSpPr txBox="1"/>
          <p:nvPr/>
        </p:nvSpPr>
        <p:spPr>
          <a:xfrm>
            <a:off x="9168286" y="1771932"/>
            <a:ext cx="1480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Hash code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9F3A533F-6701-FCA7-D3A1-747BCB44C39D}"/>
              </a:ext>
            </a:extLst>
          </p:cNvPr>
          <p:cNvSpPr/>
          <p:nvPr/>
        </p:nvSpPr>
        <p:spPr>
          <a:xfrm rot="5400000">
            <a:off x="9735377" y="1789047"/>
            <a:ext cx="188066" cy="905426"/>
          </a:xfrm>
          <a:prstGeom prst="leftBrace">
            <a:avLst>
              <a:gd name="adj1" fmla="val 41235"/>
              <a:gd name="adj2" fmla="val 46203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0D038A-0D60-F593-1C23-0E6D8C5B954D}"/>
              </a:ext>
            </a:extLst>
          </p:cNvPr>
          <p:cNvSpPr txBox="1"/>
          <p:nvPr/>
        </p:nvSpPr>
        <p:spPr>
          <a:xfrm>
            <a:off x="10023514" y="2704491"/>
            <a:ext cx="2036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Hash table size</a:t>
            </a: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824D5617-7D39-292F-B908-AFA2A33416E8}"/>
              </a:ext>
            </a:extLst>
          </p:cNvPr>
          <p:cNvSpPr/>
          <p:nvPr/>
        </p:nvSpPr>
        <p:spPr>
          <a:xfrm rot="5400000" flipH="1">
            <a:off x="10657122" y="2577855"/>
            <a:ext cx="188067" cy="332775"/>
          </a:xfrm>
          <a:prstGeom prst="leftBrace">
            <a:avLst>
              <a:gd name="adj1" fmla="val 41235"/>
              <a:gd name="adj2" fmla="val 48427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5CDC10-A344-2A73-CA41-13557B260736}"/>
              </a:ext>
            </a:extLst>
          </p:cNvPr>
          <p:cNvSpPr txBox="1"/>
          <p:nvPr/>
        </p:nvSpPr>
        <p:spPr>
          <a:xfrm>
            <a:off x="776614" y="5134293"/>
            <a:ext cx="1663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 (26)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8596DB-100A-33F4-07CB-9E4D93DAF6B4}"/>
              </a:ext>
            </a:extLst>
          </p:cNvPr>
          <p:cNvSpPr txBox="1"/>
          <p:nvPr/>
        </p:nvSpPr>
        <p:spPr>
          <a:xfrm>
            <a:off x="2762572" y="5134292"/>
            <a:ext cx="6340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Calculate hash index: hash(26) = (26*7) % 11 = 6</a:t>
            </a:r>
            <a:endParaRPr lang="en-US" sz="2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7FC126-6365-2989-5477-606F992D3AC8}"/>
              </a:ext>
            </a:extLst>
          </p:cNvPr>
          <p:cNvSpPr txBox="1"/>
          <p:nvPr/>
        </p:nvSpPr>
        <p:spPr>
          <a:xfrm>
            <a:off x="2762572" y="5591522"/>
            <a:ext cx="4958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index 6 occupied (not NULL)? Yes…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50D17F7-19BD-2DF7-23F6-50725B407E63}"/>
              </a:ext>
            </a:extLst>
          </p:cNvPr>
          <p:cNvCxnSpPr>
            <a:cxnSpLocks/>
          </p:cNvCxnSpPr>
          <p:nvPr/>
        </p:nvCxnSpPr>
        <p:spPr>
          <a:xfrm flipH="1" flipV="1">
            <a:off x="5832976" y="3849761"/>
            <a:ext cx="437720" cy="126516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FA51991-B574-D71F-D20F-59F66F07A455}"/>
              </a:ext>
            </a:extLst>
          </p:cNvPr>
          <p:cNvSpPr txBox="1"/>
          <p:nvPr/>
        </p:nvSpPr>
        <p:spPr>
          <a:xfrm>
            <a:off x="2762573" y="6048752"/>
            <a:ext cx="6523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Can we decide whether 26 is in the dictionary?  </a:t>
            </a:r>
            <a:r>
              <a:rPr lang="en-US" sz="2400" dirty="0">
                <a:sym typeface="Wingdings" pitchFamily="2" charset="2"/>
              </a:rPr>
              <a:t></a:t>
            </a:r>
            <a:endParaRPr lang="en-US" sz="2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EF249F-0CD1-A009-72A9-D39A9DB93EE7}"/>
              </a:ext>
            </a:extLst>
          </p:cNvPr>
          <p:cNvCxnSpPr>
            <a:cxnSpLocks/>
          </p:cNvCxnSpPr>
          <p:nvPr/>
        </p:nvCxnSpPr>
        <p:spPr>
          <a:xfrm>
            <a:off x="4785360" y="1771932"/>
            <a:ext cx="87376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2724D4B-BD6D-F7C7-0E2C-E1D8173FFDAF}"/>
              </a:ext>
            </a:extLst>
          </p:cNvPr>
          <p:cNvSpPr txBox="1"/>
          <p:nvPr/>
        </p:nvSpPr>
        <p:spPr>
          <a:xfrm>
            <a:off x="5060007" y="4450438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1A8D99-2F0F-EB0C-512F-256434798F9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5610318" y="3650421"/>
            <a:ext cx="0" cy="800017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1189C5C9-233F-A63D-CFF6-C5EC74169BE8}"/>
              </a:ext>
            </a:extLst>
          </p:cNvPr>
          <p:cNvSpPr/>
          <p:nvPr/>
        </p:nvSpPr>
        <p:spPr>
          <a:xfrm>
            <a:off x="5364603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73B23A40-95DB-C974-1A0D-3F6959C13667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87172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4: "str2", 25: "str3", 1100: "str4"}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133724-8017-8BBE-2012-91502286D865}"/>
              </a:ext>
            </a:extLst>
          </p:cNvPr>
          <p:cNvSpPr txBox="1"/>
          <p:nvPr/>
        </p:nvSpPr>
        <p:spPr>
          <a:xfrm>
            <a:off x="9334796" y="5864085"/>
            <a:ext cx="20628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Hard to tell! Hash Collision.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5DCBC2-4AF7-D362-242E-6053A8FBD913}"/>
              </a:ext>
            </a:extLst>
          </p:cNvPr>
          <p:cNvSpPr txBox="1"/>
          <p:nvPr/>
        </p:nvSpPr>
        <p:spPr>
          <a:xfrm>
            <a:off x="8899968" y="4132031"/>
            <a:ext cx="317474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 dirty="0"/>
              <a:t>Incomplete design: </a:t>
            </a:r>
          </a:p>
          <a:p>
            <a:r>
              <a:rPr lang="en-US" sz="2400" b="1" i="1" dirty="0"/>
              <a:t>Only one key-value pair is stored per hash index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3141EC5-2EB7-D226-E00C-58FCC74482D9}"/>
              </a:ext>
            </a:extLst>
          </p:cNvPr>
          <p:cNvSpPr/>
          <p:nvPr/>
        </p:nvSpPr>
        <p:spPr>
          <a:xfrm>
            <a:off x="5344374" y="2889184"/>
            <a:ext cx="596133" cy="100725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5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57" grpId="0"/>
      <p:bldP spid="38" grpId="0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7CDB-DB70-1BAB-4563-FFE00FAD3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of Hash Table </a:t>
            </a:r>
            <a:r>
              <a:rPr lang="en-US" sz="3600" dirty="0"/>
              <a:t>(no hash collision)</a:t>
            </a:r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C41823C-1DAE-C3D6-2EFA-EDF3431C7D16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287782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356452639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88252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2BF0A9-14BE-E58B-20F1-689F25F9BF93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4388235" y="1904384"/>
            <a:ext cx="368039" cy="51177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BBCD14-CEF5-0CA1-A02A-8159DBEBD276}"/>
              </a:ext>
            </a:extLst>
          </p:cNvPr>
          <p:cNvSpPr txBox="1"/>
          <p:nvPr/>
        </p:nvSpPr>
        <p:spPr>
          <a:xfrm>
            <a:off x="4400247" y="2416154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89A3E4-C40E-891B-9C6D-5F2557EC5946}"/>
              </a:ext>
            </a:extLst>
          </p:cNvPr>
          <p:cNvSpPr txBox="1"/>
          <p:nvPr/>
        </p:nvSpPr>
        <p:spPr>
          <a:xfrm>
            <a:off x="3200517" y="241615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ED02E3-798D-F482-98A0-2078236FD19E}"/>
              </a:ext>
            </a:extLst>
          </p:cNvPr>
          <p:cNvSpPr txBox="1"/>
          <p:nvPr/>
        </p:nvSpPr>
        <p:spPr>
          <a:xfrm>
            <a:off x="7795625" y="241615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354736-2728-0AC7-625D-722265F8D5CE}"/>
              </a:ext>
            </a:extLst>
          </p:cNvPr>
          <p:cNvSpPr txBox="1"/>
          <p:nvPr/>
        </p:nvSpPr>
        <p:spPr>
          <a:xfrm>
            <a:off x="751840" y="4917440"/>
            <a:ext cx="1357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lookup(k)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38827F51-B720-E2E8-06A9-67776DEA4BB9}"/>
              </a:ext>
            </a:extLst>
          </p:cNvPr>
          <p:cNvSpPr/>
          <p:nvPr/>
        </p:nvSpPr>
        <p:spPr>
          <a:xfrm>
            <a:off x="2257379" y="4988560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2212A2-36E7-FEC4-41E7-71DD10FC4A40}"/>
              </a:ext>
            </a:extLst>
          </p:cNvPr>
          <p:cNvSpPr txBox="1"/>
          <p:nvPr/>
        </p:nvSpPr>
        <p:spPr>
          <a:xfrm>
            <a:off x="2875280" y="4917440"/>
            <a:ext cx="4058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check </a:t>
            </a:r>
            <a:r>
              <a:rPr lang="en-US" sz="2400" dirty="0" err="1"/>
              <a:t>hash_table</a:t>
            </a:r>
            <a:r>
              <a:rPr lang="en-US" sz="2400" dirty="0"/>
              <a:t> at index h(k)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1B434F-31B0-A773-EF91-A89CCC92A79E}"/>
              </a:ext>
            </a:extLst>
          </p:cNvPr>
          <p:cNvSpPr txBox="1"/>
          <p:nvPr/>
        </p:nvSpPr>
        <p:spPr>
          <a:xfrm>
            <a:off x="4373042" y="3525659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CECE1D-3631-81C7-4C3C-D3F3EC21D20B}"/>
              </a:ext>
            </a:extLst>
          </p:cNvPr>
          <p:cNvCxnSpPr>
            <a:cxnSpLocks/>
          </p:cNvCxnSpPr>
          <p:nvPr/>
        </p:nvCxnSpPr>
        <p:spPr>
          <a:xfrm>
            <a:off x="4817234" y="3237119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37CD6CD-A8F8-1C7D-3ABE-5B17F6A675D4}"/>
              </a:ext>
            </a:extLst>
          </p:cNvPr>
          <p:cNvSpPr txBox="1"/>
          <p:nvPr/>
        </p:nvSpPr>
        <p:spPr>
          <a:xfrm>
            <a:off x="7329661" y="4905047"/>
            <a:ext cx="204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not occupied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D10D64-04CB-A5BF-83A5-667455D36F38}"/>
              </a:ext>
            </a:extLst>
          </p:cNvPr>
          <p:cNvSpPr txBox="1"/>
          <p:nvPr/>
        </p:nvSpPr>
        <p:spPr>
          <a:xfrm>
            <a:off x="9934621" y="4917440"/>
            <a:ext cx="2011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x doesn't exist</a:t>
            </a:r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F2A07BB7-C824-1FC1-0BE2-A77D1903DC7C}"/>
              </a:ext>
            </a:extLst>
          </p:cNvPr>
          <p:cNvSpPr/>
          <p:nvPr/>
        </p:nvSpPr>
        <p:spPr>
          <a:xfrm>
            <a:off x="9390607" y="5014158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D1E0C39A-30A4-27FD-8B20-6376CFE5CC6F}"/>
              </a:ext>
            </a:extLst>
          </p:cNvPr>
          <p:cNvSpPr/>
          <p:nvPr/>
        </p:nvSpPr>
        <p:spPr>
          <a:xfrm>
            <a:off x="6837450" y="5014158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7C55A9-FA9A-AE69-5791-5BE5C82EB226}"/>
              </a:ext>
            </a:extLst>
          </p:cNvPr>
          <p:cNvSpPr txBox="1"/>
          <p:nvPr/>
        </p:nvSpPr>
        <p:spPr>
          <a:xfrm>
            <a:off x="6398503" y="2378101"/>
            <a:ext cx="6719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h(k)</a:t>
            </a:r>
            <a:endParaRPr lang="en-US" sz="2400" baseline="-250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1E5708B-CBFC-F6EF-9710-E8CDBD036C07}"/>
              </a:ext>
            </a:extLst>
          </p:cNvPr>
          <p:cNvSpPr/>
          <p:nvPr/>
        </p:nvSpPr>
        <p:spPr>
          <a:xfrm>
            <a:off x="6456463" y="2420114"/>
            <a:ext cx="596133" cy="1007256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C2702EF-3C4A-7652-5409-CDA5850BDFF6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6348347" y="3427370"/>
            <a:ext cx="406183" cy="152887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DE6122B-61D6-5294-D4E1-3EB6451B7689}"/>
              </a:ext>
            </a:extLst>
          </p:cNvPr>
          <p:cNvSpPr txBox="1"/>
          <p:nvPr/>
        </p:nvSpPr>
        <p:spPr>
          <a:xfrm>
            <a:off x="2301715" y="144272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172D88D-8143-BC13-B5AA-14EFFEF8D08F}"/>
              </a:ext>
            </a:extLst>
          </p:cNvPr>
          <p:cNvSpPr txBox="1"/>
          <p:nvPr/>
        </p:nvSpPr>
        <p:spPr>
          <a:xfrm>
            <a:off x="3379535" y="140776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088432-BEEA-C11F-8E15-F9DD51751021}"/>
              </a:ext>
            </a:extLst>
          </p:cNvPr>
          <p:cNvSpPr txBox="1"/>
          <p:nvPr/>
        </p:nvSpPr>
        <p:spPr>
          <a:xfrm>
            <a:off x="8123269" y="144272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0C0640-4A5D-6E17-37F8-6B6A14503EE3}"/>
              </a:ext>
            </a:extLst>
          </p:cNvPr>
          <p:cNvSpPr txBox="1"/>
          <p:nvPr/>
        </p:nvSpPr>
        <p:spPr>
          <a:xfrm>
            <a:off x="3944041" y="144271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FD0FED-E3D0-283B-D624-2C3947351B63}"/>
              </a:ext>
            </a:extLst>
          </p:cNvPr>
          <p:cNvSpPr txBox="1"/>
          <p:nvPr/>
        </p:nvSpPr>
        <p:spPr>
          <a:xfrm>
            <a:off x="6455751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FF1D4D4-3719-96F8-DD46-8C4DE9B1D00C}"/>
              </a:ext>
            </a:extLst>
          </p:cNvPr>
          <p:cNvSpPr/>
          <p:nvPr/>
        </p:nvSpPr>
        <p:spPr>
          <a:xfrm>
            <a:off x="2301715" y="140776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657030-8528-8021-D9AD-727D00FFF698}"/>
              </a:ext>
            </a:extLst>
          </p:cNvPr>
          <p:cNvSpPr txBox="1"/>
          <p:nvPr/>
        </p:nvSpPr>
        <p:spPr>
          <a:xfrm>
            <a:off x="1309593" y="264698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FCF878-10BC-39C2-DEE8-AC05CD8F62FF}"/>
              </a:ext>
            </a:extLst>
          </p:cNvPr>
          <p:cNvSpPr txBox="1"/>
          <p:nvPr/>
        </p:nvSpPr>
        <p:spPr>
          <a:xfrm>
            <a:off x="259217" y="135711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F8729-D893-C93E-8E46-A24C1FD1EA46}"/>
              </a:ext>
            </a:extLst>
          </p:cNvPr>
          <p:cNvSpPr txBox="1"/>
          <p:nvPr/>
        </p:nvSpPr>
        <p:spPr>
          <a:xfrm>
            <a:off x="8475619" y="5615121"/>
            <a:ext cx="2326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 false negative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4923D3-AE0A-9C2C-995D-8F5E3204D8C0}"/>
              </a:ext>
            </a:extLst>
          </p:cNvPr>
          <p:cNvSpPr txBox="1"/>
          <p:nvPr/>
        </p:nvSpPr>
        <p:spPr>
          <a:xfrm>
            <a:off x="8799698" y="2539104"/>
            <a:ext cx="317474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 dirty="0"/>
              <a:t>Incomplete design: </a:t>
            </a:r>
          </a:p>
          <a:p>
            <a:r>
              <a:rPr lang="en-US" sz="2400" b="1" i="1" dirty="0"/>
              <a:t>Only one key-value pair is stored per hash index</a:t>
            </a:r>
          </a:p>
        </p:txBody>
      </p:sp>
    </p:spTree>
    <p:extLst>
      <p:ext uri="{BB962C8B-B14F-4D97-AF65-F5344CB8AC3E}">
        <p14:creationId xmlns:p14="http://schemas.microsoft.com/office/powerpoint/2010/main" val="278703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4" grpId="0"/>
      <p:bldP spid="41" grpId="0"/>
      <p:bldP spid="42" grpId="0"/>
      <p:bldP spid="46" grpId="0" animBg="1"/>
      <p:bldP spid="54" grpId="0" animBg="1"/>
      <p:bldP spid="56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7CDB-DB70-1BAB-4563-FFE00FAD3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hash collision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59891-8C48-7F9D-D932-ACB3F4D1134F}"/>
              </a:ext>
            </a:extLst>
          </p:cNvPr>
          <p:cNvSpPr txBox="1"/>
          <p:nvPr/>
        </p:nvSpPr>
        <p:spPr>
          <a:xfrm>
            <a:off x="2301715" y="144272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C5151-D0D9-8D15-BB9F-4819684ABF77}"/>
              </a:ext>
            </a:extLst>
          </p:cNvPr>
          <p:cNvSpPr txBox="1"/>
          <p:nvPr/>
        </p:nvSpPr>
        <p:spPr>
          <a:xfrm>
            <a:off x="3379535" y="140776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7CA22F-749D-CB40-430F-371CCCDCF35D}"/>
              </a:ext>
            </a:extLst>
          </p:cNvPr>
          <p:cNvSpPr txBox="1"/>
          <p:nvPr/>
        </p:nvSpPr>
        <p:spPr>
          <a:xfrm>
            <a:off x="8123269" y="144272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DC41823C-1DAE-C3D6-2EFA-EDF3431C7D16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287782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19B5E1A-A0FD-3CDB-6E39-0234FEB3BCA4}"/>
              </a:ext>
            </a:extLst>
          </p:cNvPr>
          <p:cNvSpPr txBox="1"/>
          <p:nvPr/>
        </p:nvSpPr>
        <p:spPr>
          <a:xfrm>
            <a:off x="3944041" y="144271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68451-6801-18ED-CFFA-3388F22A9BB7}"/>
              </a:ext>
            </a:extLst>
          </p:cNvPr>
          <p:cNvSpPr txBox="1"/>
          <p:nvPr/>
        </p:nvSpPr>
        <p:spPr>
          <a:xfrm>
            <a:off x="6730071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2BF0A9-14BE-E58B-20F1-689F25F9BF93}"/>
              </a:ext>
            </a:extLst>
          </p:cNvPr>
          <p:cNvCxnSpPr>
            <a:cxnSpLocks/>
            <a:stCxn id="11" idx="2"/>
            <a:endCxn id="18" idx="0"/>
          </p:cNvCxnSpPr>
          <p:nvPr/>
        </p:nvCxnSpPr>
        <p:spPr>
          <a:xfrm>
            <a:off x="4388234" y="1904384"/>
            <a:ext cx="368040" cy="51177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BBCD14-CEF5-0CA1-A02A-8159DBEBD276}"/>
              </a:ext>
            </a:extLst>
          </p:cNvPr>
          <p:cNvSpPr txBox="1"/>
          <p:nvPr/>
        </p:nvSpPr>
        <p:spPr>
          <a:xfrm>
            <a:off x="4400247" y="2416154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89A3E4-C40E-891B-9C6D-5F2557EC5946}"/>
              </a:ext>
            </a:extLst>
          </p:cNvPr>
          <p:cNvSpPr txBox="1"/>
          <p:nvPr/>
        </p:nvSpPr>
        <p:spPr>
          <a:xfrm>
            <a:off x="3200517" y="241615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ED02E3-798D-F482-98A0-2078236FD19E}"/>
              </a:ext>
            </a:extLst>
          </p:cNvPr>
          <p:cNvSpPr txBox="1"/>
          <p:nvPr/>
        </p:nvSpPr>
        <p:spPr>
          <a:xfrm>
            <a:off x="7795625" y="241615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354736-2728-0AC7-625D-722265F8D5CE}"/>
              </a:ext>
            </a:extLst>
          </p:cNvPr>
          <p:cNvSpPr txBox="1"/>
          <p:nvPr/>
        </p:nvSpPr>
        <p:spPr>
          <a:xfrm>
            <a:off x="751840" y="4917440"/>
            <a:ext cx="14375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lookup(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38827F51-B720-E2E8-06A9-67776DEA4BB9}"/>
              </a:ext>
            </a:extLst>
          </p:cNvPr>
          <p:cNvSpPr/>
          <p:nvPr/>
        </p:nvSpPr>
        <p:spPr>
          <a:xfrm>
            <a:off x="2257379" y="4988560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E2212A2-36E7-FEC4-41E7-71DD10FC4A40}"/>
              </a:ext>
            </a:extLst>
          </p:cNvPr>
          <p:cNvSpPr txBox="1"/>
          <p:nvPr/>
        </p:nvSpPr>
        <p:spPr>
          <a:xfrm>
            <a:off x="2875280" y="4917440"/>
            <a:ext cx="2775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if h(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) == h(k</a:t>
            </a:r>
            <a:r>
              <a:rPr lang="en-US" sz="2400" baseline="-25000" dirty="0"/>
              <a:t>i</a:t>
            </a:r>
            <a:r>
              <a:rPr lang="en-US" sz="2400" dirty="0"/>
              <a:t>)?</a:t>
            </a:r>
            <a:endParaRPr lang="en-US" sz="2400" baseline="-25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1B434F-31B0-A773-EF91-A89CCC92A79E}"/>
              </a:ext>
            </a:extLst>
          </p:cNvPr>
          <p:cNvSpPr txBox="1"/>
          <p:nvPr/>
        </p:nvSpPr>
        <p:spPr>
          <a:xfrm>
            <a:off x="4373042" y="3525659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2CECE1D-3631-81C7-4C3C-D3F3EC21D20B}"/>
              </a:ext>
            </a:extLst>
          </p:cNvPr>
          <p:cNvCxnSpPr>
            <a:cxnSpLocks/>
          </p:cNvCxnSpPr>
          <p:nvPr/>
        </p:nvCxnSpPr>
        <p:spPr>
          <a:xfrm>
            <a:off x="4817234" y="3237119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3D7BAA1-A6DF-49A1-382D-ADF6B1BE75C1}"/>
              </a:ext>
            </a:extLst>
          </p:cNvPr>
          <p:cNvSpPr/>
          <p:nvPr/>
        </p:nvSpPr>
        <p:spPr>
          <a:xfrm>
            <a:off x="2301715" y="140776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C2702EF-3C4A-7652-5409-CDA5850BDFF6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4263000" y="2783840"/>
            <a:ext cx="390280" cy="21336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25D744-AAFD-EBD3-24CB-C3477EF510C7}"/>
              </a:ext>
            </a:extLst>
          </p:cNvPr>
          <p:cNvSpPr txBox="1"/>
          <p:nvPr/>
        </p:nvSpPr>
        <p:spPr>
          <a:xfrm>
            <a:off x="6274201" y="4468868"/>
            <a:ext cx="5430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Index h(k</a:t>
            </a:r>
            <a:r>
              <a:rPr lang="en-US" sz="2400" baseline="-25000" dirty="0"/>
              <a:t>i</a:t>
            </a:r>
            <a:r>
              <a:rPr lang="en-US" sz="2400" dirty="0"/>
              <a:t>) only contains the pair of k</a:t>
            </a:r>
            <a:r>
              <a:rPr lang="en-US" sz="2400" baseline="-25000" dirty="0"/>
              <a:t>i</a:t>
            </a:r>
            <a:r>
              <a:rPr lang="en-US" sz="2400" dirty="0"/>
              <a:t>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69BE82-103B-6DD3-6199-8BEFB4DF5437}"/>
              </a:ext>
            </a:extLst>
          </p:cNvPr>
          <p:cNvSpPr txBox="1"/>
          <p:nvPr/>
        </p:nvSpPr>
        <p:spPr>
          <a:xfrm>
            <a:off x="5247857" y="1440099"/>
            <a:ext cx="894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DAEAB2-135F-147D-FCA8-49782F467629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908705" y="1901764"/>
            <a:ext cx="786550" cy="514389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0B93D57-134F-D4AA-8335-C2703EE26F6B}"/>
              </a:ext>
            </a:extLst>
          </p:cNvPr>
          <p:cNvSpPr txBox="1"/>
          <p:nvPr/>
        </p:nvSpPr>
        <p:spPr>
          <a:xfrm>
            <a:off x="3063739" y="5495345"/>
            <a:ext cx="223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Hash collision!!!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5B0DF4-C9B4-14E3-D97E-6D95E2DA7A3A}"/>
              </a:ext>
            </a:extLst>
          </p:cNvPr>
          <p:cNvSpPr txBox="1"/>
          <p:nvPr/>
        </p:nvSpPr>
        <p:spPr>
          <a:xfrm>
            <a:off x="4811507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3EF9FD-11FF-634D-C990-F237C1A53B41}"/>
              </a:ext>
            </a:extLst>
          </p:cNvPr>
          <p:cNvSpPr txBox="1"/>
          <p:nvPr/>
        </p:nvSpPr>
        <p:spPr>
          <a:xfrm>
            <a:off x="1309593" y="264698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1AF87A-3A30-A850-3787-59E5F1D43BBE}"/>
              </a:ext>
            </a:extLst>
          </p:cNvPr>
          <p:cNvSpPr txBox="1"/>
          <p:nvPr/>
        </p:nvSpPr>
        <p:spPr>
          <a:xfrm>
            <a:off x="259217" y="135711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461B1-AC07-4E79-1FBE-E4E80EF9A3D7}"/>
              </a:ext>
            </a:extLst>
          </p:cNvPr>
          <p:cNvSpPr txBox="1"/>
          <p:nvPr/>
        </p:nvSpPr>
        <p:spPr>
          <a:xfrm>
            <a:off x="6286827" y="5826396"/>
            <a:ext cx="3198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There are false positives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A4178-5C85-06DA-7AE0-62977F7D295F}"/>
              </a:ext>
            </a:extLst>
          </p:cNvPr>
          <p:cNvSpPr txBox="1"/>
          <p:nvPr/>
        </p:nvSpPr>
        <p:spPr>
          <a:xfrm>
            <a:off x="8799698" y="2539104"/>
            <a:ext cx="317474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 dirty="0"/>
              <a:t>Incomplete design: </a:t>
            </a:r>
          </a:p>
          <a:p>
            <a:r>
              <a:rPr lang="en-US" sz="2400" b="1" i="1" dirty="0"/>
              <a:t>Only one key-value pair is stored per hash index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86C69-2C30-A14C-B105-3D4068FB4A9F}"/>
              </a:ext>
            </a:extLst>
          </p:cNvPr>
          <p:cNvSpPr txBox="1"/>
          <p:nvPr/>
        </p:nvSpPr>
        <p:spPr>
          <a:xfrm>
            <a:off x="6258560" y="5003185"/>
            <a:ext cx="593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Can we tell if 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 is in the dictionary or not?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A8E39-0503-9422-820E-CC265581D1EB}"/>
              </a:ext>
            </a:extLst>
          </p:cNvPr>
          <p:cNvSpPr txBox="1"/>
          <p:nvPr/>
        </p:nvSpPr>
        <p:spPr>
          <a:xfrm>
            <a:off x="6274201" y="5364731"/>
            <a:ext cx="5933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No, Need to explicitly store both keys, k</a:t>
            </a:r>
            <a:r>
              <a:rPr lang="en-US" sz="2400" baseline="-25000" dirty="0"/>
              <a:t>i</a:t>
            </a:r>
            <a:r>
              <a:rPr lang="en-US" sz="2400" dirty="0"/>
              <a:t> and 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038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3" grpId="0" animBg="1"/>
      <p:bldP spid="34" grpId="0"/>
      <p:bldP spid="20" grpId="0"/>
      <p:bldP spid="21" grpId="0"/>
      <p:bldP spid="25" grpId="0"/>
      <p:bldP spid="26" grpId="0"/>
      <p:bldP spid="3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CA31-0AE4-7DE9-54B9-7EE8A536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19B1C-C964-3A0D-9299-DFDB97B3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to handle hash collisions?</a:t>
            </a:r>
          </a:p>
          <a:p>
            <a:endParaRPr lang="en-US" dirty="0"/>
          </a:p>
          <a:p>
            <a:r>
              <a:rPr lang="en-US" dirty="0"/>
              <a:t>How to reduce hash collisions?</a:t>
            </a:r>
          </a:p>
          <a:p>
            <a:endParaRPr lang="en-US" dirty="0"/>
          </a:p>
          <a:p>
            <a:r>
              <a:rPr lang="en-US" dirty="0"/>
              <a:t>How to handle non-integer keys?</a:t>
            </a:r>
          </a:p>
        </p:txBody>
      </p:sp>
    </p:spTree>
    <p:extLst>
      <p:ext uri="{BB962C8B-B14F-4D97-AF65-F5344CB8AC3E}">
        <p14:creationId xmlns:p14="http://schemas.microsoft.com/office/powerpoint/2010/main" val="98300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B5E3-97A4-36FF-63F6-E0910CA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hash collisions?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FFE04-8BB4-B872-3A97-9FFBDBDC7EDF}"/>
              </a:ext>
            </a:extLst>
          </p:cNvPr>
          <p:cNvSpPr txBox="1"/>
          <p:nvPr/>
        </p:nvSpPr>
        <p:spPr>
          <a:xfrm>
            <a:off x="2301715" y="144272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FA0AE-3529-372D-D834-D7A1FE88AA2C}"/>
              </a:ext>
            </a:extLst>
          </p:cNvPr>
          <p:cNvSpPr txBox="1"/>
          <p:nvPr/>
        </p:nvSpPr>
        <p:spPr>
          <a:xfrm>
            <a:off x="3379535" y="140776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A8183-D310-04B5-9563-46EF416D823A}"/>
              </a:ext>
            </a:extLst>
          </p:cNvPr>
          <p:cNvSpPr txBox="1"/>
          <p:nvPr/>
        </p:nvSpPr>
        <p:spPr>
          <a:xfrm>
            <a:off x="8123269" y="144272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0BEEDCE-C9B3-11C4-F6AD-808879D93830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287782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B5610B-1C27-F679-43B9-64C882DC839D}"/>
              </a:ext>
            </a:extLst>
          </p:cNvPr>
          <p:cNvSpPr txBox="1"/>
          <p:nvPr/>
        </p:nvSpPr>
        <p:spPr>
          <a:xfrm>
            <a:off x="3944041" y="144271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441CA-AECB-C33F-64B4-70EF43730782}"/>
              </a:ext>
            </a:extLst>
          </p:cNvPr>
          <p:cNvSpPr txBox="1"/>
          <p:nvPr/>
        </p:nvSpPr>
        <p:spPr>
          <a:xfrm>
            <a:off x="6730071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91AEB4-46BC-6922-CB70-13F38C4CBE30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4388234" y="1904384"/>
            <a:ext cx="368041" cy="51177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6649944-821F-1A96-D5F7-77F55F60B3F7}"/>
              </a:ext>
            </a:extLst>
          </p:cNvPr>
          <p:cNvSpPr txBox="1"/>
          <p:nvPr/>
        </p:nvSpPr>
        <p:spPr>
          <a:xfrm>
            <a:off x="3976253" y="2416154"/>
            <a:ext cx="1560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)==h(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8069AA-6A7B-EDD3-87AA-74E45FFB4219}"/>
              </a:ext>
            </a:extLst>
          </p:cNvPr>
          <p:cNvSpPr txBox="1"/>
          <p:nvPr/>
        </p:nvSpPr>
        <p:spPr>
          <a:xfrm>
            <a:off x="3200517" y="241615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730A2-5F99-83CF-4772-C8C4B10C5522}"/>
              </a:ext>
            </a:extLst>
          </p:cNvPr>
          <p:cNvSpPr txBox="1"/>
          <p:nvPr/>
        </p:nvSpPr>
        <p:spPr>
          <a:xfrm>
            <a:off x="7795625" y="241615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854A3-BA88-A548-5393-BC3F85BD4888}"/>
              </a:ext>
            </a:extLst>
          </p:cNvPr>
          <p:cNvSpPr/>
          <p:nvPr/>
        </p:nvSpPr>
        <p:spPr>
          <a:xfrm>
            <a:off x="2301715" y="140776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0FD2D3-6F31-D15E-2C60-45911F20727B}"/>
              </a:ext>
            </a:extLst>
          </p:cNvPr>
          <p:cNvSpPr txBox="1"/>
          <p:nvPr/>
        </p:nvSpPr>
        <p:spPr>
          <a:xfrm>
            <a:off x="5247857" y="1440099"/>
            <a:ext cx="894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BD8A54-85F1-4C20-06FA-6F27AF005148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4908705" y="1901764"/>
            <a:ext cx="786550" cy="514389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E285B3-FE8F-DE53-E022-225F3612E5F2}"/>
              </a:ext>
            </a:extLst>
          </p:cNvPr>
          <p:cNvSpPr txBox="1"/>
          <p:nvPr/>
        </p:nvSpPr>
        <p:spPr>
          <a:xfrm>
            <a:off x="4811507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5ED645-7D18-8D0A-0D18-A89D039F9AE3}"/>
              </a:ext>
            </a:extLst>
          </p:cNvPr>
          <p:cNvSpPr txBox="1"/>
          <p:nvPr/>
        </p:nvSpPr>
        <p:spPr>
          <a:xfrm>
            <a:off x="2075395" y="3749653"/>
            <a:ext cx="6047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Question: How to store both 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 and 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)?</a:t>
            </a:r>
            <a:endParaRPr lang="en-US" sz="2400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99925F-7023-CAC5-0EC7-186ACD0866EA}"/>
              </a:ext>
            </a:extLst>
          </p:cNvPr>
          <p:cNvSpPr txBox="1"/>
          <p:nvPr/>
        </p:nvSpPr>
        <p:spPr>
          <a:xfrm>
            <a:off x="1084083" y="4712311"/>
            <a:ext cx="100238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Ideas: </a:t>
            </a:r>
          </a:p>
          <a:p>
            <a:pPr marL="457200" indent="-457200">
              <a:buAutoNum type="arabicPeriod"/>
            </a:pPr>
            <a:r>
              <a:rPr lang="en-US" sz="2400" b="1" dirty="0"/>
              <a:t>Separated chaining:</a:t>
            </a:r>
            <a:r>
              <a:rPr lang="en-US" sz="2400" dirty="0"/>
              <a:t> a linked list for key-value pairs that have hash collisions</a:t>
            </a:r>
          </a:p>
          <a:p>
            <a:pPr marL="457200" indent="-457200">
              <a:buAutoNum type="arabicPeriod"/>
            </a:pPr>
            <a:r>
              <a:rPr lang="en-US" sz="2400" b="1" dirty="0"/>
              <a:t>Linear probing:</a:t>
            </a:r>
            <a:r>
              <a:rPr lang="en-US" sz="2400" dirty="0"/>
              <a:t> put 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 in the next unoccupied index.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C81162-5920-66D6-7FE7-3D529C351CB1}"/>
              </a:ext>
            </a:extLst>
          </p:cNvPr>
          <p:cNvSpPr txBox="1"/>
          <p:nvPr/>
        </p:nvSpPr>
        <p:spPr>
          <a:xfrm>
            <a:off x="1309593" y="264698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987E11-9CD2-6624-C52D-C870F491569C}"/>
              </a:ext>
            </a:extLst>
          </p:cNvPr>
          <p:cNvSpPr txBox="1"/>
          <p:nvPr/>
        </p:nvSpPr>
        <p:spPr>
          <a:xfrm>
            <a:off x="259217" y="135711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</p:spTree>
    <p:extLst>
      <p:ext uri="{BB962C8B-B14F-4D97-AF65-F5344CB8AC3E}">
        <p14:creationId xmlns:p14="http://schemas.microsoft.com/office/powerpoint/2010/main" val="418252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B5E3-97A4-36FF-63F6-E0910CA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handle hash collisions: Separate Chaining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6AFC5-9510-23D1-E545-6942A6D27A37}"/>
              </a:ext>
            </a:extLst>
          </p:cNvPr>
          <p:cNvSpPr txBox="1"/>
          <p:nvPr/>
        </p:nvSpPr>
        <p:spPr>
          <a:xfrm>
            <a:off x="2301715" y="144272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6C252-12ED-B5B4-AAC3-3B487D1C2FE1}"/>
              </a:ext>
            </a:extLst>
          </p:cNvPr>
          <p:cNvSpPr txBox="1"/>
          <p:nvPr/>
        </p:nvSpPr>
        <p:spPr>
          <a:xfrm>
            <a:off x="3379535" y="140776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5F22A-58EB-E451-D2C4-E1A819130286}"/>
              </a:ext>
            </a:extLst>
          </p:cNvPr>
          <p:cNvSpPr txBox="1"/>
          <p:nvPr/>
        </p:nvSpPr>
        <p:spPr>
          <a:xfrm>
            <a:off x="8123269" y="144272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8B8C929-EE9C-10CC-25E8-329BD0F87DEA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287782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ADF9642-18C1-7C8C-A69A-1AEA32D6C886}"/>
              </a:ext>
            </a:extLst>
          </p:cNvPr>
          <p:cNvSpPr txBox="1"/>
          <p:nvPr/>
        </p:nvSpPr>
        <p:spPr>
          <a:xfrm>
            <a:off x="3944041" y="144271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BA766-8516-1AB7-2A8A-214638A7E1E0}"/>
              </a:ext>
            </a:extLst>
          </p:cNvPr>
          <p:cNvSpPr txBox="1"/>
          <p:nvPr/>
        </p:nvSpPr>
        <p:spPr>
          <a:xfrm>
            <a:off x="6730071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5F9271-3031-1A5A-C068-BA5E37143D3A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4388234" y="1904384"/>
            <a:ext cx="368041" cy="511770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67F962B-5F2F-E31B-E1A4-1450F35390F5}"/>
              </a:ext>
            </a:extLst>
          </p:cNvPr>
          <p:cNvSpPr txBox="1"/>
          <p:nvPr/>
        </p:nvSpPr>
        <p:spPr>
          <a:xfrm>
            <a:off x="3976253" y="2416154"/>
            <a:ext cx="1560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)==h(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CBA6E-172B-4043-CD51-43B347B531FC}"/>
              </a:ext>
            </a:extLst>
          </p:cNvPr>
          <p:cNvSpPr txBox="1"/>
          <p:nvPr/>
        </p:nvSpPr>
        <p:spPr>
          <a:xfrm>
            <a:off x="3200517" y="241615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CBDB95-2C7C-B204-99A8-20F1A783310F}"/>
              </a:ext>
            </a:extLst>
          </p:cNvPr>
          <p:cNvSpPr txBox="1"/>
          <p:nvPr/>
        </p:nvSpPr>
        <p:spPr>
          <a:xfrm>
            <a:off x="7795625" y="241615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2D9259-BD51-2826-76C0-87393BAF5211}"/>
              </a:ext>
            </a:extLst>
          </p:cNvPr>
          <p:cNvSpPr/>
          <p:nvPr/>
        </p:nvSpPr>
        <p:spPr>
          <a:xfrm>
            <a:off x="2301715" y="140776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AD68D0-D638-9ECF-B719-A872926EE3D7}"/>
              </a:ext>
            </a:extLst>
          </p:cNvPr>
          <p:cNvSpPr txBox="1"/>
          <p:nvPr/>
        </p:nvSpPr>
        <p:spPr>
          <a:xfrm>
            <a:off x="5247857" y="1440099"/>
            <a:ext cx="894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C16A0B-6315-39B4-1C24-3E05BFAEF283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4908705" y="1901764"/>
            <a:ext cx="786550" cy="514389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DF46566-576B-2BCE-CA97-08757AE823DD}"/>
              </a:ext>
            </a:extLst>
          </p:cNvPr>
          <p:cNvSpPr txBox="1"/>
          <p:nvPr/>
        </p:nvSpPr>
        <p:spPr>
          <a:xfrm>
            <a:off x="4811507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9B9C71-920D-E979-3F35-89C4B8372861}"/>
              </a:ext>
            </a:extLst>
          </p:cNvPr>
          <p:cNvSpPr txBox="1"/>
          <p:nvPr/>
        </p:nvSpPr>
        <p:spPr>
          <a:xfrm>
            <a:off x="4373042" y="3525659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41B481F-3916-C8CF-7FB2-6D3680B0693C}"/>
              </a:ext>
            </a:extLst>
          </p:cNvPr>
          <p:cNvCxnSpPr>
            <a:cxnSpLocks/>
          </p:cNvCxnSpPr>
          <p:nvPr/>
        </p:nvCxnSpPr>
        <p:spPr>
          <a:xfrm>
            <a:off x="4817234" y="3237119"/>
            <a:ext cx="0" cy="379841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B572FC-DCBB-EFF3-6A05-273ED4B7E5F0}"/>
              </a:ext>
            </a:extLst>
          </p:cNvPr>
          <p:cNvSpPr txBox="1"/>
          <p:nvPr/>
        </p:nvSpPr>
        <p:spPr>
          <a:xfrm>
            <a:off x="4373042" y="4248607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60E041-8189-3E5B-362F-8A7E8CD0C1C6}"/>
              </a:ext>
            </a:extLst>
          </p:cNvPr>
          <p:cNvCxnSpPr>
            <a:cxnSpLocks/>
          </p:cNvCxnSpPr>
          <p:nvPr/>
        </p:nvCxnSpPr>
        <p:spPr>
          <a:xfrm>
            <a:off x="4817234" y="3960067"/>
            <a:ext cx="0" cy="379841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51F12BB-C2B6-F27D-8FC3-0820ECE1C1C5}"/>
              </a:ext>
            </a:extLst>
          </p:cNvPr>
          <p:cNvSpPr txBox="1"/>
          <p:nvPr/>
        </p:nvSpPr>
        <p:spPr>
          <a:xfrm>
            <a:off x="751840" y="5343899"/>
            <a:ext cx="1363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lookup(k)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88B31D4B-D5D7-109C-5BDF-D643BA172AF4}"/>
              </a:ext>
            </a:extLst>
          </p:cNvPr>
          <p:cNvSpPr/>
          <p:nvPr/>
        </p:nvSpPr>
        <p:spPr>
          <a:xfrm>
            <a:off x="2257379" y="5415019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15D9BA-B13B-13D8-5D93-73E4DDB64D71}"/>
              </a:ext>
            </a:extLst>
          </p:cNvPr>
          <p:cNvSpPr txBox="1"/>
          <p:nvPr/>
        </p:nvSpPr>
        <p:spPr>
          <a:xfrm>
            <a:off x="2875280" y="5343899"/>
            <a:ext cx="467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index h(k) of hash table occupied?</a:t>
            </a:r>
            <a:endParaRPr lang="en-US" sz="2400" baseline="-25000" dirty="0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918CB12B-42F8-CFA7-E839-4A4B13840AF9}"/>
              </a:ext>
            </a:extLst>
          </p:cNvPr>
          <p:cNvSpPr/>
          <p:nvPr/>
        </p:nvSpPr>
        <p:spPr>
          <a:xfrm>
            <a:off x="7851646" y="5415019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38B6AD-B5E0-26B0-6C3B-E2ACD14A0ADE}"/>
              </a:ext>
            </a:extLst>
          </p:cNvPr>
          <p:cNvSpPr txBox="1"/>
          <p:nvPr/>
        </p:nvSpPr>
        <p:spPr>
          <a:xfrm>
            <a:off x="8475619" y="5278475"/>
            <a:ext cx="3309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yes, match k against the key of each pair on the linked list</a:t>
            </a:r>
            <a:endParaRPr lang="en-US" sz="2400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96ACF0-F0AC-76A8-9078-A909AC828A85}"/>
              </a:ext>
            </a:extLst>
          </p:cNvPr>
          <p:cNvSpPr txBox="1"/>
          <p:nvPr/>
        </p:nvSpPr>
        <p:spPr>
          <a:xfrm>
            <a:off x="1309593" y="264698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0CB632-28C3-790E-F619-666BE66ACB92}"/>
              </a:ext>
            </a:extLst>
          </p:cNvPr>
          <p:cNvSpPr txBox="1"/>
          <p:nvPr/>
        </p:nvSpPr>
        <p:spPr>
          <a:xfrm>
            <a:off x="259217" y="135711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2AED11-8BA2-A0C5-F652-5AE2F4E677D7}"/>
              </a:ext>
            </a:extLst>
          </p:cNvPr>
          <p:cNvSpPr txBox="1"/>
          <p:nvPr/>
        </p:nvSpPr>
        <p:spPr>
          <a:xfrm>
            <a:off x="5874151" y="3477982"/>
            <a:ext cx="5741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 of separate chaining: </a:t>
            </a:r>
          </a:p>
          <a:p>
            <a:pPr lvl="1"/>
            <a:r>
              <a:rPr lang="en-US" sz="2400" dirty="0"/>
              <a:t>Creating a </a:t>
            </a:r>
            <a:r>
              <a:rPr lang="en-US" sz="2400" b="1" dirty="0"/>
              <a:t>linked list </a:t>
            </a:r>
            <a:r>
              <a:rPr lang="en-US" sz="2400" dirty="0"/>
              <a:t>for key-value pairs that have hash collisions</a:t>
            </a: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B40AB767-67B6-FC66-756B-D2D18D1B5884}"/>
              </a:ext>
            </a:extLst>
          </p:cNvPr>
          <p:cNvSpPr/>
          <p:nvPr/>
        </p:nvSpPr>
        <p:spPr>
          <a:xfrm>
            <a:off x="694749" y="3531503"/>
            <a:ext cx="2841724" cy="830997"/>
          </a:xfrm>
          <a:prstGeom prst="wedgeRoundRectCallout">
            <a:avLst>
              <a:gd name="adj1" fmla="val 77813"/>
              <a:gd name="adj2" fmla="val 19216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 linked list of pairs with the same hash index</a:t>
            </a:r>
          </a:p>
        </p:txBody>
      </p:sp>
    </p:spTree>
    <p:extLst>
      <p:ext uri="{BB962C8B-B14F-4D97-AF65-F5344CB8AC3E}">
        <p14:creationId xmlns:p14="http://schemas.microsoft.com/office/powerpoint/2010/main" val="315345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6" grpId="0"/>
      <p:bldP spid="27" grpId="0" animBg="1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3194-E75E-4162-8FF6-0362E5B3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Separate Chaining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924469-F27F-E489-166D-76E226E33916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102158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4: "str2", 25: "str3", 1100: "str4", 26: "str5"}</a:t>
            </a:r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77A98C83-EA2C-D4D2-3739-DAA90A8F1BB8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ED107634-7C05-FE7D-9FDC-9262599E2688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07786C1-E1CC-02C2-8CFC-B44EC1A006F5}"/>
              </a:ext>
            </a:extLst>
          </p:cNvPr>
          <p:cNvCxnSpPr>
            <a:cxnSpLocks/>
          </p:cNvCxnSpPr>
          <p:nvPr/>
        </p:nvCxnSpPr>
        <p:spPr>
          <a:xfrm>
            <a:off x="2025587" y="1696720"/>
            <a:ext cx="1005141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7466BE-A27A-CF69-C886-A01D66D81E78}"/>
              </a:ext>
            </a:extLst>
          </p:cNvPr>
          <p:cNvCxnSpPr>
            <a:cxnSpLocks/>
          </p:cNvCxnSpPr>
          <p:nvPr/>
        </p:nvCxnSpPr>
        <p:spPr>
          <a:xfrm>
            <a:off x="3464560" y="1696720"/>
            <a:ext cx="2839720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DD0EAC-4B40-4EBB-03A1-944451395EF9}"/>
              </a:ext>
            </a:extLst>
          </p:cNvPr>
          <p:cNvCxnSpPr>
            <a:cxnSpLocks/>
          </p:cNvCxnSpPr>
          <p:nvPr/>
        </p:nvCxnSpPr>
        <p:spPr>
          <a:xfrm>
            <a:off x="6085840" y="1771932"/>
            <a:ext cx="2156968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3FD81AA-F62D-7D16-D55F-C37DB8B0939D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5653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159BB6-DEB0-893E-FFCE-88B98793D37A}"/>
              </a:ext>
            </a:extLst>
          </p:cNvPr>
          <p:cNvSpPr txBox="1"/>
          <p:nvPr/>
        </p:nvSpPr>
        <p:spPr>
          <a:xfrm>
            <a:off x="99409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299D73-53B7-F65C-2670-10B8D2355E56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71993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4C81586-A573-E044-EF85-19842307C064}"/>
              </a:ext>
            </a:extLst>
          </p:cNvPr>
          <p:cNvSpPr txBox="1"/>
          <p:nvPr/>
        </p:nvSpPr>
        <p:spPr>
          <a:xfrm>
            <a:off x="248041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48FB57-7572-9B38-DCD9-5514A1D6CEE9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303072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274CFB2-5DA1-CA8F-ABDF-AC5A4B2800CB}"/>
              </a:ext>
            </a:extLst>
          </p:cNvPr>
          <p:cNvSpPr txBox="1"/>
          <p:nvPr/>
        </p:nvSpPr>
        <p:spPr>
          <a:xfrm>
            <a:off x="6014719" y="4099549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138631-67C3-93FD-0FE1-1C0021D8C41E}"/>
              </a:ext>
            </a:extLst>
          </p:cNvPr>
          <p:cNvCxnSpPr>
            <a:cxnSpLocks/>
          </p:cNvCxnSpPr>
          <p:nvPr/>
        </p:nvCxnSpPr>
        <p:spPr>
          <a:xfrm>
            <a:off x="6349391" y="3630594"/>
            <a:ext cx="85676" cy="46895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00E9EF1-6A5A-161B-C7D7-DFDB102FF44C}"/>
              </a:ext>
            </a:extLst>
          </p:cNvPr>
          <p:cNvSpPr txBox="1"/>
          <p:nvPr/>
        </p:nvSpPr>
        <p:spPr>
          <a:xfrm>
            <a:off x="768232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3D3E552-4EAF-A80C-EDB8-5569B0853EFA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829114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F49EED9-17DC-8131-29A8-69279E34BE3E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1D3258-BAF5-5359-F10C-A991B2D58805}"/>
              </a:ext>
            </a:extLst>
          </p:cNvPr>
          <p:cNvSpPr/>
          <p:nvPr/>
        </p:nvSpPr>
        <p:spPr>
          <a:xfrm>
            <a:off x="273792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054649-20F0-C902-D9B5-3B938CE207E4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B0AB08-4DB6-EA16-CEF2-9013417207DC}"/>
              </a:ext>
            </a:extLst>
          </p:cNvPr>
          <p:cNvSpPr/>
          <p:nvPr/>
        </p:nvSpPr>
        <p:spPr>
          <a:xfrm>
            <a:off x="796231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2BA6FAC-7687-DCD9-D463-C62392BD79EA}"/>
              </a:ext>
            </a:extLst>
          </p:cNvPr>
          <p:cNvCxnSpPr>
            <a:cxnSpLocks/>
          </p:cNvCxnSpPr>
          <p:nvPr/>
        </p:nvCxnSpPr>
        <p:spPr>
          <a:xfrm flipH="1">
            <a:off x="5659120" y="1696720"/>
            <a:ext cx="3240848" cy="1182374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85CAA8-BBA3-8958-43CD-4EF7BC446B63}"/>
              </a:ext>
            </a:extLst>
          </p:cNvPr>
          <p:cNvSpPr txBox="1"/>
          <p:nvPr/>
        </p:nvSpPr>
        <p:spPr>
          <a:xfrm>
            <a:off x="8899968" y="1900891"/>
            <a:ext cx="1888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index </a:t>
            </a:r>
          </a:p>
          <a:p>
            <a:r>
              <a:rPr lang="en-US" sz="2400" dirty="0"/>
              <a:t>= h(k) </a:t>
            </a:r>
          </a:p>
          <a:p>
            <a:r>
              <a:rPr lang="en-US" sz="2400" dirty="0"/>
              <a:t>= (k * 7) % 11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15A400-5348-AC9E-07C1-044FF63F400B}"/>
              </a:ext>
            </a:extLst>
          </p:cNvPr>
          <p:cNvSpPr txBox="1"/>
          <p:nvPr/>
        </p:nvSpPr>
        <p:spPr>
          <a:xfrm>
            <a:off x="4989926" y="4809142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(26, "str5")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E28DF70-CA9F-CB6C-D8F0-11A3C689AC40}"/>
              </a:ext>
            </a:extLst>
          </p:cNvPr>
          <p:cNvCxnSpPr>
            <a:cxnSpLocks/>
          </p:cNvCxnSpPr>
          <p:nvPr/>
        </p:nvCxnSpPr>
        <p:spPr>
          <a:xfrm>
            <a:off x="5598747" y="4472902"/>
            <a:ext cx="0" cy="352786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B86A8AE-4F7A-B471-F8F3-37661BE69450}"/>
              </a:ext>
            </a:extLst>
          </p:cNvPr>
          <p:cNvSpPr txBox="1"/>
          <p:nvPr/>
        </p:nvSpPr>
        <p:spPr>
          <a:xfrm>
            <a:off x="776614" y="5164773"/>
            <a:ext cx="1663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 (26)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71F7C3-267A-517F-273E-123146868455}"/>
              </a:ext>
            </a:extLst>
          </p:cNvPr>
          <p:cNvSpPr txBox="1"/>
          <p:nvPr/>
        </p:nvSpPr>
        <p:spPr>
          <a:xfrm>
            <a:off x="3179132" y="5164772"/>
            <a:ext cx="6185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Calculate hash index: hash(26) = (26*7) % 11 = 6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90BEA8-B10D-9E5D-9AF2-57DDF395F6D3}"/>
              </a:ext>
            </a:extLst>
          </p:cNvPr>
          <p:cNvSpPr txBox="1"/>
          <p:nvPr/>
        </p:nvSpPr>
        <p:spPr>
          <a:xfrm>
            <a:off x="3179132" y="5622002"/>
            <a:ext cx="4728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Is index 6 occupied (not NULL)? Yes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189323-E635-7D7C-1A1B-0FD0110694D3}"/>
              </a:ext>
            </a:extLst>
          </p:cNvPr>
          <p:cNvSpPr txBox="1"/>
          <p:nvPr/>
        </p:nvSpPr>
        <p:spPr>
          <a:xfrm>
            <a:off x="3179132" y="6058243"/>
            <a:ext cx="61850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Follow the linked list associated with index 6, until a matched key is found or end of the list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103B434-779A-4DA0-4ADB-281794AF577A}"/>
              </a:ext>
            </a:extLst>
          </p:cNvPr>
          <p:cNvCxnSpPr>
            <a:cxnSpLocks/>
          </p:cNvCxnSpPr>
          <p:nvPr/>
        </p:nvCxnSpPr>
        <p:spPr>
          <a:xfrm>
            <a:off x="4785360" y="1771932"/>
            <a:ext cx="87376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A1B255B-2199-89FC-0FA2-08DF0D94FA65}"/>
              </a:ext>
            </a:extLst>
          </p:cNvPr>
          <p:cNvSpPr txBox="1"/>
          <p:nvPr/>
        </p:nvSpPr>
        <p:spPr>
          <a:xfrm>
            <a:off x="5032841" y="4086075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657514B-1BEC-1712-6AAA-FA0FC652B01A}"/>
              </a:ext>
            </a:extLst>
          </p:cNvPr>
          <p:cNvCxnSpPr>
            <a:cxnSpLocks/>
          </p:cNvCxnSpPr>
          <p:nvPr/>
        </p:nvCxnSpPr>
        <p:spPr>
          <a:xfrm>
            <a:off x="5610318" y="3650421"/>
            <a:ext cx="0" cy="44912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AAE8683-4BB6-199B-3439-7612EB198C85}"/>
              </a:ext>
            </a:extLst>
          </p:cNvPr>
          <p:cNvSpPr/>
          <p:nvPr/>
        </p:nvSpPr>
        <p:spPr>
          <a:xfrm>
            <a:off x="5364603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A3E4669E-9BE0-F1B4-E137-31341EC827B0}"/>
              </a:ext>
            </a:extLst>
          </p:cNvPr>
          <p:cNvSpPr/>
          <p:nvPr/>
        </p:nvSpPr>
        <p:spPr>
          <a:xfrm>
            <a:off x="2515804" y="5248284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72027F-D969-D13A-CB33-155B9584CB09}"/>
              </a:ext>
            </a:extLst>
          </p:cNvPr>
          <p:cNvSpPr txBox="1"/>
          <p:nvPr/>
        </p:nvSpPr>
        <p:spPr>
          <a:xfrm>
            <a:off x="8750930" y="3677545"/>
            <a:ext cx="3441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5D1CF"/>
                </a:highlight>
              </a:rPr>
              <a:t>Where to put (26, "str5")?</a:t>
            </a:r>
          </a:p>
        </p:txBody>
      </p:sp>
      <p:sp>
        <p:nvSpPr>
          <p:cNvPr id="45" name="Rounded Rectangular Callout 44">
            <a:extLst>
              <a:ext uri="{FF2B5EF4-FFF2-40B4-BE49-F238E27FC236}">
                <a16:creationId xmlns:a16="http://schemas.microsoft.com/office/drawing/2014/main" id="{F6692696-6097-3784-A925-471D0F762B82}"/>
              </a:ext>
            </a:extLst>
          </p:cNvPr>
          <p:cNvSpPr/>
          <p:nvPr/>
        </p:nvSpPr>
        <p:spPr>
          <a:xfrm>
            <a:off x="3598017" y="4245159"/>
            <a:ext cx="1451680" cy="667096"/>
          </a:xfrm>
          <a:prstGeom prst="wedgeRoundRectCallout">
            <a:avLst>
              <a:gd name="adj1" fmla="val 24622"/>
              <a:gd name="adj2" fmla="val 20739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156423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/>
      <p:bldP spid="35" grpId="0"/>
      <p:bldP spid="36" grpId="0"/>
      <p:bldP spid="42" grpId="0" animBg="1"/>
      <p:bldP spid="4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37">
            <a:extLst>
              <a:ext uri="{FF2B5EF4-FFF2-40B4-BE49-F238E27FC236}">
                <a16:creationId xmlns:a16="http://schemas.microsoft.com/office/drawing/2014/main" id="{CF45BA1D-9052-FFE3-82F2-363ADFAB3D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175"/>
          <a:stretch/>
        </p:blipFill>
        <p:spPr>
          <a:xfrm>
            <a:off x="82550" y="1661040"/>
            <a:ext cx="7005236" cy="2646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923D7A-FE08-C56B-5732-8CE45D24E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37807" cy="797178"/>
          </a:xfrm>
        </p:spPr>
        <p:txBody>
          <a:bodyPr>
            <a:normAutofit fontScale="90000"/>
          </a:bodyPr>
          <a:lstStyle/>
          <a:p>
            <a:r>
              <a:rPr lang="en-US" dirty="0"/>
              <a:t>Code: Insert a key-value pair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704A8BA-7892-1322-2903-D72B4EC56D7C}"/>
              </a:ext>
            </a:extLst>
          </p:cNvPr>
          <p:cNvSpPr/>
          <p:nvPr/>
        </p:nvSpPr>
        <p:spPr>
          <a:xfrm>
            <a:off x="3190240" y="3175490"/>
            <a:ext cx="721360" cy="1355869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914F838-E6B8-E666-CA7D-68E9BB1291E8}"/>
              </a:ext>
            </a:extLst>
          </p:cNvPr>
          <p:cNvSpPr txBox="1"/>
          <p:nvPr/>
        </p:nvSpPr>
        <p:spPr>
          <a:xfrm>
            <a:off x="7002283" y="763714"/>
            <a:ext cx="5107167" cy="56938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5760" rtlCol="0">
            <a:spAutoFit/>
          </a:bodyPr>
          <a:lstStyle/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pair{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key;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item{pair *pr; item *next;};</a:t>
            </a: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insert(item **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pair *pr){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 = pr-&gt;key;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index = hash(key);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item 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newitem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(item*)malloc(</a:t>
            </a:r>
            <a:r>
              <a:rPr lang="en-US" sz="1300" dirty="0" err="1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(item));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newitem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-&gt;pr = pr;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newitem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-&gt;next =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 =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newitem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item *p =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(p-&gt;pr-&gt;key == key){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p-&gt;pr = pr;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(!p-&gt;next)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p-&gt;next =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newitem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 = p-&gt;next;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285CCC4-0C7E-D085-D282-A305D3288D98}"/>
              </a:ext>
            </a:extLst>
          </p:cNvPr>
          <p:cNvSpPr txBox="1"/>
          <p:nvPr/>
        </p:nvSpPr>
        <p:spPr>
          <a:xfrm>
            <a:off x="7002282" y="771418"/>
            <a:ext cx="273725" cy="589037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rtlCol="0">
            <a:noAutofit/>
          </a:bodyPr>
          <a:lstStyle/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4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5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6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7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8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9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10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14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15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16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17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18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19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20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22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24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25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26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27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28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9E14695-DF6E-01B7-8548-9FD1BF64B27C}"/>
              </a:ext>
            </a:extLst>
          </p:cNvPr>
          <p:cNvSpPr/>
          <p:nvPr/>
        </p:nvSpPr>
        <p:spPr>
          <a:xfrm>
            <a:off x="7518400" y="2171541"/>
            <a:ext cx="4500880" cy="602139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EEA6CA7-F891-2138-95BA-A71755421F44}"/>
              </a:ext>
            </a:extLst>
          </p:cNvPr>
          <p:cNvSpPr/>
          <p:nvPr/>
        </p:nvSpPr>
        <p:spPr>
          <a:xfrm>
            <a:off x="7518400" y="2871199"/>
            <a:ext cx="3261360" cy="938801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D74BDA2-F1B4-5BF9-31DE-5D01156DFE13}"/>
              </a:ext>
            </a:extLst>
          </p:cNvPr>
          <p:cNvSpPr/>
          <p:nvPr/>
        </p:nvSpPr>
        <p:spPr>
          <a:xfrm>
            <a:off x="7701280" y="4181507"/>
            <a:ext cx="2494196" cy="786733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064BC36-85D1-EF5D-BAE1-57331D261D6A}"/>
              </a:ext>
            </a:extLst>
          </p:cNvPr>
          <p:cNvSpPr/>
          <p:nvPr/>
        </p:nvSpPr>
        <p:spPr>
          <a:xfrm>
            <a:off x="7701280" y="4973463"/>
            <a:ext cx="2494196" cy="584058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ounded Rectangular Callout 147">
            <a:extLst>
              <a:ext uri="{FF2B5EF4-FFF2-40B4-BE49-F238E27FC236}">
                <a16:creationId xmlns:a16="http://schemas.microsoft.com/office/drawing/2014/main" id="{D4D0B3A2-2119-69D1-46DB-44F0C96EC17C}"/>
              </a:ext>
            </a:extLst>
          </p:cNvPr>
          <p:cNvSpPr/>
          <p:nvPr/>
        </p:nvSpPr>
        <p:spPr>
          <a:xfrm>
            <a:off x="10627960" y="828755"/>
            <a:ext cx="1451680" cy="667096"/>
          </a:xfrm>
          <a:prstGeom prst="wedgeRoundRectCallout">
            <a:avLst>
              <a:gd name="adj1" fmla="val -32768"/>
              <a:gd name="adj2" fmla="val 147150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new item for the pair</a:t>
            </a:r>
          </a:p>
        </p:txBody>
      </p:sp>
      <p:sp>
        <p:nvSpPr>
          <p:cNvPr id="149" name="Rounded Rectangular Callout 148">
            <a:extLst>
              <a:ext uri="{FF2B5EF4-FFF2-40B4-BE49-F238E27FC236}">
                <a16:creationId xmlns:a16="http://schemas.microsoft.com/office/drawing/2014/main" id="{81353209-6DB4-6CFE-DE0E-553B5B6BBE02}"/>
              </a:ext>
            </a:extLst>
          </p:cNvPr>
          <p:cNvSpPr/>
          <p:nvPr/>
        </p:nvSpPr>
        <p:spPr>
          <a:xfrm>
            <a:off x="10536572" y="3288725"/>
            <a:ext cx="1634455" cy="843898"/>
          </a:xfrm>
          <a:prstGeom prst="wedgeRoundRectCallout">
            <a:avLst>
              <a:gd name="adj1" fmla="val -91323"/>
              <a:gd name="adj2" fmla="val -30013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index is not used, then use the index</a:t>
            </a:r>
          </a:p>
        </p:txBody>
      </p:sp>
      <p:sp>
        <p:nvSpPr>
          <p:cNvPr id="150" name="Rounded Rectangular Callout 149">
            <a:extLst>
              <a:ext uri="{FF2B5EF4-FFF2-40B4-BE49-F238E27FC236}">
                <a16:creationId xmlns:a16="http://schemas.microsoft.com/office/drawing/2014/main" id="{7EF265E2-AE55-D457-75A0-758A29A881E0}"/>
              </a:ext>
            </a:extLst>
          </p:cNvPr>
          <p:cNvSpPr/>
          <p:nvPr/>
        </p:nvSpPr>
        <p:spPr>
          <a:xfrm>
            <a:off x="9871883" y="4359890"/>
            <a:ext cx="2207757" cy="938801"/>
          </a:xfrm>
          <a:prstGeom prst="wedgeRoundRectCallout">
            <a:avLst>
              <a:gd name="adj1" fmla="val -78273"/>
              <a:gd name="adj2" fmla="val -31204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index is used and the same key exists, then update pair</a:t>
            </a:r>
          </a:p>
        </p:txBody>
      </p:sp>
      <p:sp>
        <p:nvSpPr>
          <p:cNvPr id="151" name="Rounded Rectangular Callout 150">
            <a:extLst>
              <a:ext uri="{FF2B5EF4-FFF2-40B4-BE49-F238E27FC236}">
                <a16:creationId xmlns:a16="http://schemas.microsoft.com/office/drawing/2014/main" id="{82E59CCA-2423-5420-C846-A04DE0B597CD}"/>
              </a:ext>
            </a:extLst>
          </p:cNvPr>
          <p:cNvSpPr/>
          <p:nvPr/>
        </p:nvSpPr>
        <p:spPr>
          <a:xfrm>
            <a:off x="9739897" y="5456097"/>
            <a:ext cx="2207757" cy="638190"/>
          </a:xfrm>
          <a:prstGeom prst="wedgeRoundRectCallout">
            <a:avLst>
              <a:gd name="adj1" fmla="val -72290"/>
              <a:gd name="adj2" fmla="val -59342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insert the new item at the tail of the list.</a:t>
            </a:r>
          </a:p>
        </p:txBody>
      </p:sp>
    </p:spTree>
    <p:extLst>
      <p:ext uri="{BB962C8B-B14F-4D97-AF65-F5344CB8AC3E}">
        <p14:creationId xmlns:p14="http://schemas.microsoft.com/office/powerpoint/2010/main" val="324976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AD8EE3C4-119A-2D68-018F-BF89F2A63B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585"/>
          <a:stretch/>
        </p:blipFill>
        <p:spPr>
          <a:xfrm>
            <a:off x="82550" y="1661039"/>
            <a:ext cx="7005236" cy="39066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923D7A-FE08-C56B-5732-8CE45D24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Code: Lookup a key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F15808C-8615-13B1-6A7E-7CC01C3AE53B}"/>
              </a:ext>
            </a:extLst>
          </p:cNvPr>
          <p:cNvSpPr/>
          <p:nvPr/>
        </p:nvSpPr>
        <p:spPr>
          <a:xfrm flipV="1">
            <a:off x="275590" y="4243976"/>
            <a:ext cx="6043930" cy="1242423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5BA5A9-3D99-F906-A6FF-F24B50B0BCE2}"/>
              </a:ext>
            </a:extLst>
          </p:cNvPr>
          <p:cNvSpPr txBox="1"/>
          <p:nvPr/>
        </p:nvSpPr>
        <p:spPr>
          <a:xfrm>
            <a:off x="7002283" y="763714"/>
            <a:ext cx="4400244" cy="289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5760" rtlCol="0">
            <a:spAutoFit/>
          </a:bodyPr>
          <a:lstStyle/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pair{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key;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item{pair *pr; item *next;};</a:t>
            </a: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lookup(item **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index = hash(key);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item *p =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(p)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(p-&gt;pr-&gt;key == key)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 = p-&gt;next;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B5747F-AE87-868A-A7F9-7C6785F0EDE4}"/>
              </a:ext>
            </a:extLst>
          </p:cNvPr>
          <p:cNvSpPr txBox="1"/>
          <p:nvPr/>
        </p:nvSpPr>
        <p:spPr>
          <a:xfrm>
            <a:off x="7002282" y="771418"/>
            <a:ext cx="273725" cy="289310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rtlCol="0">
            <a:noAutofit/>
          </a:bodyPr>
          <a:lstStyle/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4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5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6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7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8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9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10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14</a:t>
            </a:r>
          </a:p>
          <a:p>
            <a:pPr algn="r"/>
            <a:endParaRPr lang="en-US" sz="1300" dirty="0">
              <a:solidFill>
                <a:schemeClr val="accent2"/>
              </a:solidFill>
              <a:effectLst/>
              <a:latin typeface="Menlo" panose="020B0609030804020204" pitchFamily="49" charset="0"/>
            </a:endParaRPr>
          </a:p>
          <a:p>
            <a:pPr algn="r"/>
            <a:endParaRPr lang="en-US" sz="1300" dirty="0">
              <a:solidFill>
                <a:schemeClr val="accent2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23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A9BAA-C105-04BA-A7CE-F5F489BD5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of Separate Chaining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2DAA57-20FB-6706-BAB0-C9C5FB04ECA5}"/>
              </a:ext>
            </a:extLst>
          </p:cNvPr>
          <p:cNvSpPr txBox="1"/>
          <p:nvPr/>
        </p:nvSpPr>
        <p:spPr>
          <a:xfrm>
            <a:off x="2301715" y="144272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75475-462B-77BE-70CB-D67D2E0C8439}"/>
              </a:ext>
            </a:extLst>
          </p:cNvPr>
          <p:cNvSpPr txBox="1"/>
          <p:nvPr/>
        </p:nvSpPr>
        <p:spPr>
          <a:xfrm>
            <a:off x="3379535" y="140776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7BA2B-6737-E123-06CA-2242AD461B48}"/>
              </a:ext>
            </a:extLst>
          </p:cNvPr>
          <p:cNvSpPr txBox="1"/>
          <p:nvPr/>
        </p:nvSpPr>
        <p:spPr>
          <a:xfrm>
            <a:off x="8123269" y="144272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920C4513-A50A-9C61-FF8E-BD4A0BAD311A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287782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08C411-E4F0-8A3C-C8A3-F9B7F39E4219}"/>
              </a:ext>
            </a:extLst>
          </p:cNvPr>
          <p:cNvSpPr txBox="1"/>
          <p:nvPr/>
        </p:nvSpPr>
        <p:spPr>
          <a:xfrm>
            <a:off x="3944041" y="144271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E2857-8B8D-4AE6-E5A0-08C934DDFC4D}"/>
              </a:ext>
            </a:extLst>
          </p:cNvPr>
          <p:cNvSpPr txBox="1"/>
          <p:nvPr/>
        </p:nvSpPr>
        <p:spPr>
          <a:xfrm>
            <a:off x="6730071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EBD607-3BE2-E094-820A-6D2A1E2F870D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4388234" y="1904384"/>
            <a:ext cx="368041" cy="51177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91BA30-94F7-BA79-E46E-0FD37BE2E3DD}"/>
              </a:ext>
            </a:extLst>
          </p:cNvPr>
          <p:cNvSpPr txBox="1"/>
          <p:nvPr/>
        </p:nvSpPr>
        <p:spPr>
          <a:xfrm>
            <a:off x="3976253" y="2416154"/>
            <a:ext cx="1560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)==h(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B8A14F-BAE2-2AB6-B7D7-35EFB80400D2}"/>
              </a:ext>
            </a:extLst>
          </p:cNvPr>
          <p:cNvSpPr txBox="1"/>
          <p:nvPr/>
        </p:nvSpPr>
        <p:spPr>
          <a:xfrm>
            <a:off x="3200517" y="241615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906FC5-F93C-399B-9C57-B57F8BEF9A52}"/>
              </a:ext>
            </a:extLst>
          </p:cNvPr>
          <p:cNvSpPr txBox="1"/>
          <p:nvPr/>
        </p:nvSpPr>
        <p:spPr>
          <a:xfrm>
            <a:off x="7795625" y="241615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BB02BF-9FB1-5C39-5FC5-9739EEC44EDF}"/>
              </a:ext>
            </a:extLst>
          </p:cNvPr>
          <p:cNvSpPr/>
          <p:nvPr/>
        </p:nvSpPr>
        <p:spPr>
          <a:xfrm>
            <a:off x="2301715" y="140776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2E0E5B-FF64-6C23-14E5-D2C101AED61D}"/>
              </a:ext>
            </a:extLst>
          </p:cNvPr>
          <p:cNvSpPr txBox="1"/>
          <p:nvPr/>
        </p:nvSpPr>
        <p:spPr>
          <a:xfrm>
            <a:off x="5247857" y="1440099"/>
            <a:ext cx="894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6C5132-7333-7A88-1FB3-4CA6198FB13B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4908705" y="1901764"/>
            <a:ext cx="786550" cy="514389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AF91996-C6E7-3E17-D682-109843D571EB}"/>
              </a:ext>
            </a:extLst>
          </p:cNvPr>
          <p:cNvSpPr txBox="1"/>
          <p:nvPr/>
        </p:nvSpPr>
        <p:spPr>
          <a:xfrm>
            <a:off x="4811507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C5A375-0BD1-BCF7-DF20-DEAC776F50A8}"/>
              </a:ext>
            </a:extLst>
          </p:cNvPr>
          <p:cNvSpPr txBox="1"/>
          <p:nvPr/>
        </p:nvSpPr>
        <p:spPr>
          <a:xfrm>
            <a:off x="4373042" y="3525659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66490F-5DE7-A405-178E-777F6624B00F}"/>
              </a:ext>
            </a:extLst>
          </p:cNvPr>
          <p:cNvCxnSpPr>
            <a:cxnSpLocks/>
          </p:cNvCxnSpPr>
          <p:nvPr/>
        </p:nvCxnSpPr>
        <p:spPr>
          <a:xfrm>
            <a:off x="4817234" y="3237119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6149B47-F196-10AB-FDAB-173321F67603}"/>
              </a:ext>
            </a:extLst>
          </p:cNvPr>
          <p:cNvSpPr txBox="1"/>
          <p:nvPr/>
        </p:nvSpPr>
        <p:spPr>
          <a:xfrm>
            <a:off x="4373042" y="4248607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7122FD-A8B5-3DA3-997F-7455E897AD6A}"/>
              </a:ext>
            </a:extLst>
          </p:cNvPr>
          <p:cNvCxnSpPr>
            <a:cxnSpLocks/>
          </p:cNvCxnSpPr>
          <p:nvPr/>
        </p:nvCxnSpPr>
        <p:spPr>
          <a:xfrm>
            <a:off x="4817234" y="3960067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65E01EE-8523-461F-0554-69E0637AA0C1}"/>
              </a:ext>
            </a:extLst>
          </p:cNvPr>
          <p:cNvSpPr txBox="1"/>
          <p:nvPr/>
        </p:nvSpPr>
        <p:spPr>
          <a:xfrm>
            <a:off x="1309593" y="264698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B38A8-A820-0BC0-8FA7-3F7CA8CA1C2C}"/>
              </a:ext>
            </a:extLst>
          </p:cNvPr>
          <p:cNvSpPr txBox="1"/>
          <p:nvPr/>
        </p:nvSpPr>
        <p:spPr>
          <a:xfrm>
            <a:off x="259217" y="135711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0B90DB-197A-816A-A2C1-D1E0DD041653}"/>
              </a:ext>
            </a:extLst>
          </p:cNvPr>
          <p:cNvSpPr txBox="1"/>
          <p:nvPr/>
        </p:nvSpPr>
        <p:spPr>
          <a:xfrm>
            <a:off x="1751590" y="5034741"/>
            <a:ext cx="7283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Creating and maintaining linked lists can be slow. WHY?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2470A-DE8C-AE5E-3774-88A20D4E92D2}"/>
              </a:ext>
            </a:extLst>
          </p:cNvPr>
          <p:cNvSpPr txBox="1"/>
          <p:nvPr/>
        </p:nvSpPr>
        <p:spPr>
          <a:xfrm>
            <a:off x="1751590" y="5805366"/>
            <a:ext cx="5547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avoid the overhead of linked lists?</a:t>
            </a:r>
          </a:p>
        </p:txBody>
      </p:sp>
    </p:spTree>
    <p:extLst>
      <p:ext uri="{BB962C8B-B14F-4D97-AF65-F5344CB8AC3E}">
        <p14:creationId xmlns:p14="http://schemas.microsoft.com/office/powerpoint/2010/main" val="2325145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B5E3-97A4-36FF-63F6-E0910CA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Hash Collision: Linear Probing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80C62-158B-05DF-7CAA-EDAE7D889C2C}"/>
              </a:ext>
            </a:extLst>
          </p:cNvPr>
          <p:cNvSpPr txBox="1"/>
          <p:nvPr/>
        </p:nvSpPr>
        <p:spPr>
          <a:xfrm>
            <a:off x="2301715" y="144272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D9A1E-5AA1-DB25-9957-ABF97CFC19C1}"/>
              </a:ext>
            </a:extLst>
          </p:cNvPr>
          <p:cNvSpPr txBox="1"/>
          <p:nvPr/>
        </p:nvSpPr>
        <p:spPr>
          <a:xfrm>
            <a:off x="3379535" y="140776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5B01D-65AD-1A4E-B44C-92E244529CAF}"/>
              </a:ext>
            </a:extLst>
          </p:cNvPr>
          <p:cNvSpPr txBox="1"/>
          <p:nvPr/>
        </p:nvSpPr>
        <p:spPr>
          <a:xfrm>
            <a:off x="8123269" y="144272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9A24557-16C1-57CD-858E-F58B77569904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287782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120244278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616824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E52EEC-CD0F-5407-BEE9-7EC22139A5D0}"/>
              </a:ext>
            </a:extLst>
          </p:cNvPr>
          <p:cNvSpPr txBox="1"/>
          <p:nvPr/>
        </p:nvSpPr>
        <p:spPr>
          <a:xfrm>
            <a:off x="3944041" y="144271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AEEC5-14DA-E38C-4D78-05753214A0F0}"/>
              </a:ext>
            </a:extLst>
          </p:cNvPr>
          <p:cNvSpPr txBox="1"/>
          <p:nvPr/>
        </p:nvSpPr>
        <p:spPr>
          <a:xfrm>
            <a:off x="6730071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66862D-CD14-45DF-8D1A-DA0428299EAE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4388234" y="1904384"/>
            <a:ext cx="368041" cy="51177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45EBC7-D1EF-18DF-B4C0-D69ABA3BFDFB}"/>
              </a:ext>
            </a:extLst>
          </p:cNvPr>
          <p:cNvSpPr txBox="1"/>
          <p:nvPr/>
        </p:nvSpPr>
        <p:spPr>
          <a:xfrm>
            <a:off x="3976253" y="2416154"/>
            <a:ext cx="1560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)==h(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84785-7184-13B8-9793-78538662F206}"/>
              </a:ext>
            </a:extLst>
          </p:cNvPr>
          <p:cNvSpPr txBox="1"/>
          <p:nvPr/>
        </p:nvSpPr>
        <p:spPr>
          <a:xfrm>
            <a:off x="3200517" y="241615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FD22F-4199-7D8A-DD1E-5DAA0C484C95}"/>
              </a:ext>
            </a:extLst>
          </p:cNvPr>
          <p:cNvSpPr txBox="1"/>
          <p:nvPr/>
        </p:nvSpPr>
        <p:spPr>
          <a:xfrm>
            <a:off x="7795625" y="241615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60400E-A136-61E7-1D76-355D36347A41}"/>
              </a:ext>
            </a:extLst>
          </p:cNvPr>
          <p:cNvSpPr/>
          <p:nvPr/>
        </p:nvSpPr>
        <p:spPr>
          <a:xfrm>
            <a:off x="2301715" y="140776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B0666A-FB28-A1D0-0BB8-0DB678213C81}"/>
              </a:ext>
            </a:extLst>
          </p:cNvPr>
          <p:cNvSpPr txBox="1"/>
          <p:nvPr/>
        </p:nvSpPr>
        <p:spPr>
          <a:xfrm>
            <a:off x="5247857" y="1440099"/>
            <a:ext cx="894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5410F8-0A79-3019-2141-C3BCC41765B8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908705" y="1901764"/>
            <a:ext cx="786550" cy="514389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44FFEEE-1866-397A-D5EE-422772F3F63C}"/>
              </a:ext>
            </a:extLst>
          </p:cNvPr>
          <p:cNvSpPr txBox="1"/>
          <p:nvPr/>
        </p:nvSpPr>
        <p:spPr>
          <a:xfrm>
            <a:off x="4811507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86E605-9FAA-0E57-FD66-B568D69B6EB3}"/>
              </a:ext>
            </a:extLst>
          </p:cNvPr>
          <p:cNvSpPr txBox="1"/>
          <p:nvPr/>
        </p:nvSpPr>
        <p:spPr>
          <a:xfrm>
            <a:off x="4196682" y="3525659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B07FC0-8C33-50C6-41B9-FAF0516D02E5}"/>
              </a:ext>
            </a:extLst>
          </p:cNvPr>
          <p:cNvCxnSpPr>
            <a:cxnSpLocks/>
          </p:cNvCxnSpPr>
          <p:nvPr/>
        </p:nvCxnSpPr>
        <p:spPr>
          <a:xfrm>
            <a:off x="4817234" y="3237119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7D7F1F-28A3-3E3D-4FEC-7D5C0695515C}"/>
              </a:ext>
            </a:extLst>
          </p:cNvPr>
          <p:cNvSpPr txBox="1"/>
          <p:nvPr/>
        </p:nvSpPr>
        <p:spPr>
          <a:xfrm>
            <a:off x="5496953" y="3538061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5BCD7E-91D1-7FC8-C390-32AE07E6DFA8}"/>
              </a:ext>
            </a:extLst>
          </p:cNvPr>
          <p:cNvCxnSpPr>
            <a:cxnSpLocks/>
          </p:cNvCxnSpPr>
          <p:nvPr/>
        </p:nvCxnSpPr>
        <p:spPr>
          <a:xfrm>
            <a:off x="5820513" y="3249521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9268A1-ADCB-8E1B-E37B-743BFC34E0A7}"/>
              </a:ext>
            </a:extLst>
          </p:cNvPr>
          <p:cNvSpPr txBox="1"/>
          <p:nvPr/>
        </p:nvSpPr>
        <p:spPr>
          <a:xfrm>
            <a:off x="1309593" y="264698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797323-C505-6297-A2D9-E6869BBB06BE}"/>
              </a:ext>
            </a:extLst>
          </p:cNvPr>
          <p:cNvSpPr txBox="1"/>
          <p:nvPr/>
        </p:nvSpPr>
        <p:spPr>
          <a:xfrm>
            <a:off x="259217" y="135711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A9FD9F-3899-573C-3FE6-EDCB18E4A954}"/>
              </a:ext>
            </a:extLst>
          </p:cNvPr>
          <p:cNvSpPr txBox="1"/>
          <p:nvPr/>
        </p:nvSpPr>
        <p:spPr>
          <a:xfrm>
            <a:off x="1186737" y="4321073"/>
            <a:ext cx="8285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 of </a:t>
            </a:r>
            <a:r>
              <a:rPr lang="en-US" sz="2400" b="1" dirty="0"/>
              <a:t>linear probing</a:t>
            </a:r>
            <a:r>
              <a:rPr lang="en-US" sz="2400" dirty="0"/>
              <a:t>: put 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 in the next unoccupied index.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B6DDA99-339F-FFBC-481B-38F86A50E1F6}"/>
              </a:ext>
            </a:extLst>
          </p:cNvPr>
          <p:cNvCxnSpPr>
            <a:cxnSpLocks/>
          </p:cNvCxnSpPr>
          <p:nvPr/>
        </p:nvCxnSpPr>
        <p:spPr>
          <a:xfrm>
            <a:off x="5320371" y="3248660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B2AFD19-187E-AE2B-0582-15134DDA05F5}"/>
              </a:ext>
            </a:extLst>
          </p:cNvPr>
          <p:cNvSpPr txBox="1"/>
          <p:nvPr/>
        </p:nvSpPr>
        <p:spPr>
          <a:xfrm>
            <a:off x="5037528" y="3540642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(…)</a:t>
            </a:r>
          </a:p>
        </p:txBody>
      </p:sp>
    </p:spTree>
    <p:extLst>
      <p:ext uri="{BB962C8B-B14F-4D97-AF65-F5344CB8AC3E}">
        <p14:creationId xmlns:p14="http://schemas.microsoft.com/office/powerpoint/2010/main" val="3289588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B5E3-97A4-36FF-63F6-E0910CA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Hash Collision: Linear Probing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80C62-158B-05DF-7CAA-EDAE7D889C2C}"/>
              </a:ext>
            </a:extLst>
          </p:cNvPr>
          <p:cNvSpPr txBox="1"/>
          <p:nvPr/>
        </p:nvSpPr>
        <p:spPr>
          <a:xfrm>
            <a:off x="2301715" y="144272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D9A1E-5AA1-DB25-9957-ABF97CFC19C1}"/>
              </a:ext>
            </a:extLst>
          </p:cNvPr>
          <p:cNvSpPr txBox="1"/>
          <p:nvPr/>
        </p:nvSpPr>
        <p:spPr>
          <a:xfrm>
            <a:off x="3379535" y="140776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5B01D-65AD-1A4E-B44C-92E244529CAF}"/>
              </a:ext>
            </a:extLst>
          </p:cNvPr>
          <p:cNvSpPr txBox="1"/>
          <p:nvPr/>
        </p:nvSpPr>
        <p:spPr>
          <a:xfrm>
            <a:off x="8123269" y="144272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52EEC-CD0F-5407-BEE9-7EC22139A5D0}"/>
              </a:ext>
            </a:extLst>
          </p:cNvPr>
          <p:cNvSpPr txBox="1"/>
          <p:nvPr/>
        </p:nvSpPr>
        <p:spPr>
          <a:xfrm>
            <a:off x="3944041" y="144271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4AEEC5-14DA-E38C-4D78-05753214A0F0}"/>
              </a:ext>
            </a:extLst>
          </p:cNvPr>
          <p:cNvSpPr txBox="1"/>
          <p:nvPr/>
        </p:nvSpPr>
        <p:spPr>
          <a:xfrm>
            <a:off x="6730071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66862D-CD14-45DF-8D1A-DA0428299EAE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4388234" y="1904384"/>
            <a:ext cx="368041" cy="51177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245EBC7-D1EF-18DF-B4C0-D69ABA3BFDFB}"/>
              </a:ext>
            </a:extLst>
          </p:cNvPr>
          <p:cNvSpPr txBox="1"/>
          <p:nvPr/>
        </p:nvSpPr>
        <p:spPr>
          <a:xfrm>
            <a:off x="3976253" y="2416154"/>
            <a:ext cx="1560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)==h(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84785-7184-13B8-9793-78538662F206}"/>
              </a:ext>
            </a:extLst>
          </p:cNvPr>
          <p:cNvSpPr txBox="1"/>
          <p:nvPr/>
        </p:nvSpPr>
        <p:spPr>
          <a:xfrm>
            <a:off x="3200517" y="241615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FD22F-4199-7D8A-DD1E-5DAA0C484C95}"/>
              </a:ext>
            </a:extLst>
          </p:cNvPr>
          <p:cNvSpPr txBox="1"/>
          <p:nvPr/>
        </p:nvSpPr>
        <p:spPr>
          <a:xfrm>
            <a:off x="7795625" y="241615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60400E-A136-61E7-1D76-355D36347A41}"/>
              </a:ext>
            </a:extLst>
          </p:cNvPr>
          <p:cNvSpPr/>
          <p:nvPr/>
        </p:nvSpPr>
        <p:spPr>
          <a:xfrm>
            <a:off x="2301715" y="140776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B0666A-FB28-A1D0-0BB8-0DB678213C81}"/>
              </a:ext>
            </a:extLst>
          </p:cNvPr>
          <p:cNvSpPr txBox="1"/>
          <p:nvPr/>
        </p:nvSpPr>
        <p:spPr>
          <a:xfrm>
            <a:off x="5247857" y="1440099"/>
            <a:ext cx="894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5410F8-0A79-3019-2141-C3BCC41765B8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908705" y="1901764"/>
            <a:ext cx="786550" cy="514389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44FFEEE-1866-397A-D5EE-422772F3F63C}"/>
              </a:ext>
            </a:extLst>
          </p:cNvPr>
          <p:cNvSpPr txBox="1"/>
          <p:nvPr/>
        </p:nvSpPr>
        <p:spPr>
          <a:xfrm>
            <a:off x="4811507" y="143652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797323-C505-6297-A2D9-E6869BBB06BE}"/>
              </a:ext>
            </a:extLst>
          </p:cNvPr>
          <p:cNvSpPr txBox="1"/>
          <p:nvPr/>
        </p:nvSpPr>
        <p:spPr>
          <a:xfrm>
            <a:off x="259217" y="135711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20D7F3-6288-1CF6-B67C-BE4C348E4755}"/>
              </a:ext>
            </a:extLst>
          </p:cNvPr>
          <p:cNvSpPr txBox="1"/>
          <p:nvPr/>
        </p:nvSpPr>
        <p:spPr>
          <a:xfrm>
            <a:off x="142240" y="4927339"/>
            <a:ext cx="12647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lookup(k)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B8AA7FA1-F474-732A-D975-8CE5446C5EC1}"/>
              </a:ext>
            </a:extLst>
          </p:cNvPr>
          <p:cNvSpPr/>
          <p:nvPr/>
        </p:nvSpPr>
        <p:spPr>
          <a:xfrm>
            <a:off x="1647779" y="4998459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3D1F7-F737-212D-813E-DD11C8F0A821}"/>
              </a:ext>
            </a:extLst>
          </p:cNvPr>
          <p:cNvSpPr txBox="1"/>
          <p:nvPr/>
        </p:nvSpPr>
        <p:spPr>
          <a:xfrm>
            <a:off x="2265680" y="4927339"/>
            <a:ext cx="4673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Is index h(k) of hash table occupied?</a:t>
            </a:r>
            <a:endParaRPr lang="en-US" sz="2200" baseline="-25000" dirty="0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E342FFC2-9E29-7052-1432-A39F657CD287}"/>
              </a:ext>
            </a:extLst>
          </p:cNvPr>
          <p:cNvSpPr/>
          <p:nvPr/>
        </p:nvSpPr>
        <p:spPr>
          <a:xfrm>
            <a:off x="7242046" y="4998459"/>
            <a:ext cx="506141" cy="29464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3C46CD-B5D3-A5E4-17B9-B5551D0AD3FD}"/>
              </a:ext>
            </a:extLst>
          </p:cNvPr>
          <p:cNvSpPr txBox="1"/>
          <p:nvPr/>
        </p:nvSpPr>
        <p:spPr>
          <a:xfrm>
            <a:off x="7866019" y="4861915"/>
            <a:ext cx="35944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If yes, does the associated key match the queried key?</a:t>
            </a:r>
            <a:endParaRPr lang="en-US" sz="2200" baseline="-25000" dirty="0"/>
          </a:p>
        </p:txBody>
      </p:sp>
      <p:sp>
        <p:nvSpPr>
          <p:cNvPr id="31" name="Bent Arrow 30">
            <a:extLst>
              <a:ext uri="{FF2B5EF4-FFF2-40B4-BE49-F238E27FC236}">
                <a16:creationId xmlns:a16="http://schemas.microsoft.com/office/drawing/2014/main" id="{10C899C9-D99B-5F64-1B9E-4BA2CC14C28A}"/>
              </a:ext>
            </a:extLst>
          </p:cNvPr>
          <p:cNvSpPr/>
          <p:nvPr/>
        </p:nvSpPr>
        <p:spPr>
          <a:xfrm rot="16200000">
            <a:off x="5902487" y="3213051"/>
            <a:ext cx="497935" cy="4673601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C13474-A978-A47C-A784-E09BA8E085DE}"/>
              </a:ext>
            </a:extLst>
          </p:cNvPr>
          <p:cNvSpPr txBox="1"/>
          <p:nvPr/>
        </p:nvSpPr>
        <p:spPr>
          <a:xfrm>
            <a:off x="4255117" y="5894724"/>
            <a:ext cx="36109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If not, check the next index </a:t>
            </a:r>
          </a:p>
          <a:p>
            <a:pPr algn="ctr"/>
            <a:r>
              <a:rPr lang="en-US" sz="2200" dirty="0"/>
              <a:t>(until an unoccupied index)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AA982A9D-130F-AD04-7028-70DA1AD3C616}"/>
              </a:ext>
            </a:extLst>
          </p:cNvPr>
          <p:cNvGraphicFramePr>
            <a:graphicFrameLocks noGrp="1"/>
          </p:cNvGraphicFramePr>
          <p:nvPr/>
        </p:nvGraphicFramePr>
        <p:xfrm>
          <a:off x="3403600" y="287782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47752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120244278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2616824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96748D6-E8B9-C598-4C2E-E05443276445}"/>
              </a:ext>
            </a:extLst>
          </p:cNvPr>
          <p:cNvSpPr txBox="1"/>
          <p:nvPr/>
        </p:nvSpPr>
        <p:spPr>
          <a:xfrm>
            <a:off x="4196682" y="3525659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E9D469-3566-53C9-CA2C-8F7A5A277AED}"/>
              </a:ext>
            </a:extLst>
          </p:cNvPr>
          <p:cNvCxnSpPr>
            <a:cxnSpLocks/>
          </p:cNvCxnSpPr>
          <p:nvPr/>
        </p:nvCxnSpPr>
        <p:spPr>
          <a:xfrm>
            <a:off x="4817234" y="3237119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BDC42A8-CD95-CCA7-6C63-E611D5E37ACB}"/>
              </a:ext>
            </a:extLst>
          </p:cNvPr>
          <p:cNvSpPr txBox="1"/>
          <p:nvPr/>
        </p:nvSpPr>
        <p:spPr>
          <a:xfrm>
            <a:off x="5496953" y="3538061"/>
            <a:ext cx="8883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542C024-B494-A179-2B96-762CB225B590}"/>
              </a:ext>
            </a:extLst>
          </p:cNvPr>
          <p:cNvCxnSpPr>
            <a:cxnSpLocks/>
          </p:cNvCxnSpPr>
          <p:nvPr/>
        </p:nvCxnSpPr>
        <p:spPr>
          <a:xfrm>
            <a:off x="5820513" y="3249521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C29FCE-3633-5038-FA7B-4EA62ED67A8E}"/>
              </a:ext>
            </a:extLst>
          </p:cNvPr>
          <p:cNvSpPr txBox="1"/>
          <p:nvPr/>
        </p:nvSpPr>
        <p:spPr>
          <a:xfrm>
            <a:off x="1309593" y="264698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8DF44B-83E7-18D4-EEA5-103D8F4B5F66}"/>
              </a:ext>
            </a:extLst>
          </p:cNvPr>
          <p:cNvSpPr txBox="1"/>
          <p:nvPr/>
        </p:nvSpPr>
        <p:spPr>
          <a:xfrm>
            <a:off x="1186737" y="4321073"/>
            <a:ext cx="8285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 of </a:t>
            </a:r>
            <a:r>
              <a:rPr lang="en-US" sz="2400" b="1" dirty="0"/>
              <a:t>linear probing</a:t>
            </a:r>
            <a:r>
              <a:rPr lang="en-US" sz="2400" dirty="0"/>
              <a:t>: put 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 in the next unoccupied index.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5F1C5E6-0CCE-B230-D338-51B44CFACD7F}"/>
              </a:ext>
            </a:extLst>
          </p:cNvPr>
          <p:cNvCxnSpPr>
            <a:cxnSpLocks/>
          </p:cNvCxnSpPr>
          <p:nvPr/>
        </p:nvCxnSpPr>
        <p:spPr>
          <a:xfrm>
            <a:off x="5320371" y="3248660"/>
            <a:ext cx="0" cy="379841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0CA1088-9933-6237-217E-C85614F89DC3}"/>
              </a:ext>
            </a:extLst>
          </p:cNvPr>
          <p:cNvSpPr txBox="1"/>
          <p:nvPr/>
        </p:nvSpPr>
        <p:spPr>
          <a:xfrm>
            <a:off x="5037528" y="3540642"/>
            <a:ext cx="583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8EA43A-FFD9-D9C0-1D9D-8D00DE5E336E}"/>
              </a:ext>
            </a:extLst>
          </p:cNvPr>
          <p:cNvSpPr txBox="1"/>
          <p:nvPr/>
        </p:nvSpPr>
        <p:spPr>
          <a:xfrm>
            <a:off x="8751456" y="3249185"/>
            <a:ext cx="2515973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i="1" dirty="0"/>
              <a:t>Why does it work?</a:t>
            </a:r>
          </a:p>
        </p:txBody>
      </p:sp>
    </p:spTree>
    <p:extLst>
      <p:ext uri="{BB962C8B-B14F-4D97-AF65-F5344CB8AC3E}">
        <p14:creationId xmlns:p14="http://schemas.microsoft.com/office/powerpoint/2010/main" val="3849080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B5E3-97A4-36FF-63F6-E0910CA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A13D3-5785-F455-6402-D874993015FA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102158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4: "str2", 25: "str3", 1100: "str4", 26: "str5"}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7278A49D-A7F0-B13C-BE09-059CD003A1F5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908A811F-256C-5518-C0D2-366390E4278E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5F61DE-C514-45B5-75D6-6671D4D318C8}"/>
              </a:ext>
            </a:extLst>
          </p:cNvPr>
          <p:cNvCxnSpPr>
            <a:cxnSpLocks/>
          </p:cNvCxnSpPr>
          <p:nvPr/>
        </p:nvCxnSpPr>
        <p:spPr>
          <a:xfrm>
            <a:off x="2025587" y="1696720"/>
            <a:ext cx="1005141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8F96BF-0EAD-738E-DC2A-3C02790B8641}"/>
              </a:ext>
            </a:extLst>
          </p:cNvPr>
          <p:cNvCxnSpPr>
            <a:cxnSpLocks/>
          </p:cNvCxnSpPr>
          <p:nvPr/>
        </p:nvCxnSpPr>
        <p:spPr>
          <a:xfrm>
            <a:off x="3464560" y="1696720"/>
            <a:ext cx="2839720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E9B88C-2E91-A4FE-729A-3ADFE36E5C83}"/>
              </a:ext>
            </a:extLst>
          </p:cNvPr>
          <p:cNvCxnSpPr>
            <a:cxnSpLocks/>
          </p:cNvCxnSpPr>
          <p:nvPr/>
        </p:nvCxnSpPr>
        <p:spPr>
          <a:xfrm>
            <a:off x="6085840" y="1771932"/>
            <a:ext cx="2156968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5C08C5-53B9-C8D0-C641-AED6CA15C621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5653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34AF1C-8D99-42F0-6762-D68A4E98FADD}"/>
              </a:ext>
            </a:extLst>
          </p:cNvPr>
          <p:cNvSpPr txBox="1"/>
          <p:nvPr/>
        </p:nvSpPr>
        <p:spPr>
          <a:xfrm>
            <a:off x="99409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9F5B57-B67F-3BCC-F58D-4D73CA7885B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71993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0E66D13-7394-5DDD-DB4E-16CE0BB5D2AA}"/>
              </a:ext>
            </a:extLst>
          </p:cNvPr>
          <p:cNvSpPr txBox="1"/>
          <p:nvPr/>
        </p:nvSpPr>
        <p:spPr>
          <a:xfrm>
            <a:off x="248041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1A444F-03BF-F058-86F1-EDDBF429C3D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03072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F2FD90-AB26-1F6D-E819-289DC11A10C9}"/>
              </a:ext>
            </a:extLst>
          </p:cNvPr>
          <p:cNvSpPr txBox="1"/>
          <p:nvPr/>
        </p:nvSpPr>
        <p:spPr>
          <a:xfrm>
            <a:off x="5712644" y="437173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BD985FE-EE72-F65C-0C4F-648CBA89E54F}"/>
              </a:ext>
            </a:extLst>
          </p:cNvPr>
          <p:cNvCxnSpPr>
            <a:cxnSpLocks/>
          </p:cNvCxnSpPr>
          <p:nvPr/>
        </p:nvCxnSpPr>
        <p:spPr>
          <a:xfrm flipH="1">
            <a:off x="6304279" y="3685588"/>
            <a:ext cx="7982" cy="68614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AD1ABCD-CEF3-627E-270F-7167EEFED22A}"/>
              </a:ext>
            </a:extLst>
          </p:cNvPr>
          <p:cNvSpPr txBox="1"/>
          <p:nvPr/>
        </p:nvSpPr>
        <p:spPr>
          <a:xfrm>
            <a:off x="768232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67AE77-A239-8A66-DE0C-86CC84EA6CA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29114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EC47ECC-4F44-8ED3-065F-E2E7D12C5837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928EA8-68E9-E428-A2EB-0163906A4FA1}"/>
              </a:ext>
            </a:extLst>
          </p:cNvPr>
          <p:cNvSpPr/>
          <p:nvPr/>
        </p:nvSpPr>
        <p:spPr>
          <a:xfrm>
            <a:off x="273792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9894FA-1982-7268-0220-5604F09C5F75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6BE4AA-6403-DA89-256B-CD866E0A531A}"/>
              </a:ext>
            </a:extLst>
          </p:cNvPr>
          <p:cNvSpPr/>
          <p:nvPr/>
        </p:nvSpPr>
        <p:spPr>
          <a:xfrm>
            <a:off x="796231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562143-D49F-F21F-3E35-DBBF380F0D3D}"/>
              </a:ext>
            </a:extLst>
          </p:cNvPr>
          <p:cNvCxnSpPr>
            <a:cxnSpLocks/>
          </p:cNvCxnSpPr>
          <p:nvPr/>
        </p:nvCxnSpPr>
        <p:spPr>
          <a:xfrm flipH="1">
            <a:off x="5659120" y="1696720"/>
            <a:ext cx="3240848" cy="1182374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835185D-475A-91D9-A67F-09C046DFE50A}"/>
              </a:ext>
            </a:extLst>
          </p:cNvPr>
          <p:cNvSpPr txBox="1"/>
          <p:nvPr/>
        </p:nvSpPr>
        <p:spPr>
          <a:xfrm>
            <a:off x="8899968" y="1900891"/>
            <a:ext cx="1888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index </a:t>
            </a:r>
          </a:p>
          <a:p>
            <a:r>
              <a:rPr lang="en-US" sz="2400" dirty="0"/>
              <a:t>= h(k) </a:t>
            </a:r>
          </a:p>
          <a:p>
            <a:r>
              <a:rPr lang="en-US" sz="2400" dirty="0"/>
              <a:t>= (k * 7) % 11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A69C63-FE5F-0602-571D-5891199E4441}"/>
              </a:ext>
            </a:extLst>
          </p:cNvPr>
          <p:cNvCxnSpPr>
            <a:cxnSpLocks/>
          </p:cNvCxnSpPr>
          <p:nvPr/>
        </p:nvCxnSpPr>
        <p:spPr>
          <a:xfrm>
            <a:off x="4785360" y="1771932"/>
            <a:ext cx="87376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7C8194-1486-A1B7-841A-087E83190775}"/>
              </a:ext>
            </a:extLst>
          </p:cNvPr>
          <p:cNvSpPr txBox="1"/>
          <p:nvPr/>
        </p:nvSpPr>
        <p:spPr>
          <a:xfrm>
            <a:off x="5032841" y="4086075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F621AE-9596-FABD-5173-08A118602D3A}"/>
              </a:ext>
            </a:extLst>
          </p:cNvPr>
          <p:cNvCxnSpPr>
            <a:cxnSpLocks/>
          </p:cNvCxnSpPr>
          <p:nvPr/>
        </p:nvCxnSpPr>
        <p:spPr>
          <a:xfrm>
            <a:off x="5610318" y="3650421"/>
            <a:ext cx="0" cy="44912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994BCFE-6DF0-E14F-A982-A696F017F1F8}"/>
              </a:ext>
            </a:extLst>
          </p:cNvPr>
          <p:cNvSpPr/>
          <p:nvPr/>
        </p:nvSpPr>
        <p:spPr>
          <a:xfrm>
            <a:off x="5364603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0CA81C-0DAD-16ED-865C-A3F606727C3D}"/>
              </a:ext>
            </a:extLst>
          </p:cNvPr>
          <p:cNvSpPr txBox="1"/>
          <p:nvPr/>
        </p:nvSpPr>
        <p:spPr>
          <a:xfrm>
            <a:off x="3377306" y="5074836"/>
            <a:ext cx="3441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5D1CF"/>
                </a:highlight>
              </a:rPr>
              <a:t>Where to put (26, "str5")?</a:t>
            </a:r>
          </a:p>
        </p:txBody>
      </p:sp>
      <p:sp>
        <p:nvSpPr>
          <p:cNvPr id="49" name="Rounded Rectangular Callout 48">
            <a:extLst>
              <a:ext uri="{FF2B5EF4-FFF2-40B4-BE49-F238E27FC236}">
                <a16:creationId xmlns:a16="http://schemas.microsoft.com/office/drawing/2014/main" id="{708FFA63-5A3E-4B7E-3900-945A98F272C8}"/>
              </a:ext>
            </a:extLst>
          </p:cNvPr>
          <p:cNvSpPr/>
          <p:nvPr/>
        </p:nvSpPr>
        <p:spPr>
          <a:xfrm>
            <a:off x="4196904" y="2048452"/>
            <a:ext cx="1801875" cy="614106"/>
          </a:xfrm>
          <a:prstGeom prst="wedgeRoundRectCallout">
            <a:avLst>
              <a:gd name="adj1" fmla="val 32864"/>
              <a:gd name="adj2" fmla="val 149917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Occupied, move to next!</a:t>
            </a:r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88F9E611-9779-2418-4A7E-273CA1086200}"/>
              </a:ext>
            </a:extLst>
          </p:cNvPr>
          <p:cNvSpPr/>
          <p:nvPr/>
        </p:nvSpPr>
        <p:spPr>
          <a:xfrm>
            <a:off x="5642165" y="2047161"/>
            <a:ext cx="1801875" cy="614106"/>
          </a:xfrm>
          <a:prstGeom prst="wedgeRoundRectCallout">
            <a:avLst>
              <a:gd name="adj1" fmla="val -13936"/>
              <a:gd name="adj2" fmla="val 143299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Occupied, move to next!</a:t>
            </a:r>
          </a:p>
        </p:txBody>
      </p:sp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1938BE31-A421-6586-B483-1CB1BB5291E7}"/>
              </a:ext>
            </a:extLst>
          </p:cNvPr>
          <p:cNvSpPr/>
          <p:nvPr/>
        </p:nvSpPr>
        <p:spPr>
          <a:xfrm>
            <a:off x="6252575" y="2047161"/>
            <a:ext cx="2402999" cy="614106"/>
          </a:xfrm>
          <a:prstGeom prst="wedgeRoundRectCallout">
            <a:avLst>
              <a:gd name="adj1" fmla="val -13936"/>
              <a:gd name="adj2" fmla="val 143299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Unoccupied!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Put (26, "str5") here!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095537-990B-E05B-632A-255A62DC0EC1}"/>
              </a:ext>
            </a:extLst>
          </p:cNvPr>
          <p:cNvSpPr txBox="1"/>
          <p:nvPr/>
        </p:nvSpPr>
        <p:spPr>
          <a:xfrm>
            <a:off x="6349392" y="4086075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(26, "str5")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49CF06F-F11C-678B-585F-F2D2F1B48A77}"/>
              </a:ext>
            </a:extLst>
          </p:cNvPr>
          <p:cNvCxnSpPr>
            <a:cxnSpLocks/>
          </p:cNvCxnSpPr>
          <p:nvPr/>
        </p:nvCxnSpPr>
        <p:spPr>
          <a:xfrm>
            <a:off x="6985378" y="3650421"/>
            <a:ext cx="0" cy="449128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D61F9D92-7A06-AAC8-734C-2A975C9F392C}"/>
              </a:ext>
            </a:extLst>
          </p:cNvPr>
          <p:cNvSpPr/>
          <p:nvPr/>
        </p:nvSpPr>
        <p:spPr>
          <a:xfrm>
            <a:off x="6658132" y="3322115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3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0" grpId="0" animBg="1"/>
      <p:bldP spid="50" grpId="1" animBg="1"/>
      <p:bldP spid="51" grpId="0" animBg="1"/>
      <p:bldP spid="52" grpId="0"/>
      <p:bldP spid="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B5E3-97A4-36FF-63F6-E0910CA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A13D3-5785-F455-6402-D874993015FA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102158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4: "str2", 25: "str3", 1100: "str4", 26: "str5"}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7278A49D-A7F0-B13C-BE09-059CD003A1F5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908A811F-256C-5518-C0D2-366390E4278E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5F61DE-C514-45B5-75D6-6671D4D318C8}"/>
              </a:ext>
            </a:extLst>
          </p:cNvPr>
          <p:cNvCxnSpPr>
            <a:cxnSpLocks/>
          </p:cNvCxnSpPr>
          <p:nvPr/>
        </p:nvCxnSpPr>
        <p:spPr>
          <a:xfrm>
            <a:off x="2025587" y="1696720"/>
            <a:ext cx="1005141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8F96BF-0EAD-738E-DC2A-3C02790B8641}"/>
              </a:ext>
            </a:extLst>
          </p:cNvPr>
          <p:cNvCxnSpPr>
            <a:cxnSpLocks/>
          </p:cNvCxnSpPr>
          <p:nvPr/>
        </p:nvCxnSpPr>
        <p:spPr>
          <a:xfrm>
            <a:off x="3464560" y="1696720"/>
            <a:ext cx="2839720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E9B88C-2E91-A4FE-729A-3ADFE36E5C83}"/>
              </a:ext>
            </a:extLst>
          </p:cNvPr>
          <p:cNvCxnSpPr>
            <a:cxnSpLocks/>
          </p:cNvCxnSpPr>
          <p:nvPr/>
        </p:nvCxnSpPr>
        <p:spPr>
          <a:xfrm>
            <a:off x="6085840" y="1771932"/>
            <a:ext cx="2156968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5C08C5-53B9-C8D0-C641-AED6CA15C621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5653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34AF1C-8D99-42F0-6762-D68A4E98FADD}"/>
              </a:ext>
            </a:extLst>
          </p:cNvPr>
          <p:cNvSpPr txBox="1"/>
          <p:nvPr/>
        </p:nvSpPr>
        <p:spPr>
          <a:xfrm>
            <a:off x="99409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9F5B57-B67F-3BCC-F58D-4D73CA7885B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71993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0E66D13-7394-5DDD-DB4E-16CE0BB5D2AA}"/>
              </a:ext>
            </a:extLst>
          </p:cNvPr>
          <p:cNvSpPr txBox="1"/>
          <p:nvPr/>
        </p:nvSpPr>
        <p:spPr>
          <a:xfrm>
            <a:off x="248041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1A444F-03BF-F058-86F1-EDDBF429C3D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03072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F2FD90-AB26-1F6D-E819-289DC11A10C9}"/>
              </a:ext>
            </a:extLst>
          </p:cNvPr>
          <p:cNvSpPr txBox="1"/>
          <p:nvPr/>
        </p:nvSpPr>
        <p:spPr>
          <a:xfrm>
            <a:off x="5712644" y="437173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D1ABCD-CEF3-627E-270F-7167EEFED22A}"/>
              </a:ext>
            </a:extLst>
          </p:cNvPr>
          <p:cNvSpPr txBox="1"/>
          <p:nvPr/>
        </p:nvSpPr>
        <p:spPr>
          <a:xfrm>
            <a:off x="768232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67AE77-A239-8A66-DE0C-86CC84EA6CA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29114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EC47ECC-4F44-8ED3-065F-E2E7D12C5837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928EA8-68E9-E428-A2EB-0163906A4FA1}"/>
              </a:ext>
            </a:extLst>
          </p:cNvPr>
          <p:cNvSpPr/>
          <p:nvPr/>
        </p:nvSpPr>
        <p:spPr>
          <a:xfrm>
            <a:off x="273792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9894FA-1982-7268-0220-5604F09C5F75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6BE4AA-6403-DA89-256B-CD866E0A531A}"/>
              </a:ext>
            </a:extLst>
          </p:cNvPr>
          <p:cNvSpPr/>
          <p:nvPr/>
        </p:nvSpPr>
        <p:spPr>
          <a:xfrm>
            <a:off x="796231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562143-D49F-F21F-3E35-DBBF380F0D3D}"/>
              </a:ext>
            </a:extLst>
          </p:cNvPr>
          <p:cNvCxnSpPr>
            <a:cxnSpLocks/>
          </p:cNvCxnSpPr>
          <p:nvPr/>
        </p:nvCxnSpPr>
        <p:spPr>
          <a:xfrm flipH="1">
            <a:off x="5659120" y="1696720"/>
            <a:ext cx="3240848" cy="118237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835185D-475A-91D9-A67F-09C046DFE50A}"/>
              </a:ext>
            </a:extLst>
          </p:cNvPr>
          <p:cNvSpPr txBox="1"/>
          <p:nvPr/>
        </p:nvSpPr>
        <p:spPr>
          <a:xfrm>
            <a:off x="8899968" y="1900891"/>
            <a:ext cx="1888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index </a:t>
            </a:r>
          </a:p>
          <a:p>
            <a:r>
              <a:rPr lang="en-US" sz="2400" dirty="0"/>
              <a:t>= h(k) </a:t>
            </a:r>
          </a:p>
          <a:p>
            <a:r>
              <a:rPr lang="en-US" sz="2400" dirty="0"/>
              <a:t>= (k * 7) % 11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A69C63-FE5F-0602-571D-5891199E4441}"/>
              </a:ext>
            </a:extLst>
          </p:cNvPr>
          <p:cNvCxnSpPr>
            <a:cxnSpLocks/>
          </p:cNvCxnSpPr>
          <p:nvPr/>
        </p:nvCxnSpPr>
        <p:spPr>
          <a:xfrm>
            <a:off x="4785360" y="1771932"/>
            <a:ext cx="87376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7C8194-1486-A1B7-841A-087E83190775}"/>
              </a:ext>
            </a:extLst>
          </p:cNvPr>
          <p:cNvSpPr txBox="1"/>
          <p:nvPr/>
        </p:nvSpPr>
        <p:spPr>
          <a:xfrm>
            <a:off x="5032841" y="4086075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F621AE-9596-FABD-5173-08A118602D3A}"/>
              </a:ext>
            </a:extLst>
          </p:cNvPr>
          <p:cNvCxnSpPr>
            <a:cxnSpLocks/>
          </p:cNvCxnSpPr>
          <p:nvPr/>
        </p:nvCxnSpPr>
        <p:spPr>
          <a:xfrm>
            <a:off x="5610318" y="3650421"/>
            <a:ext cx="0" cy="44912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994BCFE-6DF0-E14F-A982-A696F017F1F8}"/>
              </a:ext>
            </a:extLst>
          </p:cNvPr>
          <p:cNvSpPr/>
          <p:nvPr/>
        </p:nvSpPr>
        <p:spPr>
          <a:xfrm>
            <a:off x="5364603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ular Callout 48">
            <a:extLst>
              <a:ext uri="{FF2B5EF4-FFF2-40B4-BE49-F238E27FC236}">
                <a16:creationId xmlns:a16="http://schemas.microsoft.com/office/drawing/2014/main" id="{708FFA63-5A3E-4B7E-3900-945A98F272C8}"/>
              </a:ext>
            </a:extLst>
          </p:cNvPr>
          <p:cNvSpPr/>
          <p:nvPr/>
        </p:nvSpPr>
        <p:spPr>
          <a:xfrm>
            <a:off x="4953477" y="2047161"/>
            <a:ext cx="914038" cy="614106"/>
          </a:xfrm>
          <a:prstGeom prst="wedgeRoundRectCallout">
            <a:avLst>
              <a:gd name="adj1" fmla="val 31172"/>
              <a:gd name="adj2" fmla="val 95321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Check here</a:t>
            </a:r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88F9E611-9779-2418-4A7E-273CA1086200}"/>
              </a:ext>
            </a:extLst>
          </p:cNvPr>
          <p:cNvSpPr/>
          <p:nvPr/>
        </p:nvSpPr>
        <p:spPr>
          <a:xfrm>
            <a:off x="5967564" y="2014399"/>
            <a:ext cx="960110" cy="614106"/>
          </a:xfrm>
          <a:prstGeom prst="wedgeRoundRectCallout">
            <a:avLst>
              <a:gd name="adj1" fmla="val -13372"/>
              <a:gd name="adj2" fmla="val 93666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Check here</a:t>
            </a:r>
          </a:p>
        </p:txBody>
      </p:sp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1938BE31-A421-6586-B483-1CB1BB5291E7}"/>
              </a:ext>
            </a:extLst>
          </p:cNvPr>
          <p:cNvSpPr/>
          <p:nvPr/>
        </p:nvSpPr>
        <p:spPr>
          <a:xfrm>
            <a:off x="6673203" y="2042862"/>
            <a:ext cx="892265" cy="614106"/>
          </a:xfrm>
          <a:prstGeom prst="wedgeRoundRectCallout">
            <a:avLst>
              <a:gd name="adj1" fmla="val -20278"/>
              <a:gd name="adj2" fmla="val 87048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Check here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7B40D2-D797-D55C-0596-88FBF338D76B}"/>
              </a:ext>
            </a:extLst>
          </p:cNvPr>
          <p:cNvCxnSpPr>
            <a:cxnSpLocks/>
          </p:cNvCxnSpPr>
          <p:nvPr/>
        </p:nvCxnSpPr>
        <p:spPr>
          <a:xfrm flipH="1">
            <a:off x="6304279" y="3685588"/>
            <a:ext cx="7982" cy="68614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CCAFD7F-DF81-17FC-3FC2-D750669D504A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8A48B1-3339-9572-F530-FFD9B48E6D81}"/>
              </a:ext>
            </a:extLst>
          </p:cNvPr>
          <p:cNvSpPr txBox="1"/>
          <p:nvPr/>
        </p:nvSpPr>
        <p:spPr>
          <a:xfrm>
            <a:off x="6349392" y="4086075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(26, "str5")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77CB85-5AD0-DAE1-0853-7FDAFE3E9E16}"/>
              </a:ext>
            </a:extLst>
          </p:cNvPr>
          <p:cNvCxnSpPr>
            <a:cxnSpLocks/>
          </p:cNvCxnSpPr>
          <p:nvPr/>
        </p:nvCxnSpPr>
        <p:spPr>
          <a:xfrm>
            <a:off x="6985378" y="3650421"/>
            <a:ext cx="0" cy="44912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CAB50CD-F484-91D0-04E4-218BFF298A0B}"/>
              </a:ext>
            </a:extLst>
          </p:cNvPr>
          <p:cNvSpPr/>
          <p:nvPr/>
        </p:nvSpPr>
        <p:spPr>
          <a:xfrm>
            <a:off x="6658132" y="3322115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EB364A-62C0-E22F-5494-A932EEDC7F2A}"/>
              </a:ext>
            </a:extLst>
          </p:cNvPr>
          <p:cNvSpPr txBox="1"/>
          <p:nvPr/>
        </p:nvSpPr>
        <p:spPr>
          <a:xfrm>
            <a:off x="162327" y="4876435"/>
            <a:ext cx="1663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 (26)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A6C3D7-234B-0B89-B95C-F7309B024549}"/>
              </a:ext>
            </a:extLst>
          </p:cNvPr>
          <p:cNvSpPr txBox="1"/>
          <p:nvPr/>
        </p:nvSpPr>
        <p:spPr>
          <a:xfrm>
            <a:off x="2025587" y="4840312"/>
            <a:ext cx="101664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ym typeface="Wingdings" pitchFamily="2" charset="2"/>
              </a:rPr>
              <a:t>hash index: h(26) = 6, </a:t>
            </a:r>
            <a:r>
              <a:rPr lang="en-US" sz="2000" dirty="0" err="1">
                <a:sym typeface="Wingdings" pitchFamily="2" charset="2"/>
              </a:rPr>
              <a:t>hash_table</a:t>
            </a:r>
            <a:r>
              <a:rPr lang="en-US" sz="2000" dirty="0">
                <a:sym typeface="Wingdings" pitchFamily="2" charset="2"/>
              </a:rPr>
              <a:t>[6] is occupied but the key (9) doesn't match query (26)</a:t>
            </a:r>
          </a:p>
          <a:p>
            <a:r>
              <a:rPr lang="en-US" sz="2000" dirty="0"/>
              <a:t>Search the next index: 7, </a:t>
            </a:r>
            <a:r>
              <a:rPr lang="en-US" sz="2000" dirty="0" err="1">
                <a:sym typeface="Wingdings" pitchFamily="2" charset="2"/>
              </a:rPr>
              <a:t>hash_table</a:t>
            </a:r>
            <a:r>
              <a:rPr lang="en-US" sz="2000" dirty="0">
                <a:sym typeface="Wingdings" pitchFamily="2" charset="2"/>
              </a:rPr>
              <a:t>[7] is occupied but the key (4423) doesn't match query (26)</a:t>
            </a:r>
          </a:p>
          <a:p>
            <a:r>
              <a:rPr lang="en-US" sz="2000" dirty="0"/>
              <a:t>Search the next index: 8, </a:t>
            </a:r>
            <a:r>
              <a:rPr lang="en-US" sz="2000" dirty="0" err="1">
                <a:sym typeface="Wingdings" pitchFamily="2" charset="2"/>
              </a:rPr>
              <a:t>hash_table</a:t>
            </a:r>
            <a:r>
              <a:rPr lang="en-US" sz="2000" dirty="0">
                <a:sym typeface="Wingdings" pitchFamily="2" charset="2"/>
              </a:rPr>
              <a:t>[8] is occupied but the key (26) matches query (26)!</a:t>
            </a:r>
          </a:p>
          <a:p>
            <a:r>
              <a:rPr lang="en-US" sz="2000" dirty="0">
                <a:sym typeface="Wingdings" pitchFamily="2" charset="2"/>
              </a:rPr>
              <a:t> Return a </a:t>
            </a:r>
            <a:r>
              <a:rPr lang="en-US" sz="2000" b="1" dirty="0">
                <a:sym typeface="Wingdings" pitchFamily="2" charset="2"/>
              </a:rPr>
              <a:t>successful match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F6FF19B-E2C2-CD62-95EC-7B22C9FE4BD1}"/>
              </a:ext>
            </a:extLst>
          </p:cNvPr>
          <p:cNvCxnSpPr>
            <a:cxnSpLocks/>
          </p:cNvCxnSpPr>
          <p:nvPr/>
        </p:nvCxnSpPr>
        <p:spPr>
          <a:xfrm flipV="1">
            <a:off x="4246880" y="3172412"/>
            <a:ext cx="1363438" cy="1704023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57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37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B5E3-97A4-36FF-63F6-E0910CA06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A13D3-5785-F455-6402-D874993015FA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102158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4: "str2", 25: "str3", 1100: "str4", 26: "str5"}</a:t>
            </a: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7278A49D-A7F0-B13C-BE09-059CD003A1F5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908A811F-256C-5518-C0D2-366390E4278E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5F61DE-C514-45B5-75D6-6671D4D318C8}"/>
              </a:ext>
            </a:extLst>
          </p:cNvPr>
          <p:cNvCxnSpPr>
            <a:cxnSpLocks/>
          </p:cNvCxnSpPr>
          <p:nvPr/>
        </p:nvCxnSpPr>
        <p:spPr>
          <a:xfrm>
            <a:off x="2025587" y="1696720"/>
            <a:ext cx="1005141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8F96BF-0EAD-738E-DC2A-3C02790B8641}"/>
              </a:ext>
            </a:extLst>
          </p:cNvPr>
          <p:cNvCxnSpPr>
            <a:cxnSpLocks/>
          </p:cNvCxnSpPr>
          <p:nvPr/>
        </p:nvCxnSpPr>
        <p:spPr>
          <a:xfrm>
            <a:off x="3464560" y="1696720"/>
            <a:ext cx="2839720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E9B88C-2E91-A4FE-729A-3ADFE36E5C83}"/>
              </a:ext>
            </a:extLst>
          </p:cNvPr>
          <p:cNvCxnSpPr>
            <a:cxnSpLocks/>
          </p:cNvCxnSpPr>
          <p:nvPr/>
        </p:nvCxnSpPr>
        <p:spPr>
          <a:xfrm>
            <a:off x="6085840" y="1771932"/>
            <a:ext cx="2156968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5C08C5-53B9-C8D0-C641-AED6CA15C621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5653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34AF1C-8D99-42F0-6762-D68A4E98FADD}"/>
              </a:ext>
            </a:extLst>
          </p:cNvPr>
          <p:cNvSpPr txBox="1"/>
          <p:nvPr/>
        </p:nvSpPr>
        <p:spPr>
          <a:xfrm>
            <a:off x="994093" y="410935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(1100, "str4")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9F5B57-B67F-3BCC-F58D-4D73CA7885B7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719932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0E66D13-7394-5DDD-DB4E-16CE0BB5D2AA}"/>
              </a:ext>
            </a:extLst>
          </p:cNvPr>
          <p:cNvSpPr txBox="1"/>
          <p:nvPr/>
        </p:nvSpPr>
        <p:spPr>
          <a:xfrm>
            <a:off x="2480417" y="4109351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(5, "str0")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1A444F-03BF-F058-86F1-EDDBF429C3D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030728" y="3650421"/>
            <a:ext cx="0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F2FD90-AB26-1F6D-E819-289DC11A10C9}"/>
              </a:ext>
            </a:extLst>
          </p:cNvPr>
          <p:cNvSpPr txBox="1"/>
          <p:nvPr/>
        </p:nvSpPr>
        <p:spPr>
          <a:xfrm>
            <a:off x="5712644" y="4371731"/>
            <a:ext cx="14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(4423, "str1")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D1ABCD-CEF3-627E-270F-7167EEFED22A}"/>
              </a:ext>
            </a:extLst>
          </p:cNvPr>
          <p:cNvSpPr txBox="1"/>
          <p:nvPr/>
        </p:nvSpPr>
        <p:spPr>
          <a:xfrm>
            <a:off x="7682327" y="4109351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(25, "str3")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67AE77-A239-8A66-DE0C-86CC84EA6CA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8291147" y="3650421"/>
            <a:ext cx="1" cy="4589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EC47ECC-4F44-8ED3-065F-E2E7D12C5837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928EA8-68E9-E428-A2EB-0163906A4FA1}"/>
              </a:ext>
            </a:extLst>
          </p:cNvPr>
          <p:cNvSpPr/>
          <p:nvPr/>
        </p:nvSpPr>
        <p:spPr>
          <a:xfrm>
            <a:off x="273792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9894FA-1982-7268-0220-5604F09C5F75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6BE4AA-6403-DA89-256B-CD866E0A531A}"/>
              </a:ext>
            </a:extLst>
          </p:cNvPr>
          <p:cNvSpPr/>
          <p:nvPr/>
        </p:nvSpPr>
        <p:spPr>
          <a:xfrm>
            <a:off x="796231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2562143-D49F-F21F-3E35-DBBF380F0D3D}"/>
              </a:ext>
            </a:extLst>
          </p:cNvPr>
          <p:cNvCxnSpPr>
            <a:cxnSpLocks/>
          </p:cNvCxnSpPr>
          <p:nvPr/>
        </p:nvCxnSpPr>
        <p:spPr>
          <a:xfrm flipH="1">
            <a:off x="5659120" y="1696720"/>
            <a:ext cx="3240848" cy="118237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835185D-475A-91D9-A67F-09C046DFE50A}"/>
              </a:ext>
            </a:extLst>
          </p:cNvPr>
          <p:cNvSpPr txBox="1"/>
          <p:nvPr/>
        </p:nvSpPr>
        <p:spPr>
          <a:xfrm>
            <a:off x="8899968" y="1900891"/>
            <a:ext cx="1888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index </a:t>
            </a:r>
          </a:p>
          <a:p>
            <a:r>
              <a:rPr lang="en-US" sz="2400" dirty="0"/>
              <a:t>= h(k) </a:t>
            </a:r>
          </a:p>
          <a:p>
            <a:r>
              <a:rPr lang="en-US" sz="2400" dirty="0"/>
              <a:t>= (k * 7) % 11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A69C63-FE5F-0602-571D-5891199E4441}"/>
              </a:ext>
            </a:extLst>
          </p:cNvPr>
          <p:cNvCxnSpPr>
            <a:cxnSpLocks/>
          </p:cNvCxnSpPr>
          <p:nvPr/>
        </p:nvCxnSpPr>
        <p:spPr>
          <a:xfrm>
            <a:off x="4785360" y="1771932"/>
            <a:ext cx="87376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7C8194-1486-A1B7-841A-087E83190775}"/>
              </a:ext>
            </a:extLst>
          </p:cNvPr>
          <p:cNvSpPr txBox="1"/>
          <p:nvPr/>
        </p:nvSpPr>
        <p:spPr>
          <a:xfrm>
            <a:off x="5032841" y="4086075"/>
            <a:ext cx="1100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(9, "str2")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F621AE-9596-FABD-5173-08A118602D3A}"/>
              </a:ext>
            </a:extLst>
          </p:cNvPr>
          <p:cNvCxnSpPr>
            <a:cxnSpLocks/>
          </p:cNvCxnSpPr>
          <p:nvPr/>
        </p:nvCxnSpPr>
        <p:spPr>
          <a:xfrm>
            <a:off x="5610318" y="3650421"/>
            <a:ext cx="0" cy="44912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994BCFE-6DF0-E14F-A982-A696F017F1F8}"/>
              </a:ext>
            </a:extLst>
          </p:cNvPr>
          <p:cNvSpPr/>
          <p:nvPr/>
        </p:nvSpPr>
        <p:spPr>
          <a:xfrm>
            <a:off x="5364603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ular Callout 48">
            <a:extLst>
              <a:ext uri="{FF2B5EF4-FFF2-40B4-BE49-F238E27FC236}">
                <a16:creationId xmlns:a16="http://schemas.microsoft.com/office/drawing/2014/main" id="{708FFA63-5A3E-4B7E-3900-945A98F272C8}"/>
              </a:ext>
            </a:extLst>
          </p:cNvPr>
          <p:cNvSpPr/>
          <p:nvPr/>
        </p:nvSpPr>
        <p:spPr>
          <a:xfrm>
            <a:off x="4953477" y="2047161"/>
            <a:ext cx="914038" cy="614106"/>
          </a:xfrm>
          <a:prstGeom prst="wedgeRoundRectCallout">
            <a:avLst>
              <a:gd name="adj1" fmla="val 31172"/>
              <a:gd name="adj2" fmla="val 95321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Check here</a:t>
            </a:r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88F9E611-9779-2418-4A7E-273CA1086200}"/>
              </a:ext>
            </a:extLst>
          </p:cNvPr>
          <p:cNvSpPr/>
          <p:nvPr/>
        </p:nvSpPr>
        <p:spPr>
          <a:xfrm>
            <a:off x="5967564" y="2014399"/>
            <a:ext cx="960110" cy="614106"/>
          </a:xfrm>
          <a:prstGeom prst="wedgeRoundRectCallout">
            <a:avLst>
              <a:gd name="adj1" fmla="val -13372"/>
              <a:gd name="adj2" fmla="val 93666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Check here</a:t>
            </a:r>
          </a:p>
        </p:txBody>
      </p:sp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1938BE31-A421-6586-B483-1CB1BB5291E7}"/>
              </a:ext>
            </a:extLst>
          </p:cNvPr>
          <p:cNvSpPr/>
          <p:nvPr/>
        </p:nvSpPr>
        <p:spPr>
          <a:xfrm>
            <a:off x="6673203" y="2042862"/>
            <a:ext cx="892265" cy="614106"/>
          </a:xfrm>
          <a:prstGeom prst="wedgeRoundRectCallout">
            <a:avLst>
              <a:gd name="adj1" fmla="val -20278"/>
              <a:gd name="adj2" fmla="val 87048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Check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BE873C-CCCD-4799-3F05-572D2922EAA5}"/>
              </a:ext>
            </a:extLst>
          </p:cNvPr>
          <p:cNvSpPr txBox="1"/>
          <p:nvPr/>
        </p:nvSpPr>
        <p:spPr>
          <a:xfrm>
            <a:off x="162327" y="4876435"/>
            <a:ext cx="1663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Lookup (15)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6A65DE-8EF5-8412-B73D-E12EAAE1BDE0}"/>
              </a:ext>
            </a:extLst>
          </p:cNvPr>
          <p:cNvSpPr txBox="1"/>
          <p:nvPr/>
        </p:nvSpPr>
        <p:spPr>
          <a:xfrm>
            <a:off x="2025587" y="4840312"/>
            <a:ext cx="102949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ym typeface="Wingdings" pitchFamily="2" charset="2"/>
              </a:rPr>
              <a:t>hash index: h(15) = 6, </a:t>
            </a:r>
            <a:r>
              <a:rPr lang="en-US" sz="2000" dirty="0" err="1">
                <a:sym typeface="Wingdings" pitchFamily="2" charset="2"/>
              </a:rPr>
              <a:t>hash_table</a:t>
            </a:r>
            <a:r>
              <a:rPr lang="en-US" sz="2000" dirty="0">
                <a:sym typeface="Wingdings" pitchFamily="2" charset="2"/>
              </a:rPr>
              <a:t>[6] is occupied but the key (9) doesn't match query (15)</a:t>
            </a:r>
          </a:p>
          <a:p>
            <a:r>
              <a:rPr lang="en-US" sz="2000" dirty="0"/>
              <a:t>Search the next index: 7, </a:t>
            </a:r>
            <a:r>
              <a:rPr lang="en-US" sz="2000" dirty="0" err="1">
                <a:sym typeface="Wingdings" pitchFamily="2" charset="2"/>
              </a:rPr>
              <a:t>hash_table</a:t>
            </a:r>
            <a:r>
              <a:rPr lang="en-US" sz="2000" dirty="0">
                <a:sym typeface="Wingdings" pitchFamily="2" charset="2"/>
              </a:rPr>
              <a:t>[7] is occupied but the key (4423) doesn't match query (15)</a:t>
            </a:r>
          </a:p>
          <a:p>
            <a:r>
              <a:rPr lang="en-US" sz="2000" dirty="0"/>
              <a:t>Search the next index: 8, </a:t>
            </a:r>
            <a:r>
              <a:rPr lang="en-US" sz="2000" dirty="0" err="1">
                <a:sym typeface="Wingdings" pitchFamily="2" charset="2"/>
              </a:rPr>
              <a:t>hash_table</a:t>
            </a:r>
            <a:r>
              <a:rPr lang="en-US" sz="2000" dirty="0">
                <a:sym typeface="Wingdings" pitchFamily="2" charset="2"/>
              </a:rPr>
              <a:t>[8] is occupied but the key (26) doesn't match query (15)</a:t>
            </a:r>
          </a:p>
          <a:p>
            <a:r>
              <a:rPr lang="en-US" sz="2000" dirty="0">
                <a:sym typeface="Wingdings" pitchFamily="2" charset="2"/>
              </a:rPr>
              <a:t>Search the next index: 9, </a:t>
            </a:r>
            <a:r>
              <a:rPr lang="en-US" sz="2000" dirty="0" err="1">
                <a:sym typeface="Wingdings" pitchFamily="2" charset="2"/>
              </a:rPr>
              <a:t>hash_table</a:t>
            </a:r>
            <a:r>
              <a:rPr lang="en-US" sz="2000" dirty="0">
                <a:sym typeface="Wingdings" pitchFamily="2" charset="2"/>
              </a:rPr>
              <a:t>[9] is unoccupied!  return </a:t>
            </a:r>
            <a:r>
              <a:rPr lang="en-US" sz="2000" b="1" dirty="0">
                <a:sym typeface="Wingdings" pitchFamily="2" charset="2"/>
              </a:rPr>
              <a:t>no match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7B40D2-D797-D55C-0596-88FBF338D76B}"/>
              </a:ext>
            </a:extLst>
          </p:cNvPr>
          <p:cNvCxnSpPr>
            <a:cxnSpLocks/>
          </p:cNvCxnSpPr>
          <p:nvPr/>
        </p:nvCxnSpPr>
        <p:spPr>
          <a:xfrm flipH="1">
            <a:off x="6304279" y="3685588"/>
            <a:ext cx="7982" cy="68614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CCAFD7F-DF81-17FC-3FC2-D750669D504A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8A48B1-3339-9572-F530-FFD9B48E6D81}"/>
              </a:ext>
            </a:extLst>
          </p:cNvPr>
          <p:cNvSpPr txBox="1"/>
          <p:nvPr/>
        </p:nvSpPr>
        <p:spPr>
          <a:xfrm>
            <a:off x="6349392" y="4086075"/>
            <a:ext cx="1217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(26, "str5")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77CB85-5AD0-DAE1-0853-7FDAFE3E9E16}"/>
              </a:ext>
            </a:extLst>
          </p:cNvPr>
          <p:cNvCxnSpPr>
            <a:cxnSpLocks/>
          </p:cNvCxnSpPr>
          <p:nvPr/>
        </p:nvCxnSpPr>
        <p:spPr>
          <a:xfrm>
            <a:off x="6985378" y="3650421"/>
            <a:ext cx="0" cy="44912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CAB50CD-F484-91D0-04E4-218BFF298A0B}"/>
              </a:ext>
            </a:extLst>
          </p:cNvPr>
          <p:cNvSpPr/>
          <p:nvPr/>
        </p:nvSpPr>
        <p:spPr>
          <a:xfrm>
            <a:off x="6658132" y="3322115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ular Callout 36">
            <a:extLst>
              <a:ext uri="{FF2B5EF4-FFF2-40B4-BE49-F238E27FC236}">
                <a16:creationId xmlns:a16="http://schemas.microsoft.com/office/drawing/2014/main" id="{5C13CCBA-E46C-5F94-C078-865A33D17224}"/>
              </a:ext>
            </a:extLst>
          </p:cNvPr>
          <p:cNvSpPr/>
          <p:nvPr/>
        </p:nvSpPr>
        <p:spPr>
          <a:xfrm>
            <a:off x="7376796" y="2032974"/>
            <a:ext cx="892265" cy="614106"/>
          </a:xfrm>
          <a:prstGeom prst="wedgeRoundRectCallout">
            <a:avLst>
              <a:gd name="adj1" fmla="val -20278"/>
              <a:gd name="adj2" fmla="val 87048"/>
              <a:gd name="adj3" fmla="val 16667"/>
            </a:avLst>
          </a:prstGeom>
          <a:solidFill>
            <a:srgbClr val="F5D1CF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Check here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FD516B9-3952-09AD-120A-29C7515598D0}"/>
              </a:ext>
            </a:extLst>
          </p:cNvPr>
          <p:cNvCxnSpPr>
            <a:cxnSpLocks/>
          </p:cNvCxnSpPr>
          <p:nvPr/>
        </p:nvCxnSpPr>
        <p:spPr>
          <a:xfrm flipV="1">
            <a:off x="4246880" y="3172412"/>
            <a:ext cx="1363438" cy="1704023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85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30" grpId="0" uiExpand="1" build="allAtOnce"/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CA31-0AE4-7DE9-54B9-7EE8A536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19B1C-C964-3A0D-9299-DFDB97B3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handle hash collisions?</a:t>
            </a:r>
          </a:p>
          <a:p>
            <a:endParaRPr lang="en-US" dirty="0"/>
          </a:p>
          <a:p>
            <a:r>
              <a:rPr lang="en-US" b="1" dirty="0"/>
              <a:t>How to reduce hash collisions?</a:t>
            </a:r>
          </a:p>
          <a:p>
            <a:endParaRPr lang="en-US" dirty="0"/>
          </a:p>
          <a:p>
            <a:r>
              <a:rPr lang="en-US" dirty="0"/>
              <a:t>How to handle non-integer keys?</a:t>
            </a:r>
          </a:p>
        </p:txBody>
      </p:sp>
    </p:spTree>
    <p:extLst>
      <p:ext uri="{BB962C8B-B14F-4D97-AF65-F5344CB8AC3E}">
        <p14:creationId xmlns:p14="http://schemas.microsoft.com/office/powerpoint/2010/main" val="2421101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9D7B1-19EE-744E-C288-73056B39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vs.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36156-A8AE-41C4-B69B-E0041FD18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10515600" cy="5151185"/>
          </a:xfrm>
        </p:spPr>
        <p:txBody>
          <a:bodyPr>
            <a:normAutofit/>
          </a:bodyPr>
          <a:lstStyle/>
          <a:p>
            <a:r>
              <a:rPr lang="en-US" sz="2400" b="1" dirty="0"/>
              <a:t>Separated chaining: </a:t>
            </a:r>
          </a:p>
          <a:p>
            <a:pPr lvl="1"/>
            <a:r>
              <a:rPr lang="en-US" dirty="0"/>
              <a:t>a linked list for key-value pairs that have hash collisions</a:t>
            </a:r>
          </a:p>
          <a:p>
            <a:pPr lvl="1"/>
            <a:r>
              <a:rPr lang="en-US" dirty="0"/>
              <a:t>Overhead of maintaining and accessing the linked lists</a:t>
            </a:r>
          </a:p>
          <a:p>
            <a:pPr lvl="1"/>
            <a:endParaRPr lang="en-US" dirty="0"/>
          </a:p>
          <a:p>
            <a:r>
              <a:rPr lang="en-US" sz="2400" b="1" dirty="0"/>
              <a:t>Linear probing: </a:t>
            </a:r>
          </a:p>
          <a:p>
            <a:pPr lvl="1"/>
            <a:r>
              <a:rPr lang="en-US" dirty="0"/>
              <a:t>put (</a:t>
            </a:r>
            <a:r>
              <a:rPr lang="en-US" dirty="0" err="1"/>
              <a:t>k</a:t>
            </a:r>
            <a:r>
              <a:rPr lang="en-US" baseline="-25000" dirty="0" err="1"/>
              <a:t>j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in the next unoccupied index.</a:t>
            </a:r>
          </a:p>
          <a:p>
            <a:pPr lvl="1"/>
            <a:r>
              <a:rPr lang="en-US" dirty="0"/>
              <a:t>Avoids the overhead of linked lists</a:t>
            </a:r>
          </a:p>
          <a:p>
            <a:endParaRPr lang="en-US" dirty="0"/>
          </a:p>
          <a:p>
            <a:r>
              <a:rPr lang="en-US" dirty="0"/>
              <a:t>With either separate chaining or linear probing, hash collision slows down hash table lookups.</a:t>
            </a:r>
          </a:p>
          <a:p>
            <a:r>
              <a:rPr lang="en-US" i="1" dirty="0"/>
              <a:t>Can we reduce hash collisions in the first place?</a:t>
            </a:r>
          </a:p>
        </p:txBody>
      </p:sp>
    </p:spTree>
    <p:extLst>
      <p:ext uri="{BB962C8B-B14F-4D97-AF65-F5344CB8AC3E}">
        <p14:creationId xmlns:p14="http://schemas.microsoft.com/office/powerpoint/2010/main" val="369260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E295C-9E2F-0678-DDBD-10EE56D4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Collisions and Hash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47964-418C-06F9-3872-E9AD0066E25B}"/>
              </a:ext>
            </a:extLst>
          </p:cNvPr>
          <p:cNvSpPr txBox="1"/>
          <p:nvPr/>
        </p:nvSpPr>
        <p:spPr>
          <a:xfrm>
            <a:off x="2393155" y="191008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1E340A-EE4D-2728-40EC-156D910A87E3}"/>
              </a:ext>
            </a:extLst>
          </p:cNvPr>
          <p:cNvSpPr txBox="1"/>
          <p:nvPr/>
        </p:nvSpPr>
        <p:spPr>
          <a:xfrm>
            <a:off x="3470975" y="187512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98585-215E-60CB-7442-A356D829C32F}"/>
              </a:ext>
            </a:extLst>
          </p:cNvPr>
          <p:cNvSpPr txBox="1"/>
          <p:nvPr/>
        </p:nvSpPr>
        <p:spPr>
          <a:xfrm>
            <a:off x="8214709" y="191008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CAFB17FF-3A21-66A9-9A15-DD3D69982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73089"/>
              </p:ext>
            </p:extLst>
          </p:nvPr>
        </p:nvGraphicFramePr>
        <p:xfrm>
          <a:off x="3495040" y="378206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1938C31-D314-7E9A-7494-B9FCDCFDBF0F}"/>
              </a:ext>
            </a:extLst>
          </p:cNvPr>
          <p:cNvSpPr txBox="1"/>
          <p:nvPr/>
        </p:nvSpPr>
        <p:spPr>
          <a:xfrm>
            <a:off x="4035481" y="191007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131A6-238E-A6AF-7D99-2526C4E9806A}"/>
              </a:ext>
            </a:extLst>
          </p:cNvPr>
          <p:cNvSpPr txBox="1"/>
          <p:nvPr/>
        </p:nvSpPr>
        <p:spPr>
          <a:xfrm>
            <a:off x="6821511" y="190388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8DD80E-4212-6700-EA54-E045DE401F30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4479674" y="2371744"/>
            <a:ext cx="368041" cy="94865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7CE376B-46EE-BE69-D57C-5168785FF3EF}"/>
              </a:ext>
            </a:extLst>
          </p:cNvPr>
          <p:cNvSpPr txBox="1"/>
          <p:nvPr/>
        </p:nvSpPr>
        <p:spPr>
          <a:xfrm>
            <a:off x="4067693" y="3320394"/>
            <a:ext cx="1560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)==h(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B3569-9121-3F2E-261F-01CAE7455729}"/>
              </a:ext>
            </a:extLst>
          </p:cNvPr>
          <p:cNvSpPr txBox="1"/>
          <p:nvPr/>
        </p:nvSpPr>
        <p:spPr>
          <a:xfrm>
            <a:off x="7887065" y="332039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44A558-B790-00DE-FD1B-28F85FDA326F}"/>
              </a:ext>
            </a:extLst>
          </p:cNvPr>
          <p:cNvSpPr/>
          <p:nvPr/>
        </p:nvSpPr>
        <p:spPr>
          <a:xfrm>
            <a:off x="2393155" y="187512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0CA35-A814-37B7-04E6-DFE602BFCB5B}"/>
              </a:ext>
            </a:extLst>
          </p:cNvPr>
          <p:cNvSpPr txBox="1"/>
          <p:nvPr/>
        </p:nvSpPr>
        <p:spPr>
          <a:xfrm>
            <a:off x="5339297" y="1907459"/>
            <a:ext cx="894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</a:t>
            </a:r>
            <a:r>
              <a:rPr lang="en-US" sz="2400" dirty="0" err="1"/>
              <a:t>k</a:t>
            </a:r>
            <a:r>
              <a:rPr lang="en-US" sz="2400" baseline="-25000" dirty="0" err="1"/>
              <a:t>j</a:t>
            </a:r>
            <a:r>
              <a:rPr lang="en-US" sz="2400" dirty="0"/>
              <a:t>, </a:t>
            </a:r>
            <a:r>
              <a:rPr lang="en-US" sz="2400" dirty="0" err="1"/>
              <a:t>v</a:t>
            </a:r>
            <a:r>
              <a:rPr lang="en-US" sz="2400" baseline="-25000" dirty="0" err="1"/>
              <a:t>j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3E7498-9B74-3685-EBDE-DC6B0E868521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4847715" y="2365552"/>
            <a:ext cx="780021" cy="95484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E46EF03-A9DF-1506-A0F3-A017195282F4}"/>
              </a:ext>
            </a:extLst>
          </p:cNvPr>
          <p:cNvSpPr txBox="1"/>
          <p:nvPr/>
        </p:nvSpPr>
        <p:spPr>
          <a:xfrm>
            <a:off x="4902947" y="190388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E76AE9-8895-06D3-966C-EEDFD35D53A4}"/>
              </a:ext>
            </a:extLst>
          </p:cNvPr>
          <p:cNvSpPr txBox="1"/>
          <p:nvPr/>
        </p:nvSpPr>
        <p:spPr>
          <a:xfrm>
            <a:off x="1401033" y="355122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7AF9D6-93F1-C2E9-176B-A3715C8DC128}"/>
              </a:ext>
            </a:extLst>
          </p:cNvPr>
          <p:cNvSpPr txBox="1"/>
          <p:nvPr/>
        </p:nvSpPr>
        <p:spPr>
          <a:xfrm>
            <a:off x="350657" y="182447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7631B7-20B5-8D3D-CCA7-412DF6B3C8FF}"/>
              </a:ext>
            </a:extLst>
          </p:cNvPr>
          <p:cNvSpPr txBox="1"/>
          <p:nvPr/>
        </p:nvSpPr>
        <p:spPr>
          <a:xfrm>
            <a:off x="3836149" y="2669367"/>
            <a:ext cx="2531462" cy="461665"/>
          </a:xfrm>
          <a:prstGeom prst="rect">
            <a:avLst/>
          </a:prstGeom>
          <a:solidFill>
            <a:schemeClr val="bg1">
              <a:alpha val="38058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Hash function h(k)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FA274E-DF32-991B-E6CB-45B047923095}"/>
              </a:ext>
            </a:extLst>
          </p:cNvPr>
          <p:cNvSpPr txBox="1"/>
          <p:nvPr/>
        </p:nvSpPr>
        <p:spPr>
          <a:xfrm>
            <a:off x="1551799" y="4730705"/>
            <a:ext cx="7884338" cy="461665"/>
          </a:xfrm>
          <a:prstGeom prst="rect">
            <a:avLst/>
          </a:prstGeom>
          <a:solidFill>
            <a:schemeClr val="bg1">
              <a:alpha val="38058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The key to reducing hash collision is a good hash function h(k).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12B17E-68A8-8CE7-9544-6FC05A35C594}"/>
              </a:ext>
            </a:extLst>
          </p:cNvPr>
          <p:cNvSpPr txBox="1"/>
          <p:nvPr/>
        </p:nvSpPr>
        <p:spPr>
          <a:xfrm>
            <a:off x="1656080" y="5455920"/>
            <a:ext cx="8795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Consider the general format of hash function h(k) = (a * k + b) %m</a:t>
            </a:r>
          </a:p>
          <a:p>
            <a:r>
              <a:rPr lang="en-US" sz="2400" i="1" dirty="0"/>
              <a:t>What might be a bad hash function that causes more hash collisions?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FB1FA0-1D2F-EE40-CC50-6E690D3C405A}"/>
              </a:ext>
            </a:extLst>
          </p:cNvPr>
          <p:cNvSpPr txBox="1"/>
          <p:nvPr/>
        </p:nvSpPr>
        <p:spPr>
          <a:xfrm>
            <a:off x="3300896" y="332039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31081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E295C-9E2F-0678-DDBD-10EE56D4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62360" cy="797178"/>
          </a:xfrm>
        </p:spPr>
        <p:txBody>
          <a:bodyPr>
            <a:normAutofit fontScale="90000"/>
          </a:bodyPr>
          <a:lstStyle/>
          <a:p>
            <a:r>
              <a:rPr lang="en-US" dirty="0"/>
              <a:t>Can a bad hash function cause more hash collisions?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CFEAF-BE33-3F7F-476E-AAFD0BFF5DFC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102158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4: "str2", 25: "str3", 1100: "str4", 26: "str5"}</a:t>
            </a:r>
          </a:p>
        </p:txBody>
      </p:sp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95A78BF4-8CD9-1ED4-587A-32C7DE570662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C459A6F9-150D-F39C-EB94-523DEC9DB1B5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47F6BF-7C85-127C-7478-6DBB7F851A2C}"/>
              </a:ext>
            </a:extLst>
          </p:cNvPr>
          <p:cNvCxnSpPr>
            <a:cxnSpLocks/>
          </p:cNvCxnSpPr>
          <p:nvPr/>
        </p:nvCxnSpPr>
        <p:spPr>
          <a:xfrm flipH="1">
            <a:off x="1783940" y="1696720"/>
            <a:ext cx="241647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B0E47D-3C13-7EDE-13D9-CF8FFA5EBE5F}"/>
              </a:ext>
            </a:extLst>
          </p:cNvPr>
          <p:cNvCxnSpPr>
            <a:cxnSpLocks/>
          </p:cNvCxnSpPr>
          <p:nvPr/>
        </p:nvCxnSpPr>
        <p:spPr>
          <a:xfrm flipH="1">
            <a:off x="1783940" y="1696720"/>
            <a:ext cx="168062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323B21-327F-8E25-E402-31F577242967}"/>
              </a:ext>
            </a:extLst>
          </p:cNvPr>
          <p:cNvCxnSpPr>
            <a:cxnSpLocks/>
          </p:cNvCxnSpPr>
          <p:nvPr/>
        </p:nvCxnSpPr>
        <p:spPr>
          <a:xfrm flipH="1">
            <a:off x="1879600" y="1771932"/>
            <a:ext cx="420624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14504F-4817-8226-8A19-E6844BACD95B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5653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2E95868-C3C5-52D7-2588-7F7892BDBD5E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AEC044-3C39-F060-B490-22F690D144E8}"/>
              </a:ext>
            </a:extLst>
          </p:cNvPr>
          <p:cNvCxnSpPr>
            <a:cxnSpLocks/>
          </p:cNvCxnSpPr>
          <p:nvPr/>
        </p:nvCxnSpPr>
        <p:spPr>
          <a:xfrm flipH="1">
            <a:off x="1783940" y="1696720"/>
            <a:ext cx="7116028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E38FD06-8C1A-A455-7172-F7F35DCE356B}"/>
              </a:ext>
            </a:extLst>
          </p:cNvPr>
          <p:cNvSpPr txBox="1"/>
          <p:nvPr/>
        </p:nvSpPr>
        <p:spPr>
          <a:xfrm>
            <a:off x="8799420" y="2154836"/>
            <a:ext cx="2408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h(k) = (k * 7) % 7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7C8048-F002-A813-0901-88257FB3BBBE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300142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1EA8A7C-DEFC-4077-79E0-75B94BF2F876}"/>
              </a:ext>
            </a:extLst>
          </p:cNvPr>
          <p:cNvSpPr txBox="1"/>
          <p:nvPr/>
        </p:nvSpPr>
        <p:spPr>
          <a:xfrm>
            <a:off x="1209900" y="4297081"/>
            <a:ext cx="65929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h(k) = (k * 7) % 7 maps every key to the same index </a:t>
            </a:r>
            <a:r>
              <a:rPr lang="en-US" sz="2400" dirty="0">
                <a:sym typeface="Wingdings" pitchFamily="2" charset="2"/>
              </a:rPr>
              <a:t> </a:t>
            </a:r>
            <a:r>
              <a:rPr lang="en-US" sz="2400" dirty="0"/>
              <a:t>Every key is a collision</a:t>
            </a:r>
          </a:p>
        </p:txBody>
      </p:sp>
    </p:spTree>
    <p:extLst>
      <p:ext uri="{BB962C8B-B14F-4D97-AF65-F5344CB8AC3E}">
        <p14:creationId xmlns:p14="http://schemas.microsoft.com/office/powerpoint/2010/main" val="1861395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E295C-9E2F-0678-DDBD-10EE56D4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62360" cy="797178"/>
          </a:xfrm>
        </p:spPr>
        <p:txBody>
          <a:bodyPr>
            <a:normAutofit fontScale="90000"/>
          </a:bodyPr>
          <a:lstStyle/>
          <a:p>
            <a:r>
              <a:rPr lang="en-US" dirty="0"/>
              <a:t>Can a bad hash function cause more hash collisions?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CFEAF-BE33-3F7F-476E-AAFD0BFF5DFC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10215880" cy="493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Given D = {5: "str0", 4423: "str1", 4: "str2", 25: "str3", 1100: "str4", 26: "str5"}</a:t>
            </a:r>
          </a:p>
        </p:txBody>
      </p:sp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95A78BF4-8CD9-1ED4-587A-32C7DE570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635867"/>
              </p:ext>
            </p:extLst>
          </p:nvPr>
        </p:nvGraphicFramePr>
        <p:xfrm>
          <a:off x="1403096" y="3258387"/>
          <a:ext cx="523443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C459A6F9-150D-F39C-EB94-523DEC9DB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846602"/>
              </p:ext>
            </p:extLst>
          </p:nvPr>
        </p:nvGraphicFramePr>
        <p:xfrm>
          <a:off x="1403096" y="2879094"/>
          <a:ext cx="523443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047F6BF-7C85-127C-7478-6DBB7F851A2C}"/>
              </a:ext>
            </a:extLst>
          </p:cNvPr>
          <p:cNvCxnSpPr>
            <a:cxnSpLocks/>
          </p:cNvCxnSpPr>
          <p:nvPr/>
        </p:nvCxnSpPr>
        <p:spPr>
          <a:xfrm>
            <a:off x="2025587" y="1696720"/>
            <a:ext cx="2313233" cy="115835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B0E47D-3C13-7EDE-13D9-CF8FFA5EBE5F}"/>
              </a:ext>
            </a:extLst>
          </p:cNvPr>
          <p:cNvCxnSpPr>
            <a:cxnSpLocks/>
          </p:cNvCxnSpPr>
          <p:nvPr/>
        </p:nvCxnSpPr>
        <p:spPr>
          <a:xfrm>
            <a:off x="3464560" y="1696720"/>
            <a:ext cx="874260" cy="118237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323B21-327F-8E25-E402-31F577242967}"/>
              </a:ext>
            </a:extLst>
          </p:cNvPr>
          <p:cNvCxnSpPr>
            <a:cxnSpLocks/>
          </p:cNvCxnSpPr>
          <p:nvPr/>
        </p:nvCxnSpPr>
        <p:spPr>
          <a:xfrm flipH="1">
            <a:off x="4338820" y="1771932"/>
            <a:ext cx="1747020" cy="111561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14504F-4817-8226-8A19-E6844BACD95B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5653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2E95868-C3C5-52D7-2588-7F7892BDBD5E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AEC044-3C39-F060-B490-22F690D144E8}"/>
              </a:ext>
            </a:extLst>
          </p:cNvPr>
          <p:cNvCxnSpPr>
            <a:cxnSpLocks/>
          </p:cNvCxnSpPr>
          <p:nvPr/>
        </p:nvCxnSpPr>
        <p:spPr>
          <a:xfrm flipH="1">
            <a:off x="1783940" y="1696720"/>
            <a:ext cx="7116028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E38FD06-8C1A-A455-7172-F7F35DCE356B}"/>
              </a:ext>
            </a:extLst>
          </p:cNvPr>
          <p:cNvSpPr txBox="1"/>
          <p:nvPr/>
        </p:nvSpPr>
        <p:spPr>
          <a:xfrm>
            <a:off x="8799420" y="2154836"/>
            <a:ext cx="2408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h(x) = (x * 4) % 8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7C8048-F002-A813-0901-88257FB3BBBE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300142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1EA8A7C-DEFC-4077-79E0-75B94BF2F876}"/>
              </a:ext>
            </a:extLst>
          </p:cNvPr>
          <p:cNvSpPr txBox="1"/>
          <p:nvPr/>
        </p:nvSpPr>
        <p:spPr>
          <a:xfrm>
            <a:off x="1209900" y="4297081"/>
            <a:ext cx="65929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h(k) = (k * 4) % 8 maps keys to only two indices </a:t>
            </a:r>
          </a:p>
          <a:p>
            <a:r>
              <a:rPr lang="en-US" sz="2400" dirty="0">
                <a:sym typeface="Wingdings" pitchFamily="2" charset="2"/>
              </a:rPr>
              <a:t> </a:t>
            </a:r>
            <a:r>
              <a:rPr lang="en-US" sz="2400" dirty="0"/>
              <a:t>Still high probability of hash collision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E3263F-8F8D-7CAF-E80C-6EA8351D5439}"/>
              </a:ext>
            </a:extLst>
          </p:cNvPr>
          <p:cNvSpPr/>
          <p:nvPr/>
        </p:nvSpPr>
        <p:spPr>
          <a:xfrm>
            <a:off x="4038741" y="3325740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6386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32D3-C9F6-A7F9-4882-5708E079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a good hash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97405-168F-0E35-E3A9-ED4D36476E79}"/>
              </a:ext>
            </a:extLst>
          </p:cNvPr>
          <p:cNvSpPr txBox="1"/>
          <p:nvPr/>
        </p:nvSpPr>
        <p:spPr>
          <a:xfrm>
            <a:off x="2393155" y="1381760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0</a:t>
            </a:r>
            <a:r>
              <a:rPr lang="en-US" sz="2400" dirty="0"/>
              <a:t>, v</a:t>
            </a:r>
            <a:r>
              <a:rPr lang="en-US" sz="2400" baseline="-25000" dirty="0"/>
              <a:t>0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FB67C-1B2D-5570-EE63-D4F0ADB878F7}"/>
              </a:ext>
            </a:extLst>
          </p:cNvPr>
          <p:cNvSpPr txBox="1"/>
          <p:nvPr/>
        </p:nvSpPr>
        <p:spPr>
          <a:xfrm>
            <a:off x="3470975" y="134680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480ECB-8BB3-9B32-8A85-E56AAC28ECC9}"/>
              </a:ext>
            </a:extLst>
          </p:cNvPr>
          <p:cNvSpPr txBox="1"/>
          <p:nvPr/>
        </p:nvSpPr>
        <p:spPr>
          <a:xfrm>
            <a:off x="8214709" y="1381760"/>
            <a:ext cx="1343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n-1</a:t>
            </a:r>
            <a:r>
              <a:rPr lang="en-US" sz="2400" dirty="0"/>
              <a:t>, v</a:t>
            </a:r>
            <a:r>
              <a:rPr lang="en-US" sz="2400" baseline="-25000" dirty="0"/>
              <a:t>n-1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D784B8A5-010E-EB78-7866-CC42E2F7D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423449"/>
              </p:ext>
            </p:extLst>
          </p:nvPr>
        </p:nvGraphicFramePr>
        <p:xfrm>
          <a:off x="3495040" y="3182620"/>
          <a:ext cx="475488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402403-6067-6345-AD56-0FC9223A7C81}"/>
              </a:ext>
            </a:extLst>
          </p:cNvPr>
          <p:cNvSpPr txBox="1"/>
          <p:nvPr/>
        </p:nvSpPr>
        <p:spPr>
          <a:xfrm>
            <a:off x="4035481" y="1381759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(k</a:t>
            </a:r>
            <a:r>
              <a:rPr lang="en-US" sz="2400" baseline="-25000" dirty="0"/>
              <a:t>i</a:t>
            </a:r>
            <a:r>
              <a:rPr lang="en-US" sz="2400" dirty="0"/>
              <a:t>, v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9B4D5-2018-2904-6F33-C2AFB1DE40B9}"/>
              </a:ext>
            </a:extLst>
          </p:cNvPr>
          <p:cNvSpPr txBox="1"/>
          <p:nvPr/>
        </p:nvSpPr>
        <p:spPr>
          <a:xfrm>
            <a:off x="6821511" y="137556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50C169-957A-86B0-47E3-67288E7B96F9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4479674" y="1843424"/>
            <a:ext cx="368041" cy="877530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02D4B3-593F-1777-87F8-261C22FF5644}"/>
              </a:ext>
            </a:extLst>
          </p:cNvPr>
          <p:cNvSpPr txBox="1"/>
          <p:nvPr/>
        </p:nvSpPr>
        <p:spPr>
          <a:xfrm>
            <a:off x="4488482" y="2720954"/>
            <a:ext cx="718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h(k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  <a:endParaRPr lang="en-US" sz="24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AD219B-7966-A854-6D82-6E3A97BB34EB}"/>
              </a:ext>
            </a:extLst>
          </p:cNvPr>
          <p:cNvSpPr txBox="1"/>
          <p:nvPr/>
        </p:nvSpPr>
        <p:spPr>
          <a:xfrm>
            <a:off x="7887065" y="272095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m-1</a:t>
            </a:r>
            <a:endParaRPr lang="en-US" sz="2400" baseline="-25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7A316-9FCC-3236-BA59-41E1AA0F3A25}"/>
              </a:ext>
            </a:extLst>
          </p:cNvPr>
          <p:cNvSpPr/>
          <p:nvPr/>
        </p:nvSpPr>
        <p:spPr>
          <a:xfrm>
            <a:off x="2393155" y="1346800"/>
            <a:ext cx="7165192" cy="5982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45E8C2-891D-5770-BC55-D426A54D0778}"/>
              </a:ext>
            </a:extLst>
          </p:cNvPr>
          <p:cNvSpPr txBox="1"/>
          <p:nvPr/>
        </p:nvSpPr>
        <p:spPr>
          <a:xfrm>
            <a:off x="4902947" y="1375567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…</a:t>
            </a:r>
            <a:endParaRPr lang="en-US" sz="2400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54681B-1FAB-7147-39CF-8173598B8476}"/>
              </a:ext>
            </a:extLst>
          </p:cNvPr>
          <p:cNvSpPr txBox="1"/>
          <p:nvPr/>
        </p:nvSpPr>
        <p:spPr>
          <a:xfrm>
            <a:off x="1401033" y="2951785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hash_table</a:t>
            </a:r>
            <a:r>
              <a:rPr lang="en-US" sz="2400" dirty="0"/>
              <a:t> of </a:t>
            </a:r>
            <a:r>
              <a:rPr lang="en-US" sz="2400" b="1" dirty="0"/>
              <a:t>m</a:t>
            </a:r>
            <a:r>
              <a:rPr lang="en-US" sz="2400" dirty="0"/>
              <a:t> indices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A3586F-E882-00BF-EDC0-8562EBBD137A}"/>
              </a:ext>
            </a:extLst>
          </p:cNvPr>
          <p:cNvSpPr txBox="1"/>
          <p:nvPr/>
        </p:nvSpPr>
        <p:spPr>
          <a:xfrm>
            <a:off x="350657" y="1296154"/>
            <a:ext cx="1844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Dictionary of </a:t>
            </a:r>
            <a:r>
              <a:rPr lang="en-US" sz="2400" b="1" dirty="0"/>
              <a:t>n </a:t>
            </a:r>
            <a:r>
              <a:rPr lang="en-US" sz="2400" dirty="0"/>
              <a:t>keys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17A5E2-6CB2-C787-72CD-D5017005485C}"/>
              </a:ext>
            </a:extLst>
          </p:cNvPr>
          <p:cNvSpPr txBox="1"/>
          <p:nvPr/>
        </p:nvSpPr>
        <p:spPr>
          <a:xfrm>
            <a:off x="3836149" y="2141047"/>
            <a:ext cx="4213013" cy="461665"/>
          </a:xfrm>
          <a:prstGeom prst="rect">
            <a:avLst/>
          </a:prstGeom>
          <a:solidFill>
            <a:schemeClr val="bg1">
              <a:alpha val="38058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Hash function h(k) = (a * k) % 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45F763-2C88-21F7-F982-1F8AF3FF772E}"/>
              </a:ext>
            </a:extLst>
          </p:cNvPr>
          <p:cNvSpPr txBox="1"/>
          <p:nvPr/>
        </p:nvSpPr>
        <p:spPr>
          <a:xfrm>
            <a:off x="3300896" y="272095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0</a:t>
            </a:r>
            <a:endParaRPr lang="en-US" sz="2400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08474E-ABF4-0341-A2D1-FFA0082CC13E}"/>
              </a:ext>
            </a:extLst>
          </p:cNvPr>
          <p:cNvSpPr txBox="1"/>
          <p:nvPr/>
        </p:nvSpPr>
        <p:spPr>
          <a:xfrm>
            <a:off x="604657" y="3948384"/>
            <a:ext cx="8783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Ideally, h(k) should map h to a random index in {0, …, m-1} (WHY?)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747000-F347-CDCA-68FF-0E32DACB5776}"/>
              </a:ext>
            </a:extLst>
          </p:cNvPr>
          <p:cNvSpPr txBox="1"/>
          <p:nvPr/>
        </p:nvSpPr>
        <p:spPr>
          <a:xfrm>
            <a:off x="604657" y="5101879"/>
            <a:ext cx="85266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But we can't use a real random mapping as hash function. (WHY?)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6878CF-BE8F-3A80-E131-4F870F34239B}"/>
              </a:ext>
            </a:extLst>
          </p:cNvPr>
          <p:cNvSpPr txBox="1"/>
          <p:nvPr/>
        </p:nvSpPr>
        <p:spPr>
          <a:xfrm>
            <a:off x="604657" y="5668579"/>
            <a:ext cx="7868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Pseudorandom: h(k) = (a * k) % m, a and m are coprime. </a:t>
            </a:r>
          </a:p>
          <a:p>
            <a:pPr lvl="1"/>
            <a:r>
              <a:rPr lang="en-US" sz="2000" dirty="0"/>
              <a:t>Ex. (k * 4) % 8 is not good: 4 and 8 are not coprime.</a:t>
            </a:r>
          </a:p>
          <a:p>
            <a:pPr lvl="1"/>
            <a:r>
              <a:rPr lang="en-US" sz="2000" dirty="0"/>
              <a:t>Ex. (k * 7) % 11 is good: 7 and 11 are coprime.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ECBE6F-52EC-5BCC-72CB-4D5D4A5B5133}"/>
              </a:ext>
            </a:extLst>
          </p:cNvPr>
          <p:cNvSpPr txBox="1"/>
          <p:nvPr/>
        </p:nvSpPr>
        <p:spPr>
          <a:xfrm>
            <a:off x="604657" y="4421842"/>
            <a:ext cx="8391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This reduces the hash collision prob between any two keys to 1/m</a:t>
            </a:r>
          </a:p>
        </p:txBody>
      </p:sp>
    </p:spTree>
    <p:extLst>
      <p:ext uri="{BB962C8B-B14F-4D97-AF65-F5344CB8AC3E}">
        <p14:creationId xmlns:p14="http://schemas.microsoft.com/office/powerpoint/2010/main" val="262886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CA31-0AE4-7DE9-54B9-7EE8A5366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19B1C-C964-3A0D-9299-DFDB97B3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handle hash collisions?</a:t>
            </a:r>
          </a:p>
          <a:p>
            <a:endParaRPr lang="en-US" dirty="0"/>
          </a:p>
          <a:p>
            <a:r>
              <a:rPr lang="en-US" dirty="0"/>
              <a:t>How to reduce hash collisions?</a:t>
            </a:r>
          </a:p>
          <a:p>
            <a:endParaRPr lang="en-US" dirty="0"/>
          </a:p>
          <a:p>
            <a:r>
              <a:rPr lang="en-US" b="1" dirty="0"/>
              <a:t>How to handle non-integer keys?</a:t>
            </a:r>
          </a:p>
        </p:txBody>
      </p:sp>
    </p:spTree>
    <p:extLst>
      <p:ext uri="{BB962C8B-B14F-4D97-AF65-F5344CB8AC3E}">
        <p14:creationId xmlns:p14="http://schemas.microsoft.com/office/powerpoint/2010/main" val="3195003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BA57-5453-7BF2-EB85-38C8BC34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String Keys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C20B3F-A31A-EA8A-2ED5-5879570F57FE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11292840" cy="493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Given D = {"</a:t>
            </a:r>
            <a:r>
              <a:rPr lang="en-US" dirty="0" err="1"/>
              <a:t>adam</a:t>
            </a:r>
            <a:r>
              <a:rPr lang="en-US" dirty="0"/>
              <a:t>": "val0", "</a:t>
            </a:r>
            <a:r>
              <a:rPr lang="en-US" dirty="0" err="1"/>
              <a:t>andrew</a:t>
            </a:r>
            <a:r>
              <a:rPr lang="en-US" dirty="0"/>
              <a:t>": " val1", "</a:t>
            </a:r>
            <a:r>
              <a:rPr lang="en-US" dirty="0" err="1"/>
              <a:t>alice</a:t>
            </a:r>
            <a:r>
              <a:rPr lang="en-US" dirty="0"/>
              <a:t>": "val2", "</a:t>
            </a:r>
            <a:r>
              <a:rPr lang="en-US" dirty="0" err="1"/>
              <a:t>lara</a:t>
            </a:r>
            <a:r>
              <a:rPr lang="en-US" dirty="0"/>
              <a:t>": "val3", "bob": "val4"}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B76ACF37-C7F9-44CE-A2CF-E0871B9EC1C7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2CC85DFB-BA48-C84B-AE7B-A6401B0FFC8B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084BEE-DF06-C035-8F89-25BF37128A07}"/>
              </a:ext>
            </a:extLst>
          </p:cNvPr>
          <p:cNvCxnSpPr>
            <a:cxnSpLocks/>
          </p:cNvCxnSpPr>
          <p:nvPr/>
        </p:nvCxnSpPr>
        <p:spPr>
          <a:xfrm>
            <a:off x="2326640" y="1771932"/>
            <a:ext cx="704088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E78B3B-E819-DFAB-1E35-B48567DAAF86}"/>
              </a:ext>
            </a:extLst>
          </p:cNvPr>
          <p:cNvCxnSpPr>
            <a:cxnSpLocks/>
          </p:cNvCxnSpPr>
          <p:nvPr/>
        </p:nvCxnSpPr>
        <p:spPr>
          <a:xfrm>
            <a:off x="4409440" y="1696720"/>
            <a:ext cx="1894840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ADA057-4407-ACF7-8261-B2496569D90E}"/>
              </a:ext>
            </a:extLst>
          </p:cNvPr>
          <p:cNvCxnSpPr>
            <a:cxnSpLocks/>
          </p:cNvCxnSpPr>
          <p:nvPr/>
        </p:nvCxnSpPr>
        <p:spPr>
          <a:xfrm>
            <a:off x="8242808" y="1771932"/>
            <a:ext cx="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0DA761-8952-A6E5-9CF5-9EC0ED5116F8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4637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3C37CA0-11F8-DD67-FDC9-50DFF03A0C42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F30B1B-74EC-263C-C0BF-10A9E077A15B}"/>
              </a:ext>
            </a:extLst>
          </p:cNvPr>
          <p:cNvSpPr/>
          <p:nvPr/>
        </p:nvSpPr>
        <p:spPr>
          <a:xfrm>
            <a:off x="273792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821245-9846-A8E8-21AD-69D1A430C7CC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27AA21-539E-E3DB-F811-3D65C5A0277D}"/>
              </a:ext>
            </a:extLst>
          </p:cNvPr>
          <p:cNvSpPr/>
          <p:nvPr/>
        </p:nvSpPr>
        <p:spPr>
          <a:xfrm>
            <a:off x="796231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1C926A7-0CC2-C6C4-3C69-614A52A3B793}"/>
              </a:ext>
            </a:extLst>
          </p:cNvPr>
          <p:cNvCxnSpPr>
            <a:cxnSpLocks/>
          </p:cNvCxnSpPr>
          <p:nvPr/>
        </p:nvCxnSpPr>
        <p:spPr>
          <a:xfrm flipH="1">
            <a:off x="6958211" y="1696720"/>
            <a:ext cx="3018909" cy="117985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50D9570-F810-A9FC-726B-F216106BDD07}"/>
              </a:ext>
            </a:extLst>
          </p:cNvPr>
          <p:cNvCxnSpPr>
            <a:cxnSpLocks/>
          </p:cNvCxnSpPr>
          <p:nvPr/>
        </p:nvCxnSpPr>
        <p:spPr>
          <a:xfrm>
            <a:off x="4785360" y="1771932"/>
            <a:ext cx="87376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FAB3DF4-8B60-E49C-FBC1-1268CB6D3205}"/>
              </a:ext>
            </a:extLst>
          </p:cNvPr>
          <p:cNvSpPr/>
          <p:nvPr/>
        </p:nvSpPr>
        <p:spPr>
          <a:xfrm>
            <a:off x="5364603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3850D46-A973-B2FB-E851-AAE2D07D25E4}"/>
              </a:ext>
            </a:extLst>
          </p:cNvPr>
          <p:cNvSpPr/>
          <p:nvPr/>
        </p:nvSpPr>
        <p:spPr>
          <a:xfrm>
            <a:off x="6658132" y="3322115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9C91E-C70C-06A2-5BEB-DC642B46E704}"/>
              </a:ext>
            </a:extLst>
          </p:cNvPr>
          <p:cNvSpPr txBox="1"/>
          <p:nvPr/>
        </p:nvSpPr>
        <p:spPr>
          <a:xfrm>
            <a:off x="740122" y="4308901"/>
            <a:ext cx="7537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example, use the </a:t>
            </a:r>
            <a:r>
              <a:rPr lang="en-US" sz="2400" b="1" dirty="0"/>
              <a:t>first character </a:t>
            </a:r>
            <a:r>
              <a:rPr lang="en-US" sz="2400" dirty="0"/>
              <a:t>as the hash index </a:t>
            </a:r>
          </a:p>
          <a:p>
            <a:pPr lvl="1"/>
            <a:r>
              <a:rPr lang="en-US" sz="2400" dirty="0"/>
              <a:t>The indices are between 0 and 255 (WHY?)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EA2E09C-6022-0B65-0863-51A320F7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810" y="1916113"/>
            <a:ext cx="1815158" cy="427736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463DF35-5D13-B462-C9B5-2D0677DAFFE3}"/>
              </a:ext>
            </a:extLst>
          </p:cNvPr>
          <p:cNvSpPr txBox="1"/>
          <p:nvPr/>
        </p:nvSpPr>
        <p:spPr>
          <a:xfrm>
            <a:off x="756920" y="5213821"/>
            <a:ext cx="6571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/>
              <a:t>Is using the 1st char as hash index a good idea?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5CCBF2-0076-27B0-F08A-5E72262A4A5B}"/>
              </a:ext>
            </a:extLst>
          </p:cNvPr>
          <p:cNvSpPr txBox="1"/>
          <p:nvPr/>
        </p:nvSpPr>
        <p:spPr>
          <a:xfrm>
            <a:off x="757242" y="5703047"/>
            <a:ext cx="720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Wingdings" pitchFamily="2" charset="2"/>
              </a:rPr>
              <a:t>No… Much more collisions on some indices than others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42E9F6-CC53-0C4E-DEE4-8EE952ED10B6}"/>
              </a:ext>
            </a:extLst>
          </p:cNvPr>
          <p:cNvSpPr txBox="1"/>
          <p:nvPr/>
        </p:nvSpPr>
        <p:spPr>
          <a:xfrm>
            <a:off x="8262389" y="6213615"/>
            <a:ext cx="4013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Frequency as the first char of a word</a:t>
            </a:r>
          </a:p>
          <a:p>
            <a:pPr algn="ctr"/>
            <a:r>
              <a:rPr lang="en-US" sz="1400" dirty="0"/>
              <a:t>(</a:t>
            </a:r>
            <a:r>
              <a:rPr lang="en-US" sz="1400" dirty="0">
                <a:hlinkClick r:id="rId3"/>
              </a:rPr>
              <a:t>https://en.wikipedia.org/wiki/Letter_frequency</a:t>
            </a:r>
            <a:r>
              <a:rPr lang="en-US" sz="1400" dirty="0"/>
              <a:t>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13AE35-6BDD-1D29-1A7D-E484994BD904}"/>
              </a:ext>
            </a:extLst>
          </p:cNvPr>
          <p:cNvSpPr txBox="1"/>
          <p:nvPr/>
        </p:nvSpPr>
        <p:spPr>
          <a:xfrm>
            <a:off x="2066227" y="2103544"/>
            <a:ext cx="691521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h(x) can be a function that maps a string x to an index</a:t>
            </a:r>
          </a:p>
        </p:txBody>
      </p:sp>
    </p:spTree>
    <p:extLst>
      <p:ext uri="{BB962C8B-B14F-4D97-AF65-F5344CB8AC3E}">
        <p14:creationId xmlns:p14="http://schemas.microsoft.com/office/powerpoint/2010/main" val="156759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9" grpId="0" animBg="1"/>
      <p:bldP spid="35" grpId="0" animBg="1"/>
      <p:bldP spid="37" grpId="0"/>
      <p:bldP spid="39" grpId="0"/>
      <p:bldP spid="40" grpId="0"/>
      <p:bldP spid="41" grpId="0"/>
      <p:bldP spid="4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BA57-5453-7BF2-EB85-38C8BC34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String Keys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CD9C91E-C70C-06A2-5BEB-DC642B46E704}"/>
              </a:ext>
            </a:extLst>
          </p:cNvPr>
          <p:cNvSpPr txBox="1"/>
          <p:nvPr/>
        </p:nvSpPr>
        <p:spPr>
          <a:xfrm>
            <a:off x="864704" y="4492272"/>
            <a:ext cx="7097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better hash function for string:</a:t>
            </a:r>
          </a:p>
          <a:p>
            <a:pPr lvl="1"/>
            <a:r>
              <a:rPr lang="en-US" sz="2400" dirty="0"/>
              <a:t>Benefit: It uses all characters, not just the first one.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DB391-A4A4-AB57-CA37-09AB40603335}"/>
              </a:ext>
            </a:extLst>
          </p:cNvPr>
          <p:cNvSpPr txBox="1"/>
          <p:nvPr/>
        </p:nvSpPr>
        <p:spPr>
          <a:xfrm>
            <a:off x="8141208" y="4307606"/>
            <a:ext cx="3270447" cy="18466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hash(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*key)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(key[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!=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h += 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 key[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++];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 % HASH_SIZE;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70FF092-5523-B6FF-4B12-E38E516051A8}"/>
              </a:ext>
            </a:extLst>
          </p:cNvPr>
          <p:cNvSpPr txBox="1">
            <a:spLocks/>
          </p:cNvSpPr>
          <p:nvPr/>
        </p:nvSpPr>
        <p:spPr>
          <a:xfrm>
            <a:off x="421640" y="1341691"/>
            <a:ext cx="11292840" cy="493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Given D = {"</a:t>
            </a:r>
            <a:r>
              <a:rPr lang="en-US" dirty="0" err="1"/>
              <a:t>adam</a:t>
            </a:r>
            <a:r>
              <a:rPr lang="en-US" dirty="0"/>
              <a:t>": "val0", "</a:t>
            </a:r>
            <a:r>
              <a:rPr lang="en-US" dirty="0" err="1"/>
              <a:t>andrew</a:t>
            </a:r>
            <a:r>
              <a:rPr lang="en-US" dirty="0"/>
              <a:t>": " val1", "</a:t>
            </a:r>
            <a:r>
              <a:rPr lang="en-US" dirty="0" err="1"/>
              <a:t>alice</a:t>
            </a:r>
            <a:r>
              <a:rPr lang="en-US" dirty="0"/>
              <a:t>": "val2", "</a:t>
            </a:r>
            <a:r>
              <a:rPr lang="en-US" dirty="0" err="1"/>
              <a:t>lara</a:t>
            </a:r>
            <a:r>
              <a:rPr lang="en-US" dirty="0"/>
              <a:t>": "val3", "bob": "val4"}</a:t>
            </a:r>
          </a:p>
        </p:txBody>
      </p:sp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93F40C77-D645-0B5C-F312-B19801A91E4D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3258387"/>
          <a:ext cx="719734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graphicFrame>
        <p:nvGraphicFramePr>
          <p:cNvPr id="18" name="Table 10">
            <a:extLst>
              <a:ext uri="{FF2B5EF4-FFF2-40B4-BE49-F238E27FC236}">
                <a16:creationId xmlns:a16="http://schemas.microsoft.com/office/drawing/2014/main" id="{2CE555E3-8FB6-A5A8-2D36-A310150CA317}"/>
              </a:ext>
            </a:extLst>
          </p:cNvPr>
          <p:cNvGraphicFramePr>
            <a:graphicFrameLocks noGrp="1"/>
          </p:cNvGraphicFramePr>
          <p:nvPr/>
        </p:nvGraphicFramePr>
        <p:xfrm>
          <a:off x="1403096" y="2879094"/>
          <a:ext cx="7197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4304">
                  <a:extLst>
                    <a:ext uri="{9D8B030D-6E8A-4147-A177-3AD203B41FA5}">
                      <a16:colId xmlns:a16="http://schemas.microsoft.com/office/drawing/2014/main" val="219880762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65667718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94528185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212936888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968402042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317669321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65582374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1132461860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3048498233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2078390604"/>
                    </a:ext>
                  </a:extLst>
                </a:gridCol>
                <a:gridCol w="654304">
                  <a:extLst>
                    <a:ext uri="{9D8B030D-6E8A-4147-A177-3AD203B41FA5}">
                      <a16:colId xmlns:a16="http://schemas.microsoft.com/office/drawing/2014/main" val="4252822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851371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A6A3EB-C385-C6C5-D2E6-8DA77D069FD1}"/>
              </a:ext>
            </a:extLst>
          </p:cNvPr>
          <p:cNvCxnSpPr>
            <a:cxnSpLocks/>
          </p:cNvCxnSpPr>
          <p:nvPr/>
        </p:nvCxnSpPr>
        <p:spPr>
          <a:xfrm>
            <a:off x="2326640" y="1771932"/>
            <a:ext cx="704088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87A952-BF3A-B697-2C65-C69F78E1AA31}"/>
              </a:ext>
            </a:extLst>
          </p:cNvPr>
          <p:cNvCxnSpPr>
            <a:cxnSpLocks/>
          </p:cNvCxnSpPr>
          <p:nvPr/>
        </p:nvCxnSpPr>
        <p:spPr>
          <a:xfrm>
            <a:off x="4409440" y="1696720"/>
            <a:ext cx="1894840" cy="1194275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4CEE0E-8BBE-CF31-D713-6EB0F972625C}"/>
              </a:ext>
            </a:extLst>
          </p:cNvPr>
          <p:cNvCxnSpPr>
            <a:cxnSpLocks/>
          </p:cNvCxnSpPr>
          <p:nvPr/>
        </p:nvCxnSpPr>
        <p:spPr>
          <a:xfrm>
            <a:off x="8242808" y="1771932"/>
            <a:ext cx="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B710BE0-DF42-CD1B-AB96-5FE1A56DF479}"/>
              </a:ext>
            </a:extLst>
          </p:cNvPr>
          <p:cNvCxnSpPr>
            <a:cxnSpLocks/>
          </p:cNvCxnSpPr>
          <p:nvPr/>
        </p:nvCxnSpPr>
        <p:spPr>
          <a:xfrm flipH="1">
            <a:off x="1783940" y="1771932"/>
            <a:ext cx="4637180" cy="108314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F3320CF-97CB-3594-CE2E-5F9DB30BE9CB}"/>
              </a:ext>
            </a:extLst>
          </p:cNvPr>
          <p:cNvSpPr/>
          <p:nvPr/>
        </p:nvSpPr>
        <p:spPr>
          <a:xfrm>
            <a:off x="1425428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525055-4BCF-F407-F084-9508BED57479}"/>
              </a:ext>
            </a:extLst>
          </p:cNvPr>
          <p:cNvSpPr/>
          <p:nvPr/>
        </p:nvSpPr>
        <p:spPr>
          <a:xfrm>
            <a:off x="2737926" y="3294396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486799-2918-96D7-F41B-2C6FEF14F403}"/>
              </a:ext>
            </a:extLst>
          </p:cNvPr>
          <p:cNvSpPr/>
          <p:nvPr/>
        </p:nvSpPr>
        <p:spPr>
          <a:xfrm>
            <a:off x="6004200" y="3330973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1833FE-C764-F952-843A-87CB5CD3C31B}"/>
              </a:ext>
            </a:extLst>
          </p:cNvPr>
          <p:cNvSpPr/>
          <p:nvPr/>
        </p:nvSpPr>
        <p:spPr>
          <a:xfrm>
            <a:off x="7962310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12A9768-3AAB-7EE0-F6F3-A3AE66B7FCA6}"/>
              </a:ext>
            </a:extLst>
          </p:cNvPr>
          <p:cNvCxnSpPr>
            <a:cxnSpLocks/>
          </p:cNvCxnSpPr>
          <p:nvPr/>
        </p:nvCxnSpPr>
        <p:spPr>
          <a:xfrm flipH="1">
            <a:off x="6958211" y="1696720"/>
            <a:ext cx="3018909" cy="1179854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8FE325A-E1F3-2F50-D697-C87D9C166367}"/>
              </a:ext>
            </a:extLst>
          </p:cNvPr>
          <p:cNvCxnSpPr>
            <a:cxnSpLocks/>
          </p:cNvCxnSpPr>
          <p:nvPr/>
        </p:nvCxnSpPr>
        <p:spPr>
          <a:xfrm>
            <a:off x="4785360" y="1771932"/>
            <a:ext cx="873760" cy="1119063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13DF668-5734-2011-4F3C-709CD2A6D447}"/>
              </a:ext>
            </a:extLst>
          </p:cNvPr>
          <p:cNvSpPr/>
          <p:nvPr/>
        </p:nvSpPr>
        <p:spPr>
          <a:xfrm>
            <a:off x="5364603" y="3314951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DA22B0-538F-1612-7214-4F14A2097976}"/>
              </a:ext>
            </a:extLst>
          </p:cNvPr>
          <p:cNvSpPr/>
          <p:nvPr/>
        </p:nvSpPr>
        <p:spPr>
          <a:xfrm>
            <a:off x="6658132" y="3322115"/>
            <a:ext cx="600159" cy="243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81E8A0-C1C8-196D-698E-117306047608}"/>
              </a:ext>
            </a:extLst>
          </p:cNvPr>
          <p:cNvSpPr txBox="1"/>
          <p:nvPr/>
        </p:nvSpPr>
        <p:spPr>
          <a:xfrm>
            <a:off x="2066227" y="2103544"/>
            <a:ext cx="691521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h(x) can be a function that maps a string x to an index</a:t>
            </a:r>
          </a:p>
        </p:txBody>
      </p:sp>
    </p:spTree>
    <p:extLst>
      <p:ext uri="{BB962C8B-B14F-4D97-AF65-F5344CB8AC3E}">
        <p14:creationId xmlns:p14="http://schemas.microsoft.com/office/powerpoint/2010/main" val="1033647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CA79-54AB-80E2-7CB2-182BFAC03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 String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5DBC1-8778-0B6E-ABB6-D3ECEF6F3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11175088" cy="4835273"/>
          </a:xfrm>
        </p:spPr>
        <p:txBody>
          <a:bodyPr/>
          <a:lstStyle/>
          <a:p>
            <a:r>
              <a:rPr lang="en-US" dirty="0"/>
              <a:t>How to handle collisions with string keys?</a:t>
            </a:r>
          </a:p>
          <a:p>
            <a:endParaRPr lang="en-US" dirty="0"/>
          </a:p>
          <a:p>
            <a:r>
              <a:rPr lang="en-US" dirty="0"/>
              <a:t>Same way as integer keys</a:t>
            </a:r>
          </a:p>
          <a:p>
            <a:pPr lvl="1"/>
            <a:r>
              <a:rPr lang="en-US" dirty="0"/>
              <a:t>Once a key (integer, string, float, double, </a:t>
            </a:r>
            <a:r>
              <a:rPr lang="en-US" dirty="0" err="1"/>
              <a:t>etc</a:t>
            </a:r>
            <a:r>
              <a:rPr lang="en-US" dirty="0"/>
              <a:t>) is mapped to a hash index, everything else is virtually the same.</a:t>
            </a:r>
          </a:p>
        </p:txBody>
      </p:sp>
    </p:spTree>
    <p:extLst>
      <p:ext uri="{BB962C8B-B14F-4D97-AF65-F5344CB8AC3E}">
        <p14:creationId xmlns:p14="http://schemas.microsoft.com/office/powerpoint/2010/main" val="10268369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B792-56B1-5021-3342-F78D1BF3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5898"/>
          </a:xfrm>
        </p:spPr>
        <p:txBody>
          <a:bodyPr>
            <a:normAutofit fontScale="90000"/>
          </a:bodyPr>
          <a:lstStyle/>
          <a:p>
            <a:r>
              <a:rPr lang="en-US" dirty="0"/>
              <a:t>Integer-Key Hash Table vs. String-Key Hash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21D62-BC46-36AC-706E-2D7B7A2263B2}"/>
              </a:ext>
            </a:extLst>
          </p:cNvPr>
          <p:cNvSpPr txBox="1"/>
          <p:nvPr/>
        </p:nvSpPr>
        <p:spPr>
          <a:xfrm>
            <a:off x="682763" y="1985903"/>
            <a:ext cx="3996287" cy="149271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5760" rtlCol="0">
            <a:spAutoFit/>
          </a:bodyPr>
          <a:lstStyle/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pair{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key;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item{pair *pr; item *next;};</a:t>
            </a: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hash(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 *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7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% SIZE;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A9B99-FE3F-C700-CA0B-8A7AB39700E7}"/>
              </a:ext>
            </a:extLst>
          </p:cNvPr>
          <p:cNvSpPr txBox="1"/>
          <p:nvPr/>
        </p:nvSpPr>
        <p:spPr>
          <a:xfrm>
            <a:off x="682762" y="1993607"/>
            <a:ext cx="273725" cy="14927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rtlCol="0">
            <a:noAutofit/>
          </a:bodyPr>
          <a:lstStyle/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4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5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6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7</a:t>
            </a:r>
          </a:p>
          <a:p>
            <a:pPr algn="r"/>
            <a:endParaRPr lang="en-US" sz="1300" dirty="0">
              <a:solidFill>
                <a:schemeClr val="accent2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EC890-3CC2-F66E-9282-38C1782B3E1C}"/>
              </a:ext>
            </a:extLst>
          </p:cNvPr>
          <p:cNvSpPr txBox="1"/>
          <p:nvPr/>
        </p:nvSpPr>
        <p:spPr>
          <a:xfrm>
            <a:off x="6860043" y="1993608"/>
            <a:ext cx="3996287" cy="20928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5760" rtlCol="0">
            <a:spAutoFit/>
          </a:bodyPr>
          <a:lstStyle/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pair{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*key;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;};</a:t>
            </a: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item{pair *pr; item *next;};</a:t>
            </a:r>
            <a:b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3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hash(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*key)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 =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(key[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!= </a:t>
            </a:r>
            <a:r>
              <a:rPr lang="en-US" sz="13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'\0'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h += (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)key[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++];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h % HASH_SIZE;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D7A747-0279-1D29-8343-C118841C33EE}"/>
              </a:ext>
            </a:extLst>
          </p:cNvPr>
          <p:cNvSpPr txBox="1"/>
          <p:nvPr/>
        </p:nvSpPr>
        <p:spPr>
          <a:xfrm>
            <a:off x="6860042" y="2001312"/>
            <a:ext cx="273725" cy="14927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rtlCol="0">
            <a:noAutofit/>
          </a:bodyPr>
          <a:lstStyle/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4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5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6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7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8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9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10</a:t>
            </a:r>
          </a:p>
          <a:p>
            <a:pPr algn="r"/>
            <a:endParaRPr lang="en-US" sz="1300" dirty="0">
              <a:solidFill>
                <a:schemeClr val="accent2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7D154A-1F3C-BC00-31A2-FD0E83B93703}"/>
              </a:ext>
            </a:extLst>
          </p:cNvPr>
          <p:cNvSpPr txBox="1"/>
          <p:nvPr/>
        </p:nvSpPr>
        <p:spPr>
          <a:xfrm>
            <a:off x="682763" y="4258754"/>
            <a:ext cx="4400244" cy="20928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5760" rtlCol="0">
            <a:spAutoFit/>
          </a:bodyPr>
          <a:lstStyle/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lookup(item **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key){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index = hash(key);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item *p =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(p)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(p-&gt;pr-&gt;key == key)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 = p-&gt;next;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6B7EC-E2FC-167D-E184-66E4FD323BC4}"/>
              </a:ext>
            </a:extLst>
          </p:cNvPr>
          <p:cNvSpPr txBox="1"/>
          <p:nvPr/>
        </p:nvSpPr>
        <p:spPr>
          <a:xfrm>
            <a:off x="682762" y="4266459"/>
            <a:ext cx="273725" cy="224610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rtlCol="0">
            <a:noAutofit/>
          </a:bodyPr>
          <a:lstStyle/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4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5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6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7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8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9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12FE9-D96D-9C2A-B708-E89649205014}"/>
              </a:ext>
            </a:extLst>
          </p:cNvPr>
          <p:cNvSpPr txBox="1"/>
          <p:nvPr/>
        </p:nvSpPr>
        <p:spPr>
          <a:xfrm>
            <a:off x="6860043" y="4258754"/>
            <a:ext cx="4602222" cy="20928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5760" rtlCol="0">
            <a:spAutoFit/>
          </a:bodyPr>
          <a:lstStyle/>
          <a:p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lookup(item **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*key){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index = hash(key);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item *p = 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hash_table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[index];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(p) {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</a:t>
            </a:r>
            <a:r>
              <a:rPr lang="en-US" sz="13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strcmp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(p-&gt;pr-&gt;key, key))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p = p-&gt;next;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3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3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3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3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7AD7ED-6262-2E9F-F30C-0524E1E3A2FB}"/>
              </a:ext>
            </a:extLst>
          </p:cNvPr>
          <p:cNvSpPr txBox="1"/>
          <p:nvPr/>
        </p:nvSpPr>
        <p:spPr>
          <a:xfrm>
            <a:off x="6860042" y="4266459"/>
            <a:ext cx="273725" cy="225744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rtlCol="0">
            <a:noAutofit/>
          </a:bodyPr>
          <a:lstStyle/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1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2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3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4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5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6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7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effectLst/>
                <a:latin typeface="Menlo" panose="020B0609030804020204" pitchFamily="49" charset="0"/>
              </a:rPr>
              <a:t>8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9</a:t>
            </a:r>
          </a:p>
          <a:p>
            <a:pPr algn="r"/>
            <a:r>
              <a:rPr lang="en-US" sz="1300" dirty="0">
                <a:solidFill>
                  <a:schemeClr val="accent2"/>
                </a:solidFill>
                <a:latin typeface="Menlo" panose="020B0609030804020204" pitchFamily="49" charset="0"/>
              </a:rPr>
              <a:t>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F3725D-6961-1C40-C170-E498D04735C2}"/>
              </a:ext>
            </a:extLst>
          </p:cNvPr>
          <p:cNvSpPr/>
          <p:nvPr/>
        </p:nvSpPr>
        <p:spPr>
          <a:xfrm flipV="1">
            <a:off x="2170841" y="2001312"/>
            <a:ext cx="966638" cy="225091"/>
          </a:xfrm>
          <a:prstGeom prst="rect">
            <a:avLst/>
          </a:prstGeom>
          <a:solidFill>
            <a:srgbClr val="C00000">
              <a:alpha val="19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5EC828-DBB0-5B2C-BFEA-5255E0D868BB}"/>
              </a:ext>
            </a:extLst>
          </p:cNvPr>
          <p:cNvSpPr/>
          <p:nvPr/>
        </p:nvSpPr>
        <p:spPr>
          <a:xfrm flipV="1">
            <a:off x="1851130" y="2619715"/>
            <a:ext cx="966638" cy="225091"/>
          </a:xfrm>
          <a:prstGeom prst="rect">
            <a:avLst/>
          </a:prstGeom>
          <a:solidFill>
            <a:srgbClr val="C00000">
              <a:alpha val="19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5642EE-D1D1-2E9B-2895-53D67E638C06}"/>
              </a:ext>
            </a:extLst>
          </p:cNvPr>
          <p:cNvSpPr/>
          <p:nvPr/>
        </p:nvSpPr>
        <p:spPr>
          <a:xfrm flipV="1">
            <a:off x="8395196" y="2022452"/>
            <a:ext cx="966638" cy="225091"/>
          </a:xfrm>
          <a:prstGeom prst="rect">
            <a:avLst/>
          </a:prstGeom>
          <a:solidFill>
            <a:srgbClr val="C00000">
              <a:alpha val="19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EA1AB6-1D16-1CBD-152C-59B728397855}"/>
              </a:ext>
            </a:extLst>
          </p:cNvPr>
          <p:cNvSpPr/>
          <p:nvPr/>
        </p:nvSpPr>
        <p:spPr>
          <a:xfrm flipV="1">
            <a:off x="8075485" y="2640855"/>
            <a:ext cx="966638" cy="225091"/>
          </a:xfrm>
          <a:prstGeom prst="rect">
            <a:avLst/>
          </a:prstGeom>
          <a:solidFill>
            <a:srgbClr val="C00000">
              <a:alpha val="19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F177B3-5411-FC59-0BA6-9365D7F36D1D}"/>
              </a:ext>
            </a:extLst>
          </p:cNvPr>
          <p:cNvSpPr/>
          <p:nvPr/>
        </p:nvSpPr>
        <p:spPr>
          <a:xfrm flipV="1">
            <a:off x="10202650" y="4286778"/>
            <a:ext cx="966638" cy="225091"/>
          </a:xfrm>
          <a:prstGeom prst="rect">
            <a:avLst/>
          </a:prstGeom>
          <a:solidFill>
            <a:srgbClr val="C00000">
              <a:alpha val="19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8FD851-530D-5822-C549-0E5C689D8879}"/>
              </a:ext>
            </a:extLst>
          </p:cNvPr>
          <p:cNvSpPr/>
          <p:nvPr/>
        </p:nvSpPr>
        <p:spPr>
          <a:xfrm flipV="1">
            <a:off x="7969978" y="5080103"/>
            <a:ext cx="2474501" cy="225090"/>
          </a:xfrm>
          <a:prstGeom prst="rect">
            <a:avLst/>
          </a:prstGeom>
          <a:solidFill>
            <a:srgbClr val="C00000">
              <a:alpha val="19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0113E7-DE73-0ACF-23F8-D7B086DD61F2}"/>
              </a:ext>
            </a:extLst>
          </p:cNvPr>
          <p:cNvSpPr/>
          <p:nvPr/>
        </p:nvSpPr>
        <p:spPr>
          <a:xfrm flipV="1">
            <a:off x="3952646" y="4297312"/>
            <a:ext cx="966638" cy="225091"/>
          </a:xfrm>
          <a:prstGeom prst="rect">
            <a:avLst/>
          </a:prstGeom>
          <a:solidFill>
            <a:srgbClr val="C00000">
              <a:alpha val="19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69A277-4B22-8737-DE9C-F76479976BBD}"/>
              </a:ext>
            </a:extLst>
          </p:cNvPr>
          <p:cNvSpPr/>
          <p:nvPr/>
        </p:nvSpPr>
        <p:spPr>
          <a:xfrm flipV="1">
            <a:off x="1598054" y="5090637"/>
            <a:ext cx="2474501" cy="225090"/>
          </a:xfrm>
          <a:prstGeom prst="rect">
            <a:avLst/>
          </a:prstGeom>
          <a:solidFill>
            <a:srgbClr val="C00000">
              <a:alpha val="19000"/>
            </a:srgb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8A109-EAD4-C46A-4908-F0F58703D40A}"/>
              </a:ext>
            </a:extLst>
          </p:cNvPr>
          <p:cNvSpPr txBox="1"/>
          <p:nvPr/>
        </p:nvSpPr>
        <p:spPr>
          <a:xfrm>
            <a:off x="838200" y="1497919"/>
            <a:ext cx="3616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 table code for int keys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EBBD16-738E-E60B-4E20-35A72189F9AB}"/>
              </a:ext>
            </a:extLst>
          </p:cNvPr>
          <p:cNvSpPr txBox="1"/>
          <p:nvPr/>
        </p:nvSpPr>
        <p:spPr>
          <a:xfrm>
            <a:off x="6803850" y="1465563"/>
            <a:ext cx="3988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Hash table code for string keys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AD00F9F7-6F86-67C4-3D86-8EAE91BBF01D}"/>
              </a:ext>
            </a:extLst>
          </p:cNvPr>
          <p:cNvSpPr/>
          <p:nvPr/>
        </p:nvSpPr>
        <p:spPr>
          <a:xfrm>
            <a:off x="5539918" y="2134997"/>
            <a:ext cx="721360" cy="1126749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207F8E14-526C-C4A0-8509-1F49B9918AAB}"/>
              </a:ext>
            </a:extLst>
          </p:cNvPr>
          <p:cNvSpPr/>
          <p:nvPr/>
        </p:nvSpPr>
        <p:spPr>
          <a:xfrm>
            <a:off x="5585568" y="4826135"/>
            <a:ext cx="721360" cy="1126749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9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  <p:bldP spid="20" grpId="0" animBg="1"/>
      <p:bldP spid="21" grpId="0" animBg="1"/>
      <p:bldP spid="23" grpId="0" animBg="1"/>
      <p:bldP spid="24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D944C-21AE-D5A2-ED96-02137E78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D351-9465-8AE1-7AF9-4960D09FE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handle hash collisions?</a:t>
            </a:r>
          </a:p>
          <a:p>
            <a:pPr lvl="1"/>
            <a:r>
              <a:rPr lang="en-US" dirty="0"/>
              <a:t>Idea 1: Separate chaining</a:t>
            </a:r>
          </a:p>
          <a:p>
            <a:pPr lvl="1"/>
            <a:r>
              <a:rPr lang="en-US" dirty="0"/>
              <a:t>Idea 2: Linear probing</a:t>
            </a:r>
          </a:p>
          <a:p>
            <a:endParaRPr lang="en-US" dirty="0"/>
          </a:p>
          <a:p>
            <a:r>
              <a:rPr lang="en-US" dirty="0"/>
              <a:t>How to reduce hash collisions?</a:t>
            </a:r>
          </a:p>
          <a:p>
            <a:pPr lvl="1"/>
            <a:r>
              <a:rPr lang="en-US" dirty="0"/>
              <a:t>Ideally, hash function should </a:t>
            </a:r>
            <a:r>
              <a:rPr lang="en-US" i="1" dirty="0"/>
              <a:t>appear </a:t>
            </a:r>
            <a:r>
              <a:rPr lang="en-US" dirty="0"/>
              <a:t>as a uniformly random mapping</a:t>
            </a:r>
          </a:p>
          <a:p>
            <a:endParaRPr lang="en-US" dirty="0"/>
          </a:p>
          <a:p>
            <a:r>
              <a:rPr lang="en-US" dirty="0"/>
              <a:t>How to handle non-integer keys?</a:t>
            </a:r>
          </a:p>
          <a:p>
            <a:pPr lvl="1"/>
            <a:r>
              <a:rPr lang="en-US" dirty="0"/>
              <a:t>If designed properly, a hash function can map </a:t>
            </a:r>
            <a:r>
              <a:rPr lang="en-US" i="1" dirty="0"/>
              <a:t>any</a:t>
            </a:r>
            <a:r>
              <a:rPr lang="en-US" dirty="0"/>
              <a:t> key to an index</a:t>
            </a:r>
          </a:p>
        </p:txBody>
      </p:sp>
    </p:spTree>
    <p:extLst>
      <p:ext uri="{BB962C8B-B14F-4D97-AF65-F5344CB8AC3E}">
        <p14:creationId xmlns:p14="http://schemas.microsoft.com/office/powerpoint/2010/main" val="185405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41060</TotalTime>
  <Words>3622</Words>
  <Application>Microsoft Macintosh PowerPoint</Application>
  <PresentationFormat>Widescreen</PresentationFormat>
  <Paragraphs>781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Menlo</vt:lpstr>
      <vt:lpstr>Wingdings</vt:lpstr>
      <vt:lpstr>Office Theme</vt:lpstr>
      <vt:lpstr>Hash Table (2)  CMSC 14300: System Programming I 21st Lecture</vt:lpstr>
      <vt:lpstr>Concepts Behind Hash Table</vt:lpstr>
      <vt:lpstr>Recap: Hashing Integer Keys (no hash collision)</vt:lpstr>
      <vt:lpstr>Recap: Hashing Integer Keys (no hash collision)</vt:lpstr>
      <vt:lpstr>Hashing Integer Keys (no hash collision)</vt:lpstr>
      <vt:lpstr>Procedure of Hash Table (no hash collision)</vt:lpstr>
      <vt:lpstr>Problem of hash collision</vt:lpstr>
      <vt:lpstr>Outline</vt:lpstr>
      <vt:lpstr>How to handle hash collisions?</vt:lpstr>
      <vt:lpstr>How to handle hash collisions: Separate Chaining</vt:lpstr>
      <vt:lpstr>Example: Separate Chaining</vt:lpstr>
      <vt:lpstr>Code: Insert a key-value pair</vt:lpstr>
      <vt:lpstr>Code: Lookup a key</vt:lpstr>
      <vt:lpstr>Problem of Separate Chaining</vt:lpstr>
      <vt:lpstr>Handling Hash Collision: Linear Probing</vt:lpstr>
      <vt:lpstr>Handling Hash Collision: Linear Probing</vt:lpstr>
      <vt:lpstr>Example: Linear Probing</vt:lpstr>
      <vt:lpstr>Example: Linear Probing</vt:lpstr>
      <vt:lpstr>Example: Linear Probing</vt:lpstr>
      <vt:lpstr>Outline</vt:lpstr>
      <vt:lpstr>Separate Chaining vs. Linear Probing</vt:lpstr>
      <vt:lpstr>Hash Collisions and Hash Function</vt:lpstr>
      <vt:lpstr>Can a bad hash function cause more hash collisions?</vt:lpstr>
      <vt:lpstr>Can a bad hash function cause more hash collisions?</vt:lpstr>
      <vt:lpstr>What's a good hash function</vt:lpstr>
      <vt:lpstr>Outline</vt:lpstr>
      <vt:lpstr>Hashing String Keys</vt:lpstr>
      <vt:lpstr>Hashing String Keys</vt:lpstr>
      <vt:lpstr>Hashing String Keys</vt:lpstr>
      <vt:lpstr>Integer-Key Hash Table vs. String-Key Hash Table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1342</cp:revision>
  <dcterms:created xsi:type="dcterms:W3CDTF">2023-03-12T16:00:37Z</dcterms:created>
  <dcterms:modified xsi:type="dcterms:W3CDTF">2023-05-13T20:10:22Z</dcterms:modified>
</cp:coreProperties>
</file>