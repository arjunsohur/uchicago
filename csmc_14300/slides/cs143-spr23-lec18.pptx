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8" r:id="rId3"/>
    <p:sldId id="293" r:id="rId4"/>
    <p:sldId id="294" r:id="rId5"/>
    <p:sldId id="295" r:id="rId6"/>
    <p:sldId id="284" r:id="rId7"/>
    <p:sldId id="297" r:id="rId8"/>
    <p:sldId id="268" r:id="rId9"/>
    <p:sldId id="315" r:id="rId10"/>
    <p:sldId id="263" r:id="rId11"/>
    <p:sldId id="313" r:id="rId12"/>
    <p:sldId id="298" r:id="rId13"/>
    <p:sldId id="301" r:id="rId14"/>
    <p:sldId id="303" r:id="rId15"/>
    <p:sldId id="304" r:id="rId16"/>
    <p:sldId id="302" r:id="rId17"/>
    <p:sldId id="305" r:id="rId18"/>
    <p:sldId id="307" r:id="rId19"/>
    <p:sldId id="306" r:id="rId20"/>
    <p:sldId id="308" r:id="rId21"/>
    <p:sldId id="309" r:id="rId22"/>
    <p:sldId id="310" r:id="rId23"/>
    <p:sldId id="317" r:id="rId24"/>
    <p:sldId id="318" r:id="rId25"/>
    <p:sldId id="314" r:id="rId26"/>
    <p:sldId id="312" r:id="rId27"/>
    <p:sldId id="300" r:id="rId28"/>
    <p:sldId id="266" r:id="rId29"/>
    <p:sldId id="269" r:id="rId30"/>
    <p:sldId id="270" r:id="rId31"/>
    <p:sldId id="271" r:id="rId32"/>
    <p:sldId id="265" r:id="rId33"/>
    <p:sldId id="262" r:id="rId34"/>
    <p:sldId id="257" r:id="rId35"/>
    <p:sldId id="316" r:id="rId36"/>
    <p:sldId id="29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3"/>
    <p:restoredTop sz="80958"/>
  </p:normalViewPr>
  <p:slideViewPr>
    <p:cSldViewPr snapToGrid="0">
      <p:cViewPr varScale="1">
        <p:scale>
          <a:sx n="120" d="100"/>
          <a:sy n="120" d="100"/>
        </p:scale>
        <p:origin x="-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pthread_t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6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1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7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 sz="4400" b="1" kern="0" dirty="0">
                <a:solidFill>
                  <a:schemeClr val="tx1"/>
                </a:solidFill>
                <a:latin typeface="Calibri" pitchFamily="34" charset="0"/>
              </a:rPr>
              <a:t>Thread 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18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984E-6525-5B0B-B52F-CF61F597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Function Pointers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6D73630-1BD6-2FD3-2A56-79364EEEE92F}"/>
              </a:ext>
            </a:extLst>
          </p:cNvPr>
          <p:cNvGrpSpPr/>
          <p:nvPr/>
        </p:nvGrpSpPr>
        <p:grpSpPr>
          <a:xfrm>
            <a:off x="2846169" y="1104635"/>
            <a:ext cx="1554536" cy="5695698"/>
            <a:chOff x="3147111" y="1139360"/>
            <a:chExt cx="1554536" cy="569569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17796A9-89CC-FADE-BBE0-5255D8BA94D2}"/>
                </a:ext>
              </a:extLst>
            </p:cNvPr>
            <p:cNvSpPr/>
            <p:nvPr/>
          </p:nvSpPr>
          <p:spPr>
            <a:xfrm>
              <a:off x="3265546" y="1476249"/>
              <a:ext cx="1318437" cy="9250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0F42AF0-8952-3747-E789-072BC488EDA1}"/>
                </a:ext>
              </a:extLst>
            </p:cNvPr>
            <p:cNvSpPr/>
            <p:nvPr/>
          </p:nvSpPr>
          <p:spPr>
            <a:xfrm>
              <a:off x="3265545" y="4216063"/>
              <a:ext cx="1318437" cy="528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B83C491C-61CA-3B56-7A94-85236DF035FC}"/>
                </a:ext>
              </a:extLst>
            </p:cNvPr>
            <p:cNvSpPr txBox="1"/>
            <p:nvPr/>
          </p:nvSpPr>
          <p:spPr>
            <a:xfrm>
              <a:off x="3254387" y="1430459"/>
              <a:ext cx="14020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bar</a:t>
              </a:r>
              <a:r>
                <a:rPr lang="en-US" sz="2000" b="1" dirty="0"/>
                <a:t>'s stack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023E8AE-7E26-8ADF-3A30-42AE1ED5EFA6}"/>
                </a:ext>
              </a:extLst>
            </p:cNvPr>
            <p:cNvSpPr txBox="1"/>
            <p:nvPr/>
          </p:nvSpPr>
          <p:spPr>
            <a:xfrm>
              <a:off x="3572247" y="4243657"/>
              <a:ext cx="7409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Heap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3CF4DB1-CAA2-714F-70FC-095E642A4FF1}"/>
                </a:ext>
              </a:extLst>
            </p:cNvPr>
            <p:cNvSpPr/>
            <p:nvPr/>
          </p:nvSpPr>
          <p:spPr>
            <a:xfrm>
              <a:off x="3265354" y="5277926"/>
              <a:ext cx="1318437" cy="15571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F0EDCA08-5DA5-0F53-ED5D-84DAAE814781}"/>
                </a:ext>
              </a:extLst>
            </p:cNvPr>
            <p:cNvCxnSpPr>
              <a:cxnSpLocks/>
              <a:stCxn id="140" idx="2"/>
            </p:cNvCxnSpPr>
            <p:nvPr/>
          </p:nvCxnSpPr>
          <p:spPr>
            <a:xfrm flipH="1">
              <a:off x="3925031" y="2855094"/>
              <a:ext cx="3414" cy="397316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97EB1EAB-51EA-17D0-EF34-F3921C61EE4F}"/>
                </a:ext>
              </a:extLst>
            </p:cNvPr>
            <p:cNvCxnSpPr>
              <a:cxnSpLocks/>
              <a:stCxn id="132" idx="0"/>
            </p:cNvCxnSpPr>
            <p:nvPr/>
          </p:nvCxnSpPr>
          <p:spPr>
            <a:xfrm flipV="1">
              <a:off x="3924764" y="3762249"/>
              <a:ext cx="1" cy="453814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A097886-4A57-0E56-18F1-C77B17C39D37}"/>
                </a:ext>
              </a:extLst>
            </p:cNvPr>
            <p:cNvSpPr/>
            <p:nvPr/>
          </p:nvSpPr>
          <p:spPr>
            <a:xfrm>
              <a:off x="3265161" y="1860050"/>
              <a:ext cx="1318437" cy="2424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 = </a:t>
              </a:r>
              <a:r>
                <a:rPr lang="en-US" dirty="0" err="1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func</a:t>
              </a:r>
              <a:endPara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FB10243-EB8C-F8C4-7191-C4B065AB220A}"/>
                </a:ext>
              </a:extLst>
            </p:cNvPr>
            <p:cNvSpPr/>
            <p:nvPr/>
          </p:nvSpPr>
          <p:spPr>
            <a:xfrm>
              <a:off x="3265161" y="5675907"/>
              <a:ext cx="1318437" cy="4638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func</a:t>
              </a: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()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319CFC2-7FB6-7158-4310-36982D743B74}"/>
                </a:ext>
              </a:extLst>
            </p:cNvPr>
            <p:cNvSpPr/>
            <p:nvPr/>
          </p:nvSpPr>
          <p:spPr>
            <a:xfrm>
              <a:off x="3269226" y="2394423"/>
              <a:ext cx="1318437" cy="4606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51C6C85-85A8-A3F3-0765-5177D5847AA1}"/>
                </a:ext>
              </a:extLst>
            </p:cNvPr>
            <p:cNvSpPr txBox="1"/>
            <p:nvPr/>
          </p:nvSpPr>
          <p:spPr>
            <a:xfrm>
              <a:off x="3147111" y="2414319"/>
              <a:ext cx="15545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f</a:t>
              </a:r>
              <a:r>
                <a:rPr lang="en-US" sz="2000" b="1" dirty="0"/>
                <a:t>'s stack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A6FDED5-CD88-BCBC-1A88-691D93E8BD26}"/>
                </a:ext>
              </a:extLst>
            </p:cNvPr>
            <p:cNvSpPr/>
            <p:nvPr/>
          </p:nvSpPr>
          <p:spPr>
            <a:xfrm>
              <a:off x="3269226" y="6243837"/>
              <a:ext cx="1318437" cy="4638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bar()</a:t>
              </a:r>
            </a:p>
          </p:txBody>
        </p:sp>
        <p:cxnSp>
          <p:nvCxnSpPr>
            <p:cNvPr id="143" name="Curved Connector 142">
              <a:extLst>
                <a:ext uri="{FF2B5EF4-FFF2-40B4-BE49-F238E27FC236}">
                  <a16:creationId xmlns:a16="http://schemas.microsoft.com/office/drawing/2014/main" id="{1956F527-1ED4-B100-B605-0FFD5FC03D53}"/>
                </a:ext>
              </a:extLst>
            </p:cNvPr>
            <p:cNvCxnSpPr>
              <a:cxnSpLocks/>
              <a:stCxn id="138" idx="3"/>
              <a:endCxn id="139" idx="3"/>
            </p:cNvCxnSpPr>
            <p:nvPr/>
          </p:nvCxnSpPr>
          <p:spPr>
            <a:xfrm>
              <a:off x="4583598" y="1981275"/>
              <a:ext cx="12700" cy="3926545"/>
            </a:xfrm>
            <a:prstGeom prst="curved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552F2FE-05AC-0E1F-F1D4-AA59D46C393C}"/>
                </a:ext>
              </a:extLst>
            </p:cNvPr>
            <p:cNvSpPr/>
            <p:nvPr/>
          </p:nvSpPr>
          <p:spPr>
            <a:xfrm>
              <a:off x="3265546" y="1139360"/>
              <a:ext cx="1318437" cy="569569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95A19E-F125-D1A2-3896-7E51C44DE196}"/>
                </a:ext>
              </a:extLst>
            </p:cNvPr>
            <p:cNvSpPr txBox="1"/>
            <p:nvPr/>
          </p:nvSpPr>
          <p:spPr>
            <a:xfrm>
              <a:off x="3581375" y="5297318"/>
              <a:ext cx="7264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Code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C8CEA561-1066-3106-767A-29D53B66C20D}"/>
              </a:ext>
            </a:extLst>
          </p:cNvPr>
          <p:cNvSpPr txBox="1"/>
          <p:nvPr/>
        </p:nvSpPr>
        <p:spPr>
          <a:xfrm>
            <a:off x="6298120" y="3055859"/>
            <a:ext cx="5308245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bar(){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(*f)(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dirty="0">
                <a:solidFill>
                  <a:schemeClr val="accent1"/>
                </a:solidFill>
                <a:latin typeface="Menlo" panose="020B0609030804020204" pitchFamily="49" charset="0"/>
              </a:rPr>
              <a:t>f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 is a function pointer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f(); </a:t>
            </a:r>
            <a:r>
              <a:rPr lang="en-US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prints out "hello!\n"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C689DFF7-5424-77D8-C252-AB6AABF9A128}"/>
              </a:ext>
            </a:extLst>
          </p:cNvPr>
          <p:cNvSpPr/>
          <p:nvPr/>
        </p:nvSpPr>
        <p:spPr>
          <a:xfrm>
            <a:off x="6517860" y="4432347"/>
            <a:ext cx="3625702" cy="32960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718E92-959C-995E-2A26-7E85BD760DE7}"/>
              </a:ext>
            </a:extLst>
          </p:cNvPr>
          <p:cNvSpPr txBox="1"/>
          <p:nvPr/>
        </p:nvSpPr>
        <p:spPr>
          <a:xfrm>
            <a:off x="6542564" y="1186417"/>
            <a:ext cx="3723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 pointer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Code is stored in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Point to code, not data</a:t>
            </a:r>
          </a:p>
        </p:txBody>
      </p:sp>
    </p:spTree>
    <p:extLst>
      <p:ext uri="{BB962C8B-B14F-4D97-AF65-F5344CB8AC3E}">
        <p14:creationId xmlns:p14="http://schemas.microsoft.com/office/powerpoint/2010/main" val="3609053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6ADF-30BC-8D58-FA45-69F48BC4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Thread Creation and Joining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93C12-EEE1-5EFC-D993-58D5D112AA7B}"/>
              </a:ext>
            </a:extLst>
          </p:cNvPr>
          <p:cNvSpPr txBox="1"/>
          <p:nvPr/>
        </p:nvSpPr>
        <p:spPr>
          <a:xfrm>
            <a:off x="693863" y="1199327"/>
            <a:ext cx="6849952" cy="4524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chemeClr val="accent5"/>
                </a:solidFill>
                <a:effectLst/>
                <a:latin typeface="Menlo" panose="020B0609030804020204" pitchFamily="49" charset="0"/>
              </a:rPr>
              <a:t>// cast generic pointer (void*) to a string (char*)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print_message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"hello!"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("done");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E219DB-D1E0-22AE-410E-9D25A4037F56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808067" y="2387763"/>
            <a:ext cx="2573276" cy="816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A1ED7B4-8BF7-AAD8-76FC-DE59A72F130E}"/>
              </a:ext>
            </a:extLst>
          </p:cNvPr>
          <p:cNvSpPr/>
          <p:nvPr/>
        </p:nvSpPr>
        <p:spPr>
          <a:xfrm>
            <a:off x="6381343" y="2808801"/>
            <a:ext cx="1492410" cy="79049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Input argument.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C2DC08-1E3A-70D0-FA96-86759BF2A9E0}"/>
              </a:ext>
            </a:extLst>
          </p:cNvPr>
          <p:cNvCxnSpPr>
            <a:cxnSpLocks/>
          </p:cNvCxnSpPr>
          <p:nvPr/>
        </p:nvCxnSpPr>
        <p:spPr>
          <a:xfrm flipH="1">
            <a:off x="2549020" y="3923026"/>
            <a:ext cx="1196325" cy="43369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ular Callout 53">
            <a:extLst>
              <a:ext uri="{FF2B5EF4-FFF2-40B4-BE49-F238E27FC236}">
                <a16:creationId xmlns:a16="http://schemas.microsoft.com/office/drawing/2014/main" id="{148F0504-8674-BCF7-9291-90AA2A24E4E1}"/>
              </a:ext>
            </a:extLst>
          </p:cNvPr>
          <p:cNvSpPr/>
          <p:nvPr/>
        </p:nvSpPr>
        <p:spPr>
          <a:xfrm>
            <a:off x="2809116" y="3384727"/>
            <a:ext cx="3428072" cy="601722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 err="1">
                <a:solidFill>
                  <a:schemeClr val="tx1"/>
                </a:solidFill>
              </a:rPr>
              <a:t>pthread_create</a:t>
            </a:r>
            <a:r>
              <a:rPr lang="en-US" sz="1900" dirty="0">
                <a:solidFill>
                  <a:schemeClr val="tx1"/>
                </a:solidFill>
              </a:rPr>
              <a:t> launches a peer thread to run </a:t>
            </a:r>
            <a:r>
              <a:rPr lang="en-US" b="1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print_message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53F2B62E-B706-56C4-0CDB-E5A92610F1BE}"/>
              </a:ext>
            </a:extLst>
          </p:cNvPr>
          <p:cNvSpPr/>
          <p:nvPr/>
        </p:nvSpPr>
        <p:spPr>
          <a:xfrm>
            <a:off x="901326" y="4366861"/>
            <a:ext cx="6529617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255436-725B-1BF8-C2CB-3FAA062124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667136" y="3599295"/>
            <a:ext cx="460412" cy="8520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FD6E4-AF3A-52A8-68FF-86993BAD2B50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166883" y="2222032"/>
            <a:ext cx="2214460" cy="98201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3">
            <a:extLst>
              <a:ext uri="{FF2B5EF4-FFF2-40B4-BE49-F238E27FC236}">
                <a16:creationId xmlns:a16="http://schemas.microsoft.com/office/drawing/2014/main" id="{09CD83DC-43DF-AA29-3FF5-D82960BC1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1754" y="1469464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id="{549EA755-96A9-F074-C54C-EF7067A3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2803" y="1861578"/>
            <a:ext cx="0" cy="382343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8">
            <a:extLst>
              <a:ext uri="{FF2B5EF4-FFF2-40B4-BE49-F238E27FC236}">
                <a16:creationId xmlns:a16="http://schemas.microsoft.com/office/drawing/2014/main" id="{B02E2370-11EC-0E72-5679-F7BF3B13B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0713" y="2565645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294895F1-9206-A958-A3F8-89D47F4EA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1978" y="219121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</a:t>
            </a:r>
          </a:p>
        </p:txBody>
      </p:sp>
      <p:sp>
        <p:nvSpPr>
          <p:cNvPr id="36" name="Line 6">
            <a:extLst>
              <a:ext uri="{FF2B5EF4-FFF2-40B4-BE49-F238E27FC236}">
                <a16:creationId xmlns:a16="http://schemas.microsoft.com/office/drawing/2014/main" id="{74F5B64A-62D5-2493-E52A-E8160CF22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38574" y="3000624"/>
            <a:ext cx="0" cy="124192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34471D-F0D9-E1B1-7E20-120FFF7D06BA}"/>
              </a:ext>
            </a:extLst>
          </p:cNvPr>
          <p:cNvCxnSpPr>
            <a:cxnSpLocks/>
          </p:cNvCxnSpPr>
          <p:nvPr/>
        </p:nvCxnSpPr>
        <p:spPr>
          <a:xfrm flipV="1">
            <a:off x="1394857" y="5126237"/>
            <a:ext cx="369569" cy="55264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ular Callout 18">
            <a:extLst>
              <a:ext uri="{FF2B5EF4-FFF2-40B4-BE49-F238E27FC236}">
                <a16:creationId xmlns:a16="http://schemas.microsoft.com/office/drawing/2014/main" id="{40302FB3-496D-D5F5-772F-70E59DBFC091}"/>
              </a:ext>
            </a:extLst>
          </p:cNvPr>
          <p:cNvSpPr/>
          <p:nvPr/>
        </p:nvSpPr>
        <p:spPr>
          <a:xfrm>
            <a:off x="124146" y="5616132"/>
            <a:ext cx="3432459" cy="1015781"/>
          </a:xfrm>
          <a:prstGeom prst="wedgeRoundRectCallout">
            <a:avLst>
              <a:gd name="adj1" fmla="val -26197"/>
              <a:gd name="adj2" fmla="val -2366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The </a:t>
            </a:r>
            <a:r>
              <a:rPr lang="en-US" sz="1900" dirty="0" err="1">
                <a:solidFill>
                  <a:schemeClr val="tx1"/>
                </a:solidFill>
              </a:rPr>
              <a:t>pthread_join</a:t>
            </a:r>
            <a:r>
              <a:rPr lang="en-US" sz="1900" dirty="0">
                <a:solidFill>
                  <a:schemeClr val="tx1"/>
                </a:solidFill>
              </a:rPr>
              <a:t>() blocks the calling thread until the specified thread ID </a:t>
            </a:r>
            <a:r>
              <a:rPr lang="en-US" sz="1900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tid</a:t>
            </a:r>
            <a:r>
              <a:rPr lang="en-US" sz="1900" dirty="0">
                <a:solidFill>
                  <a:schemeClr val="tx1"/>
                </a:solidFill>
              </a:rPr>
              <a:t> terminates.</a:t>
            </a: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5FE77401-A881-51A4-68EE-D4F2651322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88623" y="4242547"/>
            <a:ext cx="1149951" cy="3489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2F9FD-6956-82EB-0F49-56C333A2B2F0}"/>
              </a:ext>
            </a:extLst>
          </p:cNvPr>
          <p:cNvSpPr txBox="1"/>
          <p:nvPr/>
        </p:nvSpPr>
        <p:spPr>
          <a:xfrm>
            <a:off x="8121003" y="4763331"/>
            <a:ext cx="1744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("done");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111B2-DA6B-7891-7D88-FF8AD1C16988}"/>
              </a:ext>
            </a:extLst>
          </p:cNvPr>
          <p:cNvSpPr txBox="1"/>
          <p:nvPr/>
        </p:nvSpPr>
        <p:spPr>
          <a:xfrm>
            <a:off x="7935940" y="4371893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BE8E70B2-018B-772D-FFCE-882A849E2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003" y="2429568"/>
            <a:ext cx="17743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2F8AC0B-AF60-C699-2693-ACCF79982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633" y="3617117"/>
            <a:ext cx="153676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F628E8-4972-C25C-E759-B0EAFD6F3593}"/>
              </a:ext>
            </a:extLst>
          </p:cNvPr>
          <p:cNvSpPr txBox="1"/>
          <p:nvPr/>
        </p:nvSpPr>
        <p:spPr>
          <a:xfrm>
            <a:off x="10282629" y="3572358"/>
            <a:ext cx="1902918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("hello!\n");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0A4101B-9652-8A2A-E2BE-C389D1712CAA}"/>
              </a:ext>
            </a:extLst>
          </p:cNvPr>
          <p:cNvSpPr/>
          <p:nvPr/>
        </p:nvSpPr>
        <p:spPr>
          <a:xfrm>
            <a:off x="901326" y="4866111"/>
            <a:ext cx="3115089" cy="32004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0168B7E-81CF-81F3-A589-72C9E4C04982}"/>
              </a:ext>
            </a:extLst>
          </p:cNvPr>
          <p:cNvSpPr/>
          <p:nvPr/>
        </p:nvSpPr>
        <p:spPr>
          <a:xfrm>
            <a:off x="10282629" y="755479"/>
            <a:ext cx="1793912" cy="632448"/>
          </a:xfrm>
          <a:prstGeom prst="wedgeRoundRectCallout">
            <a:avLst>
              <a:gd name="adj1" fmla="val -38091"/>
              <a:gd name="adj2" fmla="val 78899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main thread is also a thread!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5926BB6E-9573-DA84-40BE-811C802C9197}"/>
              </a:ext>
            </a:extLst>
          </p:cNvPr>
          <p:cNvSpPr/>
          <p:nvPr/>
        </p:nvSpPr>
        <p:spPr>
          <a:xfrm>
            <a:off x="4772216" y="5186151"/>
            <a:ext cx="2160317" cy="620862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Function pointer of </a:t>
            </a:r>
            <a:r>
              <a:rPr lang="en-US" b="1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print_message</a:t>
            </a:r>
            <a:endParaRPr lang="en-US" sz="19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40554E5-69E0-6496-2566-244271010125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308642" y="4683913"/>
            <a:ext cx="543733" cy="5022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3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4" grpId="0" animBg="1"/>
      <p:bldP spid="55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9" grpId="0" animBg="1"/>
      <p:bldP spid="24" grpId="0" animBg="1"/>
      <p:bldP spid="27" grpId="0"/>
      <p:bldP spid="28" grpId="0"/>
      <p:bldP spid="29" grpId="0"/>
      <p:bldP spid="30" grpId="0"/>
      <p:bldP spid="37" grpId="0" animBg="1"/>
      <p:bldP spid="42" grpId="0" animBg="1"/>
      <p:bldP spid="8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980E-4D24-5633-C97A-633C96A98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272"/>
            <a:ext cx="10515600" cy="797178"/>
          </a:xfrm>
        </p:spPr>
        <p:txBody>
          <a:bodyPr/>
          <a:lstStyle/>
          <a:p>
            <a:r>
              <a:rPr lang="en-US" dirty="0"/>
              <a:t>Recap: Speeding Up Program with Threads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822A5-BE3A-91D5-1157-33034910B4C9}"/>
              </a:ext>
            </a:extLst>
          </p:cNvPr>
          <p:cNvSpPr txBox="1"/>
          <p:nvPr/>
        </p:nvSpPr>
        <p:spPr>
          <a:xfrm>
            <a:off x="7369251" y="970158"/>
            <a:ext cx="4416594" cy="57861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#define NUM_THREADS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4</a:t>
            </a:r>
            <a:endParaRPr lang="en-US" sz="125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10000000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5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sums[NUM_THREADS];</a:t>
            </a:r>
            <a:b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subtotal 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SUB_N = N/NUM_THREADS;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SUB_N *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 + SUB_N;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subtotal +=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(++n &lt; end);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sums[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subtotal;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[NUM_THREADS];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total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2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pthread_join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tids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NULL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-US" sz="125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250" dirty="0">
                <a:solidFill>
                  <a:srgbClr val="C1651C"/>
                </a:solidFill>
                <a:latin typeface="Menlo" panose="020B0609030804020204" pitchFamily="49" charset="0"/>
              </a:rPr>
              <a:t>for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125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250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 &lt; NUM_THREADS; 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    total += sums[</a:t>
            </a:r>
            <a:r>
              <a:rPr lang="en-US" sz="125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US" sz="125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-US" sz="12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9077C39-42E4-BF82-EA24-1C1C108E9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814" y="1362204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198D9C3-CDFE-505B-4A44-8FC61C1AB8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2986" y="1754317"/>
            <a:ext cx="13877" cy="44960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66240C50-62CF-5813-EC53-602FC797A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4773" y="2458385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92C6D8B-D41B-7BE1-3680-5181532CB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544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3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85B33F9E-B259-A514-B9B1-EB31787FD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2634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AF5A94A-8162-4FD0-884D-A9BB967F8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5" y="4461207"/>
            <a:ext cx="1119158" cy="58431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CE007-1FB3-E3DD-E80A-3F1D0FA06451}"/>
              </a:ext>
            </a:extLst>
          </p:cNvPr>
          <p:cNvSpPr txBox="1"/>
          <p:nvPr/>
        </p:nvSpPr>
        <p:spPr>
          <a:xfrm>
            <a:off x="30350" y="5045521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36435382-674B-852C-2512-7C9628127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65" y="2162504"/>
            <a:ext cx="1774395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90D4DD7B-8F09-20D4-0F75-4C89A5E34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20" y="3466805"/>
            <a:ext cx="1536766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B94E0-0E7D-9D8B-0D60-6C9F52CAA689}"/>
              </a:ext>
            </a:extLst>
          </p:cNvPr>
          <p:cNvSpPr txBox="1"/>
          <p:nvPr/>
        </p:nvSpPr>
        <p:spPr>
          <a:xfrm>
            <a:off x="2438126" y="3445950"/>
            <a:ext cx="934692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23337F-2D5D-5474-4C89-B91608FC7F3A}"/>
              </a:ext>
            </a:extLst>
          </p:cNvPr>
          <p:cNvSpPr txBox="1"/>
          <p:nvPr/>
        </p:nvSpPr>
        <p:spPr>
          <a:xfrm>
            <a:off x="824969" y="5561023"/>
            <a:ext cx="109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= 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F27DCD8A-EE90-D633-C2B5-A39020A72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18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2</a:t>
            </a:r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42CC0273-612E-0B33-B322-20C42CDF3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5808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60821-76DC-7444-E57E-18792E076DBD}"/>
              </a:ext>
            </a:extLst>
          </p:cNvPr>
          <p:cNvSpPr txBox="1"/>
          <p:nvPr/>
        </p:nvSpPr>
        <p:spPr>
          <a:xfrm>
            <a:off x="3602149" y="3437078"/>
            <a:ext cx="90899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4714CEA7-BD58-19DC-1F36-B1D50CF5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892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1</a:t>
            </a:r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28C7DB51-CAD1-EB6C-06EB-3FEC18375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8982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C70D21-E69F-7740-AED8-0B0009B42168}"/>
              </a:ext>
            </a:extLst>
          </p:cNvPr>
          <p:cNvSpPr txBox="1"/>
          <p:nvPr/>
        </p:nvSpPr>
        <p:spPr>
          <a:xfrm>
            <a:off x="4745323" y="3437078"/>
            <a:ext cx="90690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134B94F7-4B06-E1EA-1A7D-A95C6DC4A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295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0</a:t>
            </a: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5628BE7C-66D1-69DB-CA37-4FB5AAD7F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385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CF39C-44CF-FF01-7458-BEAC069ED9F4}"/>
              </a:ext>
            </a:extLst>
          </p:cNvPr>
          <p:cNvSpPr txBox="1"/>
          <p:nvPr/>
        </p:nvSpPr>
        <p:spPr>
          <a:xfrm>
            <a:off x="5916725" y="3437078"/>
            <a:ext cx="876587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Line 8">
            <a:extLst>
              <a:ext uri="{FF2B5EF4-FFF2-40B4-BE49-F238E27FC236}">
                <a16:creationId xmlns:a16="http://schemas.microsoft.com/office/drawing/2014/main" id="{E2390E33-F953-BAE2-1633-6F8E4818F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7891" y="2396793"/>
            <a:ext cx="2336620" cy="55378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8">
            <a:extLst>
              <a:ext uri="{FF2B5EF4-FFF2-40B4-BE49-F238E27FC236}">
                <a16:creationId xmlns:a16="http://schemas.microsoft.com/office/drawing/2014/main" id="{358A4D16-5883-40C5-F16B-5AEA6B745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322309"/>
            <a:ext cx="3405507" cy="55299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8">
            <a:extLst>
              <a:ext uri="{FF2B5EF4-FFF2-40B4-BE49-F238E27FC236}">
                <a16:creationId xmlns:a16="http://schemas.microsoft.com/office/drawing/2014/main" id="{357A8C57-64A1-21FE-B100-301F2765E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240817"/>
            <a:ext cx="4567378" cy="67060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A19EA52E-BAF1-8E93-0700-0A49D1470B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4" y="4461206"/>
            <a:ext cx="4567378" cy="7936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1961ABF9-6959-582C-2DB4-AE0360487A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9599" y="4461206"/>
            <a:ext cx="3419382" cy="736716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">
            <a:extLst>
              <a:ext uri="{FF2B5EF4-FFF2-40B4-BE49-F238E27FC236}">
                <a16:creationId xmlns:a16="http://schemas.microsoft.com/office/drawing/2014/main" id="{D76FEC6D-0046-E60C-EB6F-501460F986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733" y="4461205"/>
            <a:ext cx="2249983" cy="6547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7E99DC-72FD-D751-D920-3CDECE303640}"/>
              </a:ext>
            </a:extLst>
          </p:cNvPr>
          <p:cNvCxnSpPr>
            <a:cxnSpLocks/>
          </p:cNvCxnSpPr>
          <p:nvPr/>
        </p:nvCxnSpPr>
        <p:spPr>
          <a:xfrm flipH="1">
            <a:off x="9635775" y="3913258"/>
            <a:ext cx="411693" cy="24053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44C9386C-BBEE-085E-B4B3-9649112A9973}"/>
              </a:ext>
            </a:extLst>
          </p:cNvPr>
          <p:cNvSpPr/>
          <p:nvPr/>
        </p:nvSpPr>
        <p:spPr>
          <a:xfrm>
            <a:off x="9544752" y="3487935"/>
            <a:ext cx="2494170" cy="425323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An array of thread IDs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0B38855-91FE-4FB2-990A-14A2107AA40B}"/>
              </a:ext>
            </a:extLst>
          </p:cNvPr>
          <p:cNvSpPr/>
          <p:nvPr/>
        </p:nvSpPr>
        <p:spPr>
          <a:xfrm>
            <a:off x="7489106" y="4153794"/>
            <a:ext cx="3099300" cy="23160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E6CC997-CA78-6F7E-1D8E-BD45473B1734}"/>
              </a:ext>
            </a:extLst>
          </p:cNvPr>
          <p:cNvCxnSpPr>
            <a:cxnSpLocks/>
          </p:cNvCxnSpPr>
          <p:nvPr/>
        </p:nvCxnSpPr>
        <p:spPr>
          <a:xfrm flipV="1">
            <a:off x="6601473" y="5163483"/>
            <a:ext cx="858559" cy="3582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46E66C26-5A3B-C6CB-F505-26B3702B5CA0}"/>
              </a:ext>
            </a:extLst>
          </p:cNvPr>
          <p:cNvSpPr/>
          <p:nvPr/>
        </p:nvSpPr>
        <p:spPr>
          <a:xfrm>
            <a:off x="5097080" y="5528126"/>
            <a:ext cx="2249983" cy="425323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Creating 4 threads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47F60A3-1BBD-12C7-64F9-4B7E54234C3D}"/>
              </a:ext>
            </a:extLst>
          </p:cNvPr>
          <p:cNvSpPr/>
          <p:nvPr/>
        </p:nvSpPr>
        <p:spPr>
          <a:xfrm>
            <a:off x="7489105" y="4912662"/>
            <a:ext cx="4177961" cy="42532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ular Callout 40">
            <a:extLst>
              <a:ext uri="{FF2B5EF4-FFF2-40B4-BE49-F238E27FC236}">
                <a16:creationId xmlns:a16="http://schemas.microsoft.com/office/drawing/2014/main" id="{160A90B9-2866-57A6-6D65-B272D38E98AE}"/>
              </a:ext>
            </a:extLst>
          </p:cNvPr>
          <p:cNvSpPr/>
          <p:nvPr/>
        </p:nvSpPr>
        <p:spPr>
          <a:xfrm>
            <a:off x="9900423" y="6080692"/>
            <a:ext cx="2119600" cy="587993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Waiting for the </a:t>
            </a:r>
            <a:r>
              <a:rPr lang="en-US" sz="1900" dirty="0" err="1">
                <a:solidFill>
                  <a:schemeClr val="tx1"/>
                </a:solidFill>
              </a:rPr>
              <a:t>i-th</a:t>
            </a:r>
            <a:r>
              <a:rPr lang="en-US" sz="1900" dirty="0">
                <a:solidFill>
                  <a:schemeClr val="tx1"/>
                </a:solidFill>
              </a:rPr>
              <a:t> thread to end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EBAD42A-EB89-029D-2A47-FC555430F9C3}"/>
              </a:ext>
            </a:extLst>
          </p:cNvPr>
          <p:cNvCxnSpPr>
            <a:cxnSpLocks/>
          </p:cNvCxnSpPr>
          <p:nvPr/>
        </p:nvCxnSpPr>
        <p:spPr>
          <a:xfrm flipH="1" flipV="1">
            <a:off x="9702800" y="5904447"/>
            <a:ext cx="546214" cy="174370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7721C64-64AB-E03E-B172-15F67B24409B}"/>
              </a:ext>
            </a:extLst>
          </p:cNvPr>
          <p:cNvSpPr/>
          <p:nvPr/>
        </p:nvSpPr>
        <p:spPr>
          <a:xfrm>
            <a:off x="7776971" y="5685376"/>
            <a:ext cx="2710309" cy="21266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7" grpId="0" animBg="1"/>
      <p:bldP spid="38" grpId="0" animBg="1"/>
      <p:bldP spid="41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C828C3D9-A172-28C7-C0D4-7276F7C25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5814" y="1362204"/>
            <a:ext cx="1504950" cy="3921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/>
              <a:t>main thread</a:t>
            </a:r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F97757E4-25B1-C4A9-7AED-C2AD69FE5C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2986" y="1754317"/>
            <a:ext cx="13877" cy="449601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">
            <a:extLst>
              <a:ext uri="{FF2B5EF4-FFF2-40B4-BE49-F238E27FC236}">
                <a16:creationId xmlns:a16="http://schemas.microsoft.com/office/drawing/2014/main" id="{65E3F53D-524A-F9D9-31D6-606420317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4773" y="2458385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id="{BE2676A3-7D41-F4EA-DB13-E7B191AB9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544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3</a:t>
            </a:r>
          </a:p>
        </p:txBody>
      </p:sp>
      <p:sp>
        <p:nvSpPr>
          <p:cNvPr id="35" name="Line 6">
            <a:extLst>
              <a:ext uri="{FF2B5EF4-FFF2-40B4-BE49-F238E27FC236}">
                <a16:creationId xmlns:a16="http://schemas.microsoft.com/office/drawing/2014/main" id="{E8E25801-0DD6-4AB0-99FA-ACE5D2BE7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2634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311F2BFB-726E-572F-A54E-E62B80682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5" y="4461207"/>
            <a:ext cx="1119158" cy="58431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AD9E6B-113E-4B5F-5C29-4CDB54ACA705}"/>
              </a:ext>
            </a:extLst>
          </p:cNvPr>
          <p:cNvSpPr txBox="1"/>
          <p:nvPr/>
        </p:nvSpPr>
        <p:spPr>
          <a:xfrm>
            <a:off x="30350" y="5045521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Box 12">
            <a:extLst>
              <a:ext uri="{FF2B5EF4-FFF2-40B4-BE49-F238E27FC236}">
                <a16:creationId xmlns:a16="http://schemas.microsoft.com/office/drawing/2014/main" id="{3E72621E-D853-41E9-97F8-2B920FCA2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65" y="2322308"/>
            <a:ext cx="1774395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</p:txBody>
      </p:sp>
      <p:sp>
        <p:nvSpPr>
          <p:cNvPr id="39" name="Text Box 13">
            <a:extLst>
              <a:ext uri="{FF2B5EF4-FFF2-40B4-BE49-F238E27FC236}">
                <a16:creationId xmlns:a16="http://schemas.microsoft.com/office/drawing/2014/main" id="{BC271C25-A7F4-C778-9B6F-B74E0E58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20" y="3466805"/>
            <a:ext cx="1536766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x 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5F2775-10F4-08C0-ED57-D7BB8A9E5C24}"/>
              </a:ext>
            </a:extLst>
          </p:cNvPr>
          <p:cNvSpPr txBox="1"/>
          <p:nvPr/>
        </p:nvSpPr>
        <p:spPr>
          <a:xfrm>
            <a:off x="2438126" y="3445950"/>
            <a:ext cx="934692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(3)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456EB6-DAD7-B7E7-AF5F-AC5FADB0A4B1}"/>
              </a:ext>
            </a:extLst>
          </p:cNvPr>
          <p:cNvSpPr txBox="1"/>
          <p:nvPr/>
        </p:nvSpPr>
        <p:spPr>
          <a:xfrm>
            <a:off x="824969" y="5561023"/>
            <a:ext cx="109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= …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Box 4">
            <a:extLst>
              <a:ext uri="{FF2B5EF4-FFF2-40B4-BE49-F238E27FC236}">
                <a16:creationId xmlns:a16="http://schemas.microsoft.com/office/drawing/2014/main" id="{32633C30-88FE-571E-D082-55E1CF5FD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18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2</a:t>
            </a:r>
          </a:p>
        </p:txBody>
      </p:sp>
      <p:sp>
        <p:nvSpPr>
          <p:cNvPr id="43" name="Line 6">
            <a:extLst>
              <a:ext uri="{FF2B5EF4-FFF2-40B4-BE49-F238E27FC236}">
                <a16:creationId xmlns:a16="http://schemas.microsoft.com/office/drawing/2014/main" id="{FAD66D69-038C-322D-43BD-1A25EA480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5808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7218D-C37A-6FCC-B70B-D98C04A2E0F0}"/>
              </a:ext>
            </a:extLst>
          </p:cNvPr>
          <p:cNvSpPr txBox="1"/>
          <p:nvPr/>
        </p:nvSpPr>
        <p:spPr>
          <a:xfrm>
            <a:off x="3602149" y="3437078"/>
            <a:ext cx="90899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5E6CE171-5700-A86F-CE7A-58FC6D6F8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892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1</a:t>
            </a:r>
          </a:p>
        </p:txBody>
      </p:sp>
      <p:sp>
        <p:nvSpPr>
          <p:cNvPr id="46" name="Line 6">
            <a:extLst>
              <a:ext uri="{FF2B5EF4-FFF2-40B4-BE49-F238E27FC236}">
                <a16:creationId xmlns:a16="http://schemas.microsoft.com/office/drawing/2014/main" id="{6ADB50F0-D33E-CEE2-662D-3F83614D2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8982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5BE72A-1968-6372-D3EE-4152AD547863}"/>
              </a:ext>
            </a:extLst>
          </p:cNvPr>
          <p:cNvSpPr txBox="1"/>
          <p:nvPr/>
        </p:nvSpPr>
        <p:spPr>
          <a:xfrm>
            <a:off x="4745323" y="3437078"/>
            <a:ext cx="906906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(1)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B9639A90-4051-31D3-69A4-2AD3D91BC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2295" y="2083958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/>
              <a:t>peer thread 0</a:t>
            </a:r>
          </a:p>
        </p:txBody>
      </p:sp>
      <p:sp>
        <p:nvSpPr>
          <p:cNvPr id="49" name="Line 6">
            <a:extLst>
              <a:ext uri="{FF2B5EF4-FFF2-40B4-BE49-F238E27FC236}">
                <a16:creationId xmlns:a16="http://schemas.microsoft.com/office/drawing/2014/main" id="{631BBA1E-89BE-A17F-1350-7D65698A4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0385" y="2893364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929DD8-3EB9-2B7C-A913-72AE98F22564}"/>
              </a:ext>
            </a:extLst>
          </p:cNvPr>
          <p:cNvSpPr txBox="1"/>
          <p:nvPr/>
        </p:nvSpPr>
        <p:spPr>
          <a:xfrm>
            <a:off x="5916725" y="3437078"/>
            <a:ext cx="876587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Line 8">
            <a:extLst>
              <a:ext uri="{FF2B5EF4-FFF2-40B4-BE49-F238E27FC236}">
                <a16:creationId xmlns:a16="http://schemas.microsoft.com/office/drawing/2014/main" id="{A325C4FF-35B3-17AC-F3C3-1518CCBF5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7891" y="2396793"/>
            <a:ext cx="2336620" cy="55378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8">
            <a:extLst>
              <a:ext uri="{FF2B5EF4-FFF2-40B4-BE49-F238E27FC236}">
                <a16:creationId xmlns:a16="http://schemas.microsoft.com/office/drawing/2014/main" id="{99847F89-8ED5-BDE5-C866-934455583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322309"/>
            <a:ext cx="3405507" cy="55299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8">
            <a:extLst>
              <a:ext uri="{FF2B5EF4-FFF2-40B4-BE49-F238E27FC236}">
                <a16:creationId xmlns:a16="http://schemas.microsoft.com/office/drawing/2014/main" id="{CC198A50-1C49-CEA0-6D7E-3D098E06E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3474" y="2240817"/>
            <a:ext cx="4567378" cy="67060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6A48F619-4450-EE35-0857-8A8AD806F2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3474" y="4461206"/>
            <a:ext cx="4567378" cy="7936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0F1E5C83-CF42-6D2F-A1C3-BFE4A32C9C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69599" y="4461206"/>
            <a:ext cx="3419382" cy="736716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8">
            <a:extLst>
              <a:ext uri="{FF2B5EF4-FFF2-40B4-BE49-F238E27FC236}">
                <a16:creationId xmlns:a16="http://schemas.microsoft.com/office/drawing/2014/main" id="{E0C27ADA-3AD7-90BD-3056-5FD378403E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93733" y="4461205"/>
            <a:ext cx="2249983" cy="6547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F86FA-BD11-425B-EDEB-45554250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 Thread Starts and Ends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703A44-80EC-521C-1F12-2E12F8D53D92}"/>
              </a:ext>
            </a:extLst>
          </p:cNvPr>
          <p:cNvSpPr txBox="1"/>
          <p:nvPr/>
        </p:nvSpPr>
        <p:spPr>
          <a:xfrm>
            <a:off x="8127077" y="2673685"/>
            <a:ext cx="3680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What exactly happened during this period of time?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45F7D6-9FB1-7B9D-594D-D4A74F0336B9}"/>
              </a:ext>
            </a:extLst>
          </p:cNvPr>
          <p:cNvSpPr/>
          <p:nvPr/>
        </p:nvSpPr>
        <p:spPr>
          <a:xfrm>
            <a:off x="292989" y="3049485"/>
            <a:ext cx="7308434" cy="1168386"/>
          </a:xfrm>
          <a:prstGeom prst="ellipse">
            <a:avLst/>
          </a:prstGeom>
          <a:solidFill>
            <a:schemeClr val="bg1">
              <a:alpha val="74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1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Thread and Concurrency</a:t>
            </a:r>
          </a:p>
          <a:p>
            <a:r>
              <a:rPr lang="en-US" dirty="0"/>
              <a:t>Data Sharing among threads</a:t>
            </a:r>
          </a:p>
          <a:p>
            <a:r>
              <a:rPr lang="en-US" dirty="0"/>
              <a:t>Arguments &amp; Return Values</a:t>
            </a:r>
          </a:p>
        </p:txBody>
      </p:sp>
    </p:spTree>
    <p:extLst>
      <p:ext uri="{BB962C8B-B14F-4D97-AF65-F5344CB8AC3E}">
        <p14:creationId xmlns:p14="http://schemas.microsoft.com/office/powerpoint/2010/main" val="155662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6FA9-779C-0A62-6289-8CB00E3E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16374-4A03-B344-F237-0167E88876DE}"/>
              </a:ext>
            </a:extLst>
          </p:cNvPr>
          <p:cNvSpPr txBox="1"/>
          <p:nvPr/>
        </p:nvSpPr>
        <p:spPr>
          <a:xfrm>
            <a:off x="6480863" y="192815"/>
            <a:ext cx="4426212" cy="3893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"start!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"T1"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"T2"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"end!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EFA672-1106-5FBC-6A04-E7CDB548C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595" y="1373594"/>
            <a:ext cx="1342226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b="1" i="1" dirty="0"/>
              <a:t>main</a:t>
            </a:r>
            <a:r>
              <a:rPr lang="en-US" sz="1800" dirty="0"/>
              <a:t> thread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236B066F-0399-FF30-0947-0B4F1D1F34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4189" y="1754317"/>
            <a:ext cx="2092" cy="481665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AD3B928-6F51-C3F3-491B-01602300D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4192" y="2739040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DEE7817-2D6B-CDB4-EB05-7026BC5D7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963" y="2364613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800" dirty="0"/>
              <a:t>peer thread </a:t>
            </a:r>
            <a:r>
              <a:rPr lang="en-US" sz="1800" b="1" i="1" dirty="0"/>
              <a:t>T2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DD1DE2A-DDAB-AF3A-466E-E9526D0DD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2053" y="3174019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08CC1CF-CD0F-8D56-93E9-0D521C9B84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2894" y="4741862"/>
            <a:ext cx="1119158" cy="58431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B9EF028C-A055-DDBC-DDCF-69EA971FF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70" y="2338912"/>
            <a:ext cx="214308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(tid1)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7591DE10-49F7-CB8E-AE6E-588660ED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40" y="4086189"/>
            <a:ext cx="19054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77C5E-6D15-F29A-DE90-4A9CBA9708AA}"/>
              </a:ext>
            </a:extLst>
          </p:cNvPr>
          <p:cNvSpPr txBox="1"/>
          <p:nvPr/>
        </p:nvSpPr>
        <p:spPr>
          <a:xfrm>
            <a:off x="1139545" y="5841678"/>
            <a:ext cx="14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print("end!")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ADC50C69-E0E5-8EA1-C998-688036884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137" y="2364613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800" dirty="0"/>
              <a:t>peer thread </a:t>
            </a:r>
            <a:r>
              <a:rPr lang="en-US" sz="1800" b="1" i="1" dirty="0"/>
              <a:t>T1</a:t>
            </a: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DBBF8BAD-1CBC-6BA6-3EB4-738281569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5227" y="3174019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81BFE-0F0D-54AD-EF8F-932E2169B0BB}"/>
              </a:ext>
            </a:extLst>
          </p:cNvPr>
          <p:cNvSpPr txBox="1"/>
          <p:nvPr/>
        </p:nvSpPr>
        <p:spPr>
          <a:xfrm>
            <a:off x="3900903" y="3553295"/>
            <a:ext cx="882791" cy="646331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("T1")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563EB77F-EAB0-BEDA-518D-FF92D9534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310" y="2677448"/>
            <a:ext cx="2336620" cy="55378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16E4A2A4-3FC6-DF86-38F4-C51E123B0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3152" y="4741860"/>
            <a:ext cx="2249983" cy="6547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12">
            <a:extLst>
              <a:ext uri="{FF2B5EF4-FFF2-40B4-BE49-F238E27FC236}">
                <a16:creationId xmlns:a16="http://schemas.microsoft.com/office/drawing/2014/main" id="{50D194FA-3F79-A6FB-593F-7B6289AC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11" y="2585008"/>
            <a:ext cx="214308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3CAB0B-41EC-6A33-9EB8-74E68E00C39D}"/>
              </a:ext>
            </a:extLst>
          </p:cNvPr>
          <p:cNvSpPr txBox="1"/>
          <p:nvPr/>
        </p:nvSpPr>
        <p:spPr>
          <a:xfrm>
            <a:off x="2766619" y="3564058"/>
            <a:ext cx="896816" cy="646331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("T2")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Box 13">
            <a:extLst>
              <a:ext uri="{FF2B5EF4-FFF2-40B4-BE49-F238E27FC236}">
                <a16:creationId xmlns:a16="http://schemas.microsoft.com/office/drawing/2014/main" id="{4808C2D1-A093-023E-0AED-9E953A1B6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05" y="3811617"/>
            <a:ext cx="19054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749E19-3E2C-6863-A6AD-394CF9FBD4AB}"/>
              </a:ext>
            </a:extLst>
          </p:cNvPr>
          <p:cNvSpPr txBox="1"/>
          <p:nvPr/>
        </p:nvSpPr>
        <p:spPr>
          <a:xfrm>
            <a:off x="981957" y="3490583"/>
            <a:ext cx="1530737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 ("main")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B7DAF8-2875-4BEE-1089-147A7711955A}"/>
              </a:ext>
            </a:extLst>
          </p:cNvPr>
          <p:cNvSpPr txBox="1"/>
          <p:nvPr/>
        </p:nvSpPr>
        <p:spPr>
          <a:xfrm>
            <a:off x="6461806" y="4990946"/>
            <a:ext cx="4842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Since </a:t>
            </a:r>
            <a:r>
              <a:rPr lang="en-US" sz="2000" b="1" i="1" dirty="0"/>
              <a:t>main</a:t>
            </a:r>
            <a:r>
              <a:rPr lang="en-US" sz="2000" i="1" dirty="0"/>
              <a:t> thread creates </a:t>
            </a:r>
            <a:r>
              <a:rPr lang="en-US" sz="2000" b="1" i="1" dirty="0"/>
              <a:t>T1</a:t>
            </a:r>
            <a:r>
              <a:rPr lang="en-US" sz="2000" i="1" dirty="0"/>
              <a:t> before </a:t>
            </a:r>
            <a:r>
              <a:rPr lang="en-US" sz="2000" b="1" i="1" dirty="0"/>
              <a:t>T2</a:t>
            </a:r>
            <a:r>
              <a:rPr lang="en-US" sz="2000" i="1" dirty="0"/>
              <a:t>, is "T1" printed before "T2"?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9A29C3-2233-4A60-1250-20997CC00DB6}"/>
              </a:ext>
            </a:extLst>
          </p:cNvPr>
          <p:cNvSpPr txBox="1"/>
          <p:nvPr/>
        </p:nvSpPr>
        <p:spPr>
          <a:xfrm>
            <a:off x="6461806" y="5808511"/>
            <a:ext cx="4830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Can we determine if the </a:t>
            </a:r>
            <a:r>
              <a:rPr lang="en-US" sz="2000" b="1" i="1" dirty="0"/>
              <a:t>main</a:t>
            </a:r>
            <a:r>
              <a:rPr lang="en-US" sz="2000" i="1" dirty="0"/>
              <a:t> thread print "main" before, after or during </a:t>
            </a:r>
            <a:r>
              <a:rPr lang="en-US" sz="2000" b="1" i="1" dirty="0"/>
              <a:t>T1</a:t>
            </a:r>
            <a:r>
              <a:rPr lang="en-US" sz="2000" i="1" dirty="0"/>
              <a:t> and </a:t>
            </a:r>
            <a:r>
              <a:rPr lang="en-US" sz="2000" b="1" i="1" dirty="0"/>
              <a:t>T2</a:t>
            </a:r>
            <a:r>
              <a:rPr lang="en-US" sz="2000" i="1" dirty="0"/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B94597-1282-A173-068C-6136714FB076}"/>
              </a:ext>
            </a:extLst>
          </p:cNvPr>
          <p:cNvSpPr txBox="1"/>
          <p:nvPr/>
        </p:nvSpPr>
        <p:spPr>
          <a:xfrm>
            <a:off x="1018008" y="2002276"/>
            <a:ext cx="151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print("start!")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8C7B0-06AA-F6DE-5542-AAE013CB973D}"/>
              </a:ext>
            </a:extLst>
          </p:cNvPr>
          <p:cNvSpPr txBox="1"/>
          <p:nvPr/>
        </p:nvSpPr>
        <p:spPr>
          <a:xfrm>
            <a:off x="585789" y="5326176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F6D203-8E16-A373-C8F7-63C623A1CA75}"/>
              </a:ext>
            </a:extLst>
          </p:cNvPr>
          <p:cNvSpPr txBox="1"/>
          <p:nvPr/>
        </p:nvSpPr>
        <p:spPr>
          <a:xfrm>
            <a:off x="2699166" y="5228762"/>
            <a:ext cx="3643666" cy="851297"/>
          </a:xfrm>
          <a:prstGeom prst="wedgeRoundRectCallout">
            <a:avLst>
              <a:gd name="adj1" fmla="val -21371"/>
              <a:gd name="adj2" fmla="val -126028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Threads of </a:t>
            </a:r>
            <a:r>
              <a:rPr lang="en-US" sz="2000" b="1" i="1" dirty="0"/>
              <a:t>T1</a:t>
            </a:r>
            <a:r>
              <a:rPr lang="en-US" sz="2000" i="1" dirty="0"/>
              <a:t>, </a:t>
            </a:r>
            <a:r>
              <a:rPr lang="en-US" sz="2000" b="1" i="1" dirty="0"/>
              <a:t>T2</a:t>
            </a:r>
            <a:r>
              <a:rPr lang="en-US" sz="2000" i="1" dirty="0"/>
              <a:t>, &amp; </a:t>
            </a:r>
            <a:r>
              <a:rPr lang="en-US" sz="2000" b="1" i="1" dirty="0"/>
              <a:t>main</a:t>
            </a:r>
            <a:r>
              <a:rPr lang="en-US" sz="2000" i="1" dirty="0"/>
              <a:t> are </a:t>
            </a:r>
            <a:r>
              <a:rPr lang="en-US" sz="2400" b="1" i="1" u="sng" dirty="0"/>
              <a:t>concurrent</a:t>
            </a:r>
            <a:r>
              <a:rPr lang="en-US" sz="2000" i="1" dirty="0"/>
              <a:t> during this period!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1EC688B-DE10-215C-FB57-8DD683DD81D1}"/>
              </a:ext>
            </a:extLst>
          </p:cNvPr>
          <p:cNvSpPr/>
          <p:nvPr/>
        </p:nvSpPr>
        <p:spPr>
          <a:xfrm>
            <a:off x="585789" y="3323673"/>
            <a:ext cx="4662682" cy="1209228"/>
          </a:xfrm>
          <a:prstGeom prst="roundRect">
            <a:avLst/>
          </a:prstGeom>
          <a:solidFill>
            <a:schemeClr val="bg1">
              <a:alpha val="74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A1FDFF-3ECF-7E90-7270-75A28A1630AA}"/>
              </a:ext>
            </a:extLst>
          </p:cNvPr>
          <p:cNvSpPr txBox="1"/>
          <p:nvPr/>
        </p:nvSpPr>
        <p:spPr>
          <a:xfrm>
            <a:off x="6472829" y="4135532"/>
            <a:ext cx="4658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Since </a:t>
            </a:r>
            <a:r>
              <a:rPr lang="en-US" sz="2000" b="1" i="1" dirty="0"/>
              <a:t>T1</a:t>
            </a:r>
            <a:r>
              <a:rPr lang="en-US" sz="2000" i="1" dirty="0"/>
              <a:t> is created after printing "start!", is "start!" printed before "T1"?</a:t>
            </a:r>
          </a:p>
        </p:txBody>
      </p:sp>
    </p:spTree>
    <p:extLst>
      <p:ext uri="{BB962C8B-B14F-4D97-AF65-F5344CB8AC3E}">
        <p14:creationId xmlns:p14="http://schemas.microsoft.com/office/powerpoint/2010/main" val="229274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/>
      <p:bldP spid="43" grpId="0" animBg="1"/>
      <p:bldP spid="44" grpId="0" animBg="1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96DB-92ED-1B80-21BF-93BCBF44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and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83B6-3ED0-4B96-9A79-A89205A91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17" y="1340403"/>
            <a:ext cx="7920340" cy="4835273"/>
          </a:xfrm>
        </p:spPr>
        <p:txBody>
          <a:bodyPr>
            <a:normAutofit/>
          </a:bodyPr>
          <a:lstStyle/>
          <a:p>
            <a:r>
              <a:rPr lang="en-US" dirty="0"/>
              <a:t>The created thread is concurrent with the calling thread.</a:t>
            </a:r>
          </a:p>
          <a:p>
            <a:pPr lvl="1"/>
            <a:r>
              <a:rPr lang="en-US" dirty="0"/>
              <a:t>Things can happen in any order between concurrent threads (within </a:t>
            </a:r>
            <a:r>
              <a:rPr lang="en-US" dirty="0">
                <a:solidFill>
                  <a:srgbClr val="C00000"/>
                </a:solidFill>
              </a:rPr>
              <a:t>red</a:t>
            </a:r>
            <a:r>
              <a:rPr lang="en-US" dirty="0"/>
              <a:t>)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(determined by OS scheduling logic)</a:t>
            </a:r>
          </a:p>
          <a:p>
            <a:pPr lvl="1"/>
            <a:r>
              <a:rPr lang="en-US" dirty="0"/>
              <a:t>Within a thread, execution is still sequential</a:t>
            </a:r>
          </a:p>
          <a:p>
            <a:endParaRPr lang="en-US" dirty="0"/>
          </a:p>
          <a:p>
            <a:r>
              <a:rPr lang="en-US" dirty="0" err="1"/>
              <a:t>pthread_create</a:t>
            </a:r>
            <a:r>
              <a:rPr lang="en-US" dirty="0"/>
              <a:t> and </a:t>
            </a:r>
            <a:r>
              <a:rPr lang="en-US" dirty="0" err="1"/>
              <a:t>pthread_join</a:t>
            </a:r>
            <a:r>
              <a:rPr lang="en-US" dirty="0"/>
              <a:t> demarcate the boundaries of concurrency</a:t>
            </a:r>
          </a:p>
          <a:p>
            <a:pPr lvl="1"/>
            <a:r>
              <a:rPr lang="en-US" dirty="0"/>
              <a:t>Any line before </a:t>
            </a:r>
            <a:r>
              <a:rPr lang="en-US" dirty="0" err="1"/>
              <a:t>pthread_create</a:t>
            </a:r>
            <a:r>
              <a:rPr lang="en-US" dirty="0"/>
              <a:t> must happen before. (</a:t>
            </a:r>
            <a:r>
              <a:rPr lang="en-US" dirty="0">
                <a:solidFill>
                  <a:schemeClr val="accent1"/>
                </a:solidFill>
              </a:rPr>
              <a:t>blue</a:t>
            </a:r>
            <a:r>
              <a:rPr lang="en-US" dirty="0"/>
              <a:t> must be before </a:t>
            </a:r>
            <a:r>
              <a:rPr lang="en-US" dirty="0">
                <a:solidFill>
                  <a:srgbClr val="C00000"/>
                </a:solidFill>
              </a:rPr>
              <a:t>red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Any line after </a:t>
            </a:r>
            <a:r>
              <a:rPr lang="en-US" dirty="0" err="1"/>
              <a:t>pthread_join</a:t>
            </a:r>
            <a:r>
              <a:rPr lang="en-US" dirty="0"/>
              <a:t> must happen after the waited thread completes. (</a:t>
            </a:r>
            <a:r>
              <a:rPr lang="en-US" dirty="0">
                <a:solidFill>
                  <a:schemeClr val="accent6"/>
                </a:solidFill>
              </a:rPr>
              <a:t>blue</a:t>
            </a:r>
            <a:r>
              <a:rPr lang="en-US" dirty="0"/>
              <a:t> must be after </a:t>
            </a:r>
            <a:r>
              <a:rPr lang="en-US" dirty="0">
                <a:solidFill>
                  <a:srgbClr val="C00000"/>
                </a:solidFill>
              </a:rPr>
              <a:t>red</a:t>
            </a:r>
            <a:r>
              <a:rPr lang="en-US" dirty="0"/>
              <a:t>)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ED5ED09-32E0-6E88-75E6-9AAB2109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8185" y="1525284"/>
            <a:ext cx="1125822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Thread T1</a:t>
            </a: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D94863EC-F12B-D062-0801-58FF5EB0E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61095" y="1894616"/>
            <a:ext cx="6745" cy="398108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FB4D556B-217C-C40C-4CE6-49EEEC20A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7916" y="2811043"/>
            <a:ext cx="1139881" cy="1630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AF136F29-33B3-3698-2AA1-09E76A224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6455" y="2482800"/>
            <a:ext cx="1033115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800" dirty="0"/>
              <a:t>Thread T2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15E219F6-D19B-2FDB-8D64-F3F03DE62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17797" y="2974118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39337C4E-D060-FF3E-A77F-97774CC97B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277916" y="4541962"/>
            <a:ext cx="1139880" cy="21505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2F0940C9-CB60-B246-E99F-1BA2EFC1E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3370" y="3909069"/>
            <a:ext cx="178843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D8F9CFA3-7385-E594-BA7C-50A0A96D3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029" y="2535686"/>
            <a:ext cx="202606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7F9B5-7B68-FBBF-6B11-2DB4636690B4}"/>
              </a:ext>
            </a:extLst>
          </p:cNvPr>
          <p:cNvSpPr txBox="1"/>
          <p:nvPr/>
        </p:nvSpPr>
        <p:spPr>
          <a:xfrm>
            <a:off x="8349120" y="4555351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80BC9AF-3A42-FCD6-B2FB-A833FE12A1E1}"/>
              </a:ext>
            </a:extLst>
          </p:cNvPr>
          <p:cNvSpPr/>
          <p:nvPr/>
        </p:nvSpPr>
        <p:spPr>
          <a:xfrm>
            <a:off x="10147927" y="1931334"/>
            <a:ext cx="226336" cy="835530"/>
          </a:xfrm>
          <a:prstGeom prst="roundRect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21B002-C396-29BC-E346-D564A0999A67}"/>
              </a:ext>
            </a:extLst>
          </p:cNvPr>
          <p:cNvSpPr/>
          <p:nvPr/>
        </p:nvSpPr>
        <p:spPr>
          <a:xfrm>
            <a:off x="10147927" y="2981913"/>
            <a:ext cx="1504576" cy="1490947"/>
          </a:xfrm>
          <a:prstGeom prst="roundRect">
            <a:avLst/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6A83C39-44FC-2B48-22B0-3B9FF6D7A54C}"/>
              </a:ext>
            </a:extLst>
          </p:cNvPr>
          <p:cNvSpPr/>
          <p:nvPr/>
        </p:nvSpPr>
        <p:spPr>
          <a:xfrm>
            <a:off x="10154672" y="4846473"/>
            <a:ext cx="226336" cy="835530"/>
          </a:xfrm>
          <a:prstGeom prst="roundRect">
            <a:avLst/>
          </a:prstGeom>
          <a:solidFill>
            <a:schemeClr val="accent6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6FA9-779C-0A62-6289-8CB00E3E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16374-4A03-B344-F237-0167E88876DE}"/>
              </a:ext>
            </a:extLst>
          </p:cNvPr>
          <p:cNvSpPr txBox="1"/>
          <p:nvPr/>
        </p:nvSpPr>
        <p:spPr>
          <a:xfrm>
            <a:off x="6480863" y="192815"/>
            <a:ext cx="4729180" cy="3893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"start!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"peer1"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"peer2"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"end!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EFA672-1106-5FBC-6A04-E7CDB548C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595" y="1373594"/>
            <a:ext cx="1342226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b="1" i="1" dirty="0"/>
              <a:t>main</a:t>
            </a:r>
            <a:r>
              <a:rPr lang="en-US" sz="1800" dirty="0"/>
              <a:t> thread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236B066F-0399-FF30-0947-0B4F1D1F34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4189" y="1754317"/>
            <a:ext cx="2092" cy="481665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AD3B928-6F51-C3F3-491B-01602300D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4192" y="2739040"/>
            <a:ext cx="1147861" cy="43497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DEE7817-2D6B-CDB4-EB05-7026BC5D7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3963" y="2364613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800" dirty="0"/>
              <a:t>peer thread </a:t>
            </a:r>
            <a:r>
              <a:rPr lang="en-US" sz="1800" b="1" i="1" dirty="0"/>
              <a:t>T2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CDD1DE2A-DDAB-AF3A-466E-E9526D0DD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2053" y="3174019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08CC1CF-CD0F-8D56-93E9-0D521C9B84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2894" y="4741862"/>
            <a:ext cx="1119158" cy="584314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B9EF028C-A055-DDBC-DDCF-69EA971FF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70" y="2338912"/>
            <a:ext cx="214308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(tid1)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7591DE10-49F7-CB8E-AE6E-588660ED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40" y="4086189"/>
            <a:ext cx="19054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77C5E-6D15-F29A-DE90-4A9CBA9708AA}"/>
              </a:ext>
            </a:extLst>
          </p:cNvPr>
          <p:cNvSpPr txBox="1"/>
          <p:nvPr/>
        </p:nvSpPr>
        <p:spPr>
          <a:xfrm>
            <a:off x="1139545" y="5841678"/>
            <a:ext cx="149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print("end!")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ADC50C69-E0E5-8EA1-C998-688036884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137" y="2364613"/>
            <a:ext cx="1033115" cy="646331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rIns="0" anchor="ctr">
            <a:spAutoFit/>
          </a:bodyPr>
          <a:lstStyle/>
          <a:p>
            <a:pPr algn="ctr"/>
            <a:r>
              <a:rPr lang="en-US" sz="1800" dirty="0"/>
              <a:t>peer thread </a:t>
            </a:r>
            <a:r>
              <a:rPr lang="en-US" sz="1800" b="1" i="1" dirty="0"/>
              <a:t>T1</a:t>
            </a: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DBBF8BAD-1CBC-6BA6-3EB4-738281569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5227" y="3174019"/>
            <a:ext cx="2090" cy="156784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C81BFE-0F0D-54AD-EF8F-932E2169B0BB}"/>
              </a:ext>
            </a:extLst>
          </p:cNvPr>
          <p:cNvSpPr txBox="1"/>
          <p:nvPr/>
        </p:nvSpPr>
        <p:spPr>
          <a:xfrm>
            <a:off x="3900903" y="3553295"/>
            <a:ext cx="882791" cy="646331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("peer1")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563EB77F-EAB0-BEDA-518D-FF92D9534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7310" y="2677448"/>
            <a:ext cx="2336620" cy="55378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8">
            <a:extLst>
              <a:ext uri="{FF2B5EF4-FFF2-40B4-BE49-F238E27FC236}">
                <a16:creationId xmlns:a16="http://schemas.microsoft.com/office/drawing/2014/main" id="{16E4A2A4-3FC6-DF86-38F4-C51E123B0E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3152" y="4741860"/>
            <a:ext cx="2249983" cy="65479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12">
            <a:extLst>
              <a:ext uri="{FF2B5EF4-FFF2-40B4-BE49-F238E27FC236}">
                <a16:creationId xmlns:a16="http://schemas.microsoft.com/office/drawing/2014/main" id="{50D194FA-3F79-A6FB-593F-7B6289ACD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11" y="2585008"/>
            <a:ext cx="214308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pthread_create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3CAB0B-41EC-6A33-9EB8-74E68E00C39D}"/>
              </a:ext>
            </a:extLst>
          </p:cNvPr>
          <p:cNvSpPr txBox="1"/>
          <p:nvPr/>
        </p:nvSpPr>
        <p:spPr>
          <a:xfrm>
            <a:off x="2766619" y="3564058"/>
            <a:ext cx="896816" cy="646331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</a:t>
            </a:r>
          </a:p>
          <a:p>
            <a:pPr algn="ct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("peer2")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Box 13">
            <a:extLst>
              <a:ext uri="{FF2B5EF4-FFF2-40B4-BE49-F238E27FC236}">
                <a16:creationId xmlns:a16="http://schemas.microsoft.com/office/drawing/2014/main" id="{4808C2D1-A093-023E-0AED-9E953A1B6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05" y="3811617"/>
            <a:ext cx="190545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pthread_join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(tid1)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749E19-3E2C-6863-A6AD-394CF9FBD4AB}"/>
              </a:ext>
            </a:extLst>
          </p:cNvPr>
          <p:cNvSpPr txBox="1"/>
          <p:nvPr/>
        </p:nvSpPr>
        <p:spPr>
          <a:xfrm>
            <a:off x="981957" y="3490583"/>
            <a:ext cx="1530737" cy="369332"/>
          </a:xfrm>
          <a:prstGeom prst="rect">
            <a:avLst/>
          </a:prstGeom>
          <a:solidFill>
            <a:schemeClr val="bg1">
              <a:alpha val="76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 ("main")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90F08E-BDA5-E206-375D-2BCC7F7226F0}"/>
              </a:ext>
            </a:extLst>
          </p:cNvPr>
          <p:cNvSpPr txBox="1"/>
          <p:nvPr/>
        </p:nvSpPr>
        <p:spPr>
          <a:xfrm>
            <a:off x="11291479" y="5205488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2CFD30-4127-419C-6CD7-C8E01D8811A8}"/>
              </a:ext>
            </a:extLst>
          </p:cNvPr>
          <p:cNvSpPr txBox="1"/>
          <p:nvPr/>
        </p:nvSpPr>
        <p:spPr>
          <a:xfrm>
            <a:off x="11291479" y="6033138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B94597-1282-A173-068C-6136714FB076}"/>
              </a:ext>
            </a:extLst>
          </p:cNvPr>
          <p:cNvSpPr txBox="1"/>
          <p:nvPr/>
        </p:nvSpPr>
        <p:spPr>
          <a:xfrm>
            <a:off x="1018008" y="2002276"/>
            <a:ext cx="151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print("start!")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8C7B0-06AA-F6DE-5542-AAE013CB973D}"/>
              </a:ext>
            </a:extLst>
          </p:cNvPr>
          <p:cNvSpPr txBox="1"/>
          <p:nvPr/>
        </p:nvSpPr>
        <p:spPr>
          <a:xfrm>
            <a:off x="585789" y="5326176"/>
            <a:ext cx="195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(from join())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F6D203-8E16-A373-C8F7-63C623A1CA75}"/>
              </a:ext>
            </a:extLst>
          </p:cNvPr>
          <p:cNvSpPr txBox="1"/>
          <p:nvPr/>
        </p:nvSpPr>
        <p:spPr>
          <a:xfrm>
            <a:off x="2699166" y="5228762"/>
            <a:ext cx="3643666" cy="851297"/>
          </a:xfrm>
          <a:prstGeom prst="wedgeRoundRectCallout">
            <a:avLst>
              <a:gd name="adj1" fmla="val -21371"/>
              <a:gd name="adj2" fmla="val -126028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Threads of </a:t>
            </a:r>
            <a:r>
              <a:rPr lang="en-US" sz="2000" b="1" i="1" dirty="0"/>
              <a:t>T1</a:t>
            </a:r>
            <a:r>
              <a:rPr lang="en-US" sz="2000" i="1" dirty="0"/>
              <a:t>, </a:t>
            </a:r>
            <a:r>
              <a:rPr lang="en-US" sz="2000" b="1" i="1" dirty="0"/>
              <a:t>T2</a:t>
            </a:r>
            <a:r>
              <a:rPr lang="en-US" sz="2000" i="1" dirty="0"/>
              <a:t>, &amp; </a:t>
            </a:r>
            <a:r>
              <a:rPr lang="en-US" sz="2000" b="1" i="1" dirty="0"/>
              <a:t>main</a:t>
            </a:r>
            <a:r>
              <a:rPr lang="en-US" sz="2000" i="1" dirty="0"/>
              <a:t> are </a:t>
            </a:r>
            <a:r>
              <a:rPr lang="en-US" sz="2400" b="1" i="1" u="sng" dirty="0"/>
              <a:t>concurrent</a:t>
            </a:r>
            <a:r>
              <a:rPr lang="en-US" sz="2000" i="1" dirty="0"/>
              <a:t> during this period!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1EC688B-DE10-215C-FB57-8DD683DD81D1}"/>
              </a:ext>
            </a:extLst>
          </p:cNvPr>
          <p:cNvSpPr/>
          <p:nvPr/>
        </p:nvSpPr>
        <p:spPr>
          <a:xfrm>
            <a:off x="585790" y="3347520"/>
            <a:ext cx="4662682" cy="1209228"/>
          </a:xfrm>
          <a:prstGeom prst="roundRect">
            <a:avLst/>
          </a:prstGeom>
          <a:solidFill>
            <a:schemeClr val="bg1">
              <a:alpha val="74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A8190B-6A13-C558-286E-A2077C5629A5}"/>
              </a:ext>
            </a:extLst>
          </p:cNvPr>
          <p:cNvSpPr txBox="1"/>
          <p:nvPr/>
        </p:nvSpPr>
        <p:spPr>
          <a:xfrm>
            <a:off x="11238047" y="4317017"/>
            <a:ext cx="558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4D941-B038-F5B9-DF79-782E3F8029F7}"/>
              </a:ext>
            </a:extLst>
          </p:cNvPr>
          <p:cNvSpPr txBox="1"/>
          <p:nvPr/>
        </p:nvSpPr>
        <p:spPr>
          <a:xfrm>
            <a:off x="6461806" y="4990946"/>
            <a:ext cx="4842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Since </a:t>
            </a:r>
            <a:r>
              <a:rPr lang="en-US" sz="2000" b="1" i="1" dirty="0"/>
              <a:t>main</a:t>
            </a:r>
            <a:r>
              <a:rPr lang="en-US" sz="2000" i="1" dirty="0"/>
              <a:t> thread creates </a:t>
            </a:r>
            <a:r>
              <a:rPr lang="en-US" sz="2000" b="1" i="1" dirty="0"/>
              <a:t>T1</a:t>
            </a:r>
            <a:r>
              <a:rPr lang="en-US" sz="2000" i="1" dirty="0"/>
              <a:t> before </a:t>
            </a:r>
            <a:r>
              <a:rPr lang="en-US" sz="2000" b="1" i="1" dirty="0"/>
              <a:t>T2</a:t>
            </a:r>
            <a:r>
              <a:rPr lang="en-US" sz="2000" i="1" dirty="0"/>
              <a:t>, is "T1" printed before "T2"?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B58DD8-E8A8-B39F-5D0A-9D87A7A11112}"/>
              </a:ext>
            </a:extLst>
          </p:cNvPr>
          <p:cNvSpPr txBox="1"/>
          <p:nvPr/>
        </p:nvSpPr>
        <p:spPr>
          <a:xfrm>
            <a:off x="6461806" y="5808511"/>
            <a:ext cx="4830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Can we determine if the </a:t>
            </a:r>
            <a:r>
              <a:rPr lang="en-US" sz="2000" b="1" i="1" dirty="0"/>
              <a:t>main</a:t>
            </a:r>
            <a:r>
              <a:rPr lang="en-US" sz="2000" i="1" dirty="0"/>
              <a:t> thread print "main" before, after or during </a:t>
            </a:r>
            <a:r>
              <a:rPr lang="en-US" sz="2000" b="1" i="1" dirty="0"/>
              <a:t>T1</a:t>
            </a:r>
            <a:r>
              <a:rPr lang="en-US" sz="2000" i="1" dirty="0"/>
              <a:t> and </a:t>
            </a:r>
            <a:r>
              <a:rPr lang="en-US" sz="2000" b="1" i="1" dirty="0"/>
              <a:t>T2</a:t>
            </a:r>
            <a:r>
              <a:rPr lang="en-US" sz="2000" i="1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DD4D6-DFC6-FEEA-A86B-3EC5AEBD138E}"/>
              </a:ext>
            </a:extLst>
          </p:cNvPr>
          <p:cNvSpPr txBox="1"/>
          <p:nvPr/>
        </p:nvSpPr>
        <p:spPr>
          <a:xfrm>
            <a:off x="6472829" y="4135532"/>
            <a:ext cx="4658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Since T1 is created after printing "start!", is "start!" printed before "T1"?</a:t>
            </a:r>
          </a:p>
        </p:txBody>
      </p:sp>
    </p:spTree>
    <p:extLst>
      <p:ext uri="{BB962C8B-B14F-4D97-AF65-F5344CB8AC3E}">
        <p14:creationId xmlns:p14="http://schemas.microsoft.com/office/powerpoint/2010/main" val="132359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E2E2-2182-6093-C7D1-EFBEACE6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FB2E0-EF84-6608-0056-EB287545F605}"/>
              </a:ext>
            </a:extLst>
          </p:cNvPr>
          <p:cNvSpPr txBox="1"/>
          <p:nvPr/>
        </p:nvSpPr>
        <p:spPr>
          <a:xfrm>
            <a:off x="308572" y="1470121"/>
            <a:ext cx="578742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60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-a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60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-b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"1"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"2"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EE83D-2A16-064B-4253-14F21227A404}"/>
              </a:ext>
            </a:extLst>
          </p:cNvPr>
          <p:cNvSpPr txBox="1"/>
          <p:nvPr/>
        </p:nvSpPr>
        <p:spPr>
          <a:xfrm>
            <a:off x="6618083" y="1919335"/>
            <a:ext cx="369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the following outcomes possible?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DE051-CBC0-8505-0B88-2C0B2C8C57EF}"/>
              </a:ext>
            </a:extLst>
          </p:cNvPr>
          <p:cNvSpPr txBox="1"/>
          <p:nvPr/>
        </p:nvSpPr>
        <p:spPr>
          <a:xfrm>
            <a:off x="7278980" y="2689155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1-a 1-b 2-a 2-b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4D10E-5FE6-2AAE-685B-FCEE5C09173E}"/>
              </a:ext>
            </a:extLst>
          </p:cNvPr>
          <p:cNvSpPr txBox="1"/>
          <p:nvPr/>
        </p:nvSpPr>
        <p:spPr>
          <a:xfrm>
            <a:off x="7278980" y="3428197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1-a 2-a main 2-b 1-b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E750A-FE89-C086-D279-FB46DC54E902}"/>
              </a:ext>
            </a:extLst>
          </p:cNvPr>
          <p:cNvSpPr txBox="1"/>
          <p:nvPr/>
        </p:nvSpPr>
        <p:spPr>
          <a:xfrm>
            <a:off x="7278980" y="4198017"/>
            <a:ext cx="2653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1-a 2-b 2-a 1-b main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730FFC-2128-0463-58A6-B6602255776A}"/>
              </a:ext>
            </a:extLst>
          </p:cNvPr>
          <p:cNvSpPr txBox="1"/>
          <p:nvPr/>
        </p:nvSpPr>
        <p:spPr>
          <a:xfrm>
            <a:off x="9850170" y="2634558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2176D6-B6DB-4407-74DC-A21C63129168}"/>
              </a:ext>
            </a:extLst>
          </p:cNvPr>
          <p:cNvSpPr txBox="1"/>
          <p:nvPr/>
        </p:nvSpPr>
        <p:spPr>
          <a:xfrm>
            <a:off x="9850170" y="3391590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9AE9B-1573-BC10-239A-120CCBE13A8E}"/>
              </a:ext>
            </a:extLst>
          </p:cNvPr>
          <p:cNvSpPr txBox="1"/>
          <p:nvPr/>
        </p:nvSpPr>
        <p:spPr>
          <a:xfrm>
            <a:off x="9850170" y="416141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73513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E2E2-2182-6093-C7D1-EFBEACE6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FB2E0-EF84-6608-0056-EB287545F605}"/>
              </a:ext>
            </a:extLst>
          </p:cNvPr>
          <p:cNvSpPr txBox="1"/>
          <p:nvPr/>
        </p:nvSpPr>
        <p:spPr>
          <a:xfrm>
            <a:off x="308572" y="1470121"/>
            <a:ext cx="5787428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"1"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"2"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"check"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EE83D-2A16-064B-4253-14F21227A404}"/>
              </a:ext>
            </a:extLst>
          </p:cNvPr>
          <p:cNvSpPr txBox="1"/>
          <p:nvPr/>
        </p:nvSpPr>
        <p:spPr>
          <a:xfrm>
            <a:off x="6618083" y="1919335"/>
            <a:ext cx="369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the following outcomes possible?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DE051-CBC0-8505-0B88-2C0B2C8C57EF}"/>
              </a:ext>
            </a:extLst>
          </p:cNvPr>
          <p:cNvSpPr txBox="1"/>
          <p:nvPr/>
        </p:nvSpPr>
        <p:spPr>
          <a:xfrm>
            <a:off x="7541529" y="2689155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1 2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CA238-D3BB-690B-0689-1AA1F6AB0263}"/>
              </a:ext>
            </a:extLst>
          </p:cNvPr>
          <p:cNvSpPr txBox="1"/>
          <p:nvPr/>
        </p:nvSpPr>
        <p:spPr>
          <a:xfrm>
            <a:off x="7541529" y="3422368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1 check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2D7B2-FD89-C1E6-F46A-AA78C042BADA}"/>
              </a:ext>
            </a:extLst>
          </p:cNvPr>
          <p:cNvSpPr txBox="1"/>
          <p:nvPr/>
        </p:nvSpPr>
        <p:spPr>
          <a:xfrm>
            <a:off x="7541528" y="4192188"/>
            <a:ext cx="1912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2 check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4DC86-9194-619C-E205-B1A96171D79E}"/>
              </a:ext>
            </a:extLst>
          </p:cNvPr>
          <p:cNvSpPr txBox="1"/>
          <p:nvPr/>
        </p:nvSpPr>
        <p:spPr>
          <a:xfrm>
            <a:off x="9850170" y="2634558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E3238-3A10-63BA-A3AD-B118B5AC3A56}"/>
              </a:ext>
            </a:extLst>
          </p:cNvPr>
          <p:cNvSpPr txBox="1"/>
          <p:nvPr/>
        </p:nvSpPr>
        <p:spPr>
          <a:xfrm>
            <a:off x="9850170" y="3391590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254F7-74F9-13B2-DDC4-81E6F8D1FECC}"/>
              </a:ext>
            </a:extLst>
          </p:cNvPr>
          <p:cNvSpPr txBox="1"/>
          <p:nvPr/>
        </p:nvSpPr>
        <p:spPr>
          <a:xfrm>
            <a:off x="9850170" y="416141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85555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  <p:bldP spid="8" grpId="0"/>
      <p:bldP spid="9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9C8E4-7A26-8D24-3E72-C7CD5026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55981-7EE2-D233-DEB4-619404067B3D}"/>
              </a:ext>
            </a:extLst>
          </p:cNvPr>
          <p:cNvSpPr txBox="1"/>
          <p:nvPr/>
        </p:nvSpPr>
        <p:spPr>
          <a:xfrm>
            <a:off x="995880" y="1321237"/>
            <a:ext cx="5017720" cy="5047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*func1(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*func2(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func1, str);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func2,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"main 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453E4-91AF-51A7-2D93-A7AA16331840}"/>
              </a:ext>
            </a:extLst>
          </p:cNvPr>
          <p:cNvSpPr txBox="1"/>
          <p:nvPr/>
        </p:nvSpPr>
        <p:spPr>
          <a:xfrm>
            <a:off x="6618083" y="1919335"/>
            <a:ext cx="369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the following outcomes possible?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B57E9-ABA1-0120-41D1-50C8DC6A889F}"/>
              </a:ext>
            </a:extLst>
          </p:cNvPr>
          <p:cNvSpPr txBox="1"/>
          <p:nvPr/>
        </p:nvSpPr>
        <p:spPr>
          <a:xfrm>
            <a:off x="6699560" y="2689155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 func1 func2 func1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51A1B-D82F-2690-1829-684D563E4F0C}"/>
              </a:ext>
            </a:extLst>
          </p:cNvPr>
          <p:cNvSpPr txBox="1"/>
          <p:nvPr/>
        </p:nvSpPr>
        <p:spPr>
          <a:xfrm>
            <a:off x="9850170" y="2634558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CAD47-12DF-F3D3-4CE6-88351E8CE0E4}"/>
              </a:ext>
            </a:extLst>
          </p:cNvPr>
          <p:cNvSpPr txBox="1"/>
          <p:nvPr/>
        </p:nvSpPr>
        <p:spPr>
          <a:xfrm>
            <a:off x="9850170" y="3391590"/>
            <a:ext cx="5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04757-D34E-DD54-1220-3CF03D907BF1}"/>
              </a:ext>
            </a:extLst>
          </p:cNvPr>
          <p:cNvSpPr txBox="1"/>
          <p:nvPr/>
        </p:nvSpPr>
        <p:spPr>
          <a:xfrm>
            <a:off x="9850170" y="4161410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CB81F-5B07-EECA-71B8-82110713B1F2}"/>
              </a:ext>
            </a:extLst>
          </p:cNvPr>
          <p:cNvSpPr txBox="1"/>
          <p:nvPr/>
        </p:nvSpPr>
        <p:spPr>
          <a:xfrm>
            <a:off x="6699560" y="3406979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func2 func1 func1 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8CE62-AC6F-56E3-57A6-60E2BA8F50FD}"/>
              </a:ext>
            </a:extLst>
          </p:cNvPr>
          <p:cNvSpPr txBox="1"/>
          <p:nvPr/>
        </p:nvSpPr>
        <p:spPr>
          <a:xfrm>
            <a:off x="6699560" y="4192188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func1 func1 func2 main</a:t>
            </a:r>
          </a:p>
        </p:txBody>
      </p:sp>
    </p:spTree>
    <p:extLst>
      <p:ext uri="{BB962C8B-B14F-4D97-AF65-F5344CB8AC3E}">
        <p14:creationId xmlns:p14="http://schemas.microsoft.com/office/powerpoint/2010/main" val="320333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and Concurrency</a:t>
            </a:r>
          </a:p>
          <a:p>
            <a:r>
              <a:rPr lang="en-US" b="1" dirty="0"/>
              <a:t>Data Sharing among threads</a:t>
            </a:r>
          </a:p>
          <a:p>
            <a:r>
              <a:rPr lang="en-US" dirty="0"/>
              <a:t>Arguments &amp; Return Values</a:t>
            </a:r>
          </a:p>
        </p:txBody>
      </p:sp>
    </p:spTree>
    <p:extLst>
      <p:ext uri="{BB962C8B-B14F-4D97-AF65-F5344CB8AC3E}">
        <p14:creationId xmlns:p14="http://schemas.microsoft.com/office/powerpoint/2010/main" val="428710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DBC70D6-52C7-208D-534B-FFB20605C8E5}"/>
              </a:ext>
            </a:extLst>
          </p:cNvPr>
          <p:cNvSpPr/>
          <p:nvPr/>
        </p:nvSpPr>
        <p:spPr>
          <a:xfrm>
            <a:off x="10739112" y="998436"/>
            <a:ext cx="622132" cy="1034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DAB85-AE31-C4B7-D840-EF32328F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(a more complete view)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77D5A-8713-5CCF-4848-00A05A471004}"/>
              </a:ext>
            </a:extLst>
          </p:cNvPr>
          <p:cNvSpPr/>
          <p:nvPr/>
        </p:nvSpPr>
        <p:spPr>
          <a:xfrm>
            <a:off x="8819580" y="1377353"/>
            <a:ext cx="1456102" cy="400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0A8DA-EF07-A96D-EDF7-32933E338569}"/>
              </a:ext>
            </a:extLst>
          </p:cNvPr>
          <p:cNvSpPr/>
          <p:nvPr/>
        </p:nvSpPr>
        <p:spPr>
          <a:xfrm>
            <a:off x="8819579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5C513-34CD-A44D-3F06-8779CC46367B}"/>
              </a:ext>
            </a:extLst>
          </p:cNvPr>
          <p:cNvSpPr/>
          <p:nvPr/>
        </p:nvSpPr>
        <p:spPr>
          <a:xfrm>
            <a:off x="8819388" y="6215567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F7D21-5BCE-D86E-2D60-CBAE68686778}"/>
              </a:ext>
            </a:extLst>
          </p:cNvPr>
          <p:cNvSpPr txBox="1"/>
          <p:nvPr/>
        </p:nvSpPr>
        <p:spPr>
          <a:xfrm>
            <a:off x="9115557" y="6282078"/>
            <a:ext cx="802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70484-8FB3-DBD0-332A-B7092B9F4DEE}"/>
              </a:ext>
            </a:extLst>
          </p:cNvPr>
          <p:cNvSpPr txBox="1"/>
          <p:nvPr/>
        </p:nvSpPr>
        <p:spPr>
          <a:xfrm>
            <a:off x="9136931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7DBDAB-D02B-94F2-CB96-6E508FD99836}"/>
              </a:ext>
            </a:extLst>
          </p:cNvPr>
          <p:cNvSpPr/>
          <p:nvPr/>
        </p:nvSpPr>
        <p:spPr>
          <a:xfrm>
            <a:off x="8819580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EE7468-8411-3C44-A2DA-62C848B28E00}"/>
              </a:ext>
            </a:extLst>
          </p:cNvPr>
          <p:cNvSpPr/>
          <p:nvPr/>
        </p:nvSpPr>
        <p:spPr>
          <a:xfrm>
            <a:off x="8819388" y="2257076"/>
            <a:ext cx="1456102" cy="453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6371F4-1E7A-B3BF-99A5-111B2D21E628}"/>
              </a:ext>
            </a:extLst>
          </p:cNvPr>
          <p:cNvSpPr/>
          <p:nvPr/>
        </p:nvSpPr>
        <p:spPr>
          <a:xfrm>
            <a:off x="8819388" y="5679553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40C1A-BDB8-FA01-6F9A-54C883537015}"/>
              </a:ext>
            </a:extLst>
          </p:cNvPr>
          <p:cNvSpPr txBox="1"/>
          <p:nvPr/>
        </p:nvSpPr>
        <p:spPr>
          <a:xfrm>
            <a:off x="9137229" y="5746064"/>
            <a:ext cx="754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38B24F-4937-D7DB-6582-E09A6F16B530}"/>
              </a:ext>
            </a:extLst>
          </p:cNvPr>
          <p:cNvSpPr txBox="1"/>
          <p:nvPr/>
        </p:nvSpPr>
        <p:spPr>
          <a:xfrm>
            <a:off x="8688669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(T0)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912087-641A-E454-2698-CA46ED7CAD5B}"/>
              </a:ext>
            </a:extLst>
          </p:cNvPr>
          <p:cNvSpPr txBox="1"/>
          <p:nvPr/>
        </p:nvSpPr>
        <p:spPr>
          <a:xfrm>
            <a:off x="8837315" y="2264196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066B57-99B0-667B-66F4-9A6EEB8464F7}"/>
              </a:ext>
            </a:extLst>
          </p:cNvPr>
          <p:cNvSpPr/>
          <p:nvPr/>
        </p:nvSpPr>
        <p:spPr>
          <a:xfrm>
            <a:off x="8819388" y="3207522"/>
            <a:ext cx="1456102" cy="453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3D9E5-FFF9-F93F-7685-2BF419623E90}"/>
              </a:ext>
            </a:extLst>
          </p:cNvPr>
          <p:cNvSpPr txBox="1"/>
          <p:nvPr/>
        </p:nvSpPr>
        <p:spPr>
          <a:xfrm>
            <a:off x="8837315" y="3214642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(T2)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6AD6777-27AC-0CCE-8BC6-FD74B67B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86" y="1313353"/>
            <a:ext cx="7476889" cy="552303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Memory space is </a:t>
            </a:r>
            <a:r>
              <a:rPr lang="en-US" b="1" dirty="0"/>
              <a:t>shared</a:t>
            </a:r>
            <a:r>
              <a:rPr lang="en-US" dirty="0"/>
              <a:t> by all threads</a:t>
            </a:r>
          </a:p>
          <a:p>
            <a:endParaRPr lang="en-US" dirty="0"/>
          </a:p>
          <a:p>
            <a:r>
              <a:rPr lang="en-US" dirty="0"/>
              <a:t>Each thread (main or peer thread) has its own </a:t>
            </a:r>
            <a:r>
              <a:rPr lang="en-US" b="1" dirty="0"/>
              <a:t>stack</a:t>
            </a:r>
            <a:r>
              <a:rPr lang="en-US" dirty="0"/>
              <a:t> segment</a:t>
            </a:r>
          </a:p>
          <a:p>
            <a:pPr lvl="1"/>
            <a:r>
              <a:rPr lang="en-US" dirty="0"/>
              <a:t>stack frames created by function calls within the thread</a:t>
            </a:r>
          </a:p>
          <a:p>
            <a:pPr lvl="1"/>
            <a:r>
              <a:rPr lang="en-US" dirty="0"/>
              <a:t>BUT local variables </a:t>
            </a:r>
            <a:r>
              <a:rPr lang="en-US" b="1" dirty="0"/>
              <a:t>cannot</a:t>
            </a:r>
            <a:r>
              <a:rPr lang="en-US" dirty="0"/>
              <a:t> be directly accessed by other threads, but this can be done via pointers</a:t>
            </a:r>
          </a:p>
          <a:p>
            <a:endParaRPr lang="en-US" dirty="0"/>
          </a:p>
          <a:p>
            <a:r>
              <a:rPr lang="en-US" b="1" dirty="0"/>
              <a:t>Heap</a:t>
            </a:r>
            <a:r>
              <a:rPr lang="en-US" dirty="0"/>
              <a:t> segment is shared across all threads</a:t>
            </a:r>
          </a:p>
          <a:p>
            <a:pPr lvl="1"/>
            <a:r>
              <a:rPr lang="en-US" dirty="0"/>
              <a:t>A block allocated by one thread can be accessed by another thread</a:t>
            </a:r>
          </a:p>
          <a:p>
            <a:endParaRPr lang="en-US" dirty="0"/>
          </a:p>
          <a:p>
            <a:r>
              <a:rPr lang="en-US" b="1" dirty="0"/>
              <a:t>Data</a:t>
            </a:r>
            <a:r>
              <a:rPr lang="en-US" dirty="0"/>
              <a:t> segment contains global variables and is shared by all threads</a:t>
            </a:r>
          </a:p>
          <a:p>
            <a:endParaRPr lang="en-US" dirty="0"/>
          </a:p>
          <a:p>
            <a:r>
              <a:rPr lang="en-US" b="1" dirty="0"/>
              <a:t>Code </a:t>
            </a:r>
            <a:r>
              <a:rPr lang="en-US" dirty="0"/>
              <a:t>segment is shared by all threads</a:t>
            </a:r>
          </a:p>
          <a:p>
            <a:pPr lvl="1"/>
            <a:r>
              <a:rPr lang="en-US" dirty="0"/>
              <a:t>Formal name is "text segment"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F64916-4E52-AF8B-CA42-92CB0DDB687D}"/>
              </a:ext>
            </a:extLst>
          </p:cNvPr>
          <p:cNvSpPr/>
          <p:nvPr/>
        </p:nvSpPr>
        <p:spPr>
          <a:xfrm>
            <a:off x="10739112" y="994698"/>
            <a:ext cx="622132" cy="25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4AA051-4054-5FAB-48D4-BA40FBF0EE6A}"/>
              </a:ext>
            </a:extLst>
          </p:cNvPr>
          <p:cNvSpPr/>
          <p:nvPr/>
        </p:nvSpPr>
        <p:spPr>
          <a:xfrm>
            <a:off x="10739112" y="1249801"/>
            <a:ext cx="622132" cy="25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5647E6-6CD7-97D7-7601-9EC63474DB3E}"/>
              </a:ext>
            </a:extLst>
          </p:cNvPr>
          <p:cNvSpPr/>
          <p:nvPr/>
        </p:nvSpPr>
        <p:spPr>
          <a:xfrm>
            <a:off x="10739112" y="1777912"/>
            <a:ext cx="622132" cy="25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05F944-2E5B-F9C2-0D07-D48F72552929}"/>
              </a:ext>
            </a:extLst>
          </p:cNvPr>
          <p:cNvSpPr txBox="1"/>
          <p:nvPr/>
        </p:nvSpPr>
        <p:spPr>
          <a:xfrm rot="5400000">
            <a:off x="10918480" y="145363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F5C5D24-606A-93B0-9698-DD84EE95FE6F}"/>
              </a:ext>
            </a:extLst>
          </p:cNvPr>
          <p:cNvCxnSpPr/>
          <p:nvPr/>
        </p:nvCxnSpPr>
        <p:spPr>
          <a:xfrm flipV="1">
            <a:off x="10293417" y="990622"/>
            <a:ext cx="445695" cy="386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E6AFBF-1061-C42E-D235-088CEFD79615}"/>
              </a:ext>
            </a:extLst>
          </p:cNvPr>
          <p:cNvCxnSpPr>
            <a:cxnSpLocks/>
          </p:cNvCxnSpPr>
          <p:nvPr/>
        </p:nvCxnSpPr>
        <p:spPr>
          <a:xfrm>
            <a:off x="10271400" y="1777464"/>
            <a:ext cx="467712" cy="262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360C911-E485-2C33-AD73-95AF32E10B66}"/>
              </a:ext>
            </a:extLst>
          </p:cNvPr>
          <p:cNvSpPr txBox="1"/>
          <p:nvPr/>
        </p:nvSpPr>
        <p:spPr>
          <a:xfrm>
            <a:off x="10526079" y="2064559"/>
            <a:ext cx="16703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frames</a:t>
            </a:r>
          </a:p>
          <a:p>
            <a:r>
              <a:rPr lang="en-US" dirty="0"/>
              <a:t>of function calls</a:t>
            </a:r>
          </a:p>
        </p:txBody>
      </p:sp>
    </p:spTree>
    <p:extLst>
      <p:ext uri="{BB962C8B-B14F-4D97-AF65-F5344CB8AC3E}">
        <p14:creationId xmlns:p14="http://schemas.microsoft.com/office/powerpoint/2010/main" val="1176948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AB85-AE31-C4B7-D840-EF32328F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97"/>
            <a:ext cx="10515600" cy="68302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FD7617-6CC2-28F8-53BF-CDDAAA9F42F6}"/>
              </a:ext>
            </a:extLst>
          </p:cNvPr>
          <p:cNvSpPr txBox="1"/>
          <p:nvPr/>
        </p:nvSpPr>
        <p:spPr>
          <a:xfrm>
            <a:off x="703658" y="754301"/>
            <a:ext cx="4500097" cy="59170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pthread.h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35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sums[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end = n+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500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*total =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35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*total += n;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35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(++n &lt; end);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sums[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*total;</a:t>
            </a:r>
          </a:p>
          <a:p>
            <a:r>
              <a:rPr lang="en-US" sz="1350" dirty="0">
                <a:solidFill>
                  <a:srgbClr val="C1651C"/>
                </a:solidFill>
                <a:latin typeface="Menlo" panose="020B0609030804020204" pitchFamily="49" charset="0"/>
              </a:rPr>
              <a:t>  return</a:t>
            </a:r>
            <a:r>
              <a:rPr lang="en-US" sz="135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350" dirty="0">
                <a:solidFill>
                  <a:srgbClr val="B42419"/>
                </a:solidFill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</a:p>
          <a:p>
            <a:endParaRPr lang="en-US" sz="135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tid1, tid2;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(&amp;tid1,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(&amp;tid2,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(tid1,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(tid2, 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*total = 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35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*total = sums[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]+sums[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5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5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35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*total);</a:t>
            </a:r>
          </a:p>
          <a:p>
            <a:r>
              <a:rPr lang="en-US" sz="135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67FC8-A988-4D3E-DF3E-F94C6A684A4C}"/>
              </a:ext>
            </a:extLst>
          </p:cNvPr>
          <p:cNvSpPr/>
          <p:nvPr/>
        </p:nvSpPr>
        <p:spPr>
          <a:xfrm>
            <a:off x="10050848" y="1377353"/>
            <a:ext cx="1456102" cy="400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E75B55-85A3-DBE9-C14B-3BE217F138E0}"/>
              </a:ext>
            </a:extLst>
          </p:cNvPr>
          <p:cNvSpPr/>
          <p:nvPr/>
        </p:nvSpPr>
        <p:spPr>
          <a:xfrm>
            <a:off x="10050847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E79660-93F8-2EC7-739C-E46FE22AF5B3}"/>
              </a:ext>
            </a:extLst>
          </p:cNvPr>
          <p:cNvSpPr/>
          <p:nvPr/>
        </p:nvSpPr>
        <p:spPr>
          <a:xfrm>
            <a:off x="10050656" y="6215567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16C3C-8FE4-FD17-09FB-1CC1A225A6C9}"/>
              </a:ext>
            </a:extLst>
          </p:cNvPr>
          <p:cNvSpPr txBox="1"/>
          <p:nvPr/>
        </p:nvSpPr>
        <p:spPr>
          <a:xfrm>
            <a:off x="10346825" y="6282078"/>
            <a:ext cx="802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9E4FA0-1F3A-55FE-2485-44CCCB1AB5EF}"/>
              </a:ext>
            </a:extLst>
          </p:cNvPr>
          <p:cNvSpPr txBox="1"/>
          <p:nvPr/>
        </p:nvSpPr>
        <p:spPr>
          <a:xfrm>
            <a:off x="10368199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48EC7F-EA18-D0A7-37F1-EEB5037740DB}"/>
              </a:ext>
            </a:extLst>
          </p:cNvPr>
          <p:cNvSpPr/>
          <p:nvPr/>
        </p:nvSpPr>
        <p:spPr>
          <a:xfrm>
            <a:off x="10050848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B9F82-8792-12FA-A288-7918E7DE8363}"/>
              </a:ext>
            </a:extLst>
          </p:cNvPr>
          <p:cNvSpPr/>
          <p:nvPr/>
        </p:nvSpPr>
        <p:spPr>
          <a:xfrm>
            <a:off x="10050656" y="2257076"/>
            <a:ext cx="1456102" cy="453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773F96-9362-623F-05D3-16DF6CE3F3B3}"/>
              </a:ext>
            </a:extLst>
          </p:cNvPr>
          <p:cNvSpPr/>
          <p:nvPr/>
        </p:nvSpPr>
        <p:spPr>
          <a:xfrm>
            <a:off x="10050656" y="5679553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178DB1-EE04-95F3-19A8-055770BFE5E7}"/>
              </a:ext>
            </a:extLst>
          </p:cNvPr>
          <p:cNvSpPr txBox="1"/>
          <p:nvPr/>
        </p:nvSpPr>
        <p:spPr>
          <a:xfrm>
            <a:off x="10368497" y="5746064"/>
            <a:ext cx="754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4EBB4D-9FAE-AF53-EF94-47D9FFAAA44A}"/>
              </a:ext>
            </a:extLst>
          </p:cNvPr>
          <p:cNvSpPr txBox="1"/>
          <p:nvPr/>
        </p:nvSpPr>
        <p:spPr>
          <a:xfrm>
            <a:off x="10084255" y="1313353"/>
            <a:ext cx="140408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5F4BD9-4856-C2D5-A0B0-9069CCFB5344}"/>
              </a:ext>
            </a:extLst>
          </p:cNvPr>
          <p:cNvSpPr txBox="1"/>
          <p:nvPr/>
        </p:nvSpPr>
        <p:spPr>
          <a:xfrm>
            <a:off x="10068583" y="2264196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172C78-3F8F-722C-2DA5-6B3DDB1F1004}"/>
              </a:ext>
            </a:extLst>
          </p:cNvPr>
          <p:cNvSpPr/>
          <p:nvPr/>
        </p:nvSpPr>
        <p:spPr>
          <a:xfrm>
            <a:off x="10050656" y="3207522"/>
            <a:ext cx="1456102" cy="4538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7CF120-D798-6532-E010-43E1B42C8475}"/>
              </a:ext>
            </a:extLst>
          </p:cNvPr>
          <p:cNvSpPr txBox="1"/>
          <p:nvPr/>
        </p:nvSpPr>
        <p:spPr>
          <a:xfrm>
            <a:off x="10068583" y="3214642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(T2)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2E36D2-FB28-3AB3-69B4-9683F6FA0387}"/>
              </a:ext>
            </a:extLst>
          </p:cNvPr>
          <p:cNvSpPr txBox="1"/>
          <p:nvPr/>
        </p:nvSpPr>
        <p:spPr>
          <a:xfrm>
            <a:off x="6263301" y="1347074"/>
            <a:ext cx="1715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Global variables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7D87ED-CB0B-829C-7404-C691438F84AB}"/>
              </a:ext>
            </a:extLst>
          </p:cNvPr>
          <p:cNvSpPr txBox="1"/>
          <p:nvPr/>
        </p:nvSpPr>
        <p:spPr>
          <a:xfrm>
            <a:off x="6768543" y="1642996"/>
            <a:ext cx="67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  <a:p>
            <a:pPr algn="ctr"/>
            <a:r>
              <a:rPr lang="en-US" dirty="0"/>
              <a:t>sums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B36A5-376D-0CA3-489F-A74969B39A58}"/>
              </a:ext>
            </a:extLst>
          </p:cNvPr>
          <p:cNvSpPr txBox="1"/>
          <p:nvPr/>
        </p:nvSpPr>
        <p:spPr>
          <a:xfrm>
            <a:off x="5899056" y="2812716"/>
            <a:ext cx="10039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arg.T1</a:t>
            </a:r>
          </a:p>
          <a:p>
            <a:pPr algn="ctr"/>
            <a:r>
              <a:rPr lang="en-US" dirty="0"/>
              <a:t>i.T1</a:t>
            </a:r>
          </a:p>
          <a:p>
            <a:pPr algn="ctr"/>
            <a:r>
              <a:rPr lang="en-US" dirty="0"/>
              <a:t>n.T1</a:t>
            </a:r>
          </a:p>
          <a:p>
            <a:pPr algn="ctr"/>
            <a:r>
              <a:rPr lang="en-US" dirty="0"/>
              <a:t>end.T1</a:t>
            </a:r>
          </a:p>
          <a:p>
            <a:pPr algn="ctr"/>
            <a:r>
              <a:rPr lang="en-US" dirty="0"/>
              <a:t>total.T1</a:t>
            </a:r>
          </a:p>
          <a:p>
            <a:pPr algn="ctr"/>
            <a:r>
              <a:rPr lang="en-US" dirty="0"/>
              <a:t>*total.T1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65965D-A531-E5AB-60F5-847ADFB13483}"/>
              </a:ext>
            </a:extLst>
          </p:cNvPr>
          <p:cNvSpPr txBox="1"/>
          <p:nvPr/>
        </p:nvSpPr>
        <p:spPr>
          <a:xfrm>
            <a:off x="7029435" y="2834559"/>
            <a:ext cx="10039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arg.T2</a:t>
            </a:r>
          </a:p>
          <a:p>
            <a:pPr algn="ctr"/>
            <a:r>
              <a:rPr lang="en-US" dirty="0"/>
              <a:t>i.T2</a:t>
            </a:r>
          </a:p>
          <a:p>
            <a:pPr algn="ctr"/>
            <a:r>
              <a:rPr lang="en-US" dirty="0"/>
              <a:t>n.T2</a:t>
            </a:r>
          </a:p>
          <a:p>
            <a:pPr algn="ctr"/>
            <a:r>
              <a:rPr lang="en-US" dirty="0"/>
              <a:t>end.T2</a:t>
            </a:r>
          </a:p>
          <a:p>
            <a:pPr algn="ctr"/>
            <a:r>
              <a:rPr lang="en-US" dirty="0"/>
              <a:t>total.T2</a:t>
            </a:r>
          </a:p>
          <a:p>
            <a:pPr algn="ctr"/>
            <a:r>
              <a:rPr lang="en-US" dirty="0"/>
              <a:t>*total.T2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D842D6-B24E-E6BC-7290-ED92240A02DB}"/>
              </a:ext>
            </a:extLst>
          </p:cNvPr>
          <p:cNvSpPr txBox="1"/>
          <p:nvPr/>
        </p:nvSpPr>
        <p:spPr>
          <a:xfrm>
            <a:off x="6681849" y="4886201"/>
            <a:ext cx="7342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tid1</a:t>
            </a:r>
          </a:p>
          <a:p>
            <a:pPr algn="ctr"/>
            <a:r>
              <a:rPr lang="en-US" dirty="0"/>
              <a:t>tid2</a:t>
            </a:r>
          </a:p>
          <a:p>
            <a:pPr algn="ctr"/>
            <a:r>
              <a:rPr lang="en-US" dirty="0"/>
              <a:t>total</a:t>
            </a:r>
          </a:p>
          <a:p>
            <a:pPr algn="ctr"/>
            <a:r>
              <a:rPr lang="en-US" dirty="0"/>
              <a:t>*total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9776EF-DBA7-1011-738E-3FE9BCBB8D9F}"/>
              </a:ext>
            </a:extLst>
          </p:cNvPr>
          <p:cNvSpPr txBox="1"/>
          <p:nvPr/>
        </p:nvSpPr>
        <p:spPr>
          <a:xfrm>
            <a:off x="5658416" y="4581048"/>
            <a:ext cx="2555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Local variables in main():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4C562A-0823-6CB8-C4B0-66D9DE6D4A02}"/>
              </a:ext>
            </a:extLst>
          </p:cNvPr>
          <p:cNvSpPr txBox="1"/>
          <p:nvPr/>
        </p:nvSpPr>
        <p:spPr>
          <a:xfrm>
            <a:off x="5658415" y="2477000"/>
            <a:ext cx="2335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Local variable in </a:t>
            </a:r>
            <a:r>
              <a:rPr lang="en-US" b="1" dirty="0" err="1"/>
              <a:t>func</a:t>
            </a:r>
            <a:r>
              <a:rPr lang="en-US" b="1" dirty="0"/>
              <a:t>()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D7899A3-E243-2CA3-F0A7-D090A97BD647}"/>
              </a:ext>
            </a:extLst>
          </p:cNvPr>
          <p:cNvSpPr/>
          <p:nvPr/>
        </p:nvSpPr>
        <p:spPr>
          <a:xfrm>
            <a:off x="6656946" y="1662279"/>
            <a:ext cx="930298" cy="6292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99F679-20BB-4B4A-BA77-24A6B27A52C8}"/>
              </a:ext>
            </a:extLst>
          </p:cNvPr>
          <p:cNvCxnSpPr>
            <a:cxnSpLocks/>
            <a:stCxn id="52" idx="3"/>
            <a:endCxn id="25" idx="1"/>
          </p:cNvCxnSpPr>
          <p:nvPr/>
        </p:nvCxnSpPr>
        <p:spPr>
          <a:xfrm>
            <a:off x="7587244" y="1976906"/>
            <a:ext cx="2463412" cy="39692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61FB9F1-72CD-8775-34CD-4F5A743C4F69}"/>
              </a:ext>
            </a:extLst>
          </p:cNvPr>
          <p:cNvSpPr/>
          <p:nvPr/>
        </p:nvSpPr>
        <p:spPr>
          <a:xfrm>
            <a:off x="5988122" y="2836858"/>
            <a:ext cx="857154" cy="13826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D83F149-9CED-DBA7-4C35-D08D41F274F9}"/>
              </a:ext>
            </a:extLst>
          </p:cNvPr>
          <p:cNvCxnSpPr>
            <a:cxnSpLocks/>
            <a:stCxn id="57" idx="3"/>
            <a:endCxn id="34" idx="1"/>
          </p:cNvCxnSpPr>
          <p:nvPr/>
        </p:nvCxnSpPr>
        <p:spPr>
          <a:xfrm flipV="1">
            <a:off x="6845276" y="2464251"/>
            <a:ext cx="3223307" cy="10639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EB8C006-E966-D454-D1FE-533C4D8B12C7}"/>
              </a:ext>
            </a:extLst>
          </p:cNvPr>
          <p:cNvSpPr/>
          <p:nvPr/>
        </p:nvSpPr>
        <p:spPr>
          <a:xfrm>
            <a:off x="7089533" y="2836858"/>
            <a:ext cx="857154" cy="13826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54B195-17A9-7B74-FFB0-F290ECEFFE24}"/>
              </a:ext>
            </a:extLst>
          </p:cNvPr>
          <p:cNvCxnSpPr>
            <a:cxnSpLocks/>
            <a:stCxn id="62" idx="3"/>
            <a:endCxn id="37" idx="1"/>
          </p:cNvCxnSpPr>
          <p:nvPr/>
        </p:nvCxnSpPr>
        <p:spPr>
          <a:xfrm flipV="1">
            <a:off x="7946687" y="3414697"/>
            <a:ext cx="2121896" cy="113509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661D03-82C3-D6F5-0816-90869EC49DF3}"/>
              </a:ext>
            </a:extLst>
          </p:cNvPr>
          <p:cNvSpPr/>
          <p:nvPr/>
        </p:nvSpPr>
        <p:spPr>
          <a:xfrm>
            <a:off x="6656493" y="4933288"/>
            <a:ext cx="857154" cy="81277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D2D2422-CC9E-9B1F-C01C-9EE2FC513D52}"/>
              </a:ext>
            </a:extLst>
          </p:cNvPr>
          <p:cNvCxnSpPr>
            <a:cxnSpLocks/>
            <a:stCxn id="67" idx="3"/>
            <a:endCxn id="11" idx="1"/>
          </p:cNvCxnSpPr>
          <p:nvPr/>
        </p:nvCxnSpPr>
        <p:spPr>
          <a:xfrm flipV="1">
            <a:off x="7513647" y="1577409"/>
            <a:ext cx="2537201" cy="37622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26FF9879-3E23-D9F8-462E-D556677D2A90}"/>
              </a:ext>
            </a:extLst>
          </p:cNvPr>
          <p:cNvSpPr/>
          <p:nvPr/>
        </p:nvSpPr>
        <p:spPr>
          <a:xfrm>
            <a:off x="5969240" y="4251503"/>
            <a:ext cx="1977447" cy="23633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D32465A-8B29-E42A-A3E0-D2E4774195E5}"/>
              </a:ext>
            </a:extLst>
          </p:cNvPr>
          <p:cNvCxnSpPr>
            <a:cxnSpLocks/>
            <a:stCxn id="70" idx="3"/>
            <a:endCxn id="13" idx="1"/>
          </p:cNvCxnSpPr>
          <p:nvPr/>
        </p:nvCxnSpPr>
        <p:spPr>
          <a:xfrm>
            <a:off x="7946687" y="4369671"/>
            <a:ext cx="2104160" cy="92696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F5CA615A-4CD4-2490-66B4-2C6F45F27743}"/>
              </a:ext>
            </a:extLst>
          </p:cNvPr>
          <p:cNvSpPr/>
          <p:nvPr/>
        </p:nvSpPr>
        <p:spPr>
          <a:xfrm>
            <a:off x="6646512" y="5775752"/>
            <a:ext cx="857155" cy="23633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F8699D7-5E27-9269-3B4D-B69E712EF9E7}"/>
              </a:ext>
            </a:extLst>
          </p:cNvPr>
          <p:cNvCxnSpPr>
            <a:cxnSpLocks/>
            <a:stCxn id="75" idx="3"/>
            <a:endCxn id="13" idx="1"/>
          </p:cNvCxnSpPr>
          <p:nvPr/>
        </p:nvCxnSpPr>
        <p:spPr>
          <a:xfrm flipV="1">
            <a:off x="7503667" y="5296633"/>
            <a:ext cx="2547180" cy="5972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3544FBEA-C9AD-F835-90C0-5CD4AF43E5DC}"/>
              </a:ext>
            </a:extLst>
          </p:cNvPr>
          <p:cNvSpPr/>
          <p:nvPr/>
        </p:nvSpPr>
        <p:spPr>
          <a:xfrm>
            <a:off x="3840098" y="4905596"/>
            <a:ext cx="609365" cy="48133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F57185D-660B-5964-823D-40273ECD12C9}"/>
              </a:ext>
            </a:extLst>
          </p:cNvPr>
          <p:cNvCxnSpPr>
            <a:cxnSpLocks/>
            <a:stCxn id="80" idx="3"/>
            <a:endCxn id="14" idx="1"/>
          </p:cNvCxnSpPr>
          <p:nvPr/>
        </p:nvCxnSpPr>
        <p:spPr>
          <a:xfrm>
            <a:off x="4449463" y="5146264"/>
            <a:ext cx="5601193" cy="13358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57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 animBg="1"/>
      <p:bldP spid="57" grpId="0" animBg="1"/>
      <p:bldP spid="62" grpId="0" animBg="1"/>
      <p:bldP spid="67" grpId="0" animBg="1"/>
      <p:bldP spid="70" grpId="0" animBg="1"/>
      <p:bldP spid="75" grpId="0" animBg="1"/>
      <p:bldP spid="8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2F63-3A5A-6C57-C3FD-D7D91D04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Yet another view of threads</a:t>
            </a:r>
            <a:br>
              <a:rPr lang="en-US" dirty="0"/>
            </a:br>
            <a:r>
              <a:rPr lang="en-US" dirty="0"/>
              <a:t>What is shared and what is not shared?</a:t>
            </a:r>
          </a:p>
        </p:txBody>
      </p:sp>
      <p:sp>
        <p:nvSpPr>
          <p:cNvPr id="4" name="Oval 17">
            <a:extLst>
              <a:ext uri="{FF2B5EF4-FFF2-40B4-BE49-F238E27FC236}">
                <a16:creationId xmlns:a16="http://schemas.microsoft.com/office/drawing/2014/main" id="{47E28D23-0C25-92A8-4020-E39A4437D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89" y="2858352"/>
            <a:ext cx="9144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Thread-4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5FF417B1-2AC1-FB09-4871-71153BDFF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458" y="2345651"/>
            <a:ext cx="4202112" cy="281940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3C7B26B1-A9F5-E107-E969-BF35C538C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5783" y="1872854"/>
            <a:ext cx="93346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/>
              <a:t>Threads</a:t>
            </a:r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238A590B-9772-E2A6-E994-7A160982B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095" y="2421851"/>
            <a:ext cx="9144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Thread-5</a:t>
            </a:r>
          </a:p>
        </p:txBody>
      </p:sp>
      <p:sp>
        <p:nvSpPr>
          <p:cNvPr id="8" name="Oval 22">
            <a:extLst>
              <a:ext uri="{FF2B5EF4-FFF2-40B4-BE49-F238E27FC236}">
                <a16:creationId xmlns:a16="http://schemas.microsoft.com/office/drawing/2014/main" id="{215BF702-C820-510A-8335-52FBC3DC4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570" y="2585616"/>
            <a:ext cx="9144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Thread-1</a:t>
            </a:r>
          </a:p>
        </p:txBody>
      </p:sp>
      <p:sp>
        <p:nvSpPr>
          <p:cNvPr id="9" name="Oval 23">
            <a:extLst>
              <a:ext uri="{FF2B5EF4-FFF2-40B4-BE49-F238E27FC236}">
                <a16:creationId xmlns:a16="http://schemas.microsoft.com/office/drawing/2014/main" id="{84374F80-21D6-46E4-9D9D-A83BDF83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2495" y="4555451"/>
            <a:ext cx="9144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Thread-3</a:t>
            </a:r>
          </a:p>
        </p:txBody>
      </p:sp>
      <p:sp>
        <p:nvSpPr>
          <p:cNvPr id="10" name="Oval 24">
            <a:extLst>
              <a:ext uri="{FF2B5EF4-FFF2-40B4-BE49-F238E27FC236}">
                <a16:creationId xmlns:a16="http://schemas.microsoft.com/office/drawing/2014/main" id="{D7B6BCDE-DB45-8497-10AC-EFBEE0EBD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295" y="4479251"/>
            <a:ext cx="9144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Thread-2</a:t>
            </a: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8B82A03E-B503-C32A-B376-1862CBD59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499" y="3412451"/>
            <a:ext cx="1997068" cy="6096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/>
              <a:t>shared code, data</a:t>
            </a:r>
          </a:p>
        </p:txBody>
      </p:sp>
      <p:sp>
        <p:nvSpPr>
          <p:cNvPr id="12" name="Line 26">
            <a:extLst>
              <a:ext uri="{FF2B5EF4-FFF2-40B4-BE49-F238E27FC236}">
                <a16:creationId xmlns:a16="http://schemas.microsoft.com/office/drawing/2014/main" id="{A2063666-34A9-FDA2-A50C-4545B2564C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5895" y="4022051"/>
            <a:ext cx="30480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F09D7373-40E6-BF95-F974-43C937E4E0D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13695" y="4022051"/>
            <a:ext cx="22860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25E9B535-9036-392A-9F4B-17043B54CC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88705" y="3315552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E4E370AD-B076-9ABD-4B33-DAF785F0F5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9295" y="2879051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604373CB-0223-3608-F712-46E7829618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8495" y="3031451"/>
            <a:ext cx="45720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5755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AB6B-78CF-8D32-C21E-7657379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Across 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84F45-9B17-B088-8957-4F3CED916EFB}"/>
              </a:ext>
            </a:extLst>
          </p:cNvPr>
          <p:cNvSpPr txBox="1"/>
          <p:nvPr/>
        </p:nvSpPr>
        <p:spPr>
          <a:xfrm>
            <a:off x="758229" y="1642135"/>
            <a:ext cx="59141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"foo"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"bar"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{s1, s2};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29BEB-F0B4-78AB-9154-9068F3B23A14}"/>
              </a:ext>
            </a:extLst>
          </p:cNvPr>
          <p:cNvSpPr txBox="1"/>
          <p:nvPr/>
        </p:nvSpPr>
        <p:spPr>
          <a:xfrm>
            <a:off x="7454719" y="2257261"/>
            <a:ext cx="3899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Will </a:t>
            </a:r>
            <a:r>
              <a:rPr lang="en-US" sz="2400" dirty="0" err="1"/>
              <a:t>func</a:t>
            </a:r>
            <a:r>
              <a:rPr lang="en-US" sz="2400" dirty="0"/>
              <a:t> print "foo" or "bar"?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8B765-9B7B-9482-5287-4F8D6FDCC029}"/>
              </a:ext>
            </a:extLst>
          </p:cNvPr>
          <p:cNvSpPr txBox="1"/>
          <p:nvPr/>
        </p:nvSpPr>
        <p:spPr>
          <a:xfrm>
            <a:off x="7454719" y="2718926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16882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AB6B-78CF-8D32-C21E-7657379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Across 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84F45-9B17-B088-8957-4F3CED916EFB}"/>
              </a:ext>
            </a:extLst>
          </p:cNvPr>
          <p:cNvSpPr txBox="1"/>
          <p:nvPr/>
        </p:nvSpPr>
        <p:spPr>
          <a:xfrm>
            <a:off x="758229" y="1642135"/>
            <a:ext cx="6629400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*str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str);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"foo"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"bar"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{s1, s2};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msgs+i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29BEB-F0B4-78AB-9154-9068F3B23A14}"/>
              </a:ext>
            </a:extLst>
          </p:cNvPr>
          <p:cNvSpPr txBox="1"/>
          <p:nvPr/>
        </p:nvSpPr>
        <p:spPr>
          <a:xfrm>
            <a:off x="7871175" y="2257261"/>
            <a:ext cx="3899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Will </a:t>
            </a:r>
            <a:r>
              <a:rPr lang="en-US" sz="2400" dirty="0" err="1"/>
              <a:t>func</a:t>
            </a:r>
            <a:r>
              <a:rPr lang="en-US" sz="2400" dirty="0"/>
              <a:t> print "foo" or "bar"?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8B765-9B7B-9482-5287-4F8D6FDCC029}"/>
              </a:ext>
            </a:extLst>
          </p:cNvPr>
          <p:cNvSpPr txBox="1"/>
          <p:nvPr/>
        </p:nvSpPr>
        <p:spPr>
          <a:xfrm>
            <a:off x="7871175" y="2845736"/>
            <a:ext cx="63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59945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AB6B-78CF-8D32-C21E-76573798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Across Threads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84F45-9B17-B088-8957-4F3CED916EFB}"/>
              </a:ext>
            </a:extLst>
          </p:cNvPr>
          <p:cNvSpPr txBox="1"/>
          <p:nvPr/>
        </p:nvSpPr>
        <p:spPr>
          <a:xfrm>
            <a:off x="758230" y="1642135"/>
            <a:ext cx="566973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%s\n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"foo"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*s2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"bar"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{s1, s2};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msgs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tids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29BEB-F0B4-78AB-9154-9068F3B23A14}"/>
              </a:ext>
            </a:extLst>
          </p:cNvPr>
          <p:cNvSpPr txBox="1"/>
          <p:nvPr/>
        </p:nvSpPr>
        <p:spPr>
          <a:xfrm>
            <a:off x="7143184" y="2245259"/>
            <a:ext cx="3899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Will </a:t>
            </a:r>
            <a:r>
              <a:rPr lang="en-US" sz="2400" dirty="0" err="1"/>
              <a:t>func</a:t>
            </a:r>
            <a:r>
              <a:rPr lang="en-US" sz="2400" dirty="0"/>
              <a:t> print "foo" or "bar"?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8B765-9B7B-9482-5287-4F8D6FDCC029}"/>
              </a:ext>
            </a:extLst>
          </p:cNvPr>
          <p:cNvSpPr txBox="1"/>
          <p:nvPr/>
        </p:nvSpPr>
        <p:spPr>
          <a:xfrm>
            <a:off x="7143184" y="2771865"/>
            <a:ext cx="63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50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58326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A822-E0D6-C590-9B3E-B6F3FC58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FEA3C-D3AA-C58B-6542-F9F20A16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and Concurrency</a:t>
            </a:r>
          </a:p>
          <a:p>
            <a:r>
              <a:rPr lang="en-US" dirty="0"/>
              <a:t>Data Sharing Among Threads</a:t>
            </a:r>
          </a:p>
          <a:p>
            <a:r>
              <a:rPr lang="en-US" b="1" dirty="0"/>
              <a:t>Arguments &amp; Return Values</a:t>
            </a:r>
          </a:p>
        </p:txBody>
      </p:sp>
    </p:spTree>
    <p:extLst>
      <p:ext uri="{BB962C8B-B14F-4D97-AF65-F5344CB8AC3E}">
        <p14:creationId xmlns:p14="http://schemas.microsoft.com/office/powerpoint/2010/main" val="2300691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4527-50B1-4A58-03D4-5AE079E9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struct to pass argument and return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85C60-E31D-9B93-9206-C039718E8F77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a2, ret;};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p-&gt;ret =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p-&gt;ret);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0BAD4-BEAB-40AD-D61C-AB0DB31FEBF8}"/>
              </a:ext>
            </a:extLst>
          </p:cNvPr>
          <p:cNvSpPr/>
          <p:nvPr/>
        </p:nvSpPr>
        <p:spPr>
          <a:xfrm>
            <a:off x="8819580" y="1377353"/>
            <a:ext cx="1456102" cy="7007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3309E-9E71-4834-4623-29018AC3C0DF}"/>
              </a:ext>
            </a:extLst>
          </p:cNvPr>
          <p:cNvSpPr/>
          <p:nvPr/>
        </p:nvSpPr>
        <p:spPr>
          <a:xfrm>
            <a:off x="8819579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53A85-9B6D-5C80-8EE0-1D140D479F2E}"/>
              </a:ext>
            </a:extLst>
          </p:cNvPr>
          <p:cNvSpPr txBox="1"/>
          <p:nvPr/>
        </p:nvSpPr>
        <p:spPr>
          <a:xfrm>
            <a:off x="9136931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EC6BA9-1C30-FDFB-89BF-0CBFB24DCA9B}"/>
              </a:ext>
            </a:extLst>
          </p:cNvPr>
          <p:cNvSpPr/>
          <p:nvPr/>
        </p:nvSpPr>
        <p:spPr>
          <a:xfrm>
            <a:off x="8819580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00196-B164-D2C3-3617-E8C4C0148EC2}"/>
              </a:ext>
            </a:extLst>
          </p:cNvPr>
          <p:cNvSpPr/>
          <p:nvPr/>
        </p:nvSpPr>
        <p:spPr>
          <a:xfrm>
            <a:off x="8819388" y="2257075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4C55F-6500-DF07-6184-6B465FC1CEE2}"/>
              </a:ext>
            </a:extLst>
          </p:cNvPr>
          <p:cNvSpPr txBox="1"/>
          <p:nvPr/>
        </p:nvSpPr>
        <p:spPr>
          <a:xfrm>
            <a:off x="8688669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3BEC1-C506-C2BE-48A8-018E1F82CFAC}"/>
              </a:ext>
            </a:extLst>
          </p:cNvPr>
          <p:cNvSpPr txBox="1"/>
          <p:nvPr/>
        </p:nvSpPr>
        <p:spPr>
          <a:xfrm>
            <a:off x="8837315" y="2264196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25494-E1A4-A692-CD25-98E2568463E0}"/>
              </a:ext>
            </a:extLst>
          </p:cNvPr>
          <p:cNvSpPr/>
          <p:nvPr/>
        </p:nvSpPr>
        <p:spPr>
          <a:xfrm>
            <a:off x="8819388" y="535965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{a1, a2, ret}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97E11F-61F7-A833-07D0-CCE559802FAE}"/>
              </a:ext>
            </a:extLst>
          </p:cNvPr>
          <p:cNvSpPr/>
          <p:nvPr/>
        </p:nvSpPr>
        <p:spPr>
          <a:xfrm>
            <a:off x="8818015" y="1727715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6E5C99E8-282E-0C14-6AB1-B7C75B705CB9}"/>
              </a:ext>
            </a:extLst>
          </p:cNvPr>
          <p:cNvCxnSpPr>
            <a:stCxn id="19" idx="3"/>
            <a:endCxn id="18" idx="3"/>
          </p:cNvCxnSpPr>
          <p:nvPr/>
        </p:nvCxnSpPr>
        <p:spPr>
          <a:xfrm>
            <a:off x="10274117" y="1845411"/>
            <a:ext cx="1373" cy="3631936"/>
          </a:xfrm>
          <a:prstGeom prst="curvedConnector3">
            <a:avLst>
              <a:gd name="adj1" fmla="val 27299927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A3CC7BD-351B-0EC8-1C9D-1739E60BB2D7}"/>
              </a:ext>
            </a:extLst>
          </p:cNvPr>
          <p:cNvSpPr/>
          <p:nvPr/>
        </p:nvSpPr>
        <p:spPr>
          <a:xfrm>
            <a:off x="8818015" y="2731054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</a:t>
            </a:r>
            <a:endParaRPr lang="en-US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2A77EB45-B679-6035-50BE-4839A583D8DC}"/>
              </a:ext>
            </a:extLst>
          </p:cNvPr>
          <p:cNvCxnSpPr>
            <a:cxnSpLocks/>
            <a:stCxn id="22" idx="3"/>
            <a:endCxn id="18" idx="3"/>
          </p:cNvCxnSpPr>
          <p:nvPr/>
        </p:nvCxnSpPr>
        <p:spPr>
          <a:xfrm>
            <a:off x="10274117" y="2848750"/>
            <a:ext cx="1373" cy="2628597"/>
          </a:xfrm>
          <a:prstGeom prst="curvedConnector3">
            <a:avLst>
              <a:gd name="adj1" fmla="val 16749672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091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pthread_exit</a:t>
            </a:r>
            <a:r>
              <a:rPr lang="en-US" dirty="0"/>
              <a:t> to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pthread_exit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(p-&gt;a1 + p-&gt;a2);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*ret;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DA927-B42F-48A6-5700-2B24149CA3AE}"/>
              </a:ext>
            </a:extLst>
          </p:cNvPr>
          <p:cNvSpPr/>
          <p:nvPr/>
        </p:nvSpPr>
        <p:spPr>
          <a:xfrm>
            <a:off x="1242215" y="4873722"/>
            <a:ext cx="3637604" cy="24053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F03964-465F-55E6-7010-C6A328371A7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79819" y="4928116"/>
            <a:ext cx="404942" cy="658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364BE2B-DBBF-BC81-06E0-D238568C1F77}"/>
              </a:ext>
            </a:extLst>
          </p:cNvPr>
          <p:cNvSpPr/>
          <p:nvPr/>
        </p:nvSpPr>
        <p:spPr>
          <a:xfrm>
            <a:off x="5199829" y="4597351"/>
            <a:ext cx="2822005" cy="933290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0B7E2-B3E7-B3B8-4C0F-29EEBD263A5C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1C6A85-756E-481B-A31F-AF68BE6DD2B0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AC628-3518-9F3E-A9B1-07145A5C3FA2}"/>
              </a:ext>
            </a:extLst>
          </p:cNvPr>
          <p:cNvSpPr txBox="1"/>
          <p:nvPr/>
        </p:nvSpPr>
        <p:spPr>
          <a:xfrm>
            <a:off x="8485087" y="4290433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7B977-F4AF-1160-A0ED-A0930876284F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975E2-319A-F61E-46E2-C8F389E690AA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C0511-8479-F4DB-7066-C3B2DF48E693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6DC7F5-B2DC-C2F3-8C58-739097CE537F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20B402-52DB-6061-001B-1853EF3F767D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2E38E634-DE15-8FFE-6A08-5E354C507C29}"/>
              </a:ext>
            </a:extLst>
          </p:cNvPr>
          <p:cNvCxnSpPr>
            <a:cxnSpLocks/>
            <a:stCxn id="38" idx="0"/>
            <a:endCxn id="26" idx="3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00C6A32-ADF2-AFCC-87CF-D660304E260B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30DA7D3-BC33-2CE8-74D8-F116597F8B3E}"/>
              </a:ext>
            </a:extLst>
          </p:cNvPr>
          <p:cNvSpPr/>
          <p:nvPr/>
        </p:nvSpPr>
        <p:spPr>
          <a:xfrm>
            <a:off x="1242214" y="2417056"/>
            <a:ext cx="3556123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94A2334-EBEF-0E7F-6551-B62BE1B3B324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245A2-C3FD-6377-015D-356FD8A7E81C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0E56BE13-4A12-E457-235F-624BDAB19E19}"/>
              </a:ext>
            </a:extLst>
          </p:cNvPr>
          <p:cNvCxnSpPr>
            <a:cxnSpLocks/>
            <a:stCxn id="44" idx="3"/>
            <a:endCxn id="38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8EDD88-61A7-D444-EED5-777C9DFBF69E}"/>
              </a:ext>
            </a:extLst>
          </p:cNvPr>
          <p:cNvCxnSpPr>
            <a:cxnSpLocks/>
          </p:cNvCxnSpPr>
          <p:nvPr/>
        </p:nvCxnSpPr>
        <p:spPr>
          <a:xfrm flipH="1">
            <a:off x="4533943" y="2016317"/>
            <a:ext cx="888841" cy="3584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9041FB38-1556-AB70-96EB-3491EE383240}"/>
              </a:ext>
            </a:extLst>
          </p:cNvPr>
          <p:cNvSpPr/>
          <p:nvPr/>
        </p:nvSpPr>
        <p:spPr>
          <a:xfrm>
            <a:off x="4879820" y="1573444"/>
            <a:ext cx="2435380" cy="635602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 err="1">
                <a:solidFill>
                  <a:schemeClr val="tx1"/>
                </a:solidFill>
              </a:rPr>
              <a:t>pthread_exit</a:t>
            </a:r>
            <a:r>
              <a:rPr lang="en-US" sz="1900" b="1" dirty="0">
                <a:solidFill>
                  <a:schemeClr val="tx1"/>
                </a:solidFill>
              </a:rPr>
              <a:t>(code) gives code to OS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B19F6E-951B-82CE-FA15-D5759B65FB85}"/>
              </a:ext>
            </a:extLst>
          </p:cNvPr>
          <p:cNvSpPr txBox="1"/>
          <p:nvPr/>
        </p:nvSpPr>
        <p:spPr>
          <a:xfrm>
            <a:off x="9467854" y="2918593"/>
            <a:ext cx="63959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16388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375E-6 -4.81481E-6 C 0.04688 -0.01712 0.09388 -0.03425 0.08763 -0.05949 C 0.08151 -0.08472 0.02214 -0.11828 -0.0371 -0.15162 " pathEditMode="relative" rAng="0" ptsTypes="AAA">
                                      <p:cBhvr>
                                        <p:cTn id="3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9" grpId="0" animBg="1"/>
      <p:bldP spid="30" grpId="0"/>
      <p:bldP spid="38" grpId="0" animBg="1"/>
      <p:bldP spid="43" grpId="0" animBg="1"/>
      <p:bldP spid="55" grpId="0" animBg="1"/>
      <p:bldP spid="70" grpId="0" animBg="1"/>
      <p:bldP spid="7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return to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*ret;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DA927-B42F-48A6-5700-2B24149CA3AE}"/>
              </a:ext>
            </a:extLst>
          </p:cNvPr>
          <p:cNvSpPr/>
          <p:nvPr/>
        </p:nvSpPr>
        <p:spPr>
          <a:xfrm>
            <a:off x="1242215" y="4882777"/>
            <a:ext cx="3637604" cy="24053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F03964-465F-55E6-7010-C6A328371A74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4879819" y="4937171"/>
            <a:ext cx="404942" cy="65875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364BE2B-DBBF-BC81-06E0-D238568C1F77}"/>
              </a:ext>
            </a:extLst>
          </p:cNvPr>
          <p:cNvSpPr/>
          <p:nvPr/>
        </p:nvSpPr>
        <p:spPr>
          <a:xfrm>
            <a:off x="5199829" y="4606406"/>
            <a:ext cx="2822005" cy="933290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30DA7D3-BC33-2CE8-74D8-F116597F8B3E}"/>
              </a:ext>
            </a:extLst>
          </p:cNvPr>
          <p:cNvSpPr/>
          <p:nvPr/>
        </p:nvSpPr>
        <p:spPr>
          <a:xfrm>
            <a:off x="1242215" y="2426111"/>
            <a:ext cx="3031022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18EDD88-61A7-D444-EED5-777C9DFBF69E}"/>
              </a:ext>
            </a:extLst>
          </p:cNvPr>
          <p:cNvCxnSpPr>
            <a:cxnSpLocks/>
          </p:cNvCxnSpPr>
          <p:nvPr/>
        </p:nvCxnSpPr>
        <p:spPr>
          <a:xfrm flipH="1">
            <a:off x="4273237" y="2210729"/>
            <a:ext cx="888841" cy="3584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9041FB38-1556-AB70-96EB-3491EE383240}"/>
              </a:ext>
            </a:extLst>
          </p:cNvPr>
          <p:cNvSpPr/>
          <p:nvPr/>
        </p:nvSpPr>
        <p:spPr>
          <a:xfrm>
            <a:off x="4619114" y="1767856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"return code" is same as "</a:t>
            </a:r>
            <a:r>
              <a:rPr lang="en-US" sz="1900" b="1" dirty="0" err="1">
                <a:solidFill>
                  <a:schemeClr val="tx1"/>
                </a:solidFill>
              </a:rPr>
              <a:t>pthread_exit</a:t>
            </a:r>
            <a:r>
              <a:rPr lang="en-US" sz="1900" b="1" dirty="0">
                <a:solidFill>
                  <a:schemeClr val="tx1"/>
                </a:solidFill>
              </a:rPr>
              <a:t>(code)"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D27C88-3EB7-EEE9-276D-13E15C7F4B28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8A8308-AEF4-367E-A016-B6F5E04E73E8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D01CDF-8BD6-5BFC-1BDF-C6544F06E349}"/>
              </a:ext>
            </a:extLst>
          </p:cNvPr>
          <p:cNvSpPr txBox="1"/>
          <p:nvPr/>
        </p:nvSpPr>
        <p:spPr>
          <a:xfrm>
            <a:off x="8485087" y="4290433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A3FABF-F7B5-7380-EA92-841486BC4DEF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0CFED6-BE71-DFCE-9B05-7D371DE4CEFE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120043-7533-0A91-C18C-C61550EE7B55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07D933-DAB5-08A8-478D-33A1437DCE8D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669E23-EDFC-A7E4-B2A2-9E71CB725F02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14E62CDC-8289-21DF-9D00-8C7C4235E3EC}"/>
              </a:ext>
            </a:extLst>
          </p:cNvPr>
          <p:cNvCxnSpPr>
            <a:cxnSpLocks/>
            <a:stCxn id="48" idx="0"/>
            <a:endCxn id="40" idx="3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38446CF-B387-91A9-0586-FE9BC8C9806C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E08497-8960-22C7-C112-A2306D9F7699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CC94BE-1CEB-BA27-3768-B1145565C999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3E7FC49A-5C63-2D9B-10BB-434E3613286E}"/>
              </a:ext>
            </a:extLst>
          </p:cNvPr>
          <p:cNvCxnSpPr>
            <a:cxnSpLocks/>
            <a:stCxn id="49" idx="3"/>
            <a:endCxn id="48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1B139CE-0CFC-EE58-3C9A-B058175FBA04}"/>
              </a:ext>
            </a:extLst>
          </p:cNvPr>
          <p:cNvSpPr txBox="1"/>
          <p:nvPr/>
        </p:nvSpPr>
        <p:spPr>
          <a:xfrm>
            <a:off x="9467854" y="2918593"/>
            <a:ext cx="639599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6878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4.375E-6 -4.81481E-6 C 0.04688 -0.01712 0.09388 -0.03425 0.08763 -0.05949 C 0.08151 -0.08472 0.02214 -0.11828 -0.0371 -0.15162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multiple values using </a:t>
            </a:r>
            <a:r>
              <a:rPr lang="en-US" dirty="0" err="1"/>
              <a:t>pthread_exit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035559"/>
            <a:ext cx="6479659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results results;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a1, a2;};</a:t>
            </a:r>
          </a:p>
          <a:p>
            <a:r>
              <a:rPr lang="en-US" sz="1600" b="1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results{</a:t>
            </a:r>
            <a:r>
              <a:rPr lang="en-US" sz="1600" b="1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sum,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  </a:t>
            </a: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results *res = (results*)malloc(</a:t>
            </a:r>
            <a:r>
              <a:rPr lang="en-US" sz="1600" b="1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(results));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res-&gt;sum =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p-&gt;a1 * p-&gt;a2;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pthread_exit</a:t>
            </a:r>
            <a:r>
              <a:rPr lang="en-US" sz="16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(res);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results *ret;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"sum=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ret-&gt;sum, ret-&gt;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251535-F11C-E7A3-3451-DA62C2720EB2}"/>
              </a:ext>
            </a:extLst>
          </p:cNvPr>
          <p:cNvSpPr/>
          <p:nvPr/>
        </p:nvSpPr>
        <p:spPr>
          <a:xfrm>
            <a:off x="8167736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9EB3-E90C-1D6B-44ED-1816072B4E39}"/>
              </a:ext>
            </a:extLst>
          </p:cNvPr>
          <p:cNvSpPr/>
          <p:nvPr/>
        </p:nvSpPr>
        <p:spPr>
          <a:xfrm>
            <a:off x="8167735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600F0C-9459-D66B-2E97-524AFC50192E}"/>
              </a:ext>
            </a:extLst>
          </p:cNvPr>
          <p:cNvSpPr txBox="1"/>
          <p:nvPr/>
        </p:nvSpPr>
        <p:spPr>
          <a:xfrm>
            <a:off x="8485087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31B50-964B-DF97-C02F-F967AFA11502}"/>
              </a:ext>
            </a:extLst>
          </p:cNvPr>
          <p:cNvSpPr/>
          <p:nvPr/>
        </p:nvSpPr>
        <p:spPr>
          <a:xfrm>
            <a:off x="8167736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6C68A-134E-E1AB-0865-40BA3D97827A}"/>
              </a:ext>
            </a:extLst>
          </p:cNvPr>
          <p:cNvSpPr txBox="1"/>
          <p:nvPr/>
        </p:nvSpPr>
        <p:spPr>
          <a:xfrm>
            <a:off x="8036825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4BF394-FF22-EB32-49F8-DC68DBD962C1}"/>
              </a:ext>
            </a:extLst>
          </p:cNvPr>
          <p:cNvSpPr/>
          <p:nvPr/>
        </p:nvSpPr>
        <p:spPr>
          <a:xfrm>
            <a:off x="8166171" y="195020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DE3E75-7F7F-996D-4312-EB4BFB4BBE1E}"/>
              </a:ext>
            </a:extLst>
          </p:cNvPr>
          <p:cNvSpPr/>
          <p:nvPr/>
        </p:nvSpPr>
        <p:spPr>
          <a:xfrm>
            <a:off x="8167544" y="2682933"/>
            <a:ext cx="1456102" cy="79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118BAD-910C-3094-C4E6-621EF340C048}"/>
              </a:ext>
            </a:extLst>
          </p:cNvPr>
          <p:cNvSpPr txBox="1"/>
          <p:nvPr/>
        </p:nvSpPr>
        <p:spPr>
          <a:xfrm>
            <a:off x="8185471" y="2690054"/>
            <a:ext cx="1456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(T1)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9C756-C593-6E5F-C87E-2EAA7FB9A8DB}"/>
              </a:ext>
            </a:extLst>
          </p:cNvPr>
          <p:cNvSpPr/>
          <p:nvPr/>
        </p:nvSpPr>
        <p:spPr>
          <a:xfrm>
            <a:off x="8158492" y="535965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{sum, </a:t>
            </a:r>
            <a:r>
              <a:rPr lang="en-US" dirty="0" err="1"/>
              <a:t>mul</a:t>
            </a:r>
            <a:r>
              <a:rPr lang="en-US" dirty="0"/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00BFDF-0D93-38A6-9816-78717DF44717}"/>
              </a:ext>
            </a:extLst>
          </p:cNvPr>
          <p:cNvSpPr/>
          <p:nvPr/>
        </p:nvSpPr>
        <p:spPr>
          <a:xfrm>
            <a:off x="8166172" y="3156563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E7F9E02-3569-D263-20BF-5E0EEAB3A9EE}"/>
              </a:ext>
            </a:extLst>
          </p:cNvPr>
          <p:cNvCxnSpPr>
            <a:cxnSpLocks/>
            <a:stCxn id="17" idx="3"/>
            <a:endCxn id="14" idx="3"/>
          </p:cNvCxnSpPr>
          <p:nvPr/>
        </p:nvCxnSpPr>
        <p:spPr>
          <a:xfrm flipH="1">
            <a:off x="9614594" y="3274259"/>
            <a:ext cx="7680" cy="2203088"/>
          </a:xfrm>
          <a:prstGeom prst="curvedConnector3">
            <a:avLst>
              <a:gd name="adj1" fmla="val -2976563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62121DA-E32F-A162-D36C-504AA535DED5}"/>
              </a:ext>
            </a:extLst>
          </p:cNvPr>
          <p:cNvSpPr/>
          <p:nvPr/>
        </p:nvSpPr>
        <p:spPr>
          <a:xfrm>
            <a:off x="10203579" y="2331421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30E54C-4ADC-C026-E908-480705FD8283}"/>
              </a:ext>
            </a:extLst>
          </p:cNvPr>
          <p:cNvSpPr txBox="1"/>
          <p:nvPr/>
        </p:nvSpPr>
        <p:spPr>
          <a:xfrm>
            <a:off x="10710255" y="195554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B4DF9CDF-3AAE-3800-BEC0-F0EE369455AA}"/>
              </a:ext>
            </a:extLst>
          </p:cNvPr>
          <p:cNvCxnSpPr>
            <a:cxnSpLocks/>
            <a:stCxn id="30" idx="0"/>
          </p:cNvCxnSpPr>
          <p:nvPr/>
        </p:nvCxnSpPr>
        <p:spPr>
          <a:xfrm rot="16200000" flipV="1">
            <a:off x="10022099" y="1668072"/>
            <a:ext cx="433517" cy="1233167"/>
          </a:xfrm>
          <a:prstGeom prst="curvedConnector2">
            <a:avLst/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27789FA-E96C-63D2-E04A-498449CBD8E2}"/>
              </a:ext>
            </a:extLst>
          </p:cNvPr>
          <p:cNvSpPr/>
          <p:nvPr/>
        </p:nvSpPr>
        <p:spPr>
          <a:xfrm>
            <a:off x="10476182" y="2501414"/>
            <a:ext cx="758516" cy="352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/>
              <a:t>&amp;ret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C6AEFF5B-B132-532B-C234-C54E6C6685B9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9623646" y="2853713"/>
            <a:ext cx="1231794" cy="226608"/>
          </a:xfrm>
          <a:prstGeom prst="curvedConnector2">
            <a:avLst/>
          </a:prstGeom>
          <a:ln w="28575">
            <a:solidFill>
              <a:srgbClr val="C0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2A54D55-5BC2-F0F0-9130-0B1EC62910B1}"/>
              </a:ext>
            </a:extLst>
          </p:cNvPr>
          <p:cNvSpPr txBox="1"/>
          <p:nvPr/>
        </p:nvSpPr>
        <p:spPr>
          <a:xfrm>
            <a:off x="9323757" y="3053662"/>
            <a:ext cx="466987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1D56045-5FDE-940C-8B1D-4177AA009D51}"/>
              </a:ext>
            </a:extLst>
          </p:cNvPr>
          <p:cNvSpPr/>
          <p:nvPr/>
        </p:nvSpPr>
        <p:spPr>
          <a:xfrm>
            <a:off x="1219184" y="3526078"/>
            <a:ext cx="2361556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ACD627-4F4E-408A-9E90-895EBEEF220D}"/>
              </a:ext>
            </a:extLst>
          </p:cNvPr>
          <p:cNvCxnSpPr>
            <a:cxnSpLocks/>
          </p:cNvCxnSpPr>
          <p:nvPr/>
        </p:nvCxnSpPr>
        <p:spPr>
          <a:xfrm flipH="1" flipV="1">
            <a:off x="3556879" y="3685973"/>
            <a:ext cx="1110086" cy="100613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C4B5D415-7FAC-B904-5471-3C28DA0BC740}"/>
              </a:ext>
            </a:extLst>
          </p:cNvPr>
          <p:cNvSpPr/>
          <p:nvPr/>
        </p:nvSpPr>
        <p:spPr>
          <a:xfrm>
            <a:off x="4413660" y="3405852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return code is the pointer to a result struct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7F139E7-2FB2-7F7C-B23A-0F9626711592}"/>
              </a:ext>
            </a:extLst>
          </p:cNvPr>
          <p:cNvSpPr/>
          <p:nvPr/>
        </p:nvSpPr>
        <p:spPr>
          <a:xfrm>
            <a:off x="1275029" y="5972808"/>
            <a:ext cx="3048766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2349155-8E45-BB93-CE32-5293AA049736}"/>
              </a:ext>
            </a:extLst>
          </p:cNvPr>
          <p:cNvCxnSpPr>
            <a:cxnSpLocks/>
          </p:cNvCxnSpPr>
          <p:nvPr/>
        </p:nvCxnSpPr>
        <p:spPr>
          <a:xfrm flipH="1">
            <a:off x="4311961" y="5972808"/>
            <a:ext cx="659974" cy="77388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ular Callout 40">
            <a:extLst>
              <a:ext uri="{FF2B5EF4-FFF2-40B4-BE49-F238E27FC236}">
                <a16:creationId xmlns:a16="http://schemas.microsoft.com/office/drawing/2014/main" id="{9403DEA6-A881-1E40-D675-A26BEE17803E}"/>
              </a:ext>
            </a:extLst>
          </p:cNvPr>
          <p:cNvSpPr/>
          <p:nvPr/>
        </p:nvSpPr>
        <p:spPr>
          <a:xfrm>
            <a:off x="4971935" y="5356034"/>
            <a:ext cx="2896272" cy="877281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OS writes the returned code to the place pointed by &amp;ret (i.e., ret)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1C42A69-2B22-3B62-29F9-F5FA48148DF3}"/>
              </a:ext>
            </a:extLst>
          </p:cNvPr>
          <p:cNvSpPr/>
          <p:nvPr/>
        </p:nvSpPr>
        <p:spPr>
          <a:xfrm>
            <a:off x="1038994" y="1819947"/>
            <a:ext cx="3695967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EE32A3-523B-F0C8-5C33-EAA6974A3A6B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4734961" y="1842222"/>
            <a:ext cx="896294" cy="107979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094CF9A-BD37-E209-3553-CF24FFA3C2A5}"/>
              </a:ext>
            </a:extLst>
          </p:cNvPr>
          <p:cNvSpPr/>
          <p:nvPr/>
        </p:nvSpPr>
        <p:spPr>
          <a:xfrm>
            <a:off x="1219184" y="2787174"/>
            <a:ext cx="6077909" cy="2605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9EE579A-2B3F-8594-55F4-BDD7B255863C}"/>
              </a:ext>
            </a:extLst>
          </p:cNvPr>
          <p:cNvCxnSpPr>
            <a:cxnSpLocks/>
          </p:cNvCxnSpPr>
          <p:nvPr/>
        </p:nvCxnSpPr>
        <p:spPr>
          <a:xfrm flipH="1">
            <a:off x="4413660" y="1994622"/>
            <a:ext cx="1369995" cy="792552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ular Callout 55">
            <a:extLst>
              <a:ext uri="{FF2B5EF4-FFF2-40B4-BE49-F238E27FC236}">
                <a16:creationId xmlns:a16="http://schemas.microsoft.com/office/drawing/2014/main" id="{3A899A18-402C-5760-07F8-FE76AEB847DE}"/>
              </a:ext>
            </a:extLst>
          </p:cNvPr>
          <p:cNvSpPr/>
          <p:nvPr/>
        </p:nvSpPr>
        <p:spPr>
          <a:xfrm>
            <a:off x="5222993" y="1444835"/>
            <a:ext cx="2767220" cy="794774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solidFill>
                  <a:schemeClr val="tx1"/>
                </a:solidFill>
              </a:rPr>
              <a:t>use a struct to hold multiple returned values</a:t>
            </a:r>
            <a:endParaRPr lang="en-US" sz="1900" b="1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21E80B5A-E3A7-BD79-2431-1048D1ED0662}"/>
              </a:ext>
            </a:extLst>
          </p:cNvPr>
          <p:cNvCxnSpPr>
            <a:cxnSpLocks/>
            <a:stCxn id="22" idx="3"/>
            <a:endCxn id="14" idx="3"/>
          </p:cNvCxnSpPr>
          <p:nvPr/>
        </p:nvCxnSpPr>
        <p:spPr>
          <a:xfrm flipH="1">
            <a:off x="9614594" y="2067897"/>
            <a:ext cx="7679" cy="3409450"/>
          </a:xfrm>
          <a:prstGeom prst="curvedConnector3">
            <a:avLst>
              <a:gd name="adj1" fmla="val -5806524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64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repeatCount="indefinite" accel="50000" decel="50000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 0 C 0.05586 -0.0257 0.11159 -0.05116 0.10768 -0.0794 C 0.10377 -0.10741 0.03997 -0.1382 -0.0237 -0.16898 " pathEditMode="relative" ptsTypes="AAA">
                                      <p:cBhvr>
                                        <p:cTn id="5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 animBg="1"/>
      <p:bldP spid="17" grpId="0" animBg="1"/>
      <p:bldP spid="21" grpId="0" animBg="1"/>
      <p:bldP spid="26" grpId="0"/>
      <p:bldP spid="30" grpId="0" animBg="1"/>
      <p:bldP spid="34" grpId="0" animBg="1"/>
      <p:bldP spid="34" grpId="1" animBg="1"/>
      <p:bldP spid="35" grpId="0" animBg="1"/>
      <p:bldP spid="37" grpId="0" animBg="1"/>
      <p:bldP spid="39" grpId="0" animBg="1"/>
      <p:bldP spid="41" grpId="0" animBg="1"/>
      <p:bldP spid="44" grpId="0" animBg="1"/>
      <p:bldP spid="51" grpId="0" animBg="1"/>
      <p:bldP spid="5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AC0E8-5AEA-A9B5-7FA7-59F6C0CF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510A-F102-4BAE-9F0F-BBF78A571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among threads</a:t>
            </a:r>
          </a:p>
          <a:p>
            <a:pPr lvl="1"/>
            <a:r>
              <a:rPr lang="en-US" dirty="0"/>
              <a:t>Different threads can proceed in arbitrary order</a:t>
            </a:r>
          </a:p>
          <a:p>
            <a:endParaRPr lang="en-US" dirty="0"/>
          </a:p>
          <a:p>
            <a:r>
              <a:rPr lang="en-US" dirty="0"/>
              <a:t>All threads share the same memory space</a:t>
            </a:r>
          </a:p>
          <a:p>
            <a:pPr lvl="1"/>
            <a:r>
              <a:rPr lang="en-US" dirty="0"/>
              <a:t>Heap, Data, Code are shared</a:t>
            </a:r>
          </a:p>
          <a:p>
            <a:pPr lvl="1"/>
            <a:r>
              <a:rPr lang="en-US" dirty="0"/>
              <a:t>One thread cannot directly access another thread's stack by variable name, but it is possible via pointers</a:t>
            </a:r>
          </a:p>
          <a:p>
            <a:endParaRPr lang="en-US" dirty="0"/>
          </a:p>
          <a:p>
            <a:r>
              <a:rPr lang="en-US" dirty="0"/>
              <a:t>Passing arguments and returning values via generic pointer interface.</a:t>
            </a:r>
          </a:p>
        </p:txBody>
      </p:sp>
    </p:spTree>
    <p:extLst>
      <p:ext uri="{BB962C8B-B14F-4D97-AF65-F5344CB8AC3E}">
        <p14:creationId xmlns:p14="http://schemas.microsoft.com/office/powerpoint/2010/main" val="3757077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7183-E266-AE0D-67CA-2902447F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B69E-E61B-D4D4-82FC-AB06CD45B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62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A85F-386A-BA57-782C-EA0E41CF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2E0A-4ADB-6BD9-9041-3D019A093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78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CE6E-660E-3148-E822-19E9F6D5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1788-23E2-FDDB-1DDA-A2ADE3D92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7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6C57-5044-C147-F169-307D7D35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Embarrassingly Parallelizable Tasks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A55C4-FB94-8C81-119B-12975221D8F4}"/>
              </a:ext>
            </a:extLst>
          </p:cNvPr>
          <p:cNvSpPr txBox="1"/>
          <p:nvPr/>
        </p:nvSpPr>
        <p:spPr>
          <a:xfrm>
            <a:off x="1540701" y="1841326"/>
            <a:ext cx="549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for adding one element to each element in an array</a:t>
            </a:r>
          </a:p>
        </p:txBody>
      </p:sp>
    </p:spTree>
    <p:extLst>
      <p:ext uri="{BB962C8B-B14F-4D97-AF65-F5344CB8AC3E}">
        <p14:creationId xmlns:p14="http://schemas.microsoft.com/office/powerpoint/2010/main" val="3737519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6C57-5044-C147-F169-307D7D35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Embarrassingly Parallelizable Tasks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A55C4-FB94-8C81-119B-12975221D8F4}"/>
              </a:ext>
            </a:extLst>
          </p:cNvPr>
          <p:cNvSpPr txBox="1"/>
          <p:nvPr/>
        </p:nvSpPr>
        <p:spPr>
          <a:xfrm>
            <a:off x="1540701" y="1841326"/>
            <a:ext cx="3373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Transforming pixels block by block</a:t>
            </a:r>
          </a:p>
        </p:txBody>
      </p:sp>
    </p:spTree>
    <p:extLst>
      <p:ext uri="{BB962C8B-B14F-4D97-AF65-F5344CB8AC3E}">
        <p14:creationId xmlns:p14="http://schemas.microsoft.com/office/powerpoint/2010/main" val="2715280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73BE-D557-EC88-D327-D3F03C31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683F-317E-773C-FF67-86C764A7B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78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645C-EDEB-1CFA-8055-247EEB6C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A8B74-E922-9CEA-2A64-A2A5908C5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7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46F8-7512-93BC-2025-268E9E26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7741-5203-E60A-E129-D221ED09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2EF3-DE3C-0C3B-D4C5-F8401B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D98A-35EB-420A-82FE-9D9F7E34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Thread 1</a:t>
            </a:r>
          </a:p>
          <a:p>
            <a:pPr lvl="1"/>
            <a:r>
              <a:rPr lang="en-US" dirty="0"/>
              <a:t>Analogy of parallelism</a:t>
            </a:r>
          </a:p>
          <a:p>
            <a:pPr lvl="1"/>
            <a:r>
              <a:rPr lang="en-US" dirty="0"/>
              <a:t>Define parallelism</a:t>
            </a:r>
          </a:p>
          <a:p>
            <a:pPr lvl="2"/>
            <a:r>
              <a:rPr lang="en-US" dirty="0"/>
              <a:t>Ex1: adding a number to each element of a long array</a:t>
            </a:r>
          </a:p>
          <a:p>
            <a:pPr lvl="2"/>
            <a:r>
              <a:rPr lang="en-US" dirty="0"/>
              <a:t>Ex2: avoid I/O blocking (?)</a:t>
            </a:r>
          </a:p>
          <a:p>
            <a:pPr lvl="1"/>
            <a:r>
              <a:rPr lang="en-US" dirty="0"/>
              <a:t>Basic API</a:t>
            </a:r>
          </a:p>
          <a:p>
            <a:pPr lvl="1"/>
            <a:r>
              <a:rPr lang="en-US" dirty="0"/>
              <a:t>Function as argument</a:t>
            </a:r>
          </a:p>
          <a:p>
            <a:pPr lvl="1"/>
            <a:r>
              <a:rPr lang="en-US" dirty="0"/>
              <a:t>Simple thread creation example</a:t>
            </a:r>
          </a:p>
          <a:p>
            <a:endParaRPr lang="en-US" dirty="0"/>
          </a:p>
          <a:p>
            <a:r>
              <a:rPr lang="en-US" dirty="0"/>
              <a:t>Thread 2</a:t>
            </a:r>
          </a:p>
          <a:p>
            <a:pPr lvl="1"/>
            <a:r>
              <a:rPr lang="en-US" dirty="0"/>
              <a:t>Non-determinism</a:t>
            </a:r>
          </a:p>
          <a:p>
            <a:pPr lvl="1"/>
            <a:r>
              <a:rPr lang="en-US" dirty="0"/>
              <a:t>Embarrassingly parallel example</a:t>
            </a:r>
          </a:p>
          <a:p>
            <a:endParaRPr lang="en-US" dirty="0"/>
          </a:p>
          <a:p>
            <a:r>
              <a:rPr lang="en-US" dirty="0"/>
              <a:t>Thread 3</a:t>
            </a:r>
          </a:p>
          <a:p>
            <a:pPr lvl="1"/>
            <a:r>
              <a:rPr lang="en-US" dirty="0"/>
              <a:t>How things look like on stack</a:t>
            </a:r>
          </a:p>
          <a:p>
            <a:pPr lvl="1"/>
            <a:r>
              <a:rPr lang="en-US" dirty="0"/>
              <a:t>Shared memory space</a:t>
            </a:r>
          </a:p>
          <a:p>
            <a:pPr lvl="1"/>
            <a:r>
              <a:rPr lang="en-US" dirty="0"/>
              <a:t>Example of thread-based sorting</a:t>
            </a:r>
          </a:p>
        </p:txBody>
      </p:sp>
    </p:spTree>
    <p:extLst>
      <p:ext uri="{BB962C8B-B14F-4D97-AF65-F5344CB8AC3E}">
        <p14:creationId xmlns:p14="http://schemas.microsoft.com/office/powerpoint/2010/main" val="1283107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pthread_exit</a:t>
            </a:r>
            <a:r>
              <a:rPr lang="en-US" dirty="0"/>
              <a:t> to return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*q = p-&gt;a1 + p-&gt;a2;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pthread_exit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*)q);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DDA927-B42F-48A6-5700-2B24149CA3AE}"/>
              </a:ext>
            </a:extLst>
          </p:cNvPr>
          <p:cNvSpPr/>
          <p:nvPr/>
        </p:nvSpPr>
        <p:spPr>
          <a:xfrm>
            <a:off x="400444" y="4272305"/>
            <a:ext cx="3637604" cy="75753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F03964-465F-55E6-7010-C6A328371A74}"/>
              </a:ext>
            </a:extLst>
          </p:cNvPr>
          <p:cNvCxnSpPr>
            <a:cxnSpLocks/>
          </p:cNvCxnSpPr>
          <p:nvPr/>
        </p:nvCxnSpPr>
        <p:spPr>
          <a:xfrm flipH="1">
            <a:off x="5948655" y="5455161"/>
            <a:ext cx="411693" cy="240536"/>
          </a:xfrm>
          <a:prstGeom prst="straightConnector1">
            <a:avLst/>
          </a:prstGeom>
          <a:ln w="28575">
            <a:solidFill>
              <a:srgbClr val="C00000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364BE2B-DBBF-BC81-06E0-D238568C1F77}"/>
              </a:ext>
            </a:extLst>
          </p:cNvPr>
          <p:cNvSpPr/>
          <p:nvPr/>
        </p:nvSpPr>
        <p:spPr>
          <a:xfrm>
            <a:off x="5857632" y="5029838"/>
            <a:ext cx="2494170" cy="425323"/>
          </a:xfrm>
          <a:prstGeom prst="wedgeRoundRectCallout">
            <a:avLst>
              <a:gd name="adj1" fmla="val -28715"/>
              <a:gd name="adj2" fmla="val -1701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An array of thread IDs</a:t>
            </a:r>
            <a:endParaRPr lang="en-US" sz="1900" dirty="0">
              <a:solidFill>
                <a:schemeClr val="tx1"/>
              </a:solidFill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0B7E2-B3E7-B3B8-4C0F-29EEBD263A5C}"/>
              </a:ext>
            </a:extLst>
          </p:cNvPr>
          <p:cNvSpPr/>
          <p:nvPr/>
        </p:nvSpPr>
        <p:spPr>
          <a:xfrm>
            <a:off x="8819580" y="1377353"/>
            <a:ext cx="1456102" cy="1023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1C6A85-756E-481B-A31F-AF68BE6DD2B0}"/>
              </a:ext>
            </a:extLst>
          </p:cNvPr>
          <p:cNvSpPr/>
          <p:nvPr/>
        </p:nvSpPr>
        <p:spPr>
          <a:xfrm>
            <a:off x="8819579" y="4899245"/>
            <a:ext cx="1456102" cy="79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BD5B7-E91B-E817-F26D-6324F55AD250}"/>
              </a:ext>
            </a:extLst>
          </p:cNvPr>
          <p:cNvSpPr/>
          <p:nvPr/>
        </p:nvSpPr>
        <p:spPr>
          <a:xfrm>
            <a:off x="8819388" y="6215567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D95C5-3698-AE87-17F3-D1154036D56E}"/>
              </a:ext>
            </a:extLst>
          </p:cNvPr>
          <p:cNvSpPr txBox="1"/>
          <p:nvPr/>
        </p:nvSpPr>
        <p:spPr>
          <a:xfrm>
            <a:off x="9115557" y="6282078"/>
            <a:ext cx="802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6AC628-3518-9F3E-A9B1-07145A5C3FA2}"/>
              </a:ext>
            </a:extLst>
          </p:cNvPr>
          <p:cNvSpPr txBox="1"/>
          <p:nvPr/>
        </p:nvSpPr>
        <p:spPr>
          <a:xfrm>
            <a:off x="9136931" y="5041870"/>
            <a:ext cx="818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Heap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77B977-F4AF-1160-A0ED-A0930876284F}"/>
              </a:ext>
            </a:extLst>
          </p:cNvPr>
          <p:cNvSpPr/>
          <p:nvPr/>
        </p:nvSpPr>
        <p:spPr>
          <a:xfrm>
            <a:off x="8819580" y="1053001"/>
            <a:ext cx="1456102" cy="56956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839740-30B8-96AB-7727-1B239E8A1E20}"/>
              </a:ext>
            </a:extLst>
          </p:cNvPr>
          <p:cNvSpPr/>
          <p:nvPr/>
        </p:nvSpPr>
        <p:spPr>
          <a:xfrm>
            <a:off x="8819388" y="5679553"/>
            <a:ext cx="1456102" cy="5331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FAFC38-B68D-57FB-846F-B673DD054799}"/>
              </a:ext>
            </a:extLst>
          </p:cNvPr>
          <p:cNvSpPr txBox="1"/>
          <p:nvPr/>
        </p:nvSpPr>
        <p:spPr>
          <a:xfrm>
            <a:off x="9137229" y="5746064"/>
            <a:ext cx="754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975E2-319A-F61E-46E2-C8F389E690AA}"/>
              </a:ext>
            </a:extLst>
          </p:cNvPr>
          <p:cNvSpPr txBox="1"/>
          <p:nvPr/>
        </p:nvSpPr>
        <p:spPr>
          <a:xfrm>
            <a:off x="8688669" y="1313353"/>
            <a:ext cx="1732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</a:t>
            </a:r>
            <a:r>
              <a:rPr lang="en-US" sz="2000" b="1" dirty="0"/>
              <a:t>tack (main)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E0877C-7A13-3A0A-E24B-0DD2EC2656CD}"/>
              </a:ext>
            </a:extLst>
          </p:cNvPr>
          <p:cNvSpPr/>
          <p:nvPr/>
        </p:nvSpPr>
        <p:spPr>
          <a:xfrm>
            <a:off x="8819388" y="5359651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{a1, a2}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66B4-6D5F-5A06-A985-4EE39A9249E7}"/>
              </a:ext>
            </a:extLst>
          </p:cNvPr>
          <p:cNvSpPr/>
          <p:nvPr/>
        </p:nvSpPr>
        <p:spPr>
          <a:xfrm>
            <a:off x="8818015" y="1727715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B1B50138-484C-045A-7FB0-DD0574A3A4DF}"/>
              </a:ext>
            </a:extLst>
          </p:cNvPr>
          <p:cNvCxnSpPr>
            <a:stCxn id="22" idx="3"/>
            <a:endCxn id="21" idx="3"/>
          </p:cNvCxnSpPr>
          <p:nvPr/>
        </p:nvCxnSpPr>
        <p:spPr>
          <a:xfrm>
            <a:off x="10274117" y="1845411"/>
            <a:ext cx="1373" cy="3631936"/>
          </a:xfrm>
          <a:prstGeom prst="curvedConnector3">
            <a:avLst>
              <a:gd name="adj1" fmla="val 27299927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EED32409-0B7C-41DB-51EB-B566D5403A0B}"/>
              </a:ext>
            </a:extLst>
          </p:cNvPr>
          <p:cNvCxnSpPr>
            <a:cxnSpLocks/>
            <a:endCxn id="21" idx="3"/>
          </p:cNvCxnSpPr>
          <p:nvPr/>
        </p:nvCxnSpPr>
        <p:spPr>
          <a:xfrm>
            <a:off x="10274117" y="3382899"/>
            <a:ext cx="1373" cy="2094448"/>
          </a:xfrm>
          <a:prstGeom prst="curvedConnector3">
            <a:avLst>
              <a:gd name="adj1" fmla="val 16749672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2DC0511-8479-F4DB-7066-C3B2DF48E693}"/>
              </a:ext>
            </a:extLst>
          </p:cNvPr>
          <p:cNvSpPr/>
          <p:nvPr/>
        </p:nvSpPr>
        <p:spPr>
          <a:xfrm>
            <a:off x="8818015" y="2095054"/>
            <a:ext cx="1456102" cy="235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1094354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0A5F-679F-FF5A-A346-F25422F5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768AB-C341-A802-D14C-67FA9A892018}"/>
              </a:ext>
            </a:extLst>
          </p:cNvPr>
          <p:cNvSpPr txBox="1"/>
          <p:nvPr/>
        </p:nvSpPr>
        <p:spPr>
          <a:xfrm>
            <a:off x="961826" y="1162303"/>
            <a:ext cx="5862502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a1;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a2;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sz="160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// ret field is removed. use </a:t>
            </a:r>
            <a:r>
              <a:rPr lang="en-US" sz="1600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pthread_exit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params params;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*)(p-&gt;a1 + p-&gt;a2);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params *p = (params*)malloc(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(params));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p-&gt;a2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*ret;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"ret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)ret);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8583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28221</TotalTime>
  <Words>3707</Words>
  <Application>Microsoft Macintosh PowerPoint</Application>
  <PresentationFormat>Widescreen</PresentationFormat>
  <Paragraphs>651</Paragraphs>
  <Slides>36</Slides>
  <Notes>5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Menlo</vt:lpstr>
      <vt:lpstr>Wingdings</vt:lpstr>
      <vt:lpstr>Office Theme</vt:lpstr>
      <vt:lpstr>Thread II  CMSC 14300: System Programming I 18th Lecture</vt:lpstr>
      <vt:lpstr>Recap: Function Pointers</vt:lpstr>
      <vt:lpstr>Recap: Thread Creation and Joining</vt:lpstr>
      <vt:lpstr>Recap: Speeding Up Program with Threads</vt:lpstr>
      <vt:lpstr>When A Thread Starts and Ends</vt:lpstr>
      <vt:lpstr>Outline</vt:lpstr>
      <vt:lpstr>A simple example</vt:lpstr>
      <vt:lpstr>Thread and Concurrency</vt:lpstr>
      <vt:lpstr>A simple example</vt:lpstr>
      <vt:lpstr>An exercise</vt:lpstr>
      <vt:lpstr>An exercise</vt:lpstr>
      <vt:lpstr>One more exercise</vt:lpstr>
      <vt:lpstr>Outline</vt:lpstr>
      <vt:lpstr>Memory Layout (a more complete view)</vt:lpstr>
      <vt:lpstr>Example</vt:lpstr>
      <vt:lpstr>Yet another view of threads What is shared and what is not shared?</vt:lpstr>
      <vt:lpstr>Accessing Data Across Threads</vt:lpstr>
      <vt:lpstr>Accessing Data Across Threads</vt:lpstr>
      <vt:lpstr>Accessing Data Across Threads</vt:lpstr>
      <vt:lpstr>Outline</vt:lpstr>
      <vt:lpstr>Use struct to pass argument and return values</vt:lpstr>
      <vt:lpstr>Using pthread_exit to return value</vt:lpstr>
      <vt:lpstr>Using return to return value</vt:lpstr>
      <vt:lpstr>Return multiple values using pthread_exit</vt:lpstr>
      <vt:lpstr>Conclusion</vt:lpstr>
      <vt:lpstr>PowerPoint Presentation</vt:lpstr>
      <vt:lpstr>PowerPoint Presentation</vt:lpstr>
      <vt:lpstr>Data Sharing</vt:lpstr>
      <vt:lpstr>Example: Embarrassingly Parallelizable Tasks</vt:lpstr>
      <vt:lpstr>Example: Embarrassingly Parallelizable Tasks</vt:lpstr>
      <vt:lpstr>Conclusion</vt:lpstr>
      <vt:lpstr>PowerPoint Presentation</vt:lpstr>
      <vt:lpstr>PowerPoint Presentation</vt:lpstr>
      <vt:lpstr>PowerPoint Presentation</vt:lpstr>
      <vt:lpstr>Using pthread_exit to return value</vt:lpstr>
      <vt:lpstr>Alternative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1128</cp:revision>
  <dcterms:created xsi:type="dcterms:W3CDTF">2023-03-12T16:00:37Z</dcterms:created>
  <dcterms:modified xsi:type="dcterms:W3CDTF">2023-05-01T19:20:55Z</dcterms:modified>
</cp:coreProperties>
</file>