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3"/>
  </p:notesMasterIdLst>
  <p:sldIdLst>
    <p:sldId id="256" r:id="rId2"/>
    <p:sldId id="275" r:id="rId3"/>
    <p:sldId id="271" r:id="rId4"/>
    <p:sldId id="291" r:id="rId5"/>
    <p:sldId id="268" r:id="rId6"/>
    <p:sldId id="269" r:id="rId7"/>
    <p:sldId id="285" r:id="rId8"/>
    <p:sldId id="281" r:id="rId9"/>
    <p:sldId id="304" r:id="rId10"/>
    <p:sldId id="305" r:id="rId11"/>
    <p:sldId id="306" r:id="rId12"/>
    <p:sldId id="307" r:id="rId13"/>
    <p:sldId id="276" r:id="rId14"/>
    <p:sldId id="294" r:id="rId15"/>
    <p:sldId id="295" r:id="rId16"/>
    <p:sldId id="278" r:id="rId17"/>
    <p:sldId id="279" r:id="rId18"/>
    <p:sldId id="280" r:id="rId19"/>
    <p:sldId id="263" r:id="rId20"/>
    <p:sldId id="264" r:id="rId21"/>
    <p:sldId id="265" r:id="rId22"/>
    <p:sldId id="267" r:id="rId23"/>
    <p:sldId id="266" r:id="rId24"/>
    <p:sldId id="308" r:id="rId25"/>
    <p:sldId id="286" r:id="rId26"/>
    <p:sldId id="287" r:id="rId27"/>
    <p:sldId id="288" r:id="rId28"/>
    <p:sldId id="273" r:id="rId29"/>
    <p:sldId id="270" r:id="rId30"/>
    <p:sldId id="272" r:id="rId31"/>
    <p:sldId id="274" r:id="rId32"/>
    <p:sldId id="289" r:id="rId33"/>
    <p:sldId id="292" r:id="rId34"/>
    <p:sldId id="282" r:id="rId35"/>
    <p:sldId id="284" r:id="rId36"/>
    <p:sldId id="290" r:id="rId37"/>
    <p:sldId id="302" r:id="rId38"/>
    <p:sldId id="301" r:id="rId39"/>
    <p:sldId id="303" r:id="rId40"/>
    <p:sldId id="298" r:id="rId41"/>
    <p:sldId id="299" r:id="rId4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32FF"/>
    <a:srgbClr val="F5D1CF"/>
    <a:srgbClr val="B592C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6395"/>
    <p:restoredTop sz="96774"/>
  </p:normalViewPr>
  <p:slideViewPr>
    <p:cSldViewPr snapToGrid="0">
      <p:cViewPr varScale="1">
        <p:scale>
          <a:sx n="165" d="100"/>
          <a:sy n="165" d="100"/>
        </p:scale>
        <p:origin x="232" y="6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42" d="100"/>
          <a:sy n="142" d="100"/>
        </p:scale>
        <p:origin x="3960" y="17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53F169-2198-DE43-9383-BED4C1AFCE25}" type="datetimeFigureOut">
              <a:rPr lang="en-US" smtClean="0"/>
              <a:t>4/15/23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2C28D5-7AAA-A440-BCD5-500991AF41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96802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BD6493-2476-93E9-B539-6FEFD693FA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8B6265-6663-685B-0D67-32A300D1E7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0973AC-C4D7-2CD8-59B9-8F0369621E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E831D-52E5-0A44-98E8-5ADFA301539B}" type="datetime1">
              <a:rPr lang="en-US" smtClean="0"/>
              <a:t>4/15/23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7CEC3C-9C7C-6C2F-A149-61BF90BADE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4FC2BA-FDA7-D836-7F7E-11EC7EA3E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3908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00B075-03A3-FA86-B7F8-D311B3620D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9717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3CE385-2161-0088-C06C-4B4A6B7FF7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B462E8-303B-5403-3582-618C446E39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2F2CB-5D14-914B-B94B-EA66B6124345}" type="datetime1">
              <a:rPr lang="en-US" smtClean="0"/>
              <a:t>4/15/23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6D7485-BD1F-CD51-FE23-21B47F35D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1C25C6-1258-538E-FF42-9D9DF4106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7954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27316-4858-30BC-055B-124573C2E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8A639A-B191-327A-6978-62EECF4B0E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0B25BB-C316-ECCB-BF4D-C3D1D1313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F92407-12A2-5349-8545-ED189427AAFE}" type="datetime1">
              <a:rPr lang="en-US" smtClean="0"/>
              <a:t>4/15/23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4B2548-ED1B-4668-17CD-F31AE604E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4F702F-018C-965A-1676-349EA4F55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47157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B9BB08-3A02-1789-20AC-966C0B74D0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303AE7-6E47-C852-258C-0093063D05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1DB2F4-5118-F931-1661-8C225D35D9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0C3D44-75A5-E98B-BAC7-9AE0294AC4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5B20BC-13CE-2D47-ADAC-0F7ADE5E020A}" type="datetime1">
              <a:rPr lang="en-US" smtClean="0"/>
              <a:t>4/15/23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494225-9A87-1DA2-9198-24E2AD0C9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DB31FB-4778-D85E-90C0-DA68EEAB9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84682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7ED6E9-2839-97CB-4D1A-A5C8320136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B3EECC-A052-DB25-D3E9-6ECA815909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B415DF-3550-F497-50FA-3A7C892EA4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2575B5-D73E-0E68-4DA6-0248BFFE64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6C03FB7-11FD-90ED-77F9-A302DEDB4B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D1F8A68-B0D0-6E96-0A84-980AA8A9BC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567FB0-007F-8C44-8B8F-3CA5A1C828DA}" type="datetime1">
              <a:rPr lang="en-US" smtClean="0"/>
              <a:t>4/15/23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BCFB583-8D53-40A4-90E8-0106762733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B0730B-A18E-3D24-DCA4-DEE6491A1A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27234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6C52F-88D0-DECE-0B74-4AA230B75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7AD8EC-E6CA-09B1-E885-D8875529AC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59D22-C81D-B249-AFED-E73722895D0B}" type="datetime1">
              <a:rPr lang="en-US" smtClean="0"/>
              <a:t>4/15/23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93AF39-5DF7-362E-8D4C-A245D6ADEA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EC6545-2C3D-D645-9C01-AEF8545B5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6794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20903B2-65E4-BF8E-0848-6C395032D7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737015-9E29-3346-8D4A-8E5557729F8A}" type="datetime1">
              <a:rPr lang="en-US" smtClean="0"/>
              <a:t>4/15/23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C0B6EE-E685-7C69-4126-140308D5D7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DB4CAE-3EE7-E34B-95F3-125BA85C3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09035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64D97-9411-4DB6-6EBD-01C93CDE4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9C1A7B-3AEB-9D4C-FF90-9FC82BBEDD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8F3502-B1D2-7567-4197-0F851DBC1F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B52E46-B510-8C10-AEC4-919A1A6055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46A615-98C0-474E-8824-4ACA8D108FF1}" type="datetime1">
              <a:rPr lang="en-US" smtClean="0"/>
              <a:t>4/15/23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CDA79E-A724-4A2C-A553-8B305ED55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FBDD05-00C1-74CA-A04D-24B20A7AE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633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5FD8E1-4084-A7A6-AC62-A6D3B1AEF8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EBF6B4-B75E-1C3F-8C26-684764EF51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8E4C6C-AE41-8CD7-452E-AC2AF898E1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F18251-593F-A35D-DF75-B54E453A6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69230-A0D7-C24F-B2C8-B8B72DA6F8ED}" type="datetime1">
              <a:rPr lang="en-US" smtClean="0"/>
              <a:t>4/15/23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6E3CFE-4382-B365-4D25-29E6BF68EA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E65313-4F5A-B1B7-BB09-70D9562DD2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6520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F86E39-4054-8A15-83C3-9FC82AE986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3AD267-2FB2-FF75-996B-E53FD34FC1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A5DA04-68C0-7F32-D3E9-20620D4A8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49A8F-C216-F049-AD2D-3C088DB7AC55}" type="datetime1">
              <a:rPr lang="en-US" smtClean="0"/>
              <a:t>4/15/23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C70689-1A91-87E6-3351-6E09CC990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DE03F9-C455-32B8-120B-607D292F04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4624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383B5D7-80EE-B154-4817-85CC2962742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797980-2812-EA0A-3248-5ECDDAD48A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20C7A2-85CE-898E-77D7-B23E67077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13F7D-0C75-7E4D-8EF7-8D64A4FA718E}" type="datetime1">
              <a:rPr lang="en-US" smtClean="0"/>
              <a:t>4/15/23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8A95D8-5872-BC66-DD62-CB752D4CD2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078490-7E14-AF79-1A2C-2D9238015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303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0462C29-C3B1-5C75-6B98-5E8299403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32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3713F3-1ECF-6977-0C5F-4D3C0FCB17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341690"/>
            <a:ext cx="10515600" cy="48352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2030F0-2085-C3AB-C299-84A59592F4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6A7272-B1EE-AF47-848D-8CB009E07FFA}" type="datetime1">
              <a:rPr lang="en-US" smtClean="0"/>
              <a:t>4/15/23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5F843C-135A-9E50-77B7-0146DD4B71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C269D5-0268-159A-99CD-0955D179F1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5D6C15-EF3C-4448-AD26-0168B8F9D9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5958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65645-EB28-9C39-979C-0D1D57197BE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pPr algn="l" fontAlgn="base">
              <a:lnSpc>
                <a:spcPct val="100000"/>
              </a:lnSpc>
              <a:spcAft>
                <a:spcPct val="0"/>
              </a:spcAft>
              <a:defRPr/>
            </a:pPr>
            <a:r>
              <a:rPr kumimoji="0" 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j-ea"/>
                <a:cs typeface="+mj-cs"/>
              </a:rPr>
              <a:t>Basics III</a:t>
            </a:r>
            <a:br>
              <a:rPr kumimoji="0" 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j-ea"/>
                <a:cs typeface="+mj-cs"/>
              </a:rPr>
            </a:br>
            <a:br>
              <a:rPr kumimoji="0" lang="en-US" sz="44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j-ea"/>
                <a:cs typeface="+mj-cs"/>
              </a:rPr>
            </a:b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j-ea"/>
                <a:cs typeface="+mj-cs"/>
              </a:rPr>
              <a:t>CMSC 14300: System Programming I</a:t>
            </a:r>
            <a:br>
              <a:rPr kumimoji="0" lang="en-US" sz="4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j-ea"/>
                <a:cs typeface="+mj-cs"/>
              </a:rPr>
            </a:b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j-ea"/>
                <a:cs typeface="+mj-cs"/>
              </a:rPr>
              <a:t>3</a:t>
            </a:r>
            <a:r>
              <a:rPr kumimoji="0" lang="en-US" sz="2800" b="0" i="0" u="none" strike="noStrike" kern="0" cap="none" spc="0" normalizeH="0" baseline="300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j-ea"/>
                <a:cs typeface="+mj-cs"/>
              </a:rPr>
              <a:t>rd</a:t>
            </a: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j-ea"/>
                <a:cs typeface="+mj-cs"/>
              </a:rPr>
              <a:t> Lecture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AE83B3-0C44-0224-7BE7-EDCAE9DDCC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2387599"/>
          </a:xfrm>
        </p:spPr>
        <p:txBody>
          <a:bodyPr>
            <a:normAutofit/>
          </a:bodyPr>
          <a:lstStyle/>
          <a:p>
            <a:pPr algn="l"/>
            <a:endParaRPr lang="en-US" dirty="0"/>
          </a:p>
          <a:p>
            <a:pPr algn="l"/>
            <a:r>
              <a:rPr lang="en-US" dirty="0"/>
              <a:t>Instructor: </a:t>
            </a:r>
          </a:p>
          <a:p>
            <a:pPr algn="l"/>
            <a:r>
              <a:rPr lang="en-US" dirty="0"/>
              <a:t>Prof. Adam Shaw</a:t>
            </a:r>
          </a:p>
          <a:p>
            <a:pPr algn="l"/>
            <a:r>
              <a:rPr lang="en-US" dirty="0"/>
              <a:t>Prof. Junchen Jiang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2E1C58-0D44-D111-A128-3D8F6FEDCF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48119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C4D46B-DFAA-9E18-F3EC-8F1098FD1A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FE97D0-A3F3-3FC6-CD2B-ABA0791275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Basic C operators</a:t>
            </a:r>
            <a:endParaRPr lang="en-US" strike="sngStrike" dirty="0"/>
          </a:p>
          <a:p>
            <a:r>
              <a:rPr lang="en-US" dirty="0"/>
              <a:t>Conditionals: If and Switch</a:t>
            </a:r>
          </a:p>
          <a:p>
            <a:r>
              <a:rPr lang="en-US" dirty="0"/>
              <a:t>Loops: For and While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6665DB-25C2-81AD-2F4F-161816714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9317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C65A6F-3D50-B8C8-8741-AE20CC8EF6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 Operators: Arithmetic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F0C6124-3EB6-4165-7DA3-5F6A680D907C}"/>
              </a:ext>
            </a:extLst>
          </p:cNvPr>
          <p:cNvSpPr txBox="1"/>
          <p:nvPr/>
        </p:nvSpPr>
        <p:spPr>
          <a:xfrm>
            <a:off x="600075" y="1405190"/>
            <a:ext cx="5171159" cy="193899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b="1" dirty="0"/>
              <a:t>Binary Operators</a:t>
            </a: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+   </a:t>
            </a:r>
            <a:r>
              <a:rPr lang="en-US" sz="2000" dirty="0"/>
              <a:t>add two operands</a:t>
            </a: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-   </a:t>
            </a:r>
            <a:r>
              <a:rPr lang="en-US" sz="2000" dirty="0"/>
              <a:t>subtracts second operand from the first</a:t>
            </a: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*   </a:t>
            </a:r>
            <a:r>
              <a:rPr lang="en-US" sz="2000" dirty="0"/>
              <a:t>multiplies both operands </a:t>
            </a: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/   </a:t>
            </a:r>
            <a:r>
              <a:rPr lang="en-US" sz="2000" dirty="0"/>
              <a:t>divides numerator by de-numerator</a:t>
            </a: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%   </a:t>
            </a:r>
            <a:r>
              <a:rPr lang="en-US" sz="2000" dirty="0"/>
              <a:t>modulus (remainder after integer division)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ABBA1B6-584F-1C7B-C688-D7B6DD9458A1}"/>
              </a:ext>
            </a:extLst>
          </p:cNvPr>
          <p:cNvSpPr txBox="1"/>
          <p:nvPr/>
        </p:nvSpPr>
        <p:spPr>
          <a:xfrm>
            <a:off x="600075" y="5343643"/>
            <a:ext cx="4637167" cy="132343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b="1" dirty="0"/>
              <a:t>Assignment Operators</a:t>
            </a: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=   </a:t>
            </a:r>
            <a:r>
              <a:rPr lang="en-US" sz="2000" dirty="0"/>
              <a:t>assignment, e.g., 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x = y;</a:t>
            </a: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+=  x += y;</a:t>
            </a:r>
            <a:r>
              <a:rPr lang="en-US" sz="2000" dirty="0"/>
              <a:t> equivalent to 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x = x + y;</a:t>
            </a: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-=  x -= y;</a:t>
            </a:r>
            <a:r>
              <a:rPr lang="en-US" sz="2000" dirty="0"/>
              <a:t> equivalent to 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x = x - y;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4B3561E-4671-E0AC-C368-B636357ED6A6}"/>
              </a:ext>
            </a:extLst>
          </p:cNvPr>
          <p:cNvSpPr txBox="1"/>
          <p:nvPr/>
        </p:nvSpPr>
        <p:spPr>
          <a:xfrm>
            <a:off x="600075" y="3513819"/>
            <a:ext cx="4380495" cy="163121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b="1" dirty="0"/>
              <a:t>Notes:</a:t>
            </a: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/ 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*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+</a:t>
            </a:r>
            <a:r>
              <a:rPr lang="en-US" sz="2000" dirty="0">
                <a:latin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-</a:t>
            </a:r>
            <a:r>
              <a:rPr lang="en-US" sz="2000" dirty="0"/>
              <a:t> are context-dependent</a:t>
            </a:r>
          </a:p>
          <a:p>
            <a:r>
              <a:rPr lang="en-US" sz="2000" dirty="0"/>
              <a:t>       (work for integers and floats)</a:t>
            </a:r>
          </a:p>
          <a:p>
            <a:r>
              <a:rPr lang="en-US" sz="2000" dirty="0"/>
              <a:t>with </a:t>
            </a:r>
            <a:r>
              <a:rPr lang="en-US" sz="2000" dirty="0" err="1"/>
              <a:t>ints</a:t>
            </a:r>
            <a:r>
              <a:rPr lang="en-US" sz="2000" dirty="0"/>
              <a:t>, 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/ </a:t>
            </a:r>
            <a:r>
              <a:rPr lang="en-US" sz="2000" dirty="0"/>
              <a:t>is truncated integer division</a:t>
            </a:r>
          </a:p>
          <a:p>
            <a:r>
              <a:rPr lang="en-US" sz="2000" dirty="0"/>
              <a:t>with floats, 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/ </a:t>
            </a:r>
            <a:r>
              <a:rPr lang="en-US" sz="2000" dirty="0"/>
              <a:t>is normal division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8CBA7A7-394F-3C0B-2C8F-8ED171FBBD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3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5388EA6-539C-1BA9-D483-4C8D9DBB4A63}"/>
              </a:ext>
            </a:extLst>
          </p:cNvPr>
          <p:cNvSpPr txBox="1"/>
          <p:nvPr/>
        </p:nvSpPr>
        <p:spPr>
          <a:xfrm>
            <a:off x="6420768" y="1476117"/>
            <a:ext cx="5619242" cy="5016758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x =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y =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3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printf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6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%d\n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x + y); </a:t>
            </a:r>
            <a:r>
              <a:rPr lang="en-US" sz="1600" dirty="0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// 4</a:t>
            </a:r>
            <a:endParaRPr lang="en-US" sz="16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printf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6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%d\n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x - y); </a:t>
            </a:r>
            <a:r>
              <a:rPr lang="en-US" sz="1600" dirty="0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// -2</a:t>
            </a:r>
            <a:endParaRPr lang="en-US" sz="16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printf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6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%d\n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y/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2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   </a:t>
            </a:r>
            <a:r>
              <a:rPr lang="en-US" sz="1600" dirty="0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// 1</a:t>
            </a:r>
            <a:endParaRPr lang="en-US" sz="16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printf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6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%d\n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y %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2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 </a:t>
            </a:r>
            <a:r>
              <a:rPr lang="en-US" sz="1600" dirty="0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// 1</a:t>
            </a:r>
            <a:endParaRPr lang="en-US" sz="16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 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float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a =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1.5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b =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3.0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 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printf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6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%.1f\n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a + b); </a:t>
            </a:r>
            <a:r>
              <a:rPr lang="en-US" sz="1600" dirty="0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// 4.5</a:t>
            </a:r>
            <a:endParaRPr lang="en-US" sz="16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printf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6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%.1f\n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a * b); </a:t>
            </a:r>
            <a:r>
              <a:rPr lang="en-US" sz="1600" dirty="0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// 4.5</a:t>
            </a:r>
            <a:endParaRPr lang="en-US" sz="16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printf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6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%.1f\n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a/b);   </a:t>
            </a:r>
            <a:r>
              <a:rPr lang="en-US" sz="1600" dirty="0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// 0.5</a:t>
            </a:r>
            <a:endParaRPr lang="en-US" sz="16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printf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6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%.1f\n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x + a); </a:t>
            </a:r>
            <a:r>
              <a:rPr lang="en-US" sz="1600" dirty="0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// 2.5</a:t>
            </a:r>
            <a:endParaRPr lang="en-US" sz="16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printf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6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%.1f\n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b % y); </a:t>
            </a:r>
            <a:r>
              <a:rPr lang="en-US" sz="1600" dirty="0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//error</a:t>
            </a:r>
            <a:endParaRPr lang="en-US" sz="16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endParaRPr lang="en-US" sz="16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y -= x; </a:t>
            </a:r>
            <a:r>
              <a:rPr lang="en-US" sz="1600" dirty="0">
                <a:solidFill>
                  <a:srgbClr val="0432FF"/>
                </a:solidFill>
                <a:effectLst/>
                <a:latin typeface="Menlo" panose="020B0609030804020204" pitchFamily="49" charset="0"/>
              </a:rPr>
              <a:t>// x = 1, y = 3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printf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6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%d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6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%d\n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x, y); </a:t>
            </a:r>
            <a:r>
              <a:rPr lang="en-US" sz="1600" dirty="0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// 1, 2</a:t>
            </a:r>
            <a:endParaRPr lang="en-US" sz="16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x += y;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printf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6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%d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6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%d\n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x, y); </a:t>
            </a:r>
            <a:r>
              <a:rPr lang="en-US" sz="1600" dirty="0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// 3, 2</a:t>
            </a:r>
            <a:endParaRPr lang="en-US" sz="16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  y *= x;</a:t>
            </a:r>
          </a:p>
          <a:p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  </a:t>
            </a:r>
            <a:r>
              <a:rPr lang="en-US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printf</a:t>
            </a:r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sz="1600" dirty="0">
                <a:solidFill>
                  <a:srgbClr val="B42419"/>
                </a:solidFill>
                <a:latin typeface="Menlo" panose="020B0609030804020204" pitchFamily="49" charset="0"/>
              </a:rPr>
              <a:t>"</a:t>
            </a:r>
            <a:r>
              <a:rPr lang="en-US" sz="1600" dirty="0">
                <a:solidFill>
                  <a:srgbClr val="C814C9"/>
                </a:solidFill>
                <a:latin typeface="Menlo" panose="020B0609030804020204" pitchFamily="49" charset="0"/>
              </a:rPr>
              <a:t>%d</a:t>
            </a:r>
            <a:r>
              <a:rPr lang="en-US" sz="1600" dirty="0">
                <a:solidFill>
                  <a:srgbClr val="B42419"/>
                </a:solidFill>
                <a:latin typeface="Menlo" panose="020B0609030804020204" pitchFamily="49" charset="0"/>
              </a:rPr>
              <a:t>, </a:t>
            </a:r>
            <a:r>
              <a:rPr lang="en-US" sz="1600" dirty="0">
                <a:solidFill>
                  <a:srgbClr val="C814C9"/>
                </a:solidFill>
                <a:latin typeface="Menlo" panose="020B0609030804020204" pitchFamily="49" charset="0"/>
              </a:rPr>
              <a:t>%d\n</a:t>
            </a:r>
            <a:r>
              <a:rPr lang="en-US" sz="1600" dirty="0">
                <a:solidFill>
                  <a:srgbClr val="B42419"/>
                </a:solidFill>
                <a:latin typeface="Menlo" panose="020B0609030804020204" pitchFamily="49" charset="0"/>
              </a:rPr>
              <a:t>"</a:t>
            </a:r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, x, y); </a:t>
            </a:r>
            <a:r>
              <a:rPr lang="en-US" sz="1600" dirty="0">
                <a:solidFill>
                  <a:srgbClr val="400BD9"/>
                </a:solidFill>
                <a:latin typeface="Menlo" panose="020B0609030804020204" pitchFamily="49" charset="0"/>
              </a:rPr>
              <a:t>// 2, 6</a:t>
            </a:r>
            <a:endParaRPr lang="en-US" sz="16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endParaRPr lang="en-US" sz="16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18B8736-2857-2A3F-2300-EBF052A851D0}"/>
              </a:ext>
            </a:extLst>
          </p:cNvPr>
          <p:cNvSpPr/>
          <p:nvPr/>
        </p:nvSpPr>
        <p:spPr>
          <a:xfrm>
            <a:off x="9830583" y="1759371"/>
            <a:ext cx="506063" cy="23267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dirty="0"/>
              <a:t>?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159719E-11A2-51B3-7A5F-07CA5530C53E}"/>
              </a:ext>
            </a:extLst>
          </p:cNvPr>
          <p:cNvSpPr/>
          <p:nvPr/>
        </p:nvSpPr>
        <p:spPr>
          <a:xfrm>
            <a:off x="9830583" y="2022527"/>
            <a:ext cx="506063" cy="23267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dirty="0"/>
              <a:t>?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7359963-E9B1-E05D-BAFA-FA57950CD45B}"/>
              </a:ext>
            </a:extLst>
          </p:cNvPr>
          <p:cNvSpPr/>
          <p:nvPr/>
        </p:nvSpPr>
        <p:spPr>
          <a:xfrm>
            <a:off x="9830583" y="2275300"/>
            <a:ext cx="506063" cy="23267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dirty="0"/>
              <a:t>?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02DDAFB-3C22-FDB8-CBEB-1A7A830D2DB2}"/>
              </a:ext>
            </a:extLst>
          </p:cNvPr>
          <p:cNvSpPr/>
          <p:nvPr/>
        </p:nvSpPr>
        <p:spPr>
          <a:xfrm>
            <a:off x="9830583" y="2538456"/>
            <a:ext cx="506063" cy="23267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dirty="0"/>
              <a:t>?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025AB5E-651B-67DA-78E6-9E4227A237E7}"/>
              </a:ext>
            </a:extLst>
          </p:cNvPr>
          <p:cNvSpPr/>
          <p:nvPr/>
        </p:nvSpPr>
        <p:spPr>
          <a:xfrm>
            <a:off x="10061129" y="3231486"/>
            <a:ext cx="615795" cy="23267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dirty="0"/>
              <a:t>?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5246226-83A5-376E-76A1-BB4BB2B0EB45}"/>
              </a:ext>
            </a:extLst>
          </p:cNvPr>
          <p:cNvSpPr/>
          <p:nvPr/>
        </p:nvSpPr>
        <p:spPr>
          <a:xfrm>
            <a:off x="10061129" y="3494642"/>
            <a:ext cx="615795" cy="23267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dirty="0"/>
              <a:t>?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46CDF6F-37E0-97AB-F2CE-1E2EA8F19106}"/>
              </a:ext>
            </a:extLst>
          </p:cNvPr>
          <p:cNvSpPr/>
          <p:nvPr/>
        </p:nvSpPr>
        <p:spPr>
          <a:xfrm>
            <a:off x="10061129" y="3747415"/>
            <a:ext cx="615795" cy="23267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dirty="0"/>
              <a:t>?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62606A1-23A8-92A3-5BE0-9901B690FCAD}"/>
              </a:ext>
            </a:extLst>
          </p:cNvPr>
          <p:cNvSpPr/>
          <p:nvPr/>
        </p:nvSpPr>
        <p:spPr>
          <a:xfrm>
            <a:off x="10061129" y="4003076"/>
            <a:ext cx="615795" cy="23267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dirty="0"/>
              <a:t>?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15EF8E6-338C-A0BD-0B83-B675DF20B39D}"/>
              </a:ext>
            </a:extLst>
          </p:cNvPr>
          <p:cNvSpPr/>
          <p:nvPr/>
        </p:nvSpPr>
        <p:spPr>
          <a:xfrm>
            <a:off x="10061129" y="4258737"/>
            <a:ext cx="615795" cy="23267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dirty="0"/>
              <a:t>?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21A69C1-0F67-5D22-7CA2-F9DCFE8222BB}"/>
              </a:ext>
            </a:extLst>
          </p:cNvPr>
          <p:cNvSpPr/>
          <p:nvPr/>
        </p:nvSpPr>
        <p:spPr>
          <a:xfrm>
            <a:off x="10282532" y="4928143"/>
            <a:ext cx="615795" cy="23267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dirty="0"/>
              <a:t>?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5223607-09B3-95E1-4E09-6D009B8894E5}"/>
              </a:ext>
            </a:extLst>
          </p:cNvPr>
          <p:cNvSpPr/>
          <p:nvPr/>
        </p:nvSpPr>
        <p:spPr>
          <a:xfrm>
            <a:off x="10282532" y="5439465"/>
            <a:ext cx="615795" cy="23267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dirty="0"/>
              <a:t>?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2AF8382-1A8A-A529-6B2C-CD6D9AE6BD5C}"/>
              </a:ext>
            </a:extLst>
          </p:cNvPr>
          <p:cNvSpPr/>
          <p:nvPr/>
        </p:nvSpPr>
        <p:spPr>
          <a:xfrm>
            <a:off x="10282531" y="5927007"/>
            <a:ext cx="615795" cy="23267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dirty="0"/>
              <a:t>?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4E55ADE-612C-F368-3B28-2EBCCBF75676}"/>
              </a:ext>
            </a:extLst>
          </p:cNvPr>
          <p:cNvSpPr txBox="1"/>
          <p:nvPr/>
        </p:nvSpPr>
        <p:spPr>
          <a:xfrm>
            <a:off x="6420768" y="1045771"/>
            <a:ext cx="13621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Examples</a:t>
            </a:r>
          </a:p>
        </p:txBody>
      </p:sp>
    </p:spTree>
    <p:extLst>
      <p:ext uri="{BB962C8B-B14F-4D97-AF65-F5344CB8AC3E}">
        <p14:creationId xmlns:p14="http://schemas.microsoft.com/office/powerpoint/2010/main" val="22179785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1" animBg="1"/>
      <p:bldP spid="10" grpId="2" animBg="1"/>
      <p:bldP spid="11" grpId="1" animBg="1"/>
      <p:bldP spid="11" grpId="2" animBg="1"/>
      <p:bldP spid="13" grpId="0" animBg="1"/>
      <p:bldP spid="13" grpId="1" animBg="1"/>
      <p:bldP spid="14" grpId="0" animBg="1"/>
      <p:bldP spid="14" grpId="1" animBg="1"/>
      <p:bldP spid="20" grpId="0" animBg="1"/>
      <p:bldP spid="20" grpId="1" animBg="1"/>
      <p:bldP spid="21" grpId="0" animBg="1"/>
      <p:bldP spid="21" grpId="1" animBg="1"/>
      <p:bldP spid="22" grpId="0" animBg="1"/>
      <p:bldP spid="22" grpId="1" animBg="1"/>
      <p:bldP spid="23" grpId="0" animBg="1"/>
      <p:bldP spid="23" grpId="1" animBg="1"/>
      <p:bldP spid="24" grpId="0" animBg="1"/>
      <p:bldP spid="24" grpId="1" animBg="1"/>
      <p:bldP spid="27" grpId="0" animBg="1"/>
      <p:bldP spid="27" grpId="1" animBg="1"/>
      <p:bldP spid="28" grpId="0" animBg="1"/>
      <p:bldP spid="28" grpId="1" animBg="1"/>
      <p:bldP spid="31" grpId="0" animBg="1"/>
      <p:bldP spid="31" grpId="1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323F3-5201-3EF9-C552-B4FB1773F4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 Operators: Arithmetic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14DEEB-4473-4658-7E20-37EA416E61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4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F7569F-BBA2-A642-74AC-B61204B21D5F}"/>
              </a:ext>
            </a:extLst>
          </p:cNvPr>
          <p:cNvSpPr txBox="1"/>
          <p:nvPr/>
        </p:nvSpPr>
        <p:spPr>
          <a:xfrm>
            <a:off x="1716711" y="3301793"/>
            <a:ext cx="6996983" cy="3046988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  x = </a:t>
            </a:r>
            <a:r>
              <a:rPr lang="en-US" sz="1600" dirty="0">
                <a:solidFill>
                  <a:srgbClr val="B42419"/>
                </a:solidFill>
                <a:latin typeface="Menlo" panose="020B0609030804020204" pitchFamily="49" charset="0"/>
              </a:rPr>
              <a:t>3</a:t>
            </a:r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, y = </a:t>
            </a:r>
            <a:r>
              <a:rPr lang="en-US" sz="1600" dirty="0">
                <a:solidFill>
                  <a:srgbClr val="B42419"/>
                </a:solidFill>
                <a:latin typeface="Menlo" panose="020B0609030804020204" pitchFamily="49" charset="0"/>
              </a:rPr>
              <a:t>3</a:t>
            </a:r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  </a:t>
            </a:r>
            <a:r>
              <a:rPr lang="en-US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printf</a:t>
            </a:r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sz="1600" dirty="0">
                <a:solidFill>
                  <a:srgbClr val="B42419"/>
                </a:solidFill>
                <a:latin typeface="Menlo" panose="020B0609030804020204" pitchFamily="49" charset="0"/>
              </a:rPr>
              <a:t>"</a:t>
            </a:r>
            <a:r>
              <a:rPr lang="en-US" sz="1600" dirty="0">
                <a:solidFill>
                  <a:srgbClr val="C814C9"/>
                </a:solidFill>
                <a:latin typeface="Menlo" panose="020B0609030804020204" pitchFamily="49" charset="0"/>
              </a:rPr>
              <a:t>%d\n</a:t>
            </a:r>
            <a:r>
              <a:rPr lang="en-US" sz="1600" dirty="0">
                <a:solidFill>
                  <a:srgbClr val="B42419"/>
                </a:solidFill>
                <a:latin typeface="Menlo" panose="020B0609030804020204" pitchFamily="49" charset="0"/>
              </a:rPr>
              <a:t>"</a:t>
            </a:r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, x--); </a:t>
            </a:r>
            <a:r>
              <a:rPr lang="en-US" sz="1600" dirty="0">
                <a:solidFill>
                  <a:srgbClr val="400BD9"/>
                </a:solidFill>
                <a:latin typeface="Menlo" panose="020B0609030804020204" pitchFamily="49" charset="0"/>
              </a:rPr>
              <a:t>// 3 </a:t>
            </a:r>
            <a:endParaRPr lang="en-US" sz="16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  </a:t>
            </a:r>
            <a:r>
              <a:rPr lang="en-US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printf</a:t>
            </a:r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sz="1600" dirty="0">
                <a:solidFill>
                  <a:srgbClr val="B42419"/>
                </a:solidFill>
                <a:latin typeface="Menlo" panose="020B0609030804020204" pitchFamily="49" charset="0"/>
              </a:rPr>
              <a:t>"</a:t>
            </a:r>
            <a:r>
              <a:rPr lang="en-US" sz="1600" dirty="0">
                <a:solidFill>
                  <a:srgbClr val="C814C9"/>
                </a:solidFill>
                <a:latin typeface="Menlo" panose="020B0609030804020204" pitchFamily="49" charset="0"/>
              </a:rPr>
              <a:t>%d\n</a:t>
            </a:r>
            <a:r>
              <a:rPr lang="en-US" sz="1600" dirty="0">
                <a:solidFill>
                  <a:srgbClr val="B42419"/>
                </a:solidFill>
                <a:latin typeface="Menlo" panose="020B0609030804020204" pitchFamily="49" charset="0"/>
              </a:rPr>
              <a:t>"</a:t>
            </a:r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, x); </a:t>
            </a:r>
            <a:r>
              <a:rPr lang="en-US" sz="1600" dirty="0">
                <a:solidFill>
                  <a:srgbClr val="400BD9"/>
                </a:solidFill>
                <a:latin typeface="Menlo" panose="020B0609030804020204" pitchFamily="49" charset="0"/>
              </a:rPr>
              <a:t>// 2</a:t>
            </a:r>
            <a:endParaRPr lang="en-US" sz="16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  </a:t>
            </a:r>
            <a:r>
              <a:rPr lang="en-US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printf</a:t>
            </a:r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sz="1600" dirty="0">
                <a:solidFill>
                  <a:srgbClr val="B42419"/>
                </a:solidFill>
                <a:latin typeface="Menlo" panose="020B0609030804020204" pitchFamily="49" charset="0"/>
              </a:rPr>
              <a:t>"</a:t>
            </a:r>
            <a:r>
              <a:rPr lang="en-US" sz="1600" dirty="0">
                <a:solidFill>
                  <a:srgbClr val="C814C9"/>
                </a:solidFill>
                <a:latin typeface="Menlo" panose="020B0609030804020204" pitchFamily="49" charset="0"/>
              </a:rPr>
              <a:t>%d\n</a:t>
            </a:r>
            <a:r>
              <a:rPr lang="en-US" sz="1600" dirty="0">
                <a:solidFill>
                  <a:srgbClr val="B42419"/>
                </a:solidFill>
                <a:latin typeface="Menlo" panose="020B0609030804020204" pitchFamily="49" charset="0"/>
              </a:rPr>
              <a:t>"</a:t>
            </a:r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, ++y); </a:t>
            </a:r>
            <a:r>
              <a:rPr lang="en-US" sz="1600" dirty="0">
                <a:solidFill>
                  <a:srgbClr val="400BD9"/>
                </a:solidFill>
                <a:latin typeface="Menlo" panose="020B0609030804020204" pitchFamily="49" charset="0"/>
              </a:rPr>
              <a:t>// 4</a:t>
            </a:r>
            <a:endParaRPr lang="en-US" sz="16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  </a:t>
            </a:r>
            <a:r>
              <a:rPr lang="en-US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printf</a:t>
            </a:r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sz="1600" dirty="0">
                <a:solidFill>
                  <a:srgbClr val="B42419"/>
                </a:solidFill>
                <a:latin typeface="Menlo" panose="020B0609030804020204" pitchFamily="49" charset="0"/>
              </a:rPr>
              <a:t>"</a:t>
            </a:r>
            <a:r>
              <a:rPr lang="en-US" sz="1600" dirty="0">
                <a:solidFill>
                  <a:srgbClr val="C814C9"/>
                </a:solidFill>
                <a:latin typeface="Menlo" panose="020B0609030804020204" pitchFamily="49" charset="0"/>
              </a:rPr>
              <a:t>%d\n</a:t>
            </a:r>
            <a:r>
              <a:rPr lang="en-US" sz="1600" dirty="0">
                <a:solidFill>
                  <a:srgbClr val="B42419"/>
                </a:solidFill>
                <a:latin typeface="Menlo" panose="020B0609030804020204" pitchFamily="49" charset="0"/>
              </a:rPr>
              <a:t>"</a:t>
            </a:r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, y); </a:t>
            </a:r>
            <a:r>
              <a:rPr lang="en-US" sz="1600" dirty="0">
                <a:solidFill>
                  <a:srgbClr val="400BD9"/>
                </a:solidFill>
                <a:latin typeface="Menlo" panose="020B0609030804020204" pitchFamily="49" charset="0"/>
              </a:rPr>
              <a:t>// 4</a:t>
            </a:r>
            <a:b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</a:br>
            <a:endParaRPr lang="en-US" sz="16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2FB41D"/>
                </a:solidFill>
                <a:latin typeface="Menlo" panose="020B060903080402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 p = x++;</a:t>
            </a:r>
          </a:p>
          <a:p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  </a:t>
            </a:r>
            <a:r>
              <a:rPr lang="en-US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printf</a:t>
            </a:r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sz="1600" dirty="0">
                <a:solidFill>
                  <a:srgbClr val="B42419"/>
                </a:solidFill>
                <a:latin typeface="Menlo" panose="020B0609030804020204" pitchFamily="49" charset="0"/>
              </a:rPr>
              <a:t>"p = </a:t>
            </a:r>
            <a:r>
              <a:rPr lang="en-US" sz="1600" dirty="0">
                <a:solidFill>
                  <a:srgbClr val="C814C9"/>
                </a:solidFill>
                <a:latin typeface="Menlo" panose="020B0609030804020204" pitchFamily="49" charset="0"/>
              </a:rPr>
              <a:t>%d</a:t>
            </a:r>
            <a:r>
              <a:rPr lang="en-US" sz="1600" dirty="0">
                <a:solidFill>
                  <a:srgbClr val="B42419"/>
                </a:solidFill>
                <a:latin typeface="Menlo" panose="020B0609030804020204" pitchFamily="49" charset="0"/>
              </a:rPr>
              <a:t>, x = </a:t>
            </a:r>
            <a:r>
              <a:rPr lang="en-US" sz="1600" dirty="0">
                <a:solidFill>
                  <a:srgbClr val="C814C9"/>
                </a:solidFill>
                <a:latin typeface="Menlo" panose="020B0609030804020204" pitchFamily="49" charset="0"/>
              </a:rPr>
              <a:t>%d\n</a:t>
            </a:r>
            <a:r>
              <a:rPr lang="en-US" sz="1600" dirty="0">
                <a:solidFill>
                  <a:srgbClr val="B42419"/>
                </a:solidFill>
                <a:latin typeface="Menlo" panose="020B0609030804020204" pitchFamily="49" charset="0"/>
              </a:rPr>
              <a:t>"</a:t>
            </a:r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, p, x); </a:t>
            </a:r>
            <a:r>
              <a:rPr lang="en-US" sz="1600" dirty="0">
                <a:solidFill>
                  <a:srgbClr val="400BD9"/>
                </a:solidFill>
                <a:latin typeface="Menlo" panose="020B0609030804020204" pitchFamily="49" charset="0"/>
              </a:rPr>
              <a:t>// p = 2, x = 3</a:t>
            </a:r>
            <a:endParaRPr lang="en-US" sz="16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2FB41D"/>
                </a:solidFill>
                <a:latin typeface="Menlo" panose="020B060903080402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 q = --y;</a:t>
            </a:r>
          </a:p>
          <a:p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  </a:t>
            </a:r>
            <a:r>
              <a:rPr lang="en-US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printf</a:t>
            </a:r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sz="1600" dirty="0">
                <a:solidFill>
                  <a:srgbClr val="B42419"/>
                </a:solidFill>
                <a:latin typeface="Menlo" panose="020B0609030804020204" pitchFamily="49" charset="0"/>
              </a:rPr>
              <a:t>"q = </a:t>
            </a:r>
            <a:r>
              <a:rPr lang="en-US" sz="1600" dirty="0">
                <a:solidFill>
                  <a:srgbClr val="C814C9"/>
                </a:solidFill>
                <a:latin typeface="Menlo" panose="020B0609030804020204" pitchFamily="49" charset="0"/>
              </a:rPr>
              <a:t>%d</a:t>
            </a:r>
            <a:r>
              <a:rPr lang="en-US" sz="1600" dirty="0">
                <a:solidFill>
                  <a:srgbClr val="B42419"/>
                </a:solidFill>
                <a:latin typeface="Menlo" panose="020B0609030804020204" pitchFamily="49" charset="0"/>
              </a:rPr>
              <a:t>, y = </a:t>
            </a:r>
            <a:r>
              <a:rPr lang="en-US" sz="1600" dirty="0">
                <a:solidFill>
                  <a:srgbClr val="C814C9"/>
                </a:solidFill>
                <a:latin typeface="Menlo" panose="020B0609030804020204" pitchFamily="49" charset="0"/>
              </a:rPr>
              <a:t>%d\n</a:t>
            </a:r>
            <a:r>
              <a:rPr lang="en-US" sz="1600" dirty="0">
                <a:solidFill>
                  <a:srgbClr val="B42419"/>
                </a:solidFill>
                <a:latin typeface="Menlo" panose="020B0609030804020204" pitchFamily="49" charset="0"/>
              </a:rPr>
              <a:t>"</a:t>
            </a:r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, q, y); </a:t>
            </a:r>
            <a:r>
              <a:rPr lang="en-US" sz="1600" dirty="0">
                <a:solidFill>
                  <a:srgbClr val="400BD9"/>
                </a:solidFill>
                <a:latin typeface="Menlo" panose="020B0609030804020204" pitchFamily="49" charset="0"/>
              </a:rPr>
              <a:t>// q = 3, y = 3</a:t>
            </a:r>
            <a:endParaRPr lang="en-US" sz="1600" dirty="0">
              <a:solidFill>
                <a:srgbClr val="000000"/>
              </a:solidFill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  x *= y--;</a:t>
            </a:r>
          </a:p>
          <a:p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  </a:t>
            </a:r>
            <a:r>
              <a:rPr lang="en-US" sz="1600" dirty="0" err="1">
                <a:solidFill>
                  <a:srgbClr val="000000"/>
                </a:solidFill>
                <a:latin typeface="Menlo" panose="020B0609030804020204" pitchFamily="49" charset="0"/>
              </a:rPr>
              <a:t>printf</a:t>
            </a:r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(</a:t>
            </a:r>
            <a:r>
              <a:rPr lang="en-US" sz="1600" dirty="0">
                <a:solidFill>
                  <a:srgbClr val="B42419"/>
                </a:solidFill>
                <a:latin typeface="Menlo" panose="020B0609030804020204" pitchFamily="49" charset="0"/>
              </a:rPr>
              <a:t>"x = </a:t>
            </a:r>
            <a:r>
              <a:rPr lang="en-US" sz="1600" dirty="0">
                <a:solidFill>
                  <a:srgbClr val="C814C9"/>
                </a:solidFill>
                <a:latin typeface="Menlo" panose="020B0609030804020204" pitchFamily="49" charset="0"/>
              </a:rPr>
              <a:t>%d</a:t>
            </a:r>
            <a:r>
              <a:rPr lang="en-US" sz="1600" dirty="0">
                <a:solidFill>
                  <a:srgbClr val="B42419"/>
                </a:solidFill>
                <a:latin typeface="Menlo" panose="020B0609030804020204" pitchFamily="49" charset="0"/>
              </a:rPr>
              <a:t>, y = </a:t>
            </a:r>
            <a:r>
              <a:rPr lang="en-US" sz="1600" dirty="0">
                <a:solidFill>
                  <a:srgbClr val="C814C9"/>
                </a:solidFill>
                <a:latin typeface="Menlo" panose="020B0609030804020204" pitchFamily="49" charset="0"/>
              </a:rPr>
              <a:t>%d\n</a:t>
            </a:r>
            <a:r>
              <a:rPr lang="en-US" sz="1600" dirty="0">
                <a:solidFill>
                  <a:srgbClr val="B42419"/>
                </a:solidFill>
                <a:latin typeface="Menlo" panose="020B0609030804020204" pitchFamily="49" charset="0"/>
              </a:rPr>
              <a:t>"</a:t>
            </a:r>
            <a:r>
              <a:rPr lang="en-US" sz="1600" dirty="0">
                <a:solidFill>
                  <a:srgbClr val="000000"/>
                </a:solidFill>
                <a:latin typeface="Menlo" panose="020B0609030804020204" pitchFamily="49" charset="0"/>
              </a:rPr>
              <a:t>, x, y); </a:t>
            </a:r>
            <a:r>
              <a:rPr lang="en-US" sz="1600" dirty="0">
                <a:solidFill>
                  <a:srgbClr val="400BD9"/>
                </a:solidFill>
                <a:latin typeface="Menlo" panose="020B0609030804020204" pitchFamily="49" charset="0"/>
              </a:rPr>
              <a:t>// x = 9, y = 2</a:t>
            </a:r>
            <a:endParaRPr lang="en-US" sz="1600" dirty="0">
              <a:solidFill>
                <a:srgbClr val="000000"/>
              </a:solidFill>
              <a:latin typeface="Menlo" panose="020B06090308040202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2E5A9AA-6CFE-4C33-BA84-682213553E47}"/>
              </a:ext>
            </a:extLst>
          </p:cNvPr>
          <p:cNvSpPr txBox="1"/>
          <p:nvPr/>
        </p:nvSpPr>
        <p:spPr>
          <a:xfrm>
            <a:off x="155917" y="1585336"/>
            <a:ext cx="4779154" cy="10156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b="1" dirty="0"/>
              <a:t>Unary Operators</a:t>
            </a: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++  </a:t>
            </a:r>
            <a:r>
              <a:rPr lang="en-US" sz="2000" dirty="0"/>
              <a:t>increment (increases value by one)</a:t>
            </a: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--  </a:t>
            </a:r>
            <a:r>
              <a:rPr lang="en-US" sz="2000" dirty="0"/>
              <a:t>decrement (decreases value by one)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1AB1444-1B1F-E5F3-AFB6-D102917FF1F3}"/>
              </a:ext>
            </a:extLst>
          </p:cNvPr>
          <p:cNvSpPr txBox="1"/>
          <p:nvPr/>
        </p:nvSpPr>
        <p:spPr>
          <a:xfrm>
            <a:off x="5646830" y="1585336"/>
            <a:ext cx="6133730" cy="10156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b="1" dirty="0"/>
              <a:t>Notes:</a:t>
            </a:r>
          </a:p>
          <a:p>
            <a:r>
              <a:rPr lang="en-US" sz="2000" dirty="0"/>
              <a:t>prefix (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++x</a:t>
            </a:r>
            <a:r>
              <a:rPr lang="en-US" sz="2000" dirty="0"/>
              <a:t>): update x, expression evaluates to </a:t>
            </a:r>
            <a:r>
              <a:rPr lang="en-US" sz="2000" b="1" i="1" dirty="0"/>
              <a:t>new</a:t>
            </a:r>
            <a:r>
              <a:rPr lang="en-US" sz="2000" dirty="0"/>
              <a:t> value</a:t>
            </a:r>
          </a:p>
          <a:p>
            <a:r>
              <a:rPr lang="en-US" sz="2000" dirty="0"/>
              <a:t>postfix (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x++</a:t>
            </a:r>
            <a:r>
              <a:rPr lang="en-US" sz="2000" dirty="0"/>
              <a:t>): update x, expression evaluates to </a:t>
            </a:r>
            <a:r>
              <a:rPr lang="en-US" sz="2000" b="1" i="1" dirty="0"/>
              <a:t>old</a:t>
            </a:r>
            <a:r>
              <a:rPr lang="en-US" sz="2000" dirty="0"/>
              <a:t> value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4D4E99F-5868-D247-AC74-5312208567E7}"/>
              </a:ext>
            </a:extLst>
          </p:cNvPr>
          <p:cNvSpPr/>
          <p:nvPr/>
        </p:nvSpPr>
        <p:spPr>
          <a:xfrm>
            <a:off x="6957178" y="5051366"/>
            <a:ext cx="250446" cy="24224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dirty="0"/>
              <a:t>?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50EB0FD-628C-2557-DA56-C8EF86448B14}"/>
              </a:ext>
            </a:extLst>
          </p:cNvPr>
          <p:cNvSpPr/>
          <p:nvPr/>
        </p:nvSpPr>
        <p:spPr>
          <a:xfrm>
            <a:off x="7874638" y="5051366"/>
            <a:ext cx="250447" cy="24224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dirty="0"/>
              <a:t>?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E2A1209-ED79-800C-78F9-2B07C63495AE}"/>
              </a:ext>
            </a:extLst>
          </p:cNvPr>
          <p:cNvSpPr/>
          <p:nvPr/>
        </p:nvSpPr>
        <p:spPr>
          <a:xfrm>
            <a:off x="6957178" y="5546026"/>
            <a:ext cx="250446" cy="24224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dirty="0"/>
              <a:t>?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1048426-E87E-5158-DC51-5B9E2736DDB1}"/>
              </a:ext>
            </a:extLst>
          </p:cNvPr>
          <p:cNvSpPr/>
          <p:nvPr/>
        </p:nvSpPr>
        <p:spPr>
          <a:xfrm>
            <a:off x="7874638" y="5546026"/>
            <a:ext cx="250447" cy="24224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dirty="0"/>
              <a:t>?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1094D2B-AF3E-DE95-8E1B-AFFA22BD77E3}"/>
              </a:ext>
            </a:extLst>
          </p:cNvPr>
          <p:cNvSpPr/>
          <p:nvPr/>
        </p:nvSpPr>
        <p:spPr>
          <a:xfrm>
            <a:off x="6957178" y="6040686"/>
            <a:ext cx="250446" cy="24224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dirty="0"/>
              <a:t>?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4492522-FD10-2E4D-22B5-A517E602A249}"/>
              </a:ext>
            </a:extLst>
          </p:cNvPr>
          <p:cNvSpPr/>
          <p:nvPr/>
        </p:nvSpPr>
        <p:spPr>
          <a:xfrm>
            <a:off x="7874638" y="6040686"/>
            <a:ext cx="250447" cy="24224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dirty="0"/>
              <a:t>?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1DDFEEB-C2C8-581A-BC39-B8E27EC25F1F}"/>
              </a:ext>
            </a:extLst>
          </p:cNvPr>
          <p:cNvSpPr txBox="1"/>
          <p:nvPr/>
        </p:nvSpPr>
        <p:spPr>
          <a:xfrm>
            <a:off x="1716711" y="2840128"/>
            <a:ext cx="13621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Examples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96119B7-E6BE-F4E8-CAF6-96594BEB67CD}"/>
              </a:ext>
            </a:extLst>
          </p:cNvPr>
          <p:cNvSpPr/>
          <p:nvPr/>
        </p:nvSpPr>
        <p:spPr>
          <a:xfrm>
            <a:off x="2048420" y="4679457"/>
            <a:ext cx="6333564" cy="16169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84862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C4D46B-DFAA-9E18-F3EC-8F1098FD1A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FE97D0-A3F3-3FC6-CD2B-ABA0791275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trike="sngStrike" dirty="0"/>
              <a:t>Basic C operators</a:t>
            </a:r>
          </a:p>
          <a:p>
            <a:r>
              <a:rPr lang="en-US" dirty="0"/>
              <a:t>Loops: For and While</a:t>
            </a:r>
          </a:p>
          <a:p>
            <a:r>
              <a:rPr lang="en-US" dirty="0"/>
              <a:t>Conditionals: If and Switch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334675-30B0-8A6F-9AEA-28BDA1467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60607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44D238-5CDA-3CA7-4ED0-92EB157E1F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While Loops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6D66D80-E3AA-D70F-30D0-2C7228D98B46}"/>
              </a:ext>
            </a:extLst>
          </p:cNvPr>
          <p:cNvSpPr txBox="1"/>
          <p:nvPr/>
        </p:nvSpPr>
        <p:spPr>
          <a:xfrm>
            <a:off x="1063053" y="1678102"/>
            <a:ext cx="3084878" cy="236988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/>
              <a:t>Syntax:</a:t>
            </a:r>
          </a:p>
          <a:p>
            <a:endParaRPr lang="en-US" sz="2400" dirty="0"/>
          </a:p>
          <a:p>
            <a:r>
              <a:rPr lang="en-US" sz="2000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while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(expression) {</a:t>
            </a: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  statement(s);</a:t>
            </a: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...</a:t>
            </a:r>
          </a:p>
          <a:p>
            <a:endParaRPr lang="en-US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D9C96F-5ED0-35C4-D167-EB2699C169F7}"/>
              </a:ext>
            </a:extLst>
          </p:cNvPr>
          <p:cNvSpPr txBox="1"/>
          <p:nvPr/>
        </p:nvSpPr>
        <p:spPr>
          <a:xfrm>
            <a:off x="4929808" y="1678102"/>
            <a:ext cx="70104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Loop Execution: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Check 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expression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cs typeface="Consolas" panose="020B0609020204030204" pitchFamily="49" charset="0"/>
              </a:rPr>
              <a:t>If false (zero): Resume execution after closing brace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cs typeface="Consolas" panose="020B0609020204030204" pitchFamily="49" charset="0"/>
              </a:rPr>
              <a:t>If true (nonzero):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cs typeface="Consolas" panose="020B0609020204030204" pitchFamily="49" charset="0"/>
              </a:rPr>
              <a:t>Execute statements in loop body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cs typeface="Consolas" panose="020B0609020204030204" pitchFamily="49" charset="0"/>
              </a:rPr>
              <a:t>Repeat (check expression again)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FBCBADB-489A-FF94-4C3D-A292A406DD97}"/>
              </a:ext>
            </a:extLst>
          </p:cNvPr>
          <p:cNvSpPr/>
          <p:nvPr/>
        </p:nvSpPr>
        <p:spPr>
          <a:xfrm>
            <a:off x="1153747" y="2474493"/>
            <a:ext cx="2549195" cy="284813"/>
          </a:xfrm>
          <a:prstGeom prst="rect">
            <a:avLst/>
          </a:prstGeom>
          <a:solidFill>
            <a:schemeClr val="accent6">
              <a:alpha val="37000"/>
            </a:schemeClr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C47730E-073C-91CB-BFEA-0C0CF697B2F5}"/>
              </a:ext>
            </a:extLst>
          </p:cNvPr>
          <p:cNvSpPr/>
          <p:nvPr/>
        </p:nvSpPr>
        <p:spPr>
          <a:xfrm>
            <a:off x="1598737" y="2799343"/>
            <a:ext cx="1968180" cy="284813"/>
          </a:xfrm>
          <a:prstGeom prst="rect">
            <a:avLst/>
          </a:prstGeom>
          <a:solidFill>
            <a:schemeClr val="accent6">
              <a:alpha val="37000"/>
            </a:schemeClr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A882502-F0B3-E4A0-DCB2-22A77069E89C}"/>
              </a:ext>
            </a:extLst>
          </p:cNvPr>
          <p:cNvSpPr/>
          <p:nvPr/>
        </p:nvSpPr>
        <p:spPr>
          <a:xfrm>
            <a:off x="1153747" y="3423662"/>
            <a:ext cx="444990" cy="284813"/>
          </a:xfrm>
          <a:prstGeom prst="rect">
            <a:avLst/>
          </a:prstGeom>
          <a:solidFill>
            <a:schemeClr val="accent6">
              <a:alpha val="37000"/>
            </a:schemeClr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14CA48C-319E-43B7-4F67-AB3DF4A6B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36891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  <p:bldP spid="6" grpId="0" animBg="1"/>
      <p:bldP spid="6" grpId="1" animBg="1"/>
      <p:bldP spid="6" grpId="2" animBg="1"/>
      <p:bldP spid="7" grpId="0" animBg="1"/>
      <p:bldP spid="7" grpId="1" animBg="1"/>
      <p:bldP spid="8" grpId="0" animBg="1"/>
      <p:bldP spid="8" grpId="1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63CFE-419B-8F76-8E56-A595913579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While Loops: Example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A4E7DD1-57A3-5947-E855-A99818A6E0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7</a:t>
            </a:fld>
            <a:endParaRPr lang="en-US" dirty="0"/>
          </a:p>
        </p:txBody>
      </p:sp>
      <p:sp>
        <p:nvSpPr>
          <p:cNvPr id="15" name="Right Arrow 14">
            <a:extLst>
              <a:ext uri="{FF2B5EF4-FFF2-40B4-BE49-F238E27FC236}">
                <a16:creationId xmlns:a16="http://schemas.microsoft.com/office/drawing/2014/main" id="{30B61D18-64A8-97B4-9EA4-7343B8125ED5}"/>
              </a:ext>
            </a:extLst>
          </p:cNvPr>
          <p:cNvSpPr/>
          <p:nvPr/>
        </p:nvSpPr>
        <p:spPr>
          <a:xfrm>
            <a:off x="4464818" y="1881495"/>
            <a:ext cx="538329" cy="875606"/>
          </a:xfrm>
          <a:prstGeom prst="rightArrow">
            <a:avLst/>
          </a:prstGeom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0CBA4A2-838C-C054-09BE-1DED5DD0F59B}"/>
              </a:ext>
            </a:extLst>
          </p:cNvPr>
          <p:cNvSpPr txBox="1"/>
          <p:nvPr/>
        </p:nvSpPr>
        <p:spPr>
          <a:xfrm>
            <a:off x="4735149" y="3340931"/>
            <a:ext cx="391697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Factorial program using </a:t>
            </a:r>
            <a:r>
              <a:rPr lang="en-US" sz="2000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while</a:t>
            </a:r>
            <a:r>
              <a:rPr lang="en-US" sz="2000" dirty="0"/>
              <a:t> loop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2AF56D5-070E-2F65-BD53-D7E70D903FD1}"/>
              </a:ext>
            </a:extLst>
          </p:cNvPr>
          <p:cNvSpPr txBox="1"/>
          <p:nvPr/>
        </p:nvSpPr>
        <p:spPr>
          <a:xfrm>
            <a:off x="150580" y="1531561"/>
            <a:ext cx="4234028" cy="440120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#include </a:t>
            </a:r>
            <a:r>
              <a:rPr lang="en-US" sz="14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US" sz="1400" dirty="0" err="1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stdio.h</a:t>
            </a:r>
            <a:r>
              <a:rPr lang="en-US" sz="14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&gt;</a:t>
            </a:r>
            <a:endParaRPr lang="en-US" sz="1400" dirty="0">
              <a:solidFill>
                <a:srgbClr val="C814C9"/>
              </a:solidFill>
              <a:effectLst/>
              <a:latin typeface="Menlo" panose="020B0609030804020204" pitchFamily="49" charset="0"/>
            </a:endParaRPr>
          </a:p>
          <a:p>
            <a:endParaRPr lang="en-US" sz="14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factorial(</a:t>
            </a:r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x) {</a:t>
            </a:r>
            <a:endParaRPr lang="en-US" sz="1400" dirty="0">
              <a:solidFill>
                <a:srgbClr val="2FB41D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  </a:t>
            </a:r>
            <a:r>
              <a:rPr lang="en-US" sz="14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(x == </a:t>
            </a:r>
            <a:r>
              <a:rPr lang="en-US" sz="14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 {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  </a:t>
            </a:r>
            <a:r>
              <a:rPr lang="en-US" sz="14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  } </a:t>
            </a:r>
            <a:r>
              <a:rPr lang="en-US" sz="14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else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{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  </a:t>
            </a:r>
            <a:r>
              <a:rPr lang="en-US" sz="14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x * factorial(x - </a:t>
            </a:r>
            <a:r>
              <a:rPr lang="en-US" sz="14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  }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  <a:b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endParaRPr lang="en-US" sz="14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void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print_factorial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x) {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printf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4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"Factorial of </a:t>
            </a:r>
            <a:r>
              <a:rPr lang="en-US" sz="14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%u</a:t>
            </a:r>
            <a:r>
              <a:rPr lang="en-US" sz="14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 is </a:t>
            </a:r>
            <a:r>
              <a:rPr lang="en-US" sz="14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%u\n</a:t>
            </a:r>
            <a:r>
              <a:rPr lang="en-US" sz="14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x, 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     factorial(x));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  <a:p>
            <a:endParaRPr lang="en-US" sz="14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main(</a:t>
            </a:r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argc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char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**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argv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 {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a = </a:t>
            </a:r>
            <a:r>
              <a:rPr lang="en-US" sz="14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5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  <a:endParaRPr lang="en-US" sz="1400" dirty="0">
              <a:solidFill>
                <a:srgbClr val="2FB41D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4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print_factorial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(a);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4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4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  <a:endParaRPr lang="en-US" sz="1400" dirty="0">
              <a:solidFill>
                <a:srgbClr val="C1651C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B7EC0671-AB2D-F459-5797-0562271F0175}"/>
              </a:ext>
            </a:extLst>
          </p:cNvPr>
          <p:cNvSpPr/>
          <p:nvPr/>
        </p:nvSpPr>
        <p:spPr>
          <a:xfrm>
            <a:off x="457199" y="2154358"/>
            <a:ext cx="3438895" cy="1130200"/>
          </a:xfrm>
          <a:prstGeom prst="rect">
            <a:avLst/>
          </a:prstGeom>
          <a:solidFill>
            <a:schemeClr val="accent6">
              <a:alpha val="37000"/>
            </a:schemeClr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9BC2A853-916C-ADAF-9890-2AC190764926}"/>
              </a:ext>
            </a:extLst>
          </p:cNvPr>
          <p:cNvSpPr txBox="1"/>
          <p:nvPr/>
        </p:nvSpPr>
        <p:spPr>
          <a:xfrm>
            <a:off x="5088933" y="1468676"/>
            <a:ext cx="2791938" cy="181588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factorial(</a:t>
            </a:r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x) {</a:t>
            </a:r>
            <a:endParaRPr lang="en-US" sz="1400" dirty="0">
              <a:solidFill>
                <a:srgbClr val="2FB41D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result = </a:t>
            </a:r>
            <a:r>
              <a:rPr lang="en-US" sz="14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4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while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(x &gt; </a:t>
            </a:r>
            <a:r>
              <a:rPr lang="en-US" sz="14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 {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result = result * x;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x = x - </a:t>
            </a:r>
            <a:r>
              <a:rPr lang="en-US" sz="14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}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4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result;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57A2768A-5191-5BE3-36CD-C352F4F086CE}"/>
              </a:ext>
            </a:extLst>
          </p:cNvPr>
          <p:cNvSpPr txBox="1"/>
          <p:nvPr/>
        </p:nvSpPr>
        <p:spPr>
          <a:xfrm>
            <a:off x="8679698" y="1468676"/>
            <a:ext cx="2791939" cy="181588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factorial(</a:t>
            </a:r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x) {</a:t>
            </a:r>
            <a:endParaRPr lang="en-US" sz="1400" dirty="0">
              <a:solidFill>
                <a:srgbClr val="2FB41D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result = </a:t>
            </a:r>
            <a:r>
              <a:rPr lang="en-US" sz="14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4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while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(x &gt; </a:t>
            </a:r>
            <a:r>
              <a:rPr lang="en-US" sz="14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 {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result *= x;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x--;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}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4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result;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6CA1F014-9CD7-D830-DFBD-F7B06F756CBE}"/>
              </a:ext>
            </a:extLst>
          </p:cNvPr>
          <p:cNvSpPr txBox="1"/>
          <p:nvPr/>
        </p:nvSpPr>
        <p:spPr>
          <a:xfrm>
            <a:off x="8679698" y="3869345"/>
            <a:ext cx="2791938" cy="1600438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factorial(</a:t>
            </a:r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x) {</a:t>
            </a:r>
            <a:endParaRPr lang="en-US" sz="1400" dirty="0">
              <a:solidFill>
                <a:srgbClr val="2FB41D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4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result = </a:t>
            </a:r>
            <a:r>
              <a:rPr lang="en-US" sz="14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4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while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(x &gt; </a:t>
            </a:r>
            <a:r>
              <a:rPr lang="en-US" sz="14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 {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result *= x--;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}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4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result;</a:t>
            </a:r>
          </a:p>
          <a:p>
            <a:r>
              <a:rPr lang="en-US" sz="14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</p:txBody>
      </p:sp>
      <p:sp>
        <p:nvSpPr>
          <p:cNvPr id="69" name="Right Arrow 68">
            <a:extLst>
              <a:ext uri="{FF2B5EF4-FFF2-40B4-BE49-F238E27FC236}">
                <a16:creationId xmlns:a16="http://schemas.microsoft.com/office/drawing/2014/main" id="{B885410B-ACEC-77BD-16ED-DE02FF24B19F}"/>
              </a:ext>
            </a:extLst>
          </p:cNvPr>
          <p:cNvSpPr/>
          <p:nvPr/>
        </p:nvSpPr>
        <p:spPr>
          <a:xfrm>
            <a:off x="8009647" y="1826525"/>
            <a:ext cx="538329" cy="875606"/>
          </a:xfrm>
          <a:prstGeom prst="rightArrow">
            <a:avLst/>
          </a:prstGeom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2BB8C692-36B7-7BA1-83EF-B743F3FDA59F}"/>
              </a:ext>
            </a:extLst>
          </p:cNvPr>
          <p:cNvSpPr/>
          <p:nvPr/>
        </p:nvSpPr>
        <p:spPr>
          <a:xfrm>
            <a:off x="5383609" y="1899980"/>
            <a:ext cx="2413106" cy="875606"/>
          </a:xfrm>
          <a:prstGeom prst="rect">
            <a:avLst/>
          </a:prstGeom>
          <a:solidFill>
            <a:schemeClr val="accent6">
              <a:alpha val="37000"/>
            </a:schemeClr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5CAFC1C5-CB4A-C90C-B470-5059141CF569}"/>
              </a:ext>
            </a:extLst>
          </p:cNvPr>
          <p:cNvSpPr/>
          <p:nvPr/>
        </p:nvSpPr>
        <p:spPr>
          <a:xfrm>
            <a:off x="8858912" y="1908880"/>
            <a:ext cx="2177121" cy="893599"/>
          </a:xfrm>
          <a:prstGeom prst="rect">
            <a:avLst/>
          </a:prstGeom>
          <a:solidFill>
            <a:schemeClr val="accent6">
              <a:alpha val="37000"/>
            </a:schemeClr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A26CABD6-FA0F-A83F-C3EC-8172497B0508}"/>
              </a:ext>
            </a:extLst>
          </p:cNvPr>
          <p:cNvSpPr/>
          <p:nvPr/>
        </p:nvSpPr>
        <p:spPr>
          <a:xfrm>
            <a:off x="8858912" y="4348462"/>
            <a:ext cx="2177121" cy="630835"/>
          </a:xfrm>
          <a:prstGeom prst="rect">
            <a:avLst/>
          </a:prstGeom>
          <a:solidFill>
            <a:schemeClr val="accent6">
              <a:alpha val="37000"/>
            </a:schemeClr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C466363D-6B3D-1D86-4B9C-10ED276785C8}"/>
              </a:ext>
            </a:extLst>
          </p:cNvPr>
          <p:cNvSpPr txBox="1"/>
          <p:nvPr/>
        </p:nvSpPr>
        <p:spPr>
          <a:xfrm>
            <a:off x="9288378" y="5346684"/>
            <a:ext cx="2183258" cy="707886"/>
          </a:xfrm>
          <a:prstGeom prst="wedgeRectCallout">
            <a:avLst>
              <a:gd name="adj1" fmla="val 3703"/>
              <a:gd name="adj2" fmla="val -134754"/>
            </a:avLst>
          </a:prstGeom>
          <a:solidFill>
            <a:srgbClr val="F5D1CF"/>
          </a:solidFill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/>
              <a:t>What if we change </a:t>
            </a:r>
            <a:r>
              <a:rPr lang="en-US" sz="2000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x--</a:t>
            </a:r>
            <a:r>
              <a:rPr lang="en-US" sz="2000" dirty="0"/>
              <a:t> to </a:t>
            </a:r>
            <a:r>
              <a:rPr lang="en-US" sz="2000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--x</a:t>
            </a:r>
            <a:r>
              <a:rPr lang="en-US" sz="2000" dirty="0"/>
              <a:t>?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0E5E5E77-7127-0D45-543C-DCFC5DF5EA29}"/>
              </a:ext>
            </a:extLst>
          </p:cNvPr>
          <p:cNvSpPr txBox="1"/>
          <p:nvPr/>
        </p:nvSpPr>
        <p:spPr>
          <a:xfrm>
            <a:off x="8752323" y="1016651"/>
            <a:ext cx="30014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Equivalent transformations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902519FB-3D0D-338B-FAFA-05B514CAA58A}"/>
              </a:ext>
            </a:extLst>
          </p:cNvPr>
          <p:cNvSpPr txBox="1"/>
          <p:nvPr/>
        </p:nvSpPr>
        <p:spPr>
          <a:xfrm>
            <a:off x="9716479" y="3414269"/>
            <a:ext cx="4940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OR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93A27C06-996E-1F7D-52E1-C80955D9D8B8}"/>
              </a:ext>
            </a:extLst>
          </p:cNvPr>
          <p:cNvSpPr/>
          <p:nvPr/>
        </p:nvSpPr>
        <p:spPr>
          <a:xfrm>
            <a:off x="10210525" y="4557947"/>
            <a:ext cx="494143" cy="240934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3DF40B05-3ACA-AA0E-6670-6E9A7574191F}"/>
              </a:ext>
            </a:extLst>
          </p:cNvPr>
          <p:cNvSpPr txBox="1"/>
          <p:nvPr/>
        </p:nvSpPr>
        <p:spPr>
          <a:xfrm>
            <a:off x="6074212" y="5669034"/>
            <a:ext cx="31992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Result is always 0. Why?</a:t>
            </a:r>
          </a:p>
        </p:txBody>
      </p:sp>
    </p:spTree>
    <p:extLst>
      <p:ext uri="{BB962C8B-B14F-4D97-AF65-F5344CB8AC3E}">
        <p14:creationId xmlns:p14="http://schemas.microsoft.com/office/powerpoint/2010/main" val="1787798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24" grpId="0"/>
      <p:bldP spid="62" grpId="0" animBg="1"/>
      <p:bldP spid="64" grpId="0" animBg="1"/>
      <p:bldP spid="66" grpId="0" animBg="1"/>
      <p:bldP spid="69" grpId="0" animBg="1"/>
      <p:bldP spid="71" grpId="0" animBg="1"/>
      <p:bldP spid="72" grpId="0" animBg="1"/>
      <p:bldP spid="73" grpId="0" animBg="1"/>
      <p:bldP spid="74" grpId="0" animBg="1"/>
      <p:bldP spid="76" grpId="0"/>
      <p:bldP spid="77" grpId="0"/>
      <p:bldP spid="78" grpId="0" animBg="1"/>
      <p:bldP spid="7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2BA359-04A5-0F84-6AA9-1F858F7076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break</a:t>
            </a:r>
            <a:r>
              <a:rPr lang="en-US" dirty="0"/>
              <a:t> and </a:t>
            </a:r>
            <a:r>
              <a:rPr lang="en-US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continue</a:t>
            </a:r>
            <a:r>
              <a:rPr lang="en-US" dirty="0"/>
              <a:t> in loops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9C0962-4990-BACC-0A0E-3A85F4F0A83D}"/>
              </a:ext>
            </a:extLst>
          </p:cNvPr>
          <p:cNvSpPr txBox="1"/>
          <p:nvPr/>
        </p:nvSpPr>
        <p:spPr>
          <a:xfrm>
            <a:off x="880198" y="2626020"/>
            <a:ext cx="20537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continue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;  </a:t>
            </a:r>
            <a:endParaRPr lang="en-US" sz="24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8DF147A-071E-3A1F-C67D-0B48D31A1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8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15ABDF-E61C-5971-4F01-C5EDE1880273}"/>
              </a:ext>
            </a:extLst>
          </p:cNvPr>
          <p:cNvSpPr txBox="1"/>
          <p:nvPr/>
        </p:nvSpPr>
        <p:spPr>
          <a:xfrm>
            <a:off x="3081978" y="2626020"/>
            <a:ext cx="65735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jump to the next iteration of the loop (skipping remaining of the current iteration)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B713E01-E674-1EA9-F150-6F91BD6140F9}"/>
              </a:ext>
            </a:extLst>
          </p:cNvPr>
          <p:cNvSpPr txBox="1"/>
          <p:nvPr/>
        </p:nvSpPr>
        <p:spPr>
          <a:xfrm>
            <a:off x="880198" y="3895214"/>
            <a:ext cx="2653290" cy="156966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while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&lt;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10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 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(++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==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5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 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break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printf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6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%d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AD2F5CE-1C21-5E6C-5031-FCD5BA6B8BDD}"/>
              </a:ext>
            </a:extLst>
          </p:cNvPr>
          <p:cNvSpPr txBox="1"/>
          <p:nvPr/>
        </p:nvSpPr>
        <p:spPr>
          <a:xfrm>
            <a:off x="8461450" y="3895214"/>
            <a:ext cx="2653290" cy="181588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while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&lt;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10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 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==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5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 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continue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printf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6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%d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++;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}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CB66085-36DB-7293-4D7D-496EF25AE25F}"/>
              </a:ext>
            </a:extLst>
          </p:cNvPr>
          <p:cNvSpPr/>
          <p:nvPr/>
        </p:nvSpPr>
        <p:spPr>
          <a:xfrm>
            <a:off x="1547926" y="4636929"/>
            <a:ext cx="1110318" cy="275484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E498B74-B6EE-DDBA-D808-CD39CB1B43AF}"/>
              </a:ext>
            </a:extLst>
          </p:cNvPr>
          <p:cNvSpPr/>
          <p:nvPr/>
        </p:nvSpPr>
        <p:spPr>
          <a:xfrm>
            <a:off x="9238844" y="4636929"/>
            <a:ext cx="1110318" cy="275484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329C35E-C58C-89AE-68DA-F151531234C3}"/>
              </a:ext>
            </a:extLst>
          </p:cNvPr>
          <p:cNvSpPr txBox="1"/>
          <p:nvPr/>
        </p:nvSpPr>
        <p:spPr>
          <a:xfrm>
            <a:off x="1359172" y="5807309"/>
            <a:ext cx="100059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Output:</a:t>
            </a:r>
          </a:p>
          <a:p>
            <a:r>
              <a:rPr lang="en-US" sz="2000" dirty="0"/>
              <a:t>1234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42ACB1E-F13B-6A56-3AFE-A5868594CDE8}"/>
              </a:ext>
            </a:extLst>
          </p:cNvPr>
          <p:cNvSpPr txBox="1"/>
          <p:nvPr/>
        </p:nvSpPr>
        <p:spPr>
          <a:xfrm>
            <a:off x="8539391" y="5756494"/>
            <a:ext cx="224830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Output:</a:t>
            </a:r>
          </a:p>
          <a:p>
            <a:r>
              <a:rPr lang="en-US" sz="2000" dirty="0"/>
              <a:t>01234[infinite loop]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A321A95-1E9B-A2EC-3271-02EC4D2D0723}"/>
              </a:ext>
            </a:extLst>
          </p:cNvPr>
          <p:cNvSpPr txBox="1"/>
          <p:nvPr/>
        </p:nvSpPr>
        <p:spPr>
          <a:xfrm>
            <a:off x="4746778" y="3895214"/>
            <a:ext cx="2653290" cy="156966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while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&lt;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10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 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(++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==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5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 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continue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printf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6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%d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}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CABC1E3-A4D3-7ECB-F07E-B75895845484}"/>
              </a:ext>
            </a:extLst>
          </p:cNvPr>
          <p:cNvSpPr/>
          <p:nvPr/>
        </p:nvSpPr>
        <p:spPr>
          <a:xfrm>
            <a:off x="5524172" y="4636929"/>
            <a:ext cx="1110318" cy="275484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972B7ED-1B75-5914-036C-AB26C41514A8}"/>
              </a:ext>
            </a:extLst>
          </p:cNvPr>
          <p:cNvSpPr txBox="1"/>
          <p:nvPr/>
        </p:nvSpPr>
        <p:spPr>
          <a:xfrm>
            <a:off x="4953625" y="5784989"/>
            <a:ext cx="148309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Output:</a:t>
            </a:r>
          </a:p>
          <a:p>
            <a:r>
              <a:rPr lang="en-US" sz="2000" dirty="0"/>
              <a:t>1234678910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F4D1CE7-0F07-000F-F9ED-FE9EF9992284}"/>
              </a:ext>
            </a:extLst>
          </p:cNvPr>
          <p:cNvSpPr/>
          <p:nvPr/>
        </p:nvSpPr>
        <p:spPr>
          <a:xfrm>
            <a:off x="1359172" y="6195468"/>
            <a:ext cx="2113588" cy="31431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dirty="0"/>
              <a:t>?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6C0248F-237C-6955-B3FD-8C389B246604}"/>
              </a:ext>
            </a:extLst>
          </p:cNvPr>
          <p:cNvSpPr/>
          <p:nvPr/>
        </p:nvSpPr>
        <p:spPr>
          <a:xfrm>
            <a:off x="5010464" y="6141815"/>
            <a:ext cx="2062431" cy="35394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dirty="0"/>
              <a:t>?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0257701-18E1-E8F6-2DAC-800868B36ECD}"/>
              </a:ext>
            </a:extLst>
          </p:cNvPr>
          <p:cNvSpPr/>
          <p:nvPr/>
        </p:nvSpPr>
        <p:spPr>
          <a:xfrm>
            <a:off x="8539391" y="6080906"/>
            <a:ext cx="2293437" cy="35246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dirty="0"/>
              <a:t>?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FEDE98B-A647-2509-B3F7-C6B325AE31A2}"/>
              </a:ext>
            </a:extLst>
          </p:cNvPr>
          <p:cNvSpPr txBox="1"/>
          <p:nvPr/>
        </p:nvSpPr>
        <p:spPr>
          <a:xfrm>
            <a:off x="880198" y="1478663"/>
            <a:ext cx="205376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break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;     </a:t>
            </a:r>
            <a:endParaRPr lang="en-US" sz="24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F5E5DF2-966E-2879-F016-F76006B55D45}"/>
              </a:ext>
            </a:extLst>
          </p:cNvPr>
          <p:cNvSpPr txBox="1"/>
          <p:nvPr/>
        </p:nvSpPr>
        <p:spPr>
          <a:xfrm>
            <a:off x="3081978" y="1478663"/>
            <a:ext cx="65735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exit the loop early (skipping all remaining iterations)</a:t>
            </a:r>
          </a:p>
        </p:txBody>
      </p:sp>
    </p:spTree>
    <p:extLst>
      <p:ext uri="{BB962C8B-B14F-4D97-AF65-F5344CB8AC3E}">
        <p14:creationId xmlns:p14="http://schemas.microsoft.com/office/powerpoint/2010/main" val="32978390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 animBg="1"/>
      <p:bldP spid="7" grpId="0" animBg="1"/>
      <p:bldP spid="8" grpId="0" animBg="1"/>
      <p:bldP spid="10" grpId="0" animBg="1"/>
      <p:bldP spid="11" grpId="0"/>
      <p:bldP spid="12" grpId="0"/>
      <p:bldP spid="13" grpId="0" animBg="1"/>
      <p:bldP spid="14" grpId="0" animBg="1"/>
      <p:bldP spid="15" grpId="0"/>
      <p:bldP spid="16" grpId="0" animBg="1"/>
      <p:bldP spid="16" grpId="1" animBg="1"/>
      <p:bldP spid="17" grpId="0" animBg="1"/>
      <p:bldP spid="17" grpId="1" animBg="1"/>
      <p:bldP spid="18" grpId="0" animBg="1"/>
      <p:bldP spid="18" grpId="1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962044-2A71-463A-340F-17008765E5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Finding </a:t>
            </a:r>
            <a:r>
              <a:rPr lang="en-US" dirty="0" err="1"/>
              <a:t>m^th</a:t>
            </a:r>
            <a:r>
              <a:rPr lang="en-US" dirty="0"/>
              <a:t> prime number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CD92D5-291F-9DA2-FBAC-F7130FD8E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9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19F3CDD-37F0-FA71-D69B-35F655E24B04}"/>
              </a:ext>
            </a:extLst>
          </p:cNvPr>
          <p:cNvSpPr txBox="1"/>
          <p:nvPr/>
        </p:nvSpPr>
        <p:spPr>
          <a:xfrm>
            <a:off x="1223209" y="1782395"/>
            <a:ext cx="5851359" cy="378565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// returns the </a:t>
            </a:r>
            <a:r>
              <a:rPr lang="en-US" sz="1600" dirty="0" err="1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m^th</a:t>
            </a:r>
            <a:r>
              <a:rPr lang="en-US" sz="1600" dirty="0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 prime number</a:t>
            </a:r>
          </a:p>
          <a:p>
            <a:endParaRPr lang="en-US" sz="1600" dirty="0">
              <a:solidFill>
                <a:srgbClr val="2FB41D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find_prime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m) 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count =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n =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while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 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++n;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(!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is_prime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(n)) {</a:t>
            </a:r>
            <a:r>
              <a:rPr lang="en-US" sz="1600" dirty="0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// ! means not true</a:t>
            </a:r>
            <a:endParaRPr lang="en-US" sz="16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continue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  <a:endParaRPr lang="en-US" sz="1600" dirty="0">
              <a:solidFill>
                <a:srgbClr val="C1651C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}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(++count == m) 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break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}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}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n;</a:t>
            </a:r>
            <a:endParaRPr lang="en-US" sz="1600" dirty="0">
              <a:solidFill>
                <a:srgbClr val="C1651C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99FEE1D-DC6E-E5A8-2372-38A504873F32}"/>
              </a:ext>
            </a:extLst>
          </p:cNvPr>
          <p:cNvSpPr txBox="1"/>
          <p:nvPr/>
        </p:nvSpPr>
        <p:spPr>
          <a:xfrm>
            <a:off x="7395411" y="2021305"/>
            <a:ext cx="4483920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Example</a:t>
            </a:r>
          </a:p>
          <a:p>
            <a:endParaRPr lang="en-US" sz="2400" dirty="0"/>
          </a:p>
          <a:p>
            <a:r>
              <a:rPr lang="en-US" sz="2400" dirty="0"/>
              <a:t>Input: m=7</a:t>
            </a:r>
          </a:p>
          <a:p>
            <a:r>
              <a:rPr lang="en-US" sz="2400" dirty="0"/>
              <a:t>Output: 19 (the 7</a:t>
            </a:r>
            <a:r>
              <a:rPr lang="en-US" sz="2400" baseline="30000" dirty="0"/>
              <a:t>th</a:t>
            </a:r>
            <a:r>
              <a:rPr lang="en-US" sz="2400" dirty="0"/>
              <a:t> prime number)</a:t>
            </a:r>
          </a:p>
        </p:txBody>
      </p:sp>
    </p:spTree>
    <p:extLst>
      <p:ext uri="{BB962C8B-B14F-4D97-AF65-F5344CB8AC3E}">
        <p14:creationId xmlns:p14="http://schemas.microsoft.com/office/powerpoint/2010/main" val="14228845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962044-2A71-463A-340F-17008765E5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Finding </a:t>
            </a:r>
            <a:r>
              <a:rPr lang="en-US" dirty="0" err="1"/>
              <a:t>m^th</a:t>
            </a:r>
            <a:r>
              <a:rPr lang="en-US" dirty="0"/>
              <a:t> prime number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CD92D5-291F-9DA2-FBAC-F7130FD8E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10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19F3CDD-37F0-FA71-D69B-35F655E24B04}"/>
              </a:ext>
            </a:extLst>
          </p:cNvPr>
          <p:cNvSpPr txBox="1"/>
          <p:nvPr/>
        </p:nvSpPr>
        <p:spPr>
          <a:xfrm>
            <a:off x="1223209" y="1782395"/>
            <a:ext cx="5851359" cy="378565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// returns the </a:t>
            </a:r>
            <a:r>
              <a:rPr lang="en-US" sz="1600" dirty="0" err="1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m^th</a:t>
            </a:r>
            <a:r>
              <a:rPr lang="en-US" sz="1600" dirty="0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 prime number</a:t>
            </a:r>
          </a:p>
          <a:p>
            <a:endParaRPr lang="en-US" sz="1600" dirty="0">
              <a:solidFill>
                <a:srgbClr val="2FB41D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find_prime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m) 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count =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n =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while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 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++n;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(!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is_prime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(n)) {</a:t>
            </a:r>
            <a:r>
              <a:rPr lang="en-US" sz="1600" dirty="0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// ! means not true</a:t>
            </a:r>
            <a:endParaRPr lang="en-US" sz="16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break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  <a:endParaRPr lang="en-US" sz="1600" dirty="0">
              <a:solidFill>
                <a:srgbClr val="C1651C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}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(++count == m) 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break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}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}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n;</a:t>
            </a:r>
            <a:endParaRPr lang="en-US" sz="1600" dirty="0">
              <a:solidFill>
                <a:srgbClr val="C1651C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61352EC-5D90-2E09-73CD-724C68848593}"/>
              </a:ext>
            </a:extLst>
          </p:cNvPr>
          <p:cNvSpPr txBox="1"/>
          <p:nvPr/>
        </p:nvSpPr>
        <p:spPr>
          <a:xfrm>
            <a:off x="7597171" y="1968281"/>
            <a:ext cx="155523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Input: m=7</a:t>
            </a:r>
          </a:p>
          <a:p>
            <a:r>
              <a:rPr lang="en-US" sz="2400" dirty="0"/>
              <a:t>Output: 4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A3601A3-AFB5-F5BE-5B6F-6C9F152236AE}"/>
              </a:ext>
            </a:extLst>
          </p:cNvPr>
          <p:cNvSpPr/>
          <p:nvPr/>
        </p:nvSpPr>
        <p:spPr>
          <a:xfrm>
            <a:off x="1965593" y="3554753"/>
            <a:ext cx="970112" cy="279310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768E36C-DB2C-A87E-B75A-FC004C045002}"/>
              </a:ext>
            </a:extLst>
          </p:cNvPr>
          <p:cNvSpPr txBox="1"/>
          <p:nvPr/>
        </p:nvSpPr>
        <p:spPr>
          <a:xfrm>
            <a:off x="4271600" y="4234524"/>
            <a:ext cx="2963389" cy="707886"/>
          </a:xfrm>
          <a:prstGeom prst="wedgeRectCallout">
            <a:avLst>
              <a:gd name="adj1" fmla="val -82370"/>
              <a:gd name="adj2" fmla="val -125689"/>
            </a:avLst>
          </a:prstGeom>
          <a:solidFill>
            <a:srgbClr val="F5D1CF"/>
          </a:solidFill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/>
              <a:t>What if we change </a:t>
            </a:r>
            <a:r>
              <a:rPr lang="en-US" sz="2000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continue</a:t>
            </a:r>
            <a:r>
              <a:rPr lang="en-US" sz="2000" b="1" dirty="0">
                <a:latin typeface="Calibri" panose="020F0502020204030204" pitchFamily="34" charset="0"/>
                <a:ea typeface="Menlo" panose="020B0609030804020204" pitchFamily="49" charset="0"/>
                <a:cs typeface="Calibri" panose="020F0502020204030204" pitchFamily="34" charset="0"/>
              </a:rPr>
              <a:t> </a:t>
            </a:r>
            <a:r>
              <a:rPr lang="en-US" sz="2000" dirty="0"/>
              <a:t>to </a:t>
            </a:r>
            <a:r>
              <a:rPr lang="en-US" sz="2000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break</a:t>
            </a:r>
            <a:r>
              <a:rPr lang="en-US" sz="2000" dirty="0"/>
              <a:t>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640847-9C7F-4DCA-B870-7E74A07A5854}"/>
              </a:ext>
            </a:extLst>
          </p:cNvPr>
          <p:cNvSpPr txBox="1"/>
          <p:nvPr/>
        </p:nvSpPr>
        <p:spPr>
          <a:xfrm>
            <a:off x="7597171" y="3331318"/>
            <a:ext cx="407496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Why?</a:t>
            </a:r>
          </a:p>
          <a:p>
            <a:r>
              <a:rPr lang="en-US" sz="2400" dirty="0"/>
              <a:t>4 is the first composite number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3EE11E8-59B1-D205-4A8B-7DEADCCED0F9}"/>
              </a:ext>
            </a:extLst>
          </p:cNvPr>
          <p:cNvSpPr/>
          <p:nvPr/>
        </p:nvSpPr>
        <p:spPr>
          <a:xfrm>
            <a:off x="8722659" y="2384103"/>
            <a:ext cx="2113588" cy="31431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5057349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 animBg="1"/>
      <p:bldP spid="10" grpId="1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962044-2A71-463A-340F-17008765E5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Finding </a:t>
            </a:r>
            <a:r>
              <a:rPr lang="en-US" dirty="0" err="1"/>
              <a:t>m^th</a:t>
            </a:r>
            <a:r>
              <a:rPr lang="en-US" dirty="0"/>
              <a:t> prime number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CD92D5-291F-9DA2-FBAC-F7130FD8E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11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19F3CDD-37F0-FA71-D69B-35F655E24B04}"/>
              </a:ext>
            </a:extLst>
          </p:cNvPr>
          <p:cNvSpPr txBox="1"/>
          <p:nvPr/>
        </p:nvSpPr>
        <p:spPr>
          <a:xfrm>
            <a:off x="1223209" y="1782395"/>
            <a:ext cx="5851359" cy="378565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// returns the </a:t>
            </a:r>
            <a:r>
              <a:rPr lang="en-US" sz="1600" dirty="0" err="1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m^th</a:t>
            </a:r>
            <a:r>
              <a:rPr lang="en-US" sz="1600" dirty="0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 prime number</a:t>
            </a:r>
          </a:p>
          <a:p>
            <a:endParaRPr lang="en-US" sz="1600" dirty="0">
              <a:solidFill>
                <a:srgbClr val="2FB41D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find_prime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m) 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count =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n =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while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 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++n;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(!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is_prime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(n)) {</a:t>
            </a:r>
            <a:r>
              <a:rPr lang="en-US" sz="1600" dirty="0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// ! means not true</a:t>
            </a:r>
            <a:endParaRPr lang="en-US" sz="16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continue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  <a:endParaRPr lang="en-US" sz="1600" dirty="0">
              <a:solidFill>
                <a:srgbClr val="C1651C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}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(++count == m) 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continue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}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}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n;</a:t>
            </a:r>
            <a:endParaRPr lang="en-US" sz="1600" dirty="0">
              <a:solidFill>
                <a:srgbClr val="C1651C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FD156B-BA0D-7AF6-078D-6F4933536D41}"/>
              </a:ext>
            </a:extLst>
          </p:cNvPr>
          <p:cNvSpPr txBox="1"/>
          <p:nvPr/>
        </p:nvSpPr>
        <p:spPr>
          <a:xfrm>
            <a:off x="7597171" y="1968281"/>
            <a:ext cx="375718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Input: m=7</a:t>
            </a:r>
          </a:p>
          <a:p>
            <a:r>
              <a:rPr lang="en-US" sz="2400" dirty="0"/>
              <a:t>Output: stuck in infinite loop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39652A9-EFB2-C737-74EC-89F808EDF172}"/>
              </a:ext>
            </a:extLst>
          </p:cNvPr>
          <p:cNvSpPr/>
          <p:nvPr/>
        </p:nvSpPr>
        <p:spPr>
          <a:xfrm>
            <a:off x="1981635" y="4261031"/>
            <a:ext cx="1226786" cy="263267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CFB2148-CB77-5C1D-AF36-385D3960843C}"/>
              </a:ext>
            </a:extLst>
          </p:cNvPr>
          <p:cNvSpPr txBox="1"/>
          <p:nvPr/>
        </p:nvSpPr>
        <p:spPr>
          <a:xfrm>
            <a:off x="4148888" y="4715787"/>
            <a:ext cx="2674632" cy="707886"/>
          </a:xfrm>
          <a:prstGeom prst="wedgeRectCallout">
            <a:avLst>
              <a:gd name="adj1" fmla="val -85969"/>
              <a:gd name="adj2" fmla="val -75833"/>
            </a:avLst>
          </a:prstGeom>
          <a:solidFill>
            <a:srgbClr val="F5D1CF"/>
          </a:solidFill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/>
              <a:t>What if we change </a:t>
            </a:r>
            <a:r>
              <a:rPr lang="en-US" sz="2000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break</a:t>
            </a:r>
            <a:r>
              <a:rPr lang="en-US" sz="2000" b="1" dirty="0">
                <a:latin typeface="Calibri" panose="020F0502020204030204" pitchFamily="34" charset="0"/>
                <a:ea typeface="Menlo" panose="020B0609030804020204" pitchFamily="49" charset="0"/>
                <a:cs typeface="Calibri" panose="020F0502020204030204" pitchFamily="34" charset="0"/>
              </a:rPr>
              <a:t> </a:t>
            </a:r>
            <a:r>
              <a:rPr lang="en-US" sz="2000" dirty="0"/>
              <a:t>to </a:t>
            </a:r>
            <a:r>
              <a:rPr lang="en-US" sz="2000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continue</a:t>
            </a:r>
            <a:r>
              <a:rPr lang="en-US" sz="2000" dirty="0"/>
              <a:t>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AF8E31A-EACC-9599-B718-0C6F8BD26146}"/>
              </a:ext>
            </a:extLst>
          </p:cNvPr>
          <p:cNvSpPr txBox="1"/>
          <p:nvPr/>
        </p:nvSpPr>
        <p:spPr>
          <a:xfrm>
            <a:off x="7395410" y="3388138"/>
            <a:ext cx="462012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Why?</a:t>
            </a:r>
          </a:p>
          <a:p>
            <a:r>
              <a:rPr lang="en-US" sz="2400" dirty="0">
                <a:latin typeface="Calibri" panose="020F0502020204030204" pitchFamily="34" charset="0"/>
                <a:ea typeface="Menlo" panose="020B0609030804020204" pitchFamily="49" charset="0"/>
                <a:cs typeface="Calibri" panose="020F0502020204030204" pitchFamily="34" charset="0"/>
              </a:rPr>
              <a:t>nowhere to break the while loop.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98D1BF9-0061-1C8F-8260-801160F68BBF}"/>
              </a:ext>
            </a:extLst>
          </p:cNvPr>
          <p:cNvSpPr/>
          <p:nvPr/>
        </p:nvSpPr>
        <p:spPr>
          <a:xfrm>
            <a:off x="8682382" y="2449526"/>
            <a:ext cx="2671418" cy="374802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6039896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 animBg="1"/>
      <p:bldP spid="10" grpId="1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962044-2A71-463A-340F-17008765E5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Finding </a:t>
            </a:r>
            <a:r>
              <a:rPr lang="en-US" dirty="0" err="1"/>
              <a:t>m^th</a:t>
            </a:r>
            <a:r>
              <a:rPr lang="en-US" dirty="0"/>
              <a:t> prime number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CD92D5-291F-9DA2-FBAC-F7130FD8E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12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19F3CDD-37F0-FA71-D69B-35F655E24B04}"/>
              </a:ext>
            </a:extLst>
          </p:cNvPr>
          <p:cNvSpPr txBox="1"/>
          <p:nvPr/>
        </p:nvSpPr>
        <p:spPr>
          <a:xfrm>
            <a:off x="1223209" y="1782395"/>
            <a:ext cx="5851359" cy="378565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// returns the </a:t>
            </a:r>
            <a:r>
              <a:rPr lang="en-US" sz="1600" dirty="0" err="1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m^th</a:t>
            </a:r>
            <a:r>
              <a:rPr lang="en-US" sz="1600" dirty="0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 prime number</a:t>
            </a:r>
          </a:p>
          <a:p>
            <a:endParaRPr lang="en-US" sz="1600" dirty="0">
              <a:solidFill>
                <a:srgbClr val="2FB41D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find_prime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m) 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count =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n =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while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 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++n;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(!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is_prime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(n)) {</a:t>
            </a:r>
            <a:r>
              <a:rPr lang="en-US" sz="1600" dirty="0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// ! means not true</a:t>
            </a:r>
            <a:endParaRPr lang="en-US" sz="16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continue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  <a:endParaRPr lang="en-US" sz="1600" dirty="0">
              <a:solidFill>
                <a:srgbClr val="C1651C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}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(++count == m) 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break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}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}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n;</a:t>
            </a:r>
            <a:endParaRPr lang="en-US" sz="1600" dirty="0">
              <a:solidFill>
                <a:srgbClr val="C1651C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B932194-C574-42F2-8B55-5B628BA0CA03}"/>
              </a:ext>
            </a:extLst>
          </p:cNvPr>
          <p:cNvSpPr txBox="1"/>
          <p:nvPr/>
        </p:nvSpPr>
        <p:spPr>
          <a:xfrm>
            <a:off x="7395411" y="2021305"/>
            <a:ext cx="458490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Input: m=7</a:t>
            </a:r>
          </a:p>
          <a:p>
            <a:r>
              <a:rPr lang="en-US" sz="2400" dirty="0"/>
              <a:t>Output: 23 (the 8</a:t>
            </a:r>
            <a:r>
              <a:rPr lang="en-US" sz="2400" baseline="30000" dirty="0"/>
              <a:t>th</a:t>
            </a:r>
            <a:r>
              <a:rPr lang="en-US" sz="2400" dirty="0"/>
              <a:t> prime number)!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F9C2975-730E-69A6-42A5-7DC586C4925B}"/>
              </a:ext>
            </a:extLst>
          </p:cNvPr>
          <p:cNvSpPr/>
          <p:nvPr/>
        </p:nvSpPr>
        <p:spPr>
          <a:xfrm>
            <a:off x="2267712" y="4023205"/>
            <a:ext cx="932687" cy="240934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965D4C9-4908-0C8D-E1E0-E04053DD08B9}"/>
              </a:ext>
            </a:extLst>
          </p:cNvPr>
          <p:cNvSpPr txBox="1"/>
          <p:nvPr/>
        </p:nvSpPr>
        <p:spPr>
          <a:xfrm>
            <a:off x="3297132" y="4588467"/>
            <a:ext cx="2963389" cy="707886"/>
          </a:xfrm>
          <a:prstGeom prst="wedgeRectCallout">
            <a:avLst>
              <a:gd name="adj1" fmla="val -53679"/>
              <a:gd name="adj2" fmla="val -100761"/>
            </a:avLst>
          </a:prstGeom>
          <a:solidFill>
            <a:srgbClr val="F5D1CF"/>
          </a:solidFill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/>
              <a:t>What if we change </a:t>
            </a:r>
            <a:r>
              <a:rPr lang="en-US" sz="2000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++count </a:t>
            </a:r>
            <a:r>
              <a:rPr lang="en-US" sz="2000" dirty="0"/>
              <a:t>to </a:t>
            </a:r>
            <a:r>
              <a:rPr lang="en-US" sz="2000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count++</a:t>
            </a:r>
            <a:r>
              <a:rPr lang="en-US" sz="2000" dirty="0"/>
              <a:t>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C5E9CBE-0292-28B1-2FDA-570B77EC2163}"/>
              </a:ext>
            </a:extLst>
          </p:cNvPr>
          <p:cNvSpPr txBox="1"/>
          <p:nvPr/>
        </p:nvSpPr>
        <p:spPr>
          <a:xfrm>
            <a:off x="7395410" y="3388138"/>
            <a:ext cx="395838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Why?</a:t>
            </a:r>
          </a:p>
          <a:p>
            <a:r>
              <a:rPr lang="en-US" sz="24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++count</a:t>
            </a:r>
            <a:r>
              <a:rPr lang="en-US" sz="2400" dirty="0"/>
              <a:t> is evaluated before comparing with </a:t>
            </a:r>
            <a:r>
              <a:rPr lang="en-US" sz="24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4318B3E-C961-8FDA-84DD-DA9D99ACE7B1}"/>
              </a:ext>
            </a:extLst>
          </p:cNvPr>
          <p:cNvSpPr/>
          <p:nvPr/>
        </p:nvSpPr>
        <p:spPr>
          <a:xfrm>
            <a:off x="8521962" y="2424475"/>
            <a:ext cx="3297938" cy="36512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6480845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 animBg="1"/>
      <p:bldP spid="12" grpId="1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0B0C64-F321-E7B7-B8AC-4D1482F458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Do-While Loops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44BA4B9-EBBC-4D3E-356C-9E14A937EB9C}"/>
              </a:ext>
            </a:extLst>
          </p:cNvPr>
          <p:cNvSpPr txBox="1"/>
          <p:nvPr/>
        </p:nvSpPr>
        <p:spPr>
          <a:xfrm>
            <a:off x="1063053" y="1678102"/>
            <a:ext cx="3246480" cy="206210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/>
              <a:t>Syntax:</a:t>
            </a:r>
          </a:p>
          <a:p>
            <a:endParaRPr lang="en-US" sz="2400" dirty="0"/>
          </a:p>
          <a:p>
            <a:r>
              <a:rPr lang="en-US" sz="2000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do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{</a:t>
            </a: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  statement(s);</a:t>
            </a: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} </a:t>
            </a:r>
            <a:r>
              <a:rPr lang="en-US" sz="2000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while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(expression);</a:t>
            </a:r>
          </a:p>
          <a:p>
            <a:endParaRPr lang="en-US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36CEC4-9BEE-DBDD-A0B6-53D80570DB54}"/>
              </a:ext>
            </a:extLst>
          </p:cNvPr>
          <p:cNvSpPr txBox="1"/>
          <p:nvPr/>
        </p:nvSpPr>
        <p:spPr>
          <a:xfrm>
            <a:off x="4929808" y="1678102"/>
            <a:ext cx="70104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Loop Execution: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Run statements in the loop body</a:t>
            </a:r>
            <a:endParaRPr lang="en-US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cs typeface="Consolas" panose="020B0609020204030204" pitchFamily="49" charset="0"/>
              </a:rPr>
              <a:t>Check expression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cs typeface="Consolas" panose="020B0609020204030204" pitchFamily="49" charset="0"/>
              </a:rPr>
              <a:t>If false (zero): Resume executing rest of program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cs typeface="Consolas" panose="020B0609020204030204" pitchFamily="49" charset="0"/>
              </a:rPr>
              <a:t>If true (nonzero): Repeat (execute loop body again)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322368A-911F-4313-17ED-7260EB63779D}"/>
              </a:ext>
            </a:extLst>
          </p:cNvPr>
          <p:cNvSpPr/>
          <p:nvPr/>
        </p:nvSpPr>
        <p:spPr>
          <a:xfrm>
            <a:off x="1648941" y="2774300"/>
            <a:ext cx="1907059" cy="284813"/>
          </a:xfrm>
          <a:prstGeom prst="rect">
            <a:avLst/>
          </a:prstGeom>
          <a:solidFill>
            <a:schemeClr val="accent6">
              <a:alpha val="37000"/>
            </a:schemeClr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3AA536C-BD5E-4522-AEFF-C195884FE92A}"/>
              </a:ext>
            </a:extLst>
          </p:cNvPr>
          <p:cNvSpPr/>
          <p:nvPr/>
        </p:nvSpPr>
        <p:spPr>
          <a:xfrm>
            <a:off x="2156941" y="3104093"/>
            <a:ext cx="1907059" cy="284813"/>
          </a:xfrm>
          <a:prstGeom prst="rect">
            <a:avLst/>
          </a:prstGeom>
          <a:solidFill>
            <a:schemeClr val="accent6">
              <a:alpha val="37000"/>
            </a:schemeClr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CCF6E36-658B-B451-D301-056D21A42D90}"/>
              </a:ext>
            </a:extLst>
          </p:cNvPr>
          <p:cNvSpPr txBox="1"/>
          <p:nvPr/>
        </p:nvSpPr>
        <p:spPr>
          <a:xfrm>
            <a:off x="1063053" y="4099789"/>
            <a:ext cx="3246480" cy="206210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/>
              <a:t>Syntax:</a:t>
            </a:r>
          </a:p>
          <a:p>
            <a:endParaRPr lang="en-US" sz="2400" dirty="0"/>
          </a:p>
          <a:p>
            <a:r>
              <a:rPr lang="en-US" sz="2000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while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(expression) {</a:t>
            </a: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  statement(s);</a:t>
            </a: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endParaRPr lang="en-US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79B83A8-1830-F76F-3958-8ECAA2FFDE5C}"/>
              </a:ext>
            </a:extLst>
          </p:cNvPr>
          <p:cNvSpPr txBox="1"/>
          <p:nvPr/>
        </p:nvSpPr>
        <p:spPr>
          <a:xfrm>
            <a:off x="5393267" y="4416326"/>
            <a:ext cx="555395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Difference from </a:t>
            </a:r>
            <a:r>
              <a:rPr lang="en-US" sz="2400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while</a:t>
            </a:r>
            <a:r>
              <a:rPr lang="en-US" sz="2400" dirty="0"/>
              <a:t> loop: </a:t>
            </a:r>
          </a:p>
          <a:p>
            <a:r>
              <a:rPr lang="en-US" sz="2400" dirty="0"/>
              <a:t>The </a:t>
            </a:r>
            <a:r>
              <a:rPr lang="en-US" sz="2400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do</a:t>
            </a:r>
            <a:r>
              <a:rPr lang="en-US" sz="2400" dirty="0"/>
              <a:t> loop body always runs at least once</a:t>
            </a:r>
          </a:p>
          <a:p>
            <a:r>
              <a:rPr lang="en-US" sz="2400" dirty="0"/>
              <a:t>The </a:t>
            </a:r>
            <a:r>
              <a:rPr lang="en-US" sz="2400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while</a:t>
            </a:r>
            <a:r>
              <a:rPr lang="en-US" sz="2400" dirty="0"/>
              <a:t> expression ends with </a:t>
            </a:r>
            <a:r>
              <a:rPr lang="en-US" sz="2400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;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1052B9C-7448-BE32-25EF-574F159A5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7589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  <p:bldP spid="6" grpId="0" animBg="1"/>
      <p:bldP spid="6" grpId="1" animBg="1"/>
      <p:bldP spid="7" grpId="0" animBg="1"/>
      <p:bldP spid="7" grpId="1" animBg="1"/>
      <p:bldP spid="9" grpId="0" animBg="1"/>
      <p:bldP spid="1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63CFE-419B-8F76-8E56-A595913579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Do-While Loops: Example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A4E7DD1-57A3-5947-E855-A99818A6E0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14</a:t>
            </a:fld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0CBA4A2-838C-C054-09BE-1DED5DD0F59B}"/>
              </a:ext>
            </a:extLst>
          </p:cNvPr>
          <p:cNvSpPr txBox="1"/>
          <p:nvPr/>
        </p:nvSpPr>
        <p:spPr>
          <a:xfrm>
            <a:off x="5390518" y="2163371"/>
            <a:ext cx="141096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while</a:t>
            </a:r>
            <a:r>
              <a:rPr lang="en-US" sz="2000" dirty="0"/>
              <a:t> loop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57A2768A-5191-5BE3-36CD-C352F4F086CE}"/>
              </a:ext>
            </a:extLst>
          </p:cNvPr>
          <p:cNvSpPr txBox="1"/>
          <p:nvPr/>
        </p:nvSpPr>
        <p:spPr>
          <a:xfrm>
            <a:off x="1611339" y="1162303"/>
            <a:ext cx="3496938" cy="230832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factorial(</a:t>
            </a:r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x) {</a:t>
            </a:r>
            <a:endParaRPr lang="en-US" dirty="0">
              <a:solidFill>
                <a:srgbClr val="2FB41D"/>
              </a:solidFill>
              <a:effectLst/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result = 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while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(x &gt; 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 {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result *= x;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x--;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}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result;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5CAFC1C5-CB4A-C90C-B470-5059141CF569}"/>
              </a:ext>
            </a:extLst>
          </p:cNvPr>
          <p:cNvSpPr/>
          <p:nvPr/>
        </p:nvSpPr>
        <p:spPr>
          <a:xfrm>
            <a:off x="1790553" y="1730843"/>
            <a:ext cx="2624698" cy="1178829"/>
          </a:xfrm>
          <a:prstGeom prst="rect">
            <a:avLst/>
          </a:prstGeom>
          <a:solidFill>
            <a:schemeClr val="accent6">
              <a:alpha val="37000"/>
            </a:schemeClr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ight Arrow 3">
            <a:extLst>
              <a:ext uri="{FF2B5EF4-FFF2-40B4-BE49-F238E27FC236}">
                <a16:creationId xmlns:a16="http://schemas.microsoft.com/office/drawing/2014/main" id="{3C8ECC2A-0983-157C-49AB-29C1F731F2C5}"/>
              </a:ext>
            </a:extLst>
          </p:cNvPr>
          <p:cNvSpPr/>
          <p:nvPr/>
        </p:nvSpPr>
        <p:spPr>
          <a:xfrm rot="5400000">
            <a:off x="3090643" y="3440503"/>
            <a:ext cx="538329" cy="875606"/>
          </a:xfrm>
          <a:prstGeom prst="rightArrow">
            <a:avLst/>
          </a:prstGeom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919A384-1DD3-F6E0-40C5-F8ED3B18288A}"/>
              </a:ext>
            </a:extLst>
          </p:cNvPr>
          <p:cNvSpPr txBox="1"/>
          <p:nvPr/>
        </p:nvSpPr>
        <p:spPr>
          <a:xfrm>
            <a:off x="5287491" y="5103567"/>
            <a:ext cx="183415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do-while</a:t>
            </a:r>
            <a:r>
              <a:rPr lang="en-US" sz="2000" dirty="0">
                <a:solidFill>
                  <a:srgbClr val="0432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/>
              <a:t>loop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7D9C971-023D-93E7-2CEF-9BAB006E945A}"/>
              </a:ext>
            </a:extLst>
          </p:cNvPr>
          <p:cNvSpPr txBox="1"/>
          <p:nvPr/>
        </p:nvSpPr>
        <p:spPr>
          <a:xfrm>
            <a:off x="1611339" y="4285985"/>
            <a:ext cx="3496938" cy="2308324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factorial(</a:t>
            </a:r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x) { 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result = 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do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{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result *= x;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x--;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} </a:t>
            </a:r>
            <a:r>
              <a:rPr lang="en-US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while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(x &gt; 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result;</a:t>
            </a:r>
          </a:p>
          <a:p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D7AC928-3178-7ED5-E542-2C11D952A3DB}"/>
              </a:ext>
            </a:extLst>
          </p:cNvPr>
          <p:cNvSpPr/>
          <p:nvPr/>
        </p:nvSpPr>
        <p:spPr>
          <a:xfrm>
            <a:off x="1790553" y="4854525"/>
            <a:ext cx="2624698" cy="1178829"/>
          </a:xfrm>
          <a:prstGeom prst="rect">
            <a:avLst/>
          </a:prstGeom>
          <a:solidFill>
            <a:schemeClr val="accent6">
              <a:alpha val="37000"/>
            </a:schemeClr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35634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30CAEE0-AFC7-101A-8DF0-DE315F3F89B6}"/>
              </a:ext>
            </a:extLst>
          </p:cNvPr>
          <p:cNvSpPr txBox="1"/>
          <p:nvPr/>
        </p:nvSpPr>
        <p:spPr>
          <a:xfrm>
            <a:off x="838200" y="2155546"/>
            <a:ext cx="5456232" cy="233910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char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input;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while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 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printf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"Enter a char, or Q to quit: "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  <a:endParaRPr lang="en-US" sz="1600" dirty="0">
              <a:solidFill>
                <a:srgbClr val="B42419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input =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getchar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();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putchar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(input);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(input ==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'Q'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 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break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}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}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18C275-455A-E460-9A83-9808C04950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</a:t>
            </a:r>
            <a:r>
              <a:rPr lang="en-US" sz="3600" dirty="0"/>
              <a:t> </a:t>
            </a:r>
            <a:r>
              <a:rPr lang="en-US" sz="3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getchar</a:t>
            </a:r>
            <a:r>
              <a:rPr lang="en-US" dirty="0"/>
              <a:t> and </a:t>
            </a:r>
            <a:r>
              <a:rPr lang="en-US" sz="3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putchar</a:t>
            </a:r>
            <a:endParaRPr lang="en-US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12EC75-4608-F027-35C1-EAA323F88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15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B2738DA-C707-CE81-4F84-AD04AA534339}"/>
              </a:ext>
            </a:extLst>
          </p:cNvPr>
          <p:cNvSpPr txBox="1"/>
          <p:nvPr/>
        </p:nvSpPr>
        <p:spPr>
          <a:xfrm>
            <a:off x="838200" y="5151815"/>
            <a:ext cx="5456232" cy="156966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char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input;  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do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printf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"Enter a char, or Q to quit: "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  <a:endParaRPr lang="en-US" sz="1600" dirty="0">
              <a:solidFill>
                <a:srgbClr val="B42419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input =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getchar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();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putchar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(input);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}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while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(input !=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'Q'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BE8874-9CBF-7371-4FA3-06E0599D189E}"/>
              </a:ext>
            </a:extLst>
          </p:cNvPr>
          <p:cNvSpPr txBox="1"/>
          <p:nvPr/>
        </p:nvSpPr>
        <p:spPr>
          <a:xfrm>
            <a:off x="1048272" y="1503070"/>
            <a:ext cx="69143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alibri" panose="020F0502020204030204" pitchFamily="34" charset="0"/>
                <a:ea typeface="Menlo" panose="020B0609030804020204" pitchFamily="49" charset="0"/>
                <a:cs typeface="Calibri" panose="020F0502020204030204" pitchFamily="34" charset="0"/>
              </a:rPr>
              <a:t>Reading and printing a single char from command line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F465A1B-20E3-C51D-AFC0-FC37BBD27A33}"/>
              </a:ext>
            </a:extLst>
          </p:cNvPr>
          <p:cNvSpPr txBox="1"/>
          <p:nvPr/>
        </p:nvSpPr>
        <p:spPr>
          <a:xfrm>
            <a:off x="4713417" y="3667735"/>
            <a:ext cx="6905224" cy="4001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putchar</a:t>
            </a:r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(a)</a:t>
            </a:r>
            <a:r>
              <a:rPr lang="en-US" sz="2000" dirty="0"/>
              <a:t> prints one char to standard output stream (</a:t>
            </a:r>
            <a:r>
              <a:rPr lang="en-US" sz="2000" dirty="0" err="1"/>
              <a:t>stdout</a:t>
            </a:r>
            <a:r>
              <a:rPr lang="en-US" sz="2000" dirty="0"/>
              <a:t>)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3718EDE-62B3-B90C-8E5E-9AA8266B98BD}"/>
              </a:ext>
            </a:extLst>
          </p:cNvPr>
          <p:cNvCxnSpPr>
            <a:cxnSpLocks/>
            <a:stCxn id="9" idx="1"/>
          </p:cNvCxnSpPr>
          <p:nvPr/>
        </p:nvCxnSpPr>
        <p:spPr>
          <a:xfrm flipH="1" flipV="1">
            <a:off x="3281152" y="3325097"/>
            <a:ext cx="1432265" cy="542693"/>
          </a:xfrm>
          <a:prstGeom prst="straightConnector1">
            <a:avLst/>
          </a:prstGeom>
          <a:ln w="19050">
            <a:solidFill>
              <a:srgbClr val="C00000"/>
            </a:solidFill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FB31A1F6-E309-563C-CBE6-F9537F769F0B}"/>
              </a:ext>
            </a:extLst>
          </p:cNvPr>
          <p:cNvSpPr txBox="1"/>
          <p:nvPr/>
        </p:nvSpPr>
        <p:spPr>
          <a:xfrm>
            <a:off x="5471779" y="3071910"/>
            <a:ext cx="6697411" cy="4001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getchar</a:t>
            </a:r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()</a:t>
            </a:r>
            <a:r>
              <a:rPr lang="en-US" sz="2000" dirty="0"/>
              <a:t> reads one char from standard input stream (stdin)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CA17140-467E-00D6-B6F6-2589BA6A1BB6}"/>
              </a:ext>
            </a:extLst>
          </p:cNvPr>
          <p:cNvCxnSpPr>
            <a:cxnSpLocks/>
            <a:stCxn id="5" idx="1"/>
          </p:cNvCxnSpPr>
          <p:nvPr/>
        </p:nvCxnSpPr>
        <p:spPr>
          <a:xfrm flipH="1" flipV="1">
            <a:off x="3831701" y="3128306"/>
            <a:ext cx="1640078" cy="143659"/>
          </a:xfrm>
          <a:prstGeom prst="straightConnector1">
            <a:avLst/>
          </a:prstGeom>
          <a:ln w="19050">
            <a:solidFill>
              <a:srgbClr val="C00000"/>
            </a:solidFill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5E437EB2-E0D6-AE63-FA28-92F5F9351CCB}"/>
              </a:ext>
            </a:extLst>
          </p:cNvPr>
          <p:cNvSpPr txBox="1"/>
          <p:nvPr/>
        </p:nvSpPr>
        <p:spPr>
          <a:xfrm>
            <a:off x="6776444" y="2329387"/>
            <a:ext cx="141096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while</a:t>
            </a:r>
            <a:r>
              <a:rPr lang="en-US" sz="2000" dirty="0"/>
              <a:t> loop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FFBA874-E4A3-4F38-948A-73C31CD73C7B}"/>
              </a:ext>
            </a:extLst>
          </p:cNvPr>
          <p:cNvSpPr txBox="1"/>
          <p:nvPr/>
        </p:nvSpPr>
        <p:spPr>
          <a:xfrm>
            <a:off x="7045523" y="5760525"/>
            <a:ext cx="401981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do-while</a:t>
            </a:r>
            <a:r>
              <a:rPr lang="en-US" sz="2000" dirty="0">
                <a:solidFill>
                  <a:srgbClr val="0432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/>
              <a:t>loop (fewer lines of code)</a:t>
            </a:r>
          </a:p>
        </p:txBody>
      </p:sp>
      <p:sp>
        <p:nvSpPr>
          <p:cNvPr id="16" name="Right Arrow 15">
            <a:extLst>
              <a:ext uri="{FF2B5EF4-FFF2-40B4-BE49-F238E27FC236}">
                <a16:creationId xmlns:a16="http://schemas.microsoft.com/office/drawing/2014/main" id="{D0DCCA73-0532-01B0-C081-AED9A3B20ECE}"/>
              </a:ext>
            </a:extLst>
          </p:cNvPr>
          <p:cNvSpPr/>
          <p:nvPr/>
        </p:nvSpPr>
        <p:spPr>
          <a:xfrm rot="5400000">
            <a:off x="3011987" y="4403735"/>
            <a:ext cx="538329" cy="875606"/>
          </a:xfrm>
          <a:prstGeom prst="rightArrow">
            <a:avLst/>
          </a:prstGeom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6752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5" grpId="0"/>
      <p:bldP spid="1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E5AF12-5603-BD6B-3EE3-EF73F71C74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 Loops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0C9F37-D37E-EF60-6810-5A5AA2880715}"/>
              </a:ext>
            </a:extLst>
          </p:cNvPr>
          <p:cNvSpPr txBox="1"/>
          <p:nvPr/>
        </p:nvSpPr>
        <p:spPr>
          <a:xfrm>
            <a:off x="838200" y="1443225"/>
            <a:ext cx="8182547" cy="206210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/>
              <a:t>Syntax:</a:t>
            </a:r>
          </a:p>
          <a:p>
            <a:endParaRPr lang="en-US" sz="2400" dirty="0"/>
          </a:p>
          <a:p>
            <a:r>
              <a:rPr lang="en-US" sz="2000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(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init_statement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test_expression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update_statement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){</a:t>
            </a: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  statement(s);</a:t>
            </a: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...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8052813-64ED-520B-E9D9-0FA17B52F4BB}"/>
              </a:ext>
            </a:extLst>
          </p:cNvPr>
          <p:cNvSpPr txBox="1"/>
          <p:nvPr/>
        </p:nvSpPr>
        <p:spPr>
          <a:xfrm>
            <a:off x="1828799" y="3640793"/>
            <a:ext cx="92964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Loop Execution: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Run </a:t>
            </a:r>
            <a:r>
              <a:rPr 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init_statement</a:t>
            </a:r>
            <a:endParaRPr lang="en-US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cs typeface="Consolas" panose="020B0609020204030204" pitchFamily="49" charset="0"/>
              </a:rPr>
              <a:t>Check </a:t>
            </a:r>
            <a:r>
              <a:rPr 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test_expression</a:t>
            </a:r>
            <a:endParaRPr lang="en-US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cs typeface="Consolas" panose="020B0609020204030204" pitchFamily="49" charset="0"/>
              </a:rPr>
              <a:t>If false (zero): Resume executing rest of program (after closing brace)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cs typeface="Consolas" panose="020B0609020204030204" pitchFamily="49" charset="0"/>
              </a:rPr>
              <a:t>If true (nonzero):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cs typeface="Consolas" panose="020B0609020204030204" pitchFamily="49" charset="0"/>
              </a:rPr>
              <a:t>Run 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statement(s)</a:t>
            </a:r>
            <a:r>
              <a:rPr lang="en-US" sz="2400" dirty="0">
                <a:cs typeface="Consolas" panose="020B0609020204030204" pitchFamily="49" charset="0"/>
              </a:rPr>
              <a:t> in loop body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cs typeface="Consolas" panose="020B0609020204030204" pitchFamily="49" charset="0"/>
              </a:rPr>
              <a:t>Run </a:t>
            </a:r>
            <a:r>
              <a:rPr 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update_statement</a:t>
            </a:r>
            <a:endParaRPr lang="en-US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cs typeface="Consolas" panose="020B0609020204030204" pitchFamily="49" charset="0"/>
              </a:rPr>
              <a:t>Repeat (check </a:t>
            </a:r>
            <a:r>
              <a:rPr 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test_expression</a:t>
            </a:r>
            <a:r>
              <a:rPr lang="en-US" sz="2400" dirty="0">
                <a:cs typeface="Consolas" panose="020B0609020204030204" pitchFamily="49" charset="0"/>
              </a:rPr>
              <a:t> again)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F1AD54C-3A66-3B35-7211-7D77D2283A89}"/>
              </a:ext>
            </a:extLst>
          </p:cNvPr>
          <p:cNvSpPr/>
          <p:nvPr/>
        </p:nvSpPr>
        <p:spPr>
          <a:xfrm>
            <a:off x="1615074" y="2242208"/>
            <a:ext cx="2091819" cy="297792"/>
          </a:xfrm>
          <a:prstGeom prst="rect">
            <a:avLst/>
          </a:prstGeom>
          <a:solidFill>
            <a:schemeClr val="accent6">
              <a:alpha val="37000"/>
            </a:schemeClr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37C6596-CFA1-DB27-5355-6E7AE6606BD9}"/>
              </a:ext>
            </a:extLst>
          </p:cNvPr>
          <p:cNvSpPr/>
          <p:nvPr/>
        </p:nvSpPr>
        <p:spPr>
          <a:xfrm>
            <a:off x="3867206" y="2242208"/>
            <a:ext cx="2228794" cy="297792"/>
          </a:xfrm>
          <a:prstGeom prst="rect">
            <a:avLst/>
          </a:prstGeom>
          <a:solidFill>
            <a:schemeClr val="accent6">
              <a:alpha val="37000"/>
            </a:schemeClr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4D02053-D706-5CCB-3A14-1DD977B92484}"/>
              </a:ext>
            </a:extLst>
          </p:cNvPr>
          <p:cNvSpPr/>
          <p:nvPr/>
        </p:nvSpPr>
        <p:spPr>
          <a:xfrm>
            <a:off x="1478099" y="2560084"/>
            <a:ext cx="1849892" cy="297792"/>
          </a:xfrm>
          <a:prstGeom prst="rect">
            <a:avLst/>
          </a:prstGeom>
          <a:solidFill>
            <a:schemeClr val="accent6">
              <a:alpha val="37000"/>
            </a:schemeClr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BE5584D-419C-5EB8-B442-45BCD2D0EACA}"/>
              </a:ext>
            </a:extLst>
          </p:cNvPr>
          <p:cNvSpPr/>
          <p:nvPr/>
        </p:nvSpPr>
        <p:spPr>
          <a:xfrm>
            <a:off x="903853" y="3161325"/>
            <a:ext cx="478380" cy="297792"/>
          </a:xfrm>
          <a:prstGeom prst="rect">
            <a:avLst/>
          </a:prstGeom>
          <a:solidFill>
            <a:schemeClr val="accent6">
              <a:alpha val="37000"/>
            </a:schemeClr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D99247D-71BB-635A-4775-C63BDD29863C}"/>
              </a:ext>
            </a:extLst>
          </p:cNvPr>
          <p:cNvSpPr/>
          <p:nvPr/>
        </p:nvSpPr>
        <p:spPr>
          <a:xfrm>
            <a:off x="6256313" y="2242208"/>
            <a:ext cx="2228794" cy="297792"/>
          </a:xfrm>
          <a:prstGeom prst="rect">
            <a:avLst/>
          </a:prstGeom>
          <a:solidFill>
            <a:schemeClr val="accent6">
              <a:alpha val="37000"/>
            </a:schemeClr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35BDF45-EDB2-82AA-B0F0-F8FA95CA7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4370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 bldLvl="2"/>
      <p:bldP spid="6" grpId="0" animBg="1"/>
      <p:bldP spid="6" grpId="1" animBg="1"/>
      <p:bldP spid="7" grpId="0" animBg="1"/>
      <p:bldP spid="7" grpId="1" animBg="1"/>
      <p:bldP spid="7" grpId="2" animBg="1"/>
      <p:bldP spid="8" grpId="0" animBg="1"/>
      <p:bldP spid="8" grpId="1" animBg="1"/>
      <p:bldP spid="9" grpId="0" animBg="1"/>
      <p:bldP spid="9" grpId="1" animBg="1"/>
      <p:bldP spid="10" grpId="0" animBg="1"/>
      <p:bldP spid="10" grpId="1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6351B7-6CBC-2B08-ECBF-F566790723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 Loops: Example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3D53B52-7603-46BB-3828-997477CB53D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18" r="53125"/>
          <a:stretch/>
        </p:blipFill>
        <p:spPr>
          <a:xfrm>
            <a:off x="282059" y="1686248"/>
            <a:ext cx="5237681" cy="3228652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2D9D5AF-DA27-B383-01CE-B923D33E283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3242" r="1"/>
          <a:stretch/>
        </p:blipFill>
        <p:spPr>
          <a:xfrm>
            <a:off x="6672260" y="1686248"/>
            <a:ext cx="5237681" cy="3228652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6" name="Right Arrow 5">
            <a:extLst>
              <a:ext uri="{FF2B5EF4-FFF2-40B4-BE49-F238E27FC236}">
                <a16:creationId xmlns:a16="http://schemas.microsoft.com/office/drawing/2014/main" id="{F271759B-34F1-94DB-9F31-6ACD616BE845}"/>
              </a:ext>
            </a:extLst>
          </p:cNvPr>
          <p:cNvSpPr/>
          <p:nvPr/>
        </p:nvSpPr>
        <p:spPr>
          <a:xfrm>
            <a:off x="5778605" y="2862771"/>
            <a:ext cx="634790" cy="875606"/>
          </a:xfrm>
          <a:prstGeom prst="rightArrow">
            <a:avLst/>
          </a:prstGeom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B526014-C2E8-791D-6728-096C16436C6F}"/>
              </a:ext>
            </a:extLst>
          </p:cNvPr>
          <p:cNvSpPr/>
          <p:nvPr/>
        </p:nvSpPr>
        <p:spPr>
          <a:xfrm>
            <a:off x="1044574" y="3037577"/>
            <a:ext cx="2755901" cy="1248673"/>
          </a:xfrm>
          <a:prstGeom prst="rect">
            <a:avLst/>
          </a:prstGeom>
          <a:solidFill>
            <a:schemeClr val="accent6">
              <a:alpha val="37000"/>
            </a:schemeClr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FFE18C0-073D-3B1E-847C-C2BE4A1099EF}"/>
              </a:ext>
            </a:extLst>
          </p:cNvPr>
          <p:cNvSpPr/>
          <p:nvPr/>
        </p:nvSpPr>
        <p:spPr>
          <a:xfrm>
            <a:off x="7369174" y="3037576"/>
            <a:ext cx="3103564" cy="1248673"/>
          </a:xfrm>
          <a:prstGeom prst="rect">
            <a:avLst/>
          </a:prstGeom>
          <a:solidFill>
            <a:schemeClr val="accent6">
              <a:alpha val="37000"/>
            </a:schemeClr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4CDF753-FD0B-DCEC-623D-60255AD87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17</a:t>
            </a:fld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8D2F7D3-0736-965F-4434-4AB264998756}"/>
              </a:ext>
            </a:extLst>
          </p:cNvPr>
          <p:cNvSpPr/>
          <p:nvPr/>
        </p:nvSpPr>
        <p:spPr>
          <a:xfrm>
            <a:off x="1136015" y="3015829"/>
            <a:ext cx="720196" cy="284745"/>
          </a:xfrm>
          <a:prstGeom prst="rect">
            <a:avLst/>
          </a:prstGeom>
          <a:noFill/>
          <a:ln w="28575"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96492E3-CACD-60F0-DF35-5BCE64B5210E}"/>
              </a:ext>
            </a:extLst>
          </p:cNvPr>
          <p:cNvSpPr/>
          <p:nvPr/>
        </p:nvSpPr>
        <p:spPr>
          <a:xfrm>
            <a:off x="8092854" y="3257607"/>
            <a:ext cx="657666" cy="284745"/>
          </a:xfrm>
          <a:prstGeom prst="rect">
            <a:avLst/>
          </a:prstGeom>
          <a:noFill/>
          <a:ln w="28575">
            <a:solidFill>
              <a:srgbClr val="0432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71829B8-96EE-AB2E-4824-FD02D9B1E8E5}"/>
              </a:ext>
            </a:extLst>
          </p:cNvPr>
          <p:cNvSpPr/>
          <p:nvPr/>
        </p:nvSpPr>
        <p:spPr>
          <a:xfrm>
            <a:off x="1927331" y="3257607"/>
            <a:ext cx="720196" cy="284745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ECAE629-D987-C2B2-CACE-CC4A7FD22E4D}"/>
              </a:ext>
            </a:extLst>
          </p:cNvPr>
          <p:cNvSpPr/>
          <p:nvPr/>
        </p:nvSpPr>
        <p:spPr>
          <a:xfrm>
            <a:off x="8811455" y="3257606"/>
            <a:ext cx="657666" cy="284745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5042F64-A67A-BD1A-26BB-F36A412A7BAE}"/>
              </a:ext>
            </a:extLst>
          </p:cNvPr>
          <p:cNvSpPr/>
          <p:nvPr/>
        </p:nvSpPr>
        <p:spPr>
          <a:xfrm>
            <a:off x="1496113" y="3781552"/>
            <a:ext cx="525727" cy="284745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7BC970D-884C-EC43-9FDD-F581A88CA48B}"/>
              </a:ext>
            </a:extLst>
          </p:cNvPr>
          <p:cNvSpPr/>
          <p:nvPr/>
        </p:nvSpPr>
        <p:spPr>
          <a:xfrm>
            <a:off x="9580856" y="3247445"/>
            <a:ext cx="525727" cy="284745"/>
          </a:xfrm>
          <a:prstGeom prst="rect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66562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5F47B5-7C25-E233-8A67-BCBC24EA21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 Loops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A8EAA6-6475-AD15-D08E-0343A5DFBCE3}"/>
              </a:ext>
            </a:extLst>
          </p:cNvPr>
          <p:cNvSpPr txBox="1"/>
          <p:nvPr/>
        </p:nvSpPr>
        <p:spPr>
          <a:xfrm>
            <a:off x="838200" y="1443225"/>
            <a:ext cx="8182547" cy="206210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400" dirty="0"/>
              <a:t>Syntax:</a:t>
            </a:r>
          </a:p>
          <a:p>
            <a:endParaRPr lang="en-US" sz="2400" dirty="0"/>
          </a:p>
          <a:p>
            <a:r>
              <a:rPr lang="en-US" sz="2000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(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init_statement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test_expression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update_statement</a:t>
            </a: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){</a:t>
            </a: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    statement(s);</a:t>
            </a: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...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7ED8562-37DD-B553-953B-7B8266204D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359" y="4294129"/>
            <a:ext cx="3590925" cy="1772059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BA2B7C0-4C81-35FE-392A-D9903D12D3DD}"/>
              </a:ext>
            </a:extLst>
          </p:cNvPr>
          <p:cNvSpPr txBox="1"/>
          <p:nvPr/>
        </p:nvSpPr>
        <p:spPr>
          <a:xfrm>
            <a:off x="1089359" y="3827334"/>
            <a:ext cx="7137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E.g.,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D6A3C1D-DF61-7430-A186-382A3D80175B}"/>
              </a:ext>
            </a:extLst>
          </p:cNvPr>
          <p:cNvSpPr txBox="1"/>
          <p:nvPr/>
        </p:nvSpPr>
        <p:spPr>
          <a:xfrm>
            <a:off x="5149516" y="4764659"/>
            <a:ext cx="516197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If 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test_expression</a:t>
            </a:r>
            <a:r>
              <a:rPr lang="en-US" sz="2400" dirty="0"/>
              <a:t> is absent, the condition check always passes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36B2475-D675-CA57-B173-965CBBEF0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18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A99DE93-20B4-AC1F-E944-F68BE35BCA78}"/>
              </a:ext>
            </a:extLst>
          </p:cNvPr>
          <p:cNvSpPr txBox="1"/>
          <p:nvPr/>
        </p:nvSpPr>
        <p:spPr>
          <a:xfrm>
            <a:off x="3924450" y="1460105"/>
            <a:ext cx="28603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All three are </a:t>
            </a:r>
            <a:r>
              <a:rPr lang="en-US" sz="2400" b="1" dirty="0"/>
              <a:t>optional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698E0CA-5265-9337-F050-DF29401E5AAB}"/>
              </a:ext>
            </a:extLst>
          </p:cNvPr>
          <p:cNvCxnSpPr/>
          <p:nvPr/>
        </p:nvCxnSpPr>
        <p:spPr>
          <a:xfrm flipH="1">
            <a:off x="2791326" y="1921770"/>
            <a:ext cx="1888958" cy="2920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0D2DA97-DDED-713B-F123-9CD180D6C3B8}"/>
              </a:ext>
            </a:extLst>
          </p:cNvPr>
          <p:cNvCxnSpPr>
            <a:cxnSpLocks/>
            <a:stCxn id="9" idx="2"/>
          </p:cNvCxnSpPr>
          <p:nvPr/>
        </p:nvCxnSpPr>
        <p:spPr>
          <a:xfrm flipH="1">
            <a:off x="5149516" y="1921770"/>
            <a:ext cx="205133" cy="2920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F0B629C-C75D-AB17-1605-9D744F765699}"/>
              </a:ext>
            </a:extLst>
          </p:cNvPr>
          <p:cNvCxnSpPr>
            <a:cxnSpLocks/>
          </p:cNvCxnSpPr>
          <p:nvPr/>
        </p:nvCxnSpPr>
        <p:spPr>
          <a:xfrm>
            <a:off x="5951088" y="1904562"/>
            <a:ext cx="1412238" cy="3092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68820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C4D46B-DFAA-9E18-F3EC-8F1098FD1A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FE97D0-A3F3-3FC6-CD2B-ABA0791275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trike="sngStrike" dirty="0"/>
              <a:t>Basic C operators</a:t>
            </a:r>
          </a:p>
          <a:p>
            <a:r>
              <a:rPr lang="en-US" strike="sngStrike" dirty="0"/>
              <a:t>Loops: For and While</a:t>
            </a:r>
          </a:p>
          <a:p>
            <a:r>
              <a:rPr lang="en-US" dirty="0"/>
              <a:t>Conditionals: If and Switch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BD5FE6-35EB-5F20-4B90-6240F9925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5866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4900CE-8526-6984-3FB5-6D23AFCE85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en-US" dirty="0"/>
              <a:t> Statements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0A8CD52-3C02-69ED-F272-87E3861095FA}"/>
              </a:ext>
            </a:extLst>
          </p:cNvPr>
          <p:cNvSpPr txBox="1"/>
          <p:nvPr/>
        </p:nvSpPr>
        <p:spPr>
          <a:xfrm>
            <a:off x="1063052" y="1678102"/>
            <a:ext cx="3598889" cy="458587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dirty="0"/>
              <a:t>Syntax:</a:t>
            </a:r>
          </a:p>
          <a:p>
            <a:endParaRPr lang="en-US" sz="2000" dirty="0"/>
          </a:p>
          <a:p>
            <a:r>
              <a:rPr lang="en-US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(expression1) {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statementA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statementB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…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 </a:t>
            </a:r>
            <a:r>
              <a:rPr lang="en-US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else if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(expression2) {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statement(s);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 </a:t>
            </a:r>
            <a:r>
              <a:rPr lang="en-US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else if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(expression3) {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statement(s);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 </a:t>
            </a:r>
            <a:r>
              <a:rPr lang="en-US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else if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(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expressionN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 {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statement(s);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 </a:t>
            </a:r>
            <a:r>
              <a:rPr lang="en-US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else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{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statement(s);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584D7E-C002-6759-BCB7-BDA811D368BD}"/>
              </a:ext>
            </a:extLst>
          </p:cNvPr>
          <p:cNvSpPr txBox="1"/>
          <p:nvPr/>
        </p:nvSpPr>
        <p:spPr>
          <a:xfrm>
            <a:off x="5067657" y="1834264"/>
            <a:ext cx="628614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Any number of </a:t>
            </a:r>
            <a:r>
              <a:rPr lang="en-US" sz="2000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else if</a:t>
            </a:r>
            <a:r>
              <a:rPr lang="en-US" sz="2000" dirty="0">
                <a:solidFill>
                  <a:srgbClr val="0432FF"/>
                </a:solidFill>
              </a:rPr>
              <a:t> </a:t>
            </a:r>
            <a:r>
              <a:rPr lang="en-US" sz="2000" dirty="0"/>
              <a:t>branches (including none)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Branch taken is the </a:t>
            </a:r>
            <a:r>
              <a:rPr lang="en-US" sz="2000" b="1" dirty="0"/>
              <a:t>first</a:t>
            </a:r>
            <a:r>
              <a:rPr lang="en-US" sz="2000" dirty="0"/>
              <a:t> whose expression evaluates to true (nonzero); subsequent expressions are not evaluated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At most one </a:t>
            </a:r>
            <a:r>
              <a:rPr lang="en-US" sz="2000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else</a:t>
            </a:r>
            <a:r>
              <a:rPr lang="en-US" sz="2000" dirty="0"/>
              <a:t> branch (optional)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 </a:t>
            </a:r>
            <a:r>
              <a:rPr lang="en-US" sz="2000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else</a:t>
            </a:r>
            <a:r>
              <a:rPr lang="en-US" sz="2000" dirty="0"/>
              <a:t> branch taken if no expression evaluates to true (nonzero) value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In an </a:t>
            </a:r>
            <a:r>
              <a:rPr lang="en-US" sz="2000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if</a:t>
            </a:r>
            <a:r>
              <a:rPr lang="en-US" sz="2000" dirty="0"/>
              <a:t> statement without an </a:t>
            </a:r>
            <a:r>
              <a:rPr lang="en-US" sz="2000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else</a:t>
            </a:r>
            <a:r>
              <a:rPr lang="en-US" sz="2000" dirty="0"/>
              <a:t>, it is possible that no branch is taken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53ACE10-F05A-D306-95B9-C5983644F524}"/>
              </a:ext>
            </a:extLst>
          </p:cNvPr>
          <p:cNvSpPr/>
          <p:nvPr/>
        </p:nvSpPr>
        <p:spPr>
          <a:xfrm>
            <a:off x="1312446" y="3429000"/>
            <a:ext cx="1037790" cy="284813"/>
          </a:xfrm>
          <a:prstGeom prst="rect">
            <a:avLst/>
          </a:prstGeom>
          <a:solidFill>
            <a:schemeClr val="accent6">
              <a:alpha val="37000"/>
            </a:schemeClr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FB00B54-071D-AB4E-E72B-1929C86169B1}"/>
              </a:ext>
            </a:extLst>
          </p:cNvPr>
          <p:cNvSpPr/>
          <p:nvPr/>
        </p:nvSpPr>
        <p:spPr>
          <a:xfrm>
            <a:off x="1312446" y="3952356"/>
            <a:ext cx="1037790" cy="284813"/>
          </a:xfrm>
          <a:prstGeom prst="rect">
            <a:avLst/>
          </a:prstGeom>
          <a:solidFill>
            <a:schemeClr val="accent6">
              <a:alpha val="37000"/>
            </a:schemeClr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D4FD01B-C75F-F00E-F593-AE03F42C6AC8}"/>
              </a:ext>
            </a:extLst>
          </p:cNvPr>
          <p:cNvSpPr/>
          <p:nvPr/>
        </p:nvSpPr>
        <p:spPr>
          <a:xfrm>
            <a:off x="1312446" y="4554179"/>
            <a:ext cx="1037790" cy="284813"/>
          </a:xfrm>
          <a:prstGeom prst="rect">
            <a:avLst/>
          </a:prstGeom>
          <a:solidFill>
            <a:schemeClr val="accent6">
              <a:alpha val="37000"/>
            </a:schemeClr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CD208D-85E3-6CF6-87C1-AAF236A06484}"/>
              </a:ext>
            </a:extLst>
          </p:cNvPr>
          <p:cNvSpPr/>
          <p:nvPr/>
        </p:nvSpPr>
        <p:spPr>
          <a:xfrm>
            <a:off x="1312446" y="5069978"/>
            <a:ext cx="659937" cy="284813"/>
          </a:xfrm>
          <a:prstGeom prst="rect">
            <a:avLst/>
          </a:prstGeom>
          <a:solidFill>
            <a:schemeClr val="accent6">
              <a:alpha val="37000"/>
            </a:schemeClr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2B7504A-5DFE-D09F-B0CC-EADAED6C8CC1}"/>
              </a:ext>
            </a:extLst>
          </p:cNvPr>
          <p:cNvSpPr/>
          <p:nvPr/>
        </p:nvSpPr>
        <p:spPr>
          <a:xfrm>
            <a:off x="1123519" y="2303821"/>
            <a:ext cx="372772" cy="284813"/>
          </a:xfrm>
          <a:prstGeom prst="rect">
            <a:avLst/>
          </a:prstGeom>
          <a:solidFill>
            <a:schemeClr val="accent6">
              <a:alpha val="37000"/>
            </a:schemeClr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829AC97-19C9-6154-9B1A-6CB94B1C7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44170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  <p:bldP spid="6" grpId="0" animBg="1"/>
      <p:bldP spid="7" grpId="0" animBg="1"/>
      <p:bldP spid="8" grpId="0" animBg="1"/>
      <p:bldP spid="10" grpId="0" animBg="1"/>
      <p:bldP spid="11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99434-ECC0-8A48-7549-EEC007D495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Switch</a:t>
            </a:r>
            <a:r>
              <a:rPr lang="en-US" dirty="0"/>
              <a:t> Statements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ABAD208-466A-228A-946A-496D662AAE3E}"/>
              </a:ext>
            </a:extLst>
          </p:cNvPr>
          <p:cNvSpPr txBox="1"/>
          <p:nvPr/>
        </p:nvSpPr>
        <p:spPr>
          <a:xfrm>
            <a:off x="1063051" y="1678102"/>
            <a:ext cx="3568909" cy="430887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dirty="0"/>
              <a:t>Syntax:</a:t>
            </a:r>
          </a:p>
          <a:p>
            <a:endParaRPr lang="en-US" sz="2000" dirty="0"/>
          </a:p>
          <a:p>
            <a:r>
              <a:rPr lang="en-US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switch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(expression) {</a:t>
            </a:r>
          </a:p>
          <a:p>
            <a:r>
              <a:rPr lang="en-US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case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valueA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    statement(s);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break;</a:t>
            </a:r>
          </a:p>
          <a:p>
            <a:r>
              <a:rPr lang="en-US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case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valueB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    statement(s);</a:t>
            </a:r>
          </a:p>
          <a:p>
            <a:r>
              <a:rPr lang="en-US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case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valueC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    statement(s);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    </a:t>
            </a:r>
            <a:r>
              <a:rPr lang="en-US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break;</a:t>
            </a:r>
          </a:p>
          <a:p>
            <a:r>
              <a:rPr lang="en-US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default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       statement(s);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7A58B2E-4A83-2F35-DD66-FB28C9BECAD6}"/>
              </a:ext>
            </a:extLst>
          </p:cNvPr>
          <p:cNvSpPr txBox="1"/>
          <p:nvPr/>
        </p:nvSpPr>
        <p:spPr>
          <a:xfrm>
            <a:off x="5051685" y="1997839"/>
            <a:ext cx="6986655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expression</a:t>
            </a:r>
            <a:r>
              <a:rPr lang="en-US" sz="2000" dirty="0"/>
              <a:t> must evaluate to an </a:t>
            </a:r>
            <a:r>
              <a:rPr lang="en-US" sz="2000" b="1" dirty="0"/>
              <a:t>integral</a:t>
            </a:r>
            <a:r>
              <a:rPr lang="en-US" sz="2000" dirty="0"/>
              <a:t> type (e.g., int, long, but not float).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Any number of </a:t>
            </a:r>
            <a:r>
              <a:rPr lang="en-US" sz="2000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case</a:t>
            </a:r>
            <a:r>
              <a:rPr lang="en-US" sz="2000" dirty="0"/>
              <a:t> statements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Execution jumps to the first </a:t>
            </a:r>
            <a:r>
              <a:rPr lang="en-US" sz="2000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case</a:t>
            </a:r>
            <a:r>
              <a:rPr lang="en-US" sz="2000" dirty="0"/>
              <a:t> that matches …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… and continues until </a:t>
            </a:r>
            <a:r>
              <a:rPr lang="en-US" sz="2000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break</a:t>
            </a:r>
            <a:r>
              <a:rPr lang="en-US" sz="2000" dirty="0"/>
              <a:t> is reached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This means control flow can </a:t>
            </a:r>
            <a:r>
              <a:rPr lang="en-US" sz="2000" i="1" dirty="0"/>
              <a:t>fall through</a:t>
            </a:r>
            <a:r>
              <a:rPr lang="en-US" sz="2000" dirty="0"/>
              <a:t> in absence of a </a:t>
            </a:r>
            <a:r>
              <a:rPr lang="en-US" sz="2000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break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Example: if 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valueB</a:t>
            </a:r>
            <a:r>
              <a:rPr lang="en-US" sz="2000" dirty="0"/>
              <a:t> is a match, then statements beneath both 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valueB</a:t>
            </a:r>
            <a:r>
              <a:rPr lang="en-US" sz="2000" dirty="0"/>
              <a:t> and </a:t>
            </a:r>
            <a:r>
              <a:rPr lang="en-US" sz="2000" dirty="0" err="1">
                <a:latin typeface="Consolas" panose="020B0609020204030204" pitchFamily="49" charset="0"/>
                <a:cs typeface="Consolas" panose="020B0609020204030204" pitchFamily="49" charset="0"/>
              </a:rPr>
              <a:t>valueC</a:t>
            </a:r>
            <a:r>
              <a:rPr lang="en-US" sz="2000" dirty="0"/>
              <a:t> execute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Optional </a:t>
            </a:r>
            <a:r>
              <a:rPr lang="en-US" sz="2000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default</a:t>
            </a:r>
            <a:r>
              <a:rPr lang="en-US" sz="2000" dirty="0"/>
              <a:t> case runs if nothing else matches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Like the "match case" conditionals in Python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648225F-39C5-F600-DBA9-FF90A1A5DE0E}"/>
              </a:ext>
            </a:extLst>
          </p:cNvPr>
          <p:cNvSpPr/>
          <p:nvPr/>
        </p:nvSpPr>
        <p:spPr>
          <a:xfrm>
            <a:off x="2128603" y="2338466"/>
            <a:ext cx="1304145" cy="284813"/>
          </a:xfrm>
          <a:prstGeom prst="rect">
            <a:avLst/>
          </a:prstGeom>
          <a:solidFill>
            <a:schemeClr val="accent6">
              <a:alpha val="37000"/>
            </a:schemeClr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91B4726-C74F-9969-E26C-927D9475D2F6}"/>
              </a:ext>
            </a:extLst>
          </p:cNvPr>
          <p:cNvSpPr/>
          <p:nvPr/>
        </p:nvSpPr>
        <p:spPr>
          <a:xfrm>
            <a:off x="1623541" y="2638834"/>
            <a:ext cx="590667" cy="284813"/>
          </a:xfrm>
          <a:prstGeom prst="rect">
            <a:avLst/>
          </a:prstGeom>
          <a:solidFill>
            <a:schemeClr val="accent6">
              <a:alpha val="37000"/>
            </a:schemeClr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22D1E09-BE0A-B1A3-D693-DA25865D7CE2}"/>
              </a:ext>
            </a:extLst>
          </p:cNvPr>
          <p:cNvSpPr/>
          <p:nvPr/>
        </p:nvSpPr>
        <p:spPr>
          <a:xfrm>
            <a:off x="1623541" y="3429000"/>
            <a:ext cx="590667" cy="284813"/>
          </a:xfrm>
          <a:prstGeom prst="rect">
            <a:avLst/>
          </a:prstGeom>
          <a:solidFill>
            <a:schemeClr val="accent6">
              <a:alpha val="37000"/>
            </a:schemeClr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AD3A713-DB9F-1C3C-5F60-2B9F82B2C8C1}"/>
              </a:ext>
            </a:extLst>
          </p:cNvPr>
          <p:cNvSpPr/>
          <p:nvPr/>
        </p:nvSpPr>
        <p:spPr>
          <a:xfrm>
            <a:off x="1623541" y="3980074"/>
            <a:ext cx="590667" cy="284813"/>
          </a:xfrm>
          <a:prstGeom prst="rect">
            <a:avLst/>
          </a:prstGeom>
          <a:solidFill>
            <a:schemeClr val="accent6">
              <a:alpha val="37000"/>
            </a:schemeClr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10352D6-4167-07AC-D5AD-B6FC4C6793BF}"/>
              </a:ext>
            </a:extLst>
          </p:cNvPr>
          <p:cNvSpPr/>
          <p:nvPr/>
        </p:nvSpPr>
        <p:spPr>
          <a:xfrm>
            <a:off x="2128603" y="3139078"/>
            <a:ext cx="788409" cy="284813"/>
          </a:xfrm>
          <a:prstGeom prst="rect">
            <a:avLst/>
          </a:prstGeom>
          <a:solidFill>
            <a:schemeClr val="accent6">
              <a:alpha val="37000"/>
            </a:schemeClr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386AF85-642D-E5F6-A81C-3EC7B50C1A34}"/>
              </a:ext>
            </a:extLst>
          </p:cNvPr>
          <p:cNvSpPr/>
          <p:nvPr/>
        </p:nvSpPr>
        <p:spPr>
          <a:xfrm>
            <a:off x="2128602" y="4500116"/>
            <a:ext cx="788409" cy="284813"/>
          </a:xfrm>
          <a:prstGeom prst="rect">
            <a:avLst/>
          </a:prstGeom>
          <a:solidFill>
            <a:schemeClr val="accent6">
              <a:alpha val="37000"/>
            </a:schemeClr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6027965-7F15-4A17-20C4-71EA3EC19672}"/>
              </a:ext>
            </a:extLst>
          </p:cNvPr>
          <p:cNvSpPr/>
          <p:nvPr/>
        </p:nvSpPr>
        <p:spPr>
          <a:xfrm>
            <a:off x="1623540" y="3441444"/>
            <a:ext cx="2185200" cy="1348594"/>
          </a:xfrm>
          <a:prstGeom prst="rect">
            <a:avLst/>
          </a:prstGeom>
          <a:solidFill>
            <a:schemeClr val="accent6">
              <a:alpha val="37000"/>
            </a:schemeClr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EC27D14-8CFE-043C-52C8-F1EACAD204AE}"/>
              </a:ext>
            </a:extLst>
          </p:cNvPr>
          <p:cNvSpPr/>
          <p:nvPr/>
        </p:nvSpPr>
        <p:spPr>
          <a:xfrm>
            <a:off x="1623541" y="4802482"/>
            <a:ext cx="1036532" cy="284813"/>
          </a:xfrm>
          <a:prstGeom prst="rect">
            <a:avLst/>
          </a:prstGeom>
          <a:solidFill>
            <a:schemeClr val="accent6">
              <a:alpha val="37000"/>
            </a:schemeClr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5E50FB6-B297-D727-6703-7277DDFB4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8782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  <p:bldP spid="6" grpId="0" animBg="1"/>
      <p:bldP spid="6" grpId="1" animBg="1"/>
      <p:bldP spid="7" grpId="0" animBg="1"/>
      <p:bldP spid="7" grpId="1" animBg="1"/>
      <p:bldP spid="8" grpId="0" animBg="1"/>
      <p:bldP spid="8" grpId="1" animBg="1"/>
      <p:bldP spid="9" grpId="0" animBg="1"/>
      <p:bldP spid="9" grpId="1" animBg="1"/>
      <p:bldP spid="11" grpId="0" animBg="1"/>
      <p:bldP spid="11" grpId="1" animBg="1"/>
      <p:bldP spid="12" grpId="0" animBg="1"/>
      <p:bldP spid="12" grpId="1" animBg="1"/>
      <p:bldP spid="13" grpId="0" animBg="1"/>
      <p:bldP spid="13" grpId="1" animBg="1"/>
      <p:bldP spid="14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AD0F89-F779-FB77-0E9F-86D248F1C2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of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Switch</a:t>
            </a:r>
            <a:r>
              <a:rPr lang="en-US" dirty="0"/>
              <a:t> Statements using </a:t>
            </a:r>
            <a:r>
              <a:rPr lang="en-US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break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85D9AB6-AD50-2D53-70AA-25B464CE2C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435" y="1296917"/>
            <a:ext cx="6277258" cy="5318125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BCC6EA8-1BC2-E8CE-D7CE-CA6F29968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22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C2869DD-8E2B-7AC9-A334-25B9889A6BFD}"/>
              </a:ext>
            </a:extLst>
          </p:cNvPr>
          <p:cNvSpPr/>
          <p:nvPr/>
        </p:nvSpPr>
        <p:spPr>
          <a:xfrm>
            <a:off x="2222267" y="2945578"/>
            <a:ext cx="841775" cy="246801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C9363F8-B7D9-FAD3-D7BA-C2FCAC6135C1}"/>
              </a:ext>
            </a:extLst>
          </p:cNvPr>
          <p:cNvSpPr/>
          <p:nvPr/>
        </p:nvSpPr>
        <p:spPr>
          <a:xfrm>
            <a:off x="2222266" y="3606389"/>
            <a:ext cx="841775" cy="246801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0BCD7C3-5E43-D8AC-579A-69FB44E160CE}"/>
              </a:ext>
            </a:extLst>
          </p:cNvPr>
          <p:cNvSpPr/>
          <p:nvPr/>
        </p:nvSpPr>
        <p:spPr>
          <a:xfrm>
            <a:off x="2254350" y="4267020"/>
            <a:ext cx="841775" cy="246801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226404D-C7CC-51D4-B076-8F9082A4CF00}"/>
              </a:ext>
            </a:extLst>
          </p:cNvPr>
          <p:cNvSpPr/>
          <p:nvPr/>
        </p:nvSpPr>
        <p:spPr>
          <a:xfrm>
            <a:off x="2254349" y="5168461"/>
            <a:ext cx="841775" cy="246801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52411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77359-B9CF-FA8B-A34F-77966D4A77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of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Switch</a:t>
            </a:r>
            <a:r>
              <a:rPr lang="en-US" dirty="0"/>
              <a:t> Statements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698CAAE-5F00-6183-66D3-A3E75A9A6CEF}"/>
              </a:ext>
            </a:extLst>
          </p:cNvPr>
          <p:cNvSpPr txBox="1"/>
          <p:nvPr/>
        </p:nvSpPr>
        <p:spPr>
          <a:xfrm>
            <a:off x="7061200" y="1507067"/>
            <a:ext cx="49445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Q: Why no break statements?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269EDC4-7302-C62B-A5CF-23D09DC7F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23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FE1C713-F7AD-B79E-E26F-0915AE02D721}"/>
              </a:ext>
            </a:extLst>
          </p:cNvPr>
          <p:cNvSpPr txBox="1"/>
          <p:nvPr/>
        </p:nvSpPr>
        <p:spPr>
          <a:xfrm>
            <a:off x="7061200" y="2125539"/>
            <a:ext cx="423511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A: Because we return instead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52885A2-1976-EC4A-F168-73A275353A5D}"/>
              </a:ext>
            </a:extLst>
          </p:cNvPr>
          <p:cNvSpPr txBox="1"/>
          <p:nvPr/>
        </p:nvSpPr>
        <p:spPr>
          <a:xfrm>
            <a:off x="550209" y="1273830"/>
            <a:ext cx="5577168" cy="544764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#include </a:t>
            </a:r>
            <a:r>
              <a:rPr lang="en-US" sz="12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US" sz="1200" dirty="0" err="1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stdio.h</a:t>
            </a:r>
            <a:r>
              <a:rPr lang="en-US" sz="12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&gt;</a:t>
            </a:r>
            <a:endParaRPr lang="en-US" sz="1200" dirty="0">
              <a:solidFill>
                <a:srgbClr val="C814C9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2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#include </a:t>
            </a:r>
            <a:r>
              <a:rPr lang="en-US" sz="12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US" sz="1200" dirty="0" err="1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stdlib.h</a:t>
            </a:r>
            <a:r>
              <a:rPr lang="en-US" sz="12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&gt;</a:t>
            </a:r>
          </a:p>
          <a:p>
            <a:endParaRPr lang="en-US" sz="12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2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is_leap_year</a:t>
            </a: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2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year) {</a:t>
            </a:r>
          </a:p>
          <a:p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2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!(year % </a:t>
            </a:r>
            <a:r>
              <a:rPr lang="en-US" sz="12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400</a:t>
            </a: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 || ((year % </a:t>
            </a:r>
            <a:r>
              <a:rPr lang="en-US" sz="12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100</a:t>
            </a: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 &amp;&amp; !(year %</a:t>
            </a:r>
            <a:r>
              <a:rPr lang="en-US" sz="12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4</a:t>
            </a: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));</a:t>
            </a:r>
          </a:p>
          <a:p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  <a:b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endParaRPr lang="en-US" sz="12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2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unsigned</a:t>
            </a: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2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2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days_in_month</a:t>
            </a: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2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year, </a:t>
            </a:r>
            <a:r>
              <a:rPr lang="en-US" sz="12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unsigned</a:t>
            </a: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2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month) {</a:t>
            </a:r>
          </a:p>
          <a:p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2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switch</a:t>
            </a: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(month) {</a:t>
            </a:r>
          </a:p>
          <a:p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sz="12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case</a:t>
            </a: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2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2</a:t>
            </a: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:</a:t>
            </a:r>
          </a:p>
          <a:p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  </a:t>
            </a:r>
            <a:r>
              <a:rPr lang="en-US" sz="12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en-US" sz="12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is_leap_year</a:t>
            </a: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(year))</a:t>
            </a:r>
          </a:p>
          <a:p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    </a:t>
            </a:r>
            <a:r>
              <a:rPr lang="en-US" sz="12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2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29</a:t>
            </a: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  </a:t>
            </a:r>
            <a:r>
              <a:rPr lang="en-US" sz="12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else</a:t>
            </a:r>
            <a:endParaRPr lang="en-US" sz="12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    </a:t>
            </a:r>
            <a:r>
              <a:rPr lang="en-US" sz="12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2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28</a:t>
            </a: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sz="12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case</a:t>
            </a: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2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9</a:t>
            </a: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:</a:t>
            </a:r>
          </a:p>
          <a:p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sz="12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case</a:t>
            </a: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2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4</a:t>
            </a: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:</a:t>
            </a:r>
          </a:p>
          <a:p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sz="12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case</a:t>
            </a: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2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6</a:t>
            </a: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:</a:t>
            </a:r>
          </a:p>
          <a:p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sz="12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case</a:t>
            </a: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2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11</a:t>
            </a: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:</a:t>
            </a:r>
          </a:p>
          <a:p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  </a:t>
            </a:r>
            <a:r>
              <a:rPr lang="en-US" sz="12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2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30</a:t>
            </a: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sz="12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default</a:t>
            </a: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:</a:t>
            </a:r>
            <a:endParaRPr lang="en-US" sz="1200" dirty="0">
              <a:solidFill>
                <a:srgbClr val="C1651C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  </a:t>
            </a:r>
            <a:r>
              <a:rPr lang="en-US" sz="12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((month == </a:t>
            </a:r>
            <a:r>
              <a:rPr lang="en-US" sz="12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 || (month &gt; </a:t>
            </a:r>
            <a:r>
              <a:rPr lang="en-US" sz="12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12</a:t>
            </a: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)) {</a:t>
            </a:r>
          </a:p>
          <a:p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    </a:t>
            </a:r>
            <a:r>
              <a:rPr lang="en-US" sz="12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fprintf</a:t>
            </a: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2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stderr</a:t>
            </a: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-US" sz="12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"invalid month: </a:t>
            </a:r>
            <a:r>
              <a:rPr lang="en-US" sz="1200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%u</a:t>
            </a:r>
            <a:r>
              <a:rPr lang="en-US" sz="12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month);</a:t>
            </a:r>
          </a:p>
          <a:p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    </a:t>
            </a:r>
            <a:r>
              <a:rPr lang="en-US" sz="1200" dirty="0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// </a:t>
            </a:r>
            <a:r>
              <a:rPr lang="en-US" sz="1200" dirty="0" err="1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fprintf</a:t>
            </a:r>
            <a:r>
              <a:rPr lang="en-US" sz="1200" dirty="0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(stderr, ...) print to stderr</a:t>
            </a:r>
          </a:p>
          <a:p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    exit(</a:t>
            </a:r>
            <a:r>
              <a:rPr lang="en-US" sz="12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 </a:t>
            </a:r>
            <a:r>
              <a:rPr lang="en-US" sz="1200" dirty="0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/* exit program with value 1, </a:t>
            </a:r>
          </a:p>
          <a:p>
            <a:r>
              <a:rPr lang="en-US" sz="1200" dirty="0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                 nonzero value indicating an error) */</a:t>
            </a:r>
          </a:p>
          <a:p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  }</a:t>
            </a:r>
          </a:p>
          <a:p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  </a:t>
            </a:r>
            <a:r>
              <a:rPr lang="en-US" sz="12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2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31</a:t>
            </a:r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}</a:t>
            </a:r>
          </a:p>
          <a:p>
            <a:r>
              <a:rPr lang="en-US" sz="12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8676327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86F1FB-BBEB-3786-4095-CF6DF1FB6F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9F06E4-B1DE-3FE4-89BA-E928359269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 Arithmetic Operators</a:t>
            </a:r>
          </a:p>
          <a:p>
            <a:pPr lvl="1"/>
            <a:r>
              <a:rPr lang="en-US" dirty="0"/>
              <a:t>x++ vs. ++x?</a:t>
            </a:r>
          </a:p>
          <a:p>
            <a:endParaRPr lang="en-US" dirty="0"/>
          </a:p>
          <a:p>
            <a:r>
              <a:rPr lang="en-US" dirty="0">
                <a:solidFill>
                  <a:srgbClr val="0432FF"/>
                </a:solidFill>
              </a:rPr>
              <a:t>While</a:t>
            </a:r>
            <a:r>
              <a:rPr lang="en-US" dirty="0"/>
              <a:t> loops &amp; </a:t>
            </a:r>
            <a:r>
              <a:rPr lang="en-US" dirty="0">
                <a:solidFill>
                  <a:srgbClr val="0432FF"/>
                </a:solidFill>
              </a:rPr>
              <a:t>For</a:t>
            </a:r>
            <a:r>
              <a:rPr lang="en-US" dirty="0"/>
              <a:t> loops </a:t>
            </a:r>
          </a:p>
          <a:p>
            <a:pPr lvl="1"/>
            <a:r>
              <a:rPr lang="en-US" dirty="0"/>
              <a:t>How to use </a:t>
            </a:r>
            <a:r>
              <a:rPr lang="en-US" dirty="0">
                <a:solidFill>
                  <a:srgbClr val="0432FF"/>
                </a:solidFill>
              </a:rPr>
              <a:t>break</a:t>
            </a:r>
            <a:r>
              <a:rPr lang="en-US" dirty="0"/>
              <a:t> &amp; </a:t>
            </a:r>
            <a:r>
              <a:rPr lang="en-US" dirty="0">
                <a:solidFill>
                  <a:srgbClr val="0432FF"/>
                </a:solidFill>
              </a:rPr>
              <a:t>continue</a:t>
            </a:r>
            <a:r>
              <a:rPr lang="en-US" dirty="0"/>
              <a:t>?</a:t>
            </a:r>
          </a:p>
          <a:p>
            <a:endParaRPr lang="en-US" dirty="0"/>
          </a:p>
          <a:p>
            <a:r>
              <a:rPr lang="en-US" dirty="0"/>
              <a:t>How use </a:t>
            </a:r>
            <a:r>
              <a:rPr lang="en-US" dirty="0">
                <a:solidFill>
                  <a:srgbClr val="0432FF"/>
                </a:solidFill>
              </a:rPr>
              <a:t>switch</a:t>
            </a:r>
            <a:r>
              <a:rPr lang="en-US" dirty="0"/>
              <a:t> statements + break?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73C291-4C79-A962-3DE8-69FEEC54F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28386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F01E6F-AE7D-F8CC-1F2E-23F71FE4FE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DDB4D3-3968-C320-A8BD-2C52067C5B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155BB7-57EC-A692-41B1-4754328F7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61721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4F52E7-187B-EE00-EC42-7F8A001E8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C4DBD8-B057-BD53-912D-389606CB56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1D7EB3-269A-446D-82E1-33991D0F4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214179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BD8382-6D17-D12C-ADBC-C474A3410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6BC224-D347-9F8D-E3B3-0979F1A4F2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EA7FDC-8DB2-83B7-B270-35481BDFCF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900200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DC7CB3-E0EF-6218-28BE-DC82FDFF6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While Loops: Example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DDE4793-835C-3579-6F3C-E01606F4AE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110" y="1396033"/>
            <a:ext cx="5862428" cy="4264179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5" name="Right Arrow 4">
            <a:extLst>
              <a:ext uri="{FF2B5EF4-FFF2-40B4-BE49-F238E27FC236}">
                <a16:creationId xmlns:a16="http://schemas.microsoft.com/office/drawing/2014/main" id="{FCAD5BAE-3EE4-7F1A-B6E8-4189CCEAAD78}"/>
              </a:ext>
            </a:extLst>
          </p:cNvPr>
          <p:cNvSpPr/>
          <p:nvPr/>
        </p:nvSpPr>
        <p:spPr>
          <a:xfrm>
            <a:off x="6500735" y="2303451"/>
            <a:ext cx="634790" cy="875606"/>
          </a:xfrm>
          <a:prstGeom prst="rightArrow">
            <a:avLst/>
          </a:prstGeom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C5E6E06-645A-05A6-63B2-9DCEC9FEA81A}"/>
              </a:ext>
            </a:extLst>
          </p:cNvPr>
          <p:cNvSpPr txBox="1"/>
          <p:nvPr/>
        </p:nvSpPr>
        <p:spPr>
          <a:xfrm>
            <a:off x="7528464" y="3754048"/>
            <a:ext cx="35436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Factorial program using </a:t>
            </a:r>
            <a:r>
              <a:rPr lang="en-US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while</a:t>
            </a:r>
            <a:r>
              <a:rPr lang="en-US" dirty="0"/>
              <a:t> loop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D4A5AE1-FB16-CF43-CB9B-80A481E696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3522" y="1344931"/>
            <a:ext cx="4212137" cy="2055407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713E748B-5A0A-7169-7254-8A51B95C0411}"/>
              </a:ext>
            </a:extLst>
          </p:cNvPr>
          <p:cNvSpPr/>
          <p:nvPr/>
        </p:nvSpPr>
        <p:spPr>
          <a:xfrm>
            <a:off x="8032806" y="2136141"/>
            <a:ext cx="2135661" cy="826697"/>
          </a:xfrm>
          <a:prstGeom prst="rect">
            <a:avLst/>
          </a:prstGeom>
          <a:solidFill>
            <a:schemeClr val="accent6">
              <a:alpha val="37000"/>
            </a:schemeClr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251B3A3-A519-3965-6C89-87F474438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28</a:t>
            </a:fld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F728A97-BC3E-1ACD-F256-5088450E4162}"/>
              </a:ext>
            </a:extLst>
          </p:cNvPr>
          <p:cNvSpPr/>
          <p:nvPr/>
        </p:nvSpPr>
        <p:spPr>
          <a:xfrm>
            <a:off x="955702" y="2303451"/>
            <a:ext cx="3253227" cy="1004525"/>
          </a:xfrm>
          <a:prstGeom prst="rect">
            <a:avLst/>
          </a:prstGeom>
          <a:solidFill>
            <a:schemeClr val="accent6">
              <a:alpha val="37000"/>
            </a:schemeClr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513229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D63CFE-419B-8F76-8E56-A595913579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While Loops: Example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5744E6F-8C33-2562-3286-1C98CF4B8F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110" y="1396033"/>
            <a:ext cx="5862428" cy="4264179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98EC098-6451-2B43-AD68-2C8863909223}"/>
              </a:ext>
            </a:extLst>
          </p:cNvPr>
          <p:cNvSpPr txBox="1"/>
          <p:nvPr/>
        </p:nvSpPr>
        <p:spPr>
          <a:xfrm>
            <a:off x="6561992" y="5657023"/>
            <a:ext cx="5077287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result *= x</a:t>
            </a:r>
            <a:r>
              <a:rPr lang="en-US" sz="1600" dirty="0"/>
              <a:t> </a:t>
            </a:r>
            <a:r>
              <a:rPr lang="en-US" dirty="0"/>
              <a:t>is equivalent to</a:t>
            </a:r>
            <a:r>
              <a:rPr lang="en-US" sz="1600" dirty="0"/>
              <a:t> 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result = result * x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--x</a:t>
            </a:r>
            <a:r>
              <a:rPr lang="en-US" sz="1600" dirty="0"/>
              <a:t> </a:t>
            </a:r>
            <a:r>
              <a:rPr lang="en-US" dirty="0"/>
              <a:t>is equivalent to</a:t>
            </a:r>
            <a:r>
              <a:rPr lang="en-US" sz="1600" dirty="0"/>
              <a:t> 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x = x-1</a:t>
            </a:r>
          </a:p>
          <a:p>
            <a:endParaRPr lang="en-US" sz="1600" dirty="0">
              <a:cs typeface="Consolas" panose="020B0609020204030204" pitchFamily="49" charset="0"/>
            </a:endParaRPr>
          </a:p>
          <a:p>
            <a:r>
              <a:rPr lang="en-US" b="1" dirty="0">
                <a:cs typeface="Consolas" panose="020B0609020204030204" pitchFamily="49" charset="0"/>
              </a:rPr>
              <a:t>(more on this later)</a:t>
            </a:r>
            <a:endParaRPr lang="en-US" sz="1600" b="1" dirty="0">
              <a:cs typeface="Consolas" panose="020B0609020204030204" pitchFamily="49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A867EEE-528F-8437-DEE2-7CAAE721EBB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5300" b="74938"/>
          <a:stretch/>
        </p:blipFill>
        <p:spPr>
          <a:xfrm>
            <a:off x="7343522" y="2975688"/>
            <a:ext cx="4212136" cy="1631321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EDCD1AF8-AC19-974A-8EDD-2DDCDEC73290}"/>
              </a:ext>
            </a:extLst>
          </p:cNvPr>
          <p:cNvSpPr/>
          <p:nvPr/>
        </p:nvSpPr>
        <p:spPr>
          <a:xfrm>
            <a:off x="8331198" y="3557143"/>
            <a:ext cx="1193801" cy="448733"/>
          </a:xfrm>
          <a:prstGeom prst="rect">
            <a:avLst/>
          </a:prstGeom>
          <a:solidFill>
            <a:schemeClr val="accent6">
              <a:alpha val="37000"/>
            </a:schemeClr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A4E7DD1-57A3-5947-E855-A99818A6E0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29</a:t>
            </a:fld>
            <a:endParaRPr lang="en-US"/>
          </a:p>
        </p:txBody>
      </p:sp>
      <p:sp>
        <p:nvSpPr>
          <p:cNvPr id="15" name="Right Arrow 14">
            <a:extLst>
              <a:ext uri="{FF2B5EF4-FFF2-40B4-BE49-F238E27FC236}">
                <a16:creationId xmlns:a16="http://schemas.microsoft.com/office/drawing/2014/main" id="{30B61D18-64A8-97B4-9EA4-7343B8125ED5}"/>
              </a:ext>
            </a:extLst>
          </p:cNvPr>
          <p:cNvSpPr/>
          <p:nvPr/>
        </p:nvSpPr>
        <p:spPr>
          <a:xfrm>
            <a:off x="6500735" y="1604207"/>
            <a:ext cx="634790" cy="875606"/>
          </a:xfrm>
          <a:prstGeom prst="rightArrow">
            <a:avLst/>
          </a:prstGeom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DD3B1EA-5D98-0639-C022-9E2D586F1AD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20632"/>
          <a:stretch/>
        </p:blipFill>
        <p:spPr>
          <a:xfrm>
            <a:off x="7343522" y="1069773"/>
            <a:ext cx="4212137" cy="1631321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332B3507-5898-1AEA-6A3A-996984D26CAA}"/>
              </a:ext>
            </a:extLst>
          </p:cNvPr>
          <p:cNvSpPr/>
          <p:nvPr/>
        </p:nvSpPr>
        <p:spPr>
          <a:xfrm>
            <a:off x="8032806" y="1436897"/>
            <a:ext cx="2135661" cy="826697"/>
          </a:xfrm>
          <a:prstGeom prst="rect">
            <a:avLst/>
          </a:prstGeom>
          <a:solidFill>
            <a:schemeClr val="accent6">
              <a:alpha val="37000"/>
            </a:schemeClr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09330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4DA359-B262-BA10-EB93-3DAB130DC5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While Loops: Example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9FFE514-05BF-E729-7E3B-14DE7A080F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110" y="1396033"/>
            <a:ext cx="5862428" cy="4264179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6" name="Right Arrow 5">
            <a:extLst>
              <a:ext uri="{FF2B5EF4-FFF2-40B4-BE49-F238E27FC236}">
                <a16:creationId xmlns:a16="http://schemas.microsoft.com/office/drawing/2014/main" id="{99E6DDFE-7646-894C-AEAC-237B53CBB5E8}"/>
              </a:ext>
            </a:extLst>
          </p:cNvPr>
          <p:cNvSpPr/>
          <p:nvPr/>
        </p:nvSpPr>
        <p:spPr>
          <a:xfrm>
            <a:off x="6392120" y="2553394"/>
            <a:ext cx="634790" cy="875606"/>
          </a:xfrm>
          <a:prstGeom prst="rightArrow">
            <a:avLst/>
          </a:prstGeom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26FE7CD-BEA5-F7FE-5E56-FD2254301AF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77408" b="-1"/>
          <a:stretch/>
        </p:blipFill>
        <p:spPr>
          <a:xfrm>
            <a:off x="7343523" y="1961312"/>
            <a:ext cx="4212137" cy="1864997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65298D89-5114-39BC-5CB6-6B8B8C03B063}"/>
              </a:ext>
            </a:extLst>
          </p:cNvPr>
          <p:cNvSpPr/>
          <p:nvPr/>
        </p:nvSpPr>
        <p:spPr>
          <a:xfrm>
            <a:off x="8331199" y="2980267"/>
            <a:ext cx="1346201" cy="220133"/>
          </a:xfrm>
          <a:prstGeom prst="rect">
            <a:avLst/>
          </a:prstGeom>
          <a:solidFill>
            <a:schemeClr val="accent6">
              <a:alpha val="37000"/>
            </a:schemeClr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EC6E025-A78F-9455-2D63-8B1BBD504A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768824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4203A5F5-D415-8570-99AF-D5C0ABED98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43523" y="1961311"/>
            <a:ext cx="4230713" cy="1864997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788C5C7-B8C0-34E4-4A4D-96A38C6A75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While Loops: Example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E88457D-4C9D-8E12-8A6F-5F3B3D1D6B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110" y="1396033"/>
            <a:ext cx="5862428" cy="4264179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6" name="Right Arrow 5">
            <a:extLst>
              <a:ext uri="{FF2B5EF4-FFF2-40B4-BE49-F238E27FC236}">
                <a16:creationId xmlns:a16="http://schemas.microsoft.com/office/drawing/2014/main" id="{7F2CCFDA-4DBA-8939-D638-001A86140A38}"/>
              </a:ext>
            </a:extLst>
          </p:cNvPr>
          <p:cNvSpPr/>
          <p:nvPr/>
        </p:nvSpPr>
        <p:spPr>
          <a:xfrm>
            <a:off x="6392120" y="2553394"/>
            <a:ext cx="634790" cy="875606"/>
          </a:xfrm>
          <a:prstGeom prst="rightArrow">
            <a:avLst/>
          </a:prstGeom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A3AE49-9D56-CEF2-F861-B863539D181D}"/>
              </a:ext>
            </a:extLst>
          </p:cNvPr>
          <p:cNvSpPr txBox="1"/>
          <p:nvPr/>
        </p:nvSpPr>
        <p:spPr>
          <a:xfrm>
            <a:off x="6921182" y="4635425"/>
            <a:ext cx="48224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(x &gt; 1)</a:t>
            </a:r>
            <a:r>
              <a:rPr lang="en-US" sz="1600" dirty="0"/>
              <a:t> </a:t>
            </a:r>
            <a:r>
              <a:rPr lang="en-US" dirty="0"/>
              <a:t>instead of</a:t>
            </a:r>
            <a:r>
              <a:rPr lang="en-US" sz="1600" dirty="0"/>
              <a:t> 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(x &gt; 0)</a:t>
            </a:r>
            <a:r>
              <a:rPr lang="en-US" dirty="0"/>
              <a:t> saves a loop iteration</a:t>
            </a:r>
            <a:endParaRPr 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D8E658F-D67B-CEC0-0BAB-F9A957B9BD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94379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>
            <a:extLst>
              <a:ext uri="{FF2B5EF4-FFF2-40B4-BE49-F238E27FC236}">
                <a16:creationId xmlns:a16="http://schemas.microsoft.com/office/drawing/2014/main" id="{B0CBA4A2-838C-C054-09BE-1DED5DD0F59B}"/>
              </a:ext>
            </a:extLst>
          </p:cNvPr>
          <p:cNvSpPr txBox="1"/>
          <p:nvPr/>
        </p:nvSpPr>
        <p:spPr>
          <a:xfrm>
            <a:off x="5928369" y="3069845"/>
            <a:ext cx="3543662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Factorial program using </a:t>
            </a:r>
            <a:r>
              <a:rPr lang="en-US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while</a:t>
            </a:r>
            <a:r>
              <a:rPr lang="en-US" dirty="0"/>
              <a:t> loop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9002BC3-4B5E-397C-3B08-7F70EFCAFDE9}"/>
              </a:ext>
            </a:extLst>
          </p:cNvPr>
          <p:cNvSpPr txBox="1"/>
          <p:nvPr/>
        </p:nvSpPr>
        <p:spPr>
          <a:xfrm>
            <a:off x="6091783" y="4666298"/>
            <a:ext cx="5077287" cy="64633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result *= x</a:t>
            </a:r>
            <a:r>
              <a:rPr lang="en-US" sz="1600" dirty="0"/>
              <a:t> </a:t>
            </a:r>
            <a:r>
              <a:rPr lang="en-US" dirty="0"/>
              <a:t>is equivalent to</a:t>
            </a:r>
            <a:r>
              <a:rPr lang="en-US" sz="1600" dirty="0"/>
              <a:t> 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result = result * x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--x</a:t>
            </a:r>
            <a:r>
              <a:rPr lang="en-US" sz="1600" dirty="0"/>
              <a:t> </a:t>
            </a:r>
            <a:r>
              <a:rPr lang="en-US" dirty="0"/>
              <a:t>is equivalent to</a:t>
            </a:r>
            <a:r>
              <a:rPr lang="en-US" sz="1600" dirty="0"/>
              <a:t> 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x = x-1 </a:t>
            </a:r>
            <a:r>
              <a:rPr lang="en-US" b="1" dirty="0">
                <a:cs typeface="Consolas" panose="020B0609020204030204" pitchFamily="49" charset="0"/>
              </a:rPr>
              <a:t>(more on this later)</a:t>
            </a:r>
            <a:endParaRPr lang="en-US" sz="1600" b="1" dirty="0">
              <a:cs typeface="Consolas" panose="020B0609020204030204" pitchFamily="49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D63CFE-419B-8F76-8E56-A595913579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While Loops: Example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5744E6F-8C33-2562-3286-1C98CF4B8F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152" y="1251111"/>
            <a:ext cx="4883985" cy="3552485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A4E7DD1-57A3-5947-E855-A99818A6E0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32</a:t>
            </a:fld>
            <a:endParaRPr lang="en-US"/>
          </a:p>
        </p:txBody>
      </p:sp>
      <p:sp>
        <p:nvSpPr>
          <p:cNvPr id="15" name="Right Arrow 14">
            <a:extLst>
              <a:ext uri="{FF2B5EF4-FFF2-40B4-BE49-F238E27FC236}">
                <a16:creationId xmlns:a16="http://schemas.microsoft.com/office/drawing/2014/main" id="{30B61D18-64A8-97B4-9EA4-7343B8125ED5}"/>
              </a:ext>
            </a:extLst>
          </p:cNvPr>
          <p:cNvSpPr/>
          <p:nvPr/>
        </p:nvSpPr>
        <p:spPr>
          <a:xfrm>
            <a:off x="5167549" y="1850245"/>
            <a:ext cx="538329" cy="875606"/>
          </a:xfrm>
          <a:prstGeom prst="rightArrow">
            <a:avLst/>
          </a:prstGeom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281C0974-9530-7E71-FB63-2EA30D2C98E2}"/>
              </a:ext>
            </a:extLst>
          </p:cNvPr>
          <p:cNvGrpSpPr>
            <a:grpSpLocks noChangeAspect="1"/>
          </p:cNvGrpSpPr>
          <p:nvPr/>
        </p:nvGrpSpPr>
        <p:grpSpPr>
          <a:xfrm>
            <a:off x="5759666" y="1280324"/>
            <a:ext cx="3966795" cy="1536302"/>
            <a:chOff x="5763175" y="1280323"/>
            <a:chExt cx="4212137" cy="1631321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ADD3B1EA-5D98-0639-C022-9E2D586F1AD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20632"/>
            <a:stretch/>
          </p:blipFill>
          <p:spPr>
            <a:xfrm>
              <a:off x="5763175" y="1280323"/>
              <a:ext cx="4212137" cy="1631321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32B3507-5898-1AEA-6A3A-996984D26CAA}"/>
                </a:ext>
              </a:extLst>
            </p:cNvPr>
            <p:cNvSpPr/>
            <p:nvPr/>
          </p:nvSpPr>
          <p:spPr>
            <a:xfrm>
              <a:off x="6452459" y="1647447"/>
              <a:ext cx="2135661" cy="826697"/>
            </a:xfrm>
            <a:prstGeom prst="rect">
              <a:avLst/>
            </a:prstGeom>
            <a:solidFill>
              <a:schemeClr val="accent6">
                <a:alpha val="37000"/>
              </a:schemeClr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99099DB-AE70-829D-9A14-DD0D1D70FD26}"/>
              </a:ext>
            </a:extLst>
          </p:cNvPr>
          <p:cNvGrpSpPr>
            <a:grpSpLocks noChangeAspect="1"/>
          </p:cNvGrpSpPr>
          <p:nvPr/>
        </p:nvGrpSpPr>
        <p:grpSpPr>
          <a:xfrm>
            <a:off x="6448950" y="2701228"/>
            <a:ext cx="3966794" cy="1536302"/>
            <a:chOff x="5763175" y="2773122"/>
            <a:chExt cx="4212136" cy="1631321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51D34110-C371-D749-1BAF-D97901E5DFD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5300" b="74938"/>
            <a:stretch/>
          </p:blipFill>
          <p:spPr>
            <a:xfrm>
              <a:off x="5763175" y="2773122"/>
              <a:ext cx="4212136" cy="1631321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3014A21-C8D1-E5A1-8E08-72A133A6EE81}"/>
                </a:ext>
              </a:extLst>
            </p:cNvPr>
            <p:cNvSpPr/>
            <p:nvPr/>
          </p:nvSpPr>
          <p:spPr>
            <a:xfrm>
              <a:off x="6750851" y="3354577"/>
              <a:ext cx="1193801" cy="448733"/>
            </a:xfrm>
            <a:prstGeom prst="rect">
              <a:avLst/>
            </a:prstGeom>
            <a:solidFill>
              <a:schemeClr val="accent6">
                <a:alpha val="37000"/>
              </a:schemeClr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422944CF-B2EE-288F-D40D-EB41F8FEF73C}"/>
              </a:ext>
            </a:extLst>
          </p:cNvPr>
          <p:cNvGrpSpPr>
            <a:grpSpLocks noChangeAspect="1"/>
          </p:cNvGrpSpPr>
          <p:nvPr/>
        </p:nvGrpSpPr>
        <p:grpSpPr>
          <a:xfrm>
            <a:off x="7138154" y="4102454"/>
            <a:ext cx="3966795" cy="1327766"/>
            <a:chOff x="5763174" y="4000066"/>
            <a:chExt cx="4212137" cy="1409887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215EAE93-E303-2F6F-A0BD-21FA513F58C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82921" b="-1"/>
            <a:stretch/>
          </p:blipFill>
          <p:spPr>
            <a:xfrm>
              <a:off x="5763174" y="4000066"/>
              <a:ext cx="4212137" cy="1409887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2ED2018-6C54-BC43-F96D-2CF4B5A912B2}"/>
                </a:ext>
              </a:extLst>
            </p:cNvPr>
            <p:cNvSpPr/>
            <p:nvPr/>
          </p:nvSpPr>
          <p:spPr>
            <a:xfrm>
              <a:off x="6750850" y="4563911"/>
              <a:ext cx="1346201" cy="220133"/>
            </a:xfrm>
            <a:prstGeom prst="rect">
              <a:avLst/>
            </a:prstGeom>
            <a:solidFill>
              <a:schemeClr val="accent6">
                <a:alpha val="37000"/>
              </a:schemeClr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996B8BD4-A9FC-06EA-AADF-E11EA4063F08}"/>
              </a:ext>
            </a:extLst>
          </p:cNvPr>
          <p:cNvGrpSpPr>
            <a:grpSpLocks noChangeAspect="1"/>
          </p:cNvGrpSpPr>
          <p:nvPr/>
        </p:nvGrpSpPr>
        <p:grpSpPr>
          <a:xfrm>
            <a:off x="7808782" y="5311589"/>
            <a:ext cx="3984289" cy="1327766"/>
            <a:chOff x="7812291" y="5311588"/>
            <a:chExt cx="4230713" cy="1409887"/>
          </a:xfrm>
        </p:grpSpPr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237D214B-7967-40B1-FAD5-0E6517E73B7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t="24403"/>
            <a:stretch/>
          </p:blipFill>
          <p:spPr>
            <a:xfrm>
              <a:off x="7812291" y="5311588"/>
              <a:ext cx="4230713" cy="1409887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811625B3-98A7-24EA-9A42-0286E8DA25E8}"/>
                </a:ext>
              </a:extLst>
            </p:cNvPr>
            <p:cNvSpPr/>
            <p:nvPr/>
          </p:nvSpPr>
          <p:spPr>
            <a:xfrm>
              <a:off x="8456551" y="5650487"/>
              <a:ext cx="1346201" cy="220133"/>
            </a:xfrm>
            <a:prstGeom prst="rect">
              <a:avLst/>
            </a:prstGeom>
            <a:solidFill>
              <a:schemeClr val="accent6">
                <a:alpha val="37000"/>
              </a:schemeClr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ACC42227-DF26-F65B-E072-223DCFC5344C}"/>
              </a:ext>
            </a:extLst>
          </p:cNvPr>
          <p:cNvSpPr txBox="1"/>
          <p:nvPr/>
        </p:nvSpPr>
        <p:spPr>
          <a:xfrm>
            <a:off x="2913434" y="6089424"/>
            <a:ext cx="48224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(x &gt; 1)</a:t>
            </a:r>
            <a:r>
              <a:rPr lang="en-US" sz="1600" dirty="0"/>
              <a:t> </a:t>
            </a:r>
            <a:r>
              <a:rPr lang="en-US" dirty="0"/>
              <a:t>instead of</a:t>
            </a:r>
            <a:r>
              <a:rPr lang="en-US" sz="1600" dirty="0"/>
              <a:t> 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(x &gt; 0)</a:t>
            </a:r>
            <a:r>
              <a:rPr lang="en-US" dirty="0"/>
              <a:t> saves a loop iteration</a:t>
            </a:r>
            <a:endParaRPr lang="en-US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60F9CE7-B153-9D8B-3B57-5AB5D40B4DEE}"/>
              </a:ext>
            </a:extLst>
          </p:cNvPr>
          <p:cNvSpPr/>
          <p:nvPr/>
        </p:nvSpPr>
        <p:spPr>
          <a:xfrm>
            <a:off x="840879" y="1996900"/>
            <a:ext cx="2547780" cy="822960"/>
          </a:xfrm>
          <a:prstGeom prst="rect">
            <a:avLst/>
          </a:prstGeom>
          <a:solidFill>
            <a:schemeClr val="accent6">
              <a:alpha val="37000"/>
            </a:schemeClr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64040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4" grpId="1" animBg="1"/>
      <p:bldP spid="25" grpId="0" animBg="1"/>
      <p:bldP spid="25" grpId="1" animBg="1"/>
      <p:bldP spid="15" grpId="0" animBg="1"/>
      <p:bldP spid="26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24">
            <a:extLst>
              <a:ext uri="{FF2B5EF4-FFF2-40B4-BE49-F238E27FC236}">
                <a16:creationId xmlns:a16="http://schemas.microsoft.com/office/drawing/2014/main" id="{B9002BC3-4B5E-397C-3B08-7F70EFCAFDE9}"/>
              </a:ext>
            </a:extLst>
          </p:cNvPr>
          <p:cNvSpPr txBox="1"/>
          <p:nvPr/>
        </p:nvSpPr>
        <p:spPr>
          <a:xfrm>
            <a:off x="5436713" y="5440816"/>
            <a:ext cx="5077287" cy="64633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result *= x</a:t>
            </a:r>
            <a:r>
              <a:rPr lang="en-US" sz="1600" dirty="0"/>
              <a:t> </a:t>
            </a:r>
            <a:r>
              <a:rPr lang="en-US" dirty="0"/>
              <a:t>is equivalent to</a:t>
            </a:r>
            <a:r>
              <a:rPr lang="en-US" sz="1600" dirty="0"/>
              <a:t> 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result = result * x</a:t>
            </a:r>
          </a:p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--x</a:t>
            </a:r>
            <a:r>
              <a:rPr lang="en-US" sz="1600" dirty="0"/>
              <a:t> </a:t>
            </a:r>
            <a:r>
              <a:rPr lang="en-US" dirty="0"/>
              <a:t>is equivalent to</a:t>
            </a:r>
            <a:r>
              <a:rPr lang="en-US" sz="1600" dirty="0"/>
              <a:t> 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x = x-1</a:t>
            </a:r>
            <a:endParaRPr lang="en-US" sz="1600" b="1" dirty="0">
              <a:cs typeface="Consolas" panose="020B0609020204030204" pitchFamily="49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D63CFE-419B-8F76-8E56-A595913579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While Loops: Example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5744E6F-8C33-2562-3286-1C98CF4B8F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152" y="1251111"/>
            <a:ext cx="4883985" cy="3552485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A4E7DD1-57A3-5947-E855-A99818A6E0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33</a:t>
            </a:fld>
            <a:endParaRPr lang="en-US"/>
          </a:p>
        </p:txBody>
      </p:sp>
      <p:sp>
        <p:nvSpPr>
          <p:cNvPr id="15" name="Right Arrow 14">
            <a:extLst>
              <a:ext uri="{FF2B5EF4-FFF2-40B4-BE49-F238E27FC236}">
                <a16:creationId xmlns:a16="http://schemas.microsoft.com/office/drawing/2014/main" id="{30B61D18-64A8-97B4-9EA4-7343B8125ED5}"/>
              </a:ext>
            </a:extLst>
          </p:cNvPr>
          <p:cNvSpPr/>
          <p:nvPr/>
        </p:nvSpPr>
        <p:spPr>
          <a:xfrm>
            <a:off x="5167549" y="1850245"/>
            <a:ext cx="538329" cy="875606"/>
          </a:xfrm>
          <a:prstGeom prst="rightArrow">
            <a:avLst/>
          </a:prstGeom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281C0974-9530-7E71-FB63-2EA30D2C98E2}"/>
              </a:ext>
            </a:extLst>
          </p:cNvPr>
          <p:cNvGrpSpPr>
            <a:grpSpLocks noChangeAspect="1"/>
          </p:cNvGrpSpPr>
          <p:nvPr/>
        </p:nvGrpSpPr>
        <p:grpSpPr>
          <a:xfrm>
            <a:off x="5759666" y="1280324"/>
            <a:ext cx="3966795" cy="1536302"/>
            <a:chOff x="5763175" y="1280323"/>
            <a:chExt cx="4212137" cy="1631321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ADD3B1EA-5D98-0639-C022-9E2D586F1AD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20632"/>
            <a:stretch/>
          </p:blipFill>
          <p:spPr>
            <a:xfrm>
              <a:off x="5763175" y="1280323"/>
              <a:ext cx="4212137" cy="1631321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332B3507-5898-1AEA-6A3A-996984D26CAA}"/>
                </a:ext>
              </a:extLst>
            </p:cNvPr>
            <p:cNvSpPr/>
            <p:nvPr/>
          </p:nvSpPr>
          <p:spPr>
            <a:xfrm>
              <a:off x="6452459" y="1647447"/>
              <a:ext cx="2135661" cy="826697"/>
            </a:xfrm>
            <a:prstGeom prst="rect">
              <a:avLst/>
            </a:prstGeom>
            <a:solidFill>
              <a:schemeClr val="accent6">
                <a:alpha val="37000"/>
              </a:schemeClr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99099DB-AE70-829D-9A14-DD0D1D70FD26}"/>
              </a:ext>
            </a:extLst>
          </p:cNvPr>
          <p:cNvGrpSpPr>
            <a:grpSpLocks noChangeAspect="1"/>
          </p:cNvGrpSpPr>
          <p:nvPr/>
        </p:nvGrpSpPr>
        <p:grpSpPr>
          <a:xfrm>
            <a:off x="5759666" y="3740806"/>
            <a:ext cx="3966794" cy="1536302"/>
            <a:chOff x="5763175" y="2773122"/>
            <a:chExt cx="4212136" cy="1631321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51D34110-C371-D749-1BAF-D97901E5DFD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5300" b="74938"/>
            <a:stretch/>
          </p:blipFill>
          <p:spPr>
            <a:xfrm>
              <a:off x="5763175" y="2773122"/>
              <a:ext cx="4212136" cy="1631321"/>
            </a:xfrm>
            <a:prstGeom prst="rect">
              <a:avLst/>
            </a:prstGeom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3014A21-C8D1-E5A1-8E08-72A133A6EE81}"/>
                </a:ext>
              </a:extLst>
            </p:cNvPr>
            <p:cNvSpPr/>
            <p:nvPr/>
          </p:nvSpPr>
          <p:spPr>
            <a:xfrm>
              <a:off x="6750851" y="3354577"/>
              <a:ext cx="1193801" cy="448733"/>
            </a:xfrm>
            <a:prstGeom prst="rect">
              <a:avLst/>
            </a:prstGeom>
            <a:solidFill>
              <a:schemeClr val="accent6">
                <a:alpha val="37000"/>
              </a:schemeClr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7" name="Rectangle 26">
            <a:extLst>
              <a:ext uri="{FF2B5EF4-FFF2-40B4-BE49-F238E27FC236}">
                <a16:creationId xmlns:a16="http://schemas.microsoft.com/office/drawing/2014/main" id="{560F9CE7-B153-9D8B-3B57-5AB5D40B4DEE}"/>
              </a:ext>
            </a:extLst>
          </p:cNvPr>
          <p:cNvSpPr/>
          <p:nvPr/>
        </p:nvSpPr>
        <p:spPr>
          <a:xfrm>
            <a:off x="840879" y="1996900"/>
            <a:ext cx="2547780" cy="822960"/>
          </a:xfrm>
          <a:prstGeom prst="rect">
            <a:avLst/>
          </a:prstGeom>
          <a:solidFill>
            <a:schemeClr val="accent6">
              <a:alpha val="37000"/>
            </a:schemeClr>
          </a:solidFill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0CBA4A2-838C-C054-09BE-1DED5DD0F59B}"/>
              </a:ext>
            </a:extLst>
          </p:cNvPr>
          <p:cNvSpPr txBox="1"/>
          <p:nvPr/>
        </p:nvSpPr>
        <p:spPr>
          <a:xfrm>
            <a:off x="8210369" y="2983194"/>
            <a:ext cx="3543662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Factorial program using </a:t>
            </a:r>
            <a:r>
              <a:rPr lang="en-US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while</a:t>
            </a:r>
            <a:r>
              <a:rPr lang="en-US" dirty="0"/>
              <a:t> loop</a:t>
            </a:r>
          </a:p>
        </p:txBody>
      </p:sp>
      <p:sp>
        <p:nvSpPr>
          <p:cNvPr id="29" name="Right Arrow 28">
            <a:extLst>
              <a:ext uri="{FF2B5EF4-FFF2-40B4-BE49-F238E27FC236}">
                <a16:creationId xmlns:a16="http://schemas.microsoft.com/office/drawing/2014/main" id="{71BAE509-6EDE-3752-ADF7-F7BA611C1C55}"/>
              </a:ext>
            </a:extLst>
          </p:cNvPr>
          <p:cNvSpPr/>
          <p:nvPr/>
        </p:nvSpPr>
        <p:spPr>
          <a:xfrm rot="5400000">
            <a:off x="7420585" y="2890986"/>
            <a:ext cx="538329" cy="875606"/>
          </a:xfrm>
          <a:prstGeom prst="rightArrow">
            <a:avLst/>
          </a:prstGeom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CE21F910-2772-B8E2-C5B6-8A19AFB7B221}"/>
              </a:ext>
            </a:extLst>
          </p:cNvPr>
          <p:cNvGrpSpPr/>
          <p:nvPr/>
        </p:nvGrpSpPr>
        <p:grpSpPr>
          <a:xfrm>
            <a:off x="7552255" y="1804222"/>
            <a:ext cx="867813" cy="2720070"/>
            <a:chOff x="7552255" y="1804222"/>
            <a:chExt cx="867813" cy="2720070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AE431B4B-6FAA-F803-0CD6-FD680F192193}"/>
                </a:ext>
              </a:extLst>
            </p:cNvPr>
            <p:cNvSpPr/>
            <p:nvPr/>
          </p:nvSpPr>
          <p:spPr>
            <a:xfrm>
              <a:off x="8163518" y="1804222"/>
              <a:ext cx="256550" cy="255242"/>
            </a:xfrm>
            <a:prstGeom prst="rect">
              <a:avLst/>
            </a:prstGeom>
            <a:noFill/>
            <a:ln w="57150">
              <a:solidFill>
                <a:schemeClr val="bg1">
                  <a:alpha val="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2C49AA9D-5105-6933-88F8-CF0ED84F67D7}"/>
                </a:ext>
              </a:extLst>
            </p:cNvPr>
            <p:cNvSpPr/>
            <p:nvPr/>
          </p:nvSpPr>
          <p:spPr>
            <a:xfrm>
              <a:off x="7552255" y="4269050"/>
              <a:ext cx="256550" cy="255242"/>
            </a:xfrm>
            <a:prstGeom prst="rect">
              <a:avLst/>
            </a:prstGeom>
            <a:noFill/>
            <a:ln w="57150">
              <a:solidFill>
                <a:schemeClr val="bg1">
                  <a:alpha val="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3" name="Curved Connector 32">
              <a:extLst>
                <a:ext uri="{FF2B5EF4-FFF2-40B4-BE49-F238E27FC236}">
                  <a16:creationId xmlns:a16="http://schemas.microsoft.com/office/drawing/2014/main" id="{D7FB9791-ADCB-A6F2-A891-45A34AD5DFBF}"/>
                </a:ext>
              </a:extLst>
            </p:cNvPr>
            <p:cNvCxnSpPr>
              <a:cxnSpLocks/>
              <a:stCxn id="30" idx="3"/>
              <a:endCxn id="31" idx="3"/>
            </p:cNvCxnSpPr>
            <p:nvPr/>
          </p:nvCxnSpPr>
          <p:spPr>
            <a:xfrm flipH="1">
              <a:off x="7808805" y="1931843"/>
              <a:ext cx="611263" cy="2464828"/>
            </a:xfrm>
            <a:prstGeom prst="curvedConnector3">
              <a:avLst>
                <a:gd name="adj1" fmla="val -37398"/>
              </a:avLst>
            </a:prstGeom>
            <a:ln w="12700">
              <a:solidFill>
                <a:srgbClr val="C00000"/>
              </a:solidFill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4DE87028-20C0-BACC-37BE-856D704FAB17}"/>
              </a:ext>
            </a:extLst>
          </p:cNvPr>
          <p:cNvGrpSpPr/>
          <p:nvPr/>
        </p:nvGrpSpPr>
        <p:grpSpPr>
          <a:xfrm>
            <a:off x="6891726" y="2015336"/>
            <a:ext cx="711310" cy="2702633"/>
            <a:chOff x="7708758" y="1804222"/>
            <a:chExt cx="711310" cy="2702633"/>
          </a:xfrm>
        </p:grpSpPr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ADF9924E-635C-FD40-0812-EBD8310AE152}"/>
                </a:ext>
              </a:extLst>
            </p:cNvPr>
            <p:cNvSpPr/>
            <p:nvPr/>
          </p:nvSpPr>
          <p:spPr>
            <a:xfrm>
              <a:off x="8163518" y="1804222"/>
              <a:ext cx="256550" cy="255242"/>
            </a:xfrm>
            <a:prstGeom prst="rect">
              <a:avLst/>
            </a:prstGeom>
            <a:noFill/>
            <a:ln w="57150">
              <a:solidFill>
                <a:schemeClr val="bg1">
                  <a:alpha val="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C83E4F1C-D0DF-BE80-C380-98433D30F3B2}"/>
                </a:ext>
              </a:extLst>
            </p:cNvPr>
            <p:cNvSpPr/>
            <p:nvPr/>
          </p:nvSpPr>
          <p:spPr>
            <a:xfrm>
              <a:off x="7708758" y="4251613"/>
              <a:ext cx="256550" cy="255242"/>
            </a:xfrm>
            <a:prstGeom prst="rect">
              <a:avLst/>
            </a:prstGeom>
            <a:noFill/>
            <a:ln w="57150">
              <a:solidFill>
                <a:schemeClr val="bg1">
                  <a:alpha val="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5" name="Curved Connector 54">
              <a:extLst>
                <a:ext uri="{FF2B5EF4-FFF2-40B4-BE49-F238E27FC236}">
                  <a16:creationId xmlns:a16="http://schemas.microsoft.com/office/drawing/2014/main" id="{8C7206AA-A392-CA7A-91B4-5DCF52C837DD}"/>
                </a:ext>
              </a:extLst>
            </p:cNvPr>
            <p:cNvCxnSpPr>
              <a:cxnSpLocks/>
              <a:stCxn id="53" idx="3"/>
              <a:endCxn id="54" idx="3"/>
            </p:cNvCxnSpPr>
            <p:nvPr/>
          </p:nvCxnSpPr>
          <p:spPr>
            <a:xfrm flipH="1">
              <a:off x="7965308" y="1931843"/>
              <a:ext cx="454760" cy="2447391"/>
            </a:xfrm>
            <a:prstGeom prst="curvedConnector3">
              <a:avLst>
                <a:gd name="adj1" fmla="val -50268"/>
              </a:avLst>
            </a:prstGeom>
            <a:ln w="12700">
              <a:solidFill>
                <a:srgbClr val="C00000"/>
              </a:solidFill>
              <a:tailEnd type="arrow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27414816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E1299B-038D-E351-8433-0EBAFCFD24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break</a:t>
            </a:r>
            <a:r>
              <a:rPr lang="en-US" dirty="0"/>
              <a:t> and </a:t>
            </a:r>
            <a:r>
              <a:rPr lang="en-US" dirty="0">
                <a:solidFill>
                  <a:srgbClr val="0432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continue</a:t>
            </a:r>
            <a:r>
              <a:rPr lang="en-US" dirty="0"/>
              <a:t> in loops: Example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2B23FB5-6A0A-D943-7FD2-CD7EC7E456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412875"/>
            <a:ext cx="6847884" cy="4835525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D5EEB58-7A1A-DCE7-A684-DA18B63721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576587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8C275-455A-E460-9A83-9808C04950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getchar</a:t>
            </a:r>
            <a:r>
              <a:rPr lang="en-US" dirty="0"/>
              <a:t> and </a:t>
            </a:r>
            <a:r>
              <a:rPr lang="en-US" sz="3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putchar</a:t>
            </a:r>
            <a:endParaRPr lang="en-US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12EC75-4608-F027-35C1-EAA323F88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35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B2738DA-C707-CE81-4F84-AD04AA534339}"/>
              </a:ext>
            </a:extLst>
          </p:cNvPr>
          <p:cNvSpPr txBox="1"/>
          <p:nvPr/>
        </p:nvSpPr>
        <p:spPr>
          <a:xfrm>
            <a:off x="502397" y="2366886"/>
            <a:ext cx="4003040" cy="286232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 1 </a:t>
            </a:r>
            <a:r>
              <a:rPr lang="en-US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#include 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US" dirty="0" err="1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stdio.h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&gt;</a:t>
            </a:r>
            <a:endParaRPr lang="en-US" dirty="0">
              <a:solidFill>
                <a:srgbClr val="C814C9"/>
              </a:solidFill>
              <a:effectLst/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 2 </a:t>
            </a:r>
          </a:p>
          <a:p>
            <a:r>
              <a:rPr lang="en-US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 3 </a:t>
            </a:r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main() {</a:t>
            </a:r>
          </a:p>
          <a:p>
            <a:r>
              <a:rPr lang="en-US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 4 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char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a;</a:t>
            </a:r>
          </a:p>
          <a:p>
            <a:r>
              <a:rPr lang="en-US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 5 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do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{</a:t>
            </a:r>
            <a:endParaRPr lang="en-US" dirty="0">
              <a:solidFill>
                <a:srgbClr val="C1651C"/>
              </a:solidFill>
              <a:effectLst/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 6 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a =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getchar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();</a:t>
            </a:r>
          </a:p>
          <a:p>
            <a:r>
              <a:rPr lang="en-US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 7 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putchar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(a);</a:t>
            </a:r>
          </a:p>
          <a:p>
            <a:r>
              <a:rPr lang="en-US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 8 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}</a:t>
            </a:r>
          </a:p>
          <a:p>
            <a:r>
              <a:rPr lang="en-US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 9 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  <a:endParaRPr lang="en-US" dirty="0">
              <a:solidFill>
                <a:srgbClr val="C1651C"/>
              </a:solidFill>
              <a:effectLst/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10 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  <a:endParaRPr lang="en-US" dirty="0">
              <a:solidFill>
                <a:srgbClr val="C1651C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E64CBEE-5A2E-F3AA-F747-823F5D7FAA33}"/>
              </a:ext>
            </a:extLst>
          </p:cNvPr>
          <p:cNvSpPr txBox="1"/>
          <p:nvPr/>
        </p:nvSpPr>
        <p:spPr>
          <a:xfrm>
            <a:off x="4686453" y="2970007"/>
            <a:ext cx="669741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getchar</a:t>
            </a:r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()</a:t>
            </a:r>
            <a:r>
              <a:rPr lang="en-US" sz="2000" dirty="0"/>
              <a:t> reads one char from standard input stream (stdin)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BE8874-9CBF-7371-4FA3-06E0599D189E}"/>
              </a:ext>
            </a:extLst>
          </p:cNvPr>
          <p:cNvSpPr txBox="1"/>
          <p:nvPr/>
        </p:nvSpPr>
        <p:spPr>
          <a:xfrm>
            <a:off x="1035424" y="1358153"/>
            <a:ext cx="69143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alibri" panose="020F0502020204030204" pitchFamily="34" charset="0"/>
                <a:ea typeface="Menlo" panose="020B0609030804020204" pitchFamily="49" charset="0"/>
                <a:cs typeface="Calibri" panose="020F0502020204030204" pitchFamily="34" charset="0"/>
              </a:rPr>
              <a:t>Reading and printing a single char from command line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F465A1B-20E3-C51D-AFC0-FC37BBD27A33}"/>
              </a:ext>
            </a:extLst>
          </p:cNvPr>
          <p:cNvSpPr txBox="1"/>
          <p:nvPr/>
        </p:nvSpPr>
        <p:spPr>
          <a:xfrm>
            <a:off x="4686453" y="4542273"/>
            <a:ext cx="69052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putchar</a:t>
            </a:r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(a)</a:t>
            </a:r>
            <a:r>
              <a:rPr lang="en-US" sz="2000" dirty="0"/>
              <a:t> prints one char to standard output stream (</a:t>
            </a:r>
            <a:r>
              <a:rPr lang="en-US" sz="2000" dirty="0" err="1"/>
              <a:t>stdout</a:t>
            </a:r>
            <a:r>
              <a:rPr lang="en-US" sz="2000" dirty="0"/>
              <a:t>)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8CAED88-CFE9-DED9-0B2E-8E00A6B9D61B}"/>
              </a:ext>
            </a:extLst>
          </p:cNvPr>
          <p:cNvCxnSpPr>
            <a:stCxn id="7" idx="1"/>
          </p:cNvCxnSpPr>
          <p:nvPr/>
        </p:nvCxnSpPr>
        <p:spPr>
          <a:xfrm flipH="1">
            <a:off x="3469341" y="3170062"/>
            <a:ext cx="1217112" cy="627985"/>
          </a:xfrm>
          <a:prstGeom prst="straightConnector1">
            <a:avLst/>
          </a:prstGeom>
          <a:ln w="19050">
            <a:solidFill>
              <a:srgbClr val="C00000"/>
            </a:solidFill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3718EDE-62B3-B90C-8E5E-9AA8266B98BD}"/>
              </a:ext>
            </a:extLst>
          </p:cNvPr>
          <p:cNvCxnSpPr>
            <a:cxnSpLocks/>
            <a:stCxn id="9" idx="1"/>
          </p:cNvCxnSpPr>
          <p:nvPr/>
        </p:nvCxnSpPr>
        <p:spPr>
          <a:xfrm flipH="1" flipV="1">
            <a:off x="3254188" y="4199635"/>
            <a:ext cx="1432265" cy="542693"/>
          </a:xfrm>
          <a:prstGeom prst="straightConnector1">
            <a:avLst/>
          </a:prstGeom>
          <a:ln w="19050">
            <a:solidFill>
              <a:srgbClr val="C00000"/>
            </a:solidFill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540716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8C275-455A-E460-9A83-9808C04950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getchar</a:t>
            </a:r>
            <a:r>
              <a:rPr lang="en-US" dirty="0"/>
              <a:t> and </a:t>
            </a:r>
            <a:r>
              <a:rPr lang="en-US" sz="3600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putchar</a:t>
            </a:r>
            <a:endParaRPr lang="en-US" dirty="0">
              <a:latin typeface="Menlo" panose="020B0609030804020204" pitchFamily="49" charset="0"/>
              <a:ea typeface="Menlo" panose="020B0609030804020204" pitchFamily="49" charset="0"/>
              <a:cs typeface="Menlo" panose="020B06090308040202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12EC75-4608-F027-35C1-EAA323F88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36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B2738DA-C707-CE81-4F84-AD04AA534339}"/>
              </a:ext>
            </a:extLst>
          </p:cNvPr>
          <p:cNvSpPr txBox="1"/>
          <p:nvPr/>
        </p:nvSpPr>
        <p:spPr>
          <a:xfrm>
            <a:off x="502397" y="2366886"/>
            <a:ext cx="4003040" cy="286232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 1 </a:t>
            </a:r>
            <a:r>
              <a:rPr lang="en-US" dirty="0">
                <a:solidFill>
                  <a:srgbClr val="C814C9"/>
                </a:solidFill>
                <a:effectLst/>
                <a:latin typeface="Menlo" panose="020B0609030804020204" pitchFamily="49" charset="0"/>
              </a:rPr>
              <a:t>#include 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US" dirty="0" err="1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stdio.h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&gt;</a:t>
            </a:r>
            <a:endParaRPr lang="en-US" dirty="0">
              <a:solidFill>
                <a:srgbClr val="C814C9"/>
              </a:solidFill>
              <a:effectLst/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 2 </a:t>
            </a:r>
          </a:p>
          <a:p>
            <a:r>
              <a:rPr lang="en-US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 3 </a:t>
            </a:r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main() {</a:t>
            </a:r>
          </a:p>
          <a:p>
            <a:r>
              <a:rPr lang="en-US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 4 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char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a;</a:t>
            </a:r>
          </a:p>
          <a:p>
            <a:r>
              <a:rPr lang="en-US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 5 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while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 {</a:t>
            </a:r>
            <a:endParaRPr lang="en-US" dirty="0">
              <a:solidFill>
                <a:srgbClr val="C1651C"/>
              </a:solidFill>
              <a:effectLst/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 6 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a =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getchar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();</a:t>
            </a:r>
          </a:p>
          <a:p>
            <a:r>
              <a:rPr lang="en-US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 7 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putchar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(a);</a:t>
            </a:r>
          </a:p>
          <a:p>
            <a:r>
              <a:rPr lang="en-US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 8 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} </a:t>
            </a:r>
          </a:p>
          <a:p>
            <a:r>
              <a:rPr lang="en-US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 9 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  <a:endParaRPr lang="en-US" dirty="0">
              <a:solidFill>
                <a:srgbClr val="C1651C"/>
              </a:solidFill>
              <a:effectLst/>
              <a:latin typeface="Menlo" panose="020B0609030804020204" pitchFamily="49" charset="0"/>
            </a:endParaRPr>
          </a:p>
          <a:p>
            <a:r>
              <a:rPr lang="en-US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 10 </a:t>
            </a:r>
            <a:r>
              <a:rPr lang="en-US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  <a:endParaRPr lang="en-US" dirty="0">
              <a:solidFill>
                <a:srgbClr val="C1651C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E64CBEE-5A2E-F3AA-F747-823F5D7FAA33}"/>
              </a:ext>
            </a:extLst>
          </p:cNvPr>
          <p:cNvSpPr txBox="1"/>
          <p:nvPr/>
        </p:nvSpPr>
        <p:spPr>
          <a:xfrm>
            <a:off x="4686453" y="2970007"/>
            <a:ext cx="669741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getchar</a:t>
            </a:r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()</a:t>
            </a:r>
            <a:r>
              <a:rPr lang="en-US" sz="2000" dirty="0"/>
              <a:t> reads one char from standard input stream (stdin)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9BE8874-9CBF-7371-4FA3-06E0599D189E}"/>
              </a:ext>
            </a:extLst>
          </p:cNvPr>
          <p:cNvSpPr txBox="1"/>
          <p:nvPr/>
        </p:nvSpPr>
        <p:spPr>
          <a:xfrm>
            <a:off x="1035424" y="1358153"/>
            <a:ext cx="69143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Calibri" panose="020F0502020204030204" pitchFamily="34" charset="0"/>
                <a:ea typeface="Menlo" panose="020B0609030804020204" pitchFamily="49" charset="0"/>
                <a:cs typeface="Calibri" panose="020F0502020204030204" pitchFamily="34" charset="0"/>
              </a:rPr>
              <a:t>Reading and printing a single char from command line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F465A1B-20E3-C51D-AFC0-FC37BBD27A33}"/>
              </a:ext>
            </a:extLst>
          </p:cNvPr>
          <p:cNvSpPr txBox="1"/>
          <p:nvPr/>
        </p:nvSpPr>
        <p:spPr>
          <a:xfrm>
            <a:off x="4686453" y="4542273"/>
            <a:ext cx="69052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putchar</a:t>
            </a:r>
            <a:r>
              <a:rPr lang="en-US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(a)</a:t>
            </a:r>
            <a:r>
              <a:rPr lang="en-US" sz="2000" dirty="0"/>
              <a:t> prints one char to standard output stream (</a:t>
            </a:r>
            <a:r>
              <a:rPr lang="en-US" sz="2000" dirty="0" err="1"/>
              <a:t>stdout</a:t>
            </a:r>
            <a:r>
              <a:rPr lang="en-US" sz="2000" dirty="0"/>
              <a:t>)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8CAED88-CFE9-DED9-0B2E-8E00A6B9D61B}"/>
              </a:ext>
            </a:extLst>
          </p:cNvPr>
          <p:cNvCxnSpPr>
            <a:stCxn id="7" idx="1"/>
          </p:cNvCxnSpPr>
          <p:nvPr/>
        </p:nvCxnSpPr>
        <p:spPr>
          <a:xfrm flipH="1">
            <a:off x="3469341" y="3170062"/>
            <a:ext cx="1217112" cy="627985"/>
          </a:xfrm>
          <a:prstGeom prst="straightConnector1">
            <a:avLst/>
          </a:prstGeom>
          <a:ln w="19050">
            <a:solidFill>
              <a:srgbClr val="C00000"/>
            </a:solidFill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3718EDE-62B3-B90C-8E5E-9AA8266B98BD}"/>
              </a:ext>
            </a:extLst>
          </p:cNvPr>
          <p:cNvCxnSpPr>
            <a:cxnSpLocks/>
            <a:stCxn id="9" idx="1"/>
          </p:cNvCxnSpPr>
          <p:nvPr/>
        </p:nvCxnSpPr>
        <p:spPr>
          <a:xfrm flipH="1" flipV="1">
            <a:off x="3254188" y="4199635"/>
            <a:ext cx="1432265" cy="542693"/>
          </a:xfrm>
          <a:prstGeom prst="straightConnector1">
            <a:avLst/>
          </a:prstGeom>
          <a:ln w="19050">
            <a:solidFill>
              <a:srgbClr val="C00000"/>
            </a:solidFill>
            <a:tailEnd type="arrow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006779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962044-2A71-463A-340F-17008765E5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Finding </a:t>
            </a:r>
            <a:r>
              <a:rPr lang="en-US" dirty="0" err="1"/>
              <a:t>m^th</a:t>
            </a:r>
            <a:r>
              <a:rPr lang="en-US" dirty="0"/>
              <a:t> prime number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CD92D5-291F-9DA2-FBAC-F7130FD8E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37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19F3CDD-37F0-FA71-D69B-35F655E24B04}"/>
              </a:ext>
            </a:extLst>
          </p:cNvPr>
          <p:cNvSpPr txBox="1"/>
          <p:nvPr/>
        </p:nvSpPr>
        <p:spPr>
          <a:xfrm>
            <a:off x="1223209" y="1782395"/>
            <a:ext cx="5851359" cy="378565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// returns the </a:t>
            </a:r>
            <a:r>
              <a:rPr lang="en-US" sz="1600" dirty="0" err="1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m^th</a:t>
            </a:r>
            <a:r>
              <a:rPr lang="en-US" sz="1600" dirty="0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 prime number</a:t>
            </a:r>
          </a:p>
          <a:p>
            <a:endParaRPr lang="en-US" sz="1600" dirty="0">
              <a:solidFill>
                <a:srgbClr val="2FB41D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find_prime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m) 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count =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n =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while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++n;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(!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is_prime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(n)) {</a:t>
            </a:r>
            <a:r>
              <a:rPr lang="en-US" sz="1600" dirty="0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// ! means "not true"</a:t>
            </a:r>
            <a:endParaRPr lang="en-US" sz="16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continue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  <a:endParaRPr lang="en-US" sz="1600" dirty="0">
              <a:solidFill>
                <a:srgbClr val="C1651C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}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(++count == m) 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break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}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}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n;</a:t>
            </a:r>
            <a:endParaRPr lang="en-US" sz="1600" dirty="0">
              <a:solidFill>
                <a:srgbClr val="C1651C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919E1EA-0ADE-5722-ECAD-4B0DFE451050}"/>
              </a:ext>
            </a:extLst>
          </p:cNvPr>
          <p:cNvSpPr txBox="1"/>
          <p:nvPr/>
        </p:nvSpPr>
        <p:spPr>
          <a:xfrm>
            <a:off x="7395411" y="2021305"/>
            <a:ext cx="439299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Input: 5</a:t>
            </a:r>
          </a:p>
          <a:p>
            <a:r>
              <a:rPr lang="en-US" sz="2400" dirty="0"/>
              <a:t>Output: 13 (same correct answer)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D13453C-AEC2-39CB-1A27-8F4961E8A349}"/>
              </a:ext>
            </a:extLst>
          </p:cNvPr>
          <p:cNvSpPr/>
          <p:nvPr/>
        </p:nvSpPr>
        <p:spPr>
          <a:xfrm>
            <a:off x="1427747" y="2756049"/>
            <a:ext cx="1379621" cy="324035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382E2E7-857E-D788-E2BE-5B53507F8691}"/>
              </a:ext>
            </a:extLst>
          </p:cNvPr>
          <p:cNvSpPr txBox="1"/>
          <p:nvPr/>
        </p:nvSpPr>
        <p:spPr>
          <a:xfrm>
            <a:off x="4331368" y="2436803"/>
            <a:ext cx="2598822" cy="707886"/>
          </a:xfrm>
          <a:prstGeom prst="wedgeRectCallout">
            <a:avLst>
              <a:gd name="adj1" fmla="val -99892"/>
              <a:gd name="adj2" fmla="val 23880"/>
            </a:avLst>
          </a:prstGeom>
          <a:solidFill>
            <a:srgbClr val="F5D1CF"/>
          </a:solidFill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/>
              <a:t>What if we change </a:t>
            </a:r>
            <a:r>
              <a:rPr lang="en-US" sz="2000" b="1" dirty="0"/>
              <a:t>do</a:t>
            </a:r>
            <a:r>
              <a:rPr lang="en-US" sz="2000" b="1" dirty="0">
                <a:latin typeface="Calibri" panose="020F0502020204030204" pitchFamily="34" charset="0"/>
                <a:ea typeface="Menlo" panose="020B0609030804020204" pitchFamily="49" charset="0"/>
                <a:cs typeface="Calibri" panose="020F0502020204030204" pitchFamily="34" charset="0"/>
              </a:rPr>
              <a:t> </a:t>
            </a:r>
            <a:r>
              <a:rPr lang="en-US" sz="2000" dirty="0">
                <a:latin typeface="Calibri" panose="020F0502020204030204" pitchFamily="34" charset="0"/>
                <a:ea typeface="Menlo" panose="020B0609030804020204" pitchFamily="49" charset="0"/>
                <a:cs typeface="Calibri" panose="020F0502020204030204" pitchFamily="34" charset="0"/>
              </a:rPr>
              <a:t>loop </a:t>
            </a:r>
            <a:r>
              <a:rPr lang="en-US" sz="2000" dirty="0"/>
              <a:t>to </a:t>
            </a:r>
            <a:r>
              <a:rPr lang="en-US" sz="2000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while</a:t>
            </a:r>
            <a:r>
              <a:rPr lang="en-US" sz="2000" dirty="0"/>
              <a:t> loop?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5615964-22C6-54FE-78EB-D799558B899C}"/>
              </a:ext>
            </a:extLst>
          </p:cNvPr>
          <p:cNvSpPr txBox="1"/>
          <p:nvPr/>
        </p:nvSpPr>
        <p:spPr>
          <a:xfrm>
            <a:off x="7395410" y="3388138"/>
            <a:ext cx="395838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Why?</a:t>
            </a:r>
          </a:p>
          <a:p>
            <a:r>
              <a:rPr lang="en-US" sz="2400" dirty="0">
                <a:latin typeface="Calibri" panose="020F0502020204030204" pitchFamily="34" charset="0"/>
                <a:ea typeface="Menlo" panose="020B0609030804020204" pitchFamily="49" charset="0"/>
                <a:cs typeface="Calibri" panose="020F0502020204030204" pitchFamily="34" charset="0"/>
              </a:rPr>
              <a:t>do loop and while loop have the same behavior</a:t>
            </a:r>
          </a:p>
        </p:txBody>
      </p:sp>
    </p:spTree>
    <p:extLst>
      <p:ext uri="{BB962C8B-B14F-4D97-AF65-F5344CB8AC3E}">
        <p14:creationId xmlns:p14="http://schemas.microsoft.com/office/powerpoint/2010/main" val="166519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962044-2A71-463A-340F-17008765E5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Finding </a:t>
            </a:r>
            <a:r>
              <a:rPr lang="en-US" dirty="0" err="1"/>
              <a:t>m^th</a:t>
            </a:r>
            <a:r>
              <a:rPr lang="en-US" dirty="0"/>
              <a:t> prime number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CD92D5-291F-9DA2-FBAC-F7130FD8E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38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19F3CDD-37F0-FA71-D69B-35F655E24B04}"/>
              </a:ext>
            </a:extLst>
          </p:cNvPr>
          <p:cNvSpPr txBox="1"/>
          <p:nvPr/>
        </p:nvSpPr>
        <p:spPr>
          <a:xfrm>
            <a:off x="1223209" y="1782395"/>
            <a:ext cx="5851359" cy="378565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// returns the </a:t>
            </a:r>
            <a:r>
              <a:rPr lang="en-US" sz="1600" dirty="0" err="1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m^th</a:t>
            </a:r>
            <a:r>
              <a:rPr lang="en-US" sz="1600" dirty="0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 prime number</a:t>
            </a:r>
          </a:p>
          <a:p>
            <a:endParaRPr lang="en-US" sz="1600" dirty="0">
              <a:solidFill>
                <a:srgbClr val="2FB41D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find_prime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m) 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count =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n =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do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++n;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(!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is_prime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(n)) {</a:t>
            </a:r>
            <a:r>
              <a:rPr lang="en-US" sz="1600" dirty="0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// ! means "not true"</a:t>
            </a:r>
            <a:endParaRPr lang="en-US" sz="16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break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  <a:endParaRPr lang="en-US" sz="1600" dirty="0">
              <a:solidFill>
                <a:srgbClr val="C1651C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}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(++count == m) 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break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}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}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while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n;</a:t>
            </a:r>
            <a:endParaRPr lang="en-US" sz="1600" dirty="0">
              <a:solidFill>
                <a:srgbClr val="C1651C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919E1EA-0ADE-5722-ECAD-4B0DFE451050}"/>
              </a:ext>
            </a:extLst>
          </p:cNvPr>
          <p:cNvSpPr txBox="1"/>
          <p:nvPr/>
        </p:nvSpPr>
        <p:spPr>
          <a:xfrm>
            <a:off x="7597171" y="1968281"/>
            <a:ext cx="403110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Input: 5</a:t>
            </a:r>
          </a:p>
          <a:p>
            <a:r>
              <a:rPr lang="en-US" sz="2400" dirty="0"/>
              <a:t>Output: 6 </a:t>
            </a:r>
          </a:p>
          <a:p>
            <a:r>
              <a:rPr lang="en-US" sz="2400" dirty="0"/>
              <a:t>(try to answer it as a practice!)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D13453C-AEC2-39CB-1A27-8F4961E8A349}"/>
              </a:ext>
            </a:extLst>
          </p:cNvPr>
          <p:cNvSpPr/>
          <p:nvPr/>
        </p:nvSpPr>
        <p:spPr>
          <a:xfrm>
            <a:off x="1965593" y="3554753"/>
            <a:ext cx="1226786" cy="263267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382E2E7-857E-D788-E2BE-5B53507F8691}"/>
              </a:ext>
            </a:extLst>
          </p:cNvPr>
          <p:cNvSpPr txBox="1"/>
          <p:nvPr/>
        </p:nvSpPr>
        <p:spPr>
          <a:xfrm>
            <a:off x="4271600" y="4234524"/>
            <a:ext cx="2963389" cy="707886"/>
          </a:xfrm>
          <a:prstGeom prst="wedgeRectCallout">
            <a:avLst>
              <a:gd name="adj1" fmla="val -82370"/>
              <a:gd name="adj2" fmla="val -125689"/>
            </a:avLst>
          </a:prstGeom>
          <a:solidFill>
            <a:srgbClr val="F5D1CF"/>
          </a:solidFill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/>
              <a:t>What if we change </a:t>
            </a:r>
            <a:r>
              <a:rPr lang="en-US" sz="2000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continue</a:t>
            </a:r>
            <a:r>
              <a:rPr lang="en-US" sz="2000" b="1" dirty="0">
                <a:latin typeface="Calibri" panose="020F0502020204030204" pitchFamily="34" charset="0"/>
                <a:ea typeface="Menlo" panose="020B0609030804020204" pitchFamily="49" charset="0"/>
                <a:cs typeface="Calibri" panose="020F0502020204030204" pitchFamily="34" charset="0"/>
              </a:rPr>
              <a:t> </a:t>
            </a:r>
            <a:r>
              <a:rPr lang="en-US" sz="2000" dirty="0"/>
              <a:t>to </a:t>
            </a:r>
            <a:r>
              <a:rPr lang="en-US" sz="2000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break</a:t>
            </a:r>
            <a:r>
              <a:rPr lang="en-US" sz="20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29665616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962044-2A71-463A-340F-17008765E5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Finding </a:t>
            </a:r>
            <a:r>
              <a:rPr lang="en-US" dirty="0" err="1"/>
              <a:t>m^th</a:t>
            </a:r>
            <a:r>
              <a:rPr lang="en-US" dirty="0"/>
              <a:t> prime number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CD92D5-291F-9DA2-FBAC-F7130FD8E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39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19F3CDD-37F0-FA71-D69B-35F655E24B04}"/>
              </a:ext>
            </a:extLst>
          </p:cNvPr>
          <p:cNvSpPr txBox="1"/>
          <p:nvPr/>
        </p:nvSpPr>
        <p:spPr>
          <a:xfrm>
            <a:off x="1223209" y="1782395"/>
            <a:ext cx="5851359" cy="378565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// returns the </a:t>
            </a:r>
            <a:r>
              <a:rPr lang="en-US" sz="1600" dirty="0" err="1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m^th</a:t>
            </a:r>
            <a:r>
              <a:rPr lang="en-US" sz="1600" dirty="0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 prime number</a:t>
            </a:r>
          </a:p>
          <a:p>
            <a:endParaRPr lang="en-US" sz="1600" dirty="0">
              <a:solidFill>
                <a:srgbClr val="2FB41D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find_prime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m) 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count =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n =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do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++n;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(!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is_prime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(n)) {</a:t>
            </a:r>
            <a:r>
              <a:rPr lang="en-US" sz="1600" dirty="0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// ! means "not true"</a:t>
            </a:r>
            <a:endParaRPr lang="en-US" sz="16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continue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  <a:endParaRPr lang="en-US" sz="1600" dirty="0">
              <a:solidFill>
                <a:srgbClr val="C1651C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}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(++count == m) 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continue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}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}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while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n;</a:t>
            </a:r>
            <a:endParaRPr lang="en-US" sz="1600" dirty="0">
              <a:solidFill>
                <a:srgbClr val="C1651C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919E1EA-0ADE-5722-ECAD-4B0DFE451050}"/>
              </a:ext>
            </a:extLst>
          </p:cNvPr>
          <p:cNvSpPr txBox="1"/>
          <p:nvPr/>
        </p:nvSpPr>
        <p:spPr>
          <a:xfrm>
            <a:off x="7597171" y="1968281"/>
            <a:ext cx="403110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Input: 5</a:t>
            </a:r>
          </a:p>
          <a:p>
            <a:r>
              <a:rPr lang="en-US" sz="2400" dirty="0"/>
              <a:t>Output: stuck in infinite loop</a:t>
            </a:r>
          </a:p>
          <a:p>
            <a:r>
              <a:rPr lang="en-US" sz="2400" dirty="0"/>
              <a:t>(try to answer it as a practice!)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D13453C-AEC2-39CB-1A27-8F4961E8A349}"/>
              </a:ext>
            </a:extLst>
          </p:cNvPr>
          <p:cNvSpPr/>
          <p:nvPr/>
        </p:nvSpPr>
        <p:spPr>
          <a:xfrm>
            <a:off x="1981635" y="4261031"/>
            <a:ext cx="1226786" cy="263267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382E2E7-857E-D788-E2BE-5B53507F8691}"/>
              </a:ext>
            </a:extLst>
          </p:cNvPr>
          <p:cNvSpPr txBox="1"/>
          <p:nvPr/>
        </p:nvSpPr>
        <p:spPr>
          <a:xfrm>
            <a:off x="4148888" y="4715787"/>
            <a:ext cx="2674632" cy="707886"/>
          </a:xfrm>
          <a:prstGeom prst="wedgeRectCallout">
            <a:avLst>
              <a:gd name="adj1" fmla="val -85969"/>
              <a:gd name="adj2" fmla="val -75833"/>
            </a:avLst>
          </a:prstGeom>
          <a:solidFill>
            <a:srgbClr val="F5D1CF"/>
          </a:solidFill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/>
              <a:t>What if we change </a:t>
            </a:r>
            <a:r>
              <a:rPr lang="en-US" sz="2000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break</a:t>
            </a:r>
            <a:r>
              <a:rPr lang="en-US" sz="2000" b="1" dirty="0">
                <a:latin typeface="Calibri" panose="020F0502020204030204" pitchFamily="34" charset="0"/>
                <a:ea typeface="Menlo" panose="020B0609030804020204" pitchFamily="49" charset="0"/>
                <a:cs typeface="Calibri" panose="020F0502020204030204" pitchFamily="34" charset="0"/>
              </a:rPr>
              <a:t> </a:t>
            </a:r>
            <a:r>
              <a:rPr lang="en-US" sz="2000" dirty="0"/>
              <a:t>to </a:t>
            </a:r>
            <a:r>
              <a:rPr lang="en-US" sz="2000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continue</a:t>
            </a:r>
            <a:r>
              <a:rPr lang="en-US" sz="20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74996134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962044-2A71-463A-340F-17008765E5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Finding </a:t>
            </a:r>
            <a:r>
              <a:rPr lang="en-US" dirty="0" err="1"/>
              <a:t>m^th</a:t>
            </a:r>
            <a:r>
              <a:rPr lang="en-US" dirty="0"/>
              <a:t> prime number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CD92D5-291F-9DA2-FBAC-F7130FD8E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40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19F3CDD-37F0-FA71-D69B-35F655E24B04}"/>
              </a:ext>
            </a:extLst>
          </p:cNvPr>
          <p:cNvSpPr txBox="1"/>
          <p:nvPr/>
        </p:nvSpPr>
        <p:spPr>
          <a:xfrm>
            <a:off x="1223209" y="1782395"/>
            <a:ext cx="5851359" cy="378565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// returns the </a:t>
            </a:r>
            <a:r>
              <a:rPr lang="en-US" sz="1600" dirty="0" err="1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m^th</a:t>
            </a:r>
            <a:r>
              <a:rPr lang="en-US" sz="1600" dirty="0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 prime number</a:t>
            </a:r>
          </a:p>
          <a:p>
            <a:endParaRPr lang="en-US" sz="1600" dirty="0">
              <a:solidFill>
                <a:srgbClr val="2FB41D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find_prime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m) 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count =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n =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do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++n;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(!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is_prime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(n)) {</a:t>
            </a:r>
            <a:r>
              <a:rPr lang="en-US" sz="1600" dirty="0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// ! means not true</a:t>
            </a:r>
            <a:endParaRPr lang="en-US" sz="16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continue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  <a:endParaRPr lang="en-US" sz="1600" dirty="0">
              <a:solidFill>
                <a:srgbClr val="C1651C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}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(++count == m) 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break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}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}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while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n;</a:t>
            </a:r>
            <a:endParaRPr lang="en-US" sz="1600" dirty="0">
              <a:solidFill>
                <a:srgbClr val="C1651C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99FEE1D-DC6E-E5A8-2372-38A504873F32}"/>
              </a:ext>
            </a:extLst>
          </p:cNvPr>
          <p:cNvSpPr txBox="1"/>
          <p:nvPr/>
        </p:nvSpPr>
        <p:spPr>
          <a:xfrm>
            <a:off x="7395411" y="2021305"/>
            <a:ext cx="448392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Input: 5</a:t>
            </a:r>
          </a:p>
          <a:p>
            <a:r>
              <a:rPr lang="en-US" sz="2400" dirty="0"/>
              <a:t>Output: 13 (the 5</a:t>
            </a:r>
            <a:r>
              <a:rPr lang="en-US" sz="2400" baseline="30000" dirty="0"/>
              <a:t>th</a:t>
            </a:r>
            <a:r>
              <a:rPr lang="en-US" sz="2400" dirty="0"/>
              <a:t> prime number)</a:t>
            </a:r>
          </a:p>
        </p:txBody>
      </p:sp>
    </p:spTree>
    <p:extLst>
      <p:ext uri="{BB962C8B-B14F-4D97-AF65-F5344CB8AC3E}">
        <p14:creationId xmlns:p14="http://schemas.microsoft.com/office/powerpoint/2010/main" val="34938740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962044-2A71-463A-340F-17008765E5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Finding </a:t>
            </a:r>
            <a:r>
              <a:rPr lang="en-US" dirty="0" err="1"/>
              <a:t>m^th</a:t>
            </a:r>
            <a:r>
              <a:rPr lang="en-US" dirty="0"/>
              <a:t> prime number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CD92D5-291F-9DA2-FBAC-F7130FD8E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6C15-EF3C-4448-AD26-0168B8F9D9DB}" type="slidenum">
              <a:rPr lang="en-US" smtClean="0"/>
              <a:t>41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19F3CDD-37F0-FA71-D69B-35F655E24B04}"/>
              </a:ext>
            </a:extLst>
          </p:cNvPr>
          <p:cNvSpPr txBox="1"/>
          <p:nvPr/>
        </p:nvSpPr>
        <p:spPr>
          <a:xfrm>
            <a:off x="1223209" y="1782395"/>
            <a:ext cx="5851359" cy="378565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// returns the </a:t>
            </a:r>
            <a:r>
              <a:rPr lang="en-US" sz="1600" dirty="0" err="1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m^th</a:t>
            </a:r>
            <a:r>
              <a:rPr lang="en-US" sz="1600" dirty="0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 prime number</a:t>
            </a:r>
          </a:p>
          <a:p>
            <a:endParaRPr lang="en-US" sz="1600" dirty="0">
              <a:solidFill>
                <a:srgbClr val="2FB41D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find_prime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m) 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2FB41D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count =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, n = 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do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++n;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(! </a:t>
            </a:r>
            <a:r>
              <a:rPr lang="en-US" sz="16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is_prime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(n)) {</a:t>
            </a:r>
            <a:r>
              <a:rPr lang="en-US" sz="1600" dirty="0">
                <a:solidFill>
                  <a:srgbClr val="400BD9"/>
                </a:solidFill>
                <a:effectLst/>
                <a:latin typeface="Menlo" panose="020B0609030804020204" pitchFamily="49" charset="0"/>
              </a:rPr>
              <a:t>// ! means "not true"</a:t>
            </a:r>
            <a:endParaRPr lang="en-US" sz="1600" dirty="0">
              <a:solidFill>
                <a:srgbClr val="000000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continue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  <a:endParaRPr lang="en-US" sz="1600" dirty="0">
              <a:solidFill>
                <a:srgbClr val="C1651C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}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(++count == m) {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break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  }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}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while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-US" sz="1600" dirty="0">
                <a:solidFill>
                  <a:srgbClr val="B42419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);</a:t>
            </a: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  </a:t>
            </a:r>
            <a:r>
              <a:rPr lang="en-US" sz="1600" dirty="0">
                <a:solidFill>
                  <a:srgbClr val="C1651C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n;</a:t>
            </a:r>
            <a:endParaRPr lang="en-US" sz="1600" dirty="0">
              <a:solidFill>
                <a:srgbClr val="C1651C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6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919E1EA-0ADE-5722-ECAD-4B0DFE451050}"/>
              </a:ext>
            </a:extLst>
          </p:cNvPr>
          <p:cNvSpPr txBox="1"/>
          <p:nvPr/>
        </p:nvSpPr>
        <p:spPr>
          <a:xfrm>
            <a:off x="7395411" y="2021305"/>
            <a:ext cx="458490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Input: 5</a:t>
            </a:r>
          </a:p>
          <a:p>
            <a:r>
              <a:rPr lang="en-US" sz="2400" dirty="0"/>
              <a:t>Output: 11 (the 6</a:t>
            </a:r>
            <a:r>
              <a:rPr lang="en-US" sz="2400" baseline="30000" dirty="0"/>
              <a:t>th</a:t>
            </a:r>
            <a:r>
              <a:rPr lang="en-US" sz="2400" dirty="0"/>
              <a:t> prime number)!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D13453C-AEC2-39CB-1A27-8F4961E8A349}"/>
              </a:ext>
            </a:extLst>
          </p:cNvPr>
          <p:cNvSpPr/>
          <p:nvPr/>
        </p:nvSpPr>
        <p:spPr>
          <a:xfrm>
            <a:off x="2267712" y="4023205"/>
            <a:ext cx="932687" cy="240934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382E2E7-857E-D788-E2BE-5B53507F8691}"/>
              </a:ext>
            </a:extLst>
          </p:cNvPr>
          <p:cNvSpPr txBox="1"/>
          <p:nvPr/>
        </p:nvSpPr>
        <p:spPr>
          <a:xfrm>
            <a:off x="1416586" y="5060215"/>
            <a:ext cx="2963389" cy="707886"/>
          </a:xfrm>
          <a:prstGeom prst="wedgeRectCallout">
            <a:avLst>
              <a:gd name="adj1" fmla="val 4786"/>
              <a:gd name="adj2" fmla="val -152884"/>
            </a:avLst>
          </a:prstGeom>
          <a:solidFill>
            <a:srgbClr val="F5D1CF"/>
          </a:solidFill>
          <a:ln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/>
              <a:t>What if we change </a:t>
            </a:r>
            <a:r>
              <a:rPr lang="en-US" sz="2000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++count </a:t>
            </a:r>
            <a:r>
              <a:rPr lang="en-US" sz="2000" dirty="0"/>
              <a:t>to </a:t>
            </a:r>
            <a:r>
              <a:rPr lang="en-US" sz="2000" b="1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count++</a:t>
            </a:r>
            <a:r>
              <a:rPr lang="en-US" sz="2000" dirty="0"/>
              <a:t>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5615964-22C6-54FE-78EB-D799558B899C}"/>
              </a:ext>
            </a:extLst>
          </p:cNvPr>
          <p:cNvSpPr txBox="1"/>
          <p:nvPr/>
        </p:nvSpPr>
        <p:spPr>
          <a:xfrm>
            <a:off x="7395410" y="3388138"/>
            <a:ext cx="395838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Why?</a:t>
            </a:r>
          </a:p>
          <a:p>
            <a:r>
              <a:rPr lang="en-US" sz="24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++count</a:t>
            </a:r>
            <a:r>
              <a:rPr lang="en-US" sz="2400" dirty="0"/>
              <a:t> is evaluated before comparing with </a:t>
            </a:r>
            <a:r>
              <a:rPr lang="en-US" sz="2400" dirty="0">
                <a:latin typeface="Menlo" panose="020B0609030804020204" pitchFamily="49" charset="0"/>
                <a:ea typeface="Menlo" panose="020B0609030804020204" pitchFamily="49" charset="0"/>
                <a:cs typeface="Menlo" panose="020B0609030804020204" pitchFamily="49" charset="0"/>
              </a:rPr>
              <a:t>m</a:t>
            </a:r>
          </a:p>
        </p:txBody>
      </p:sp>
    </p:spTree>
    <p:extLst>
      <p:ext uri="{BB962C8B-B14F-4D97-AF65-F5344CB8AC3E}">
        <p14:creationId xmlns:p14="http://schemas.microsoft.com/office/powerpoint/2010/main" val="26529238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7499</TotalTime>
  <Words>3335</Words>
  <Application>Microsoft Macintosh PowerPoint</Application>
  <PresentationFormat>Widescreen</PresentationFormat>
  <Paragraphs>629</Paragraphs>
  <Slides>41</Slides>
  <Notes>0</Notes>
  <HiddenSlides>15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7" baseType="lpstr">
      <vt:lpstr>Arial</vt:lpstr>
      <vt:lpstr>Calibri</vt:lpstr>
      <vt:lpstr>Calibri Light</vt:lpstr>
      <vt:lpstr>Consolas</vt:lpstr>
      <vt:lpstr>Menlo</vt:lpstr>
      <vt:lpstr>Office Theme</vt:lpstr>
      <vt:lpstr>Basics III  CMSC 14300: System Programming I 3rd Lecture</vt:lpstr>
      <vt:lpstr>Overview</vt:lpstr>
      <vt:lpstr>C Operators: Arithmetic</vt:lpstr>
      <vt:lpstr>C Operators: Arithmetic</vt:lpstr>
      <vt:lpstr>Overview</vt:lpstr>
      <vt:lpstr>While Loops</vt:lpstr>
      <vt:lpstr>While Loops: Example</vt:lpstr>
      <vt:lpstr>break and continue in loops</vt:lpstr>
      <vt:lpstr>Example: Finding m^th prime number</vt:lpstr>
      <vt:lpstr>Example: Finding m^th prime number</vt:lpstr>
      <vt:lpstr>Example: Finding m^th prime number</vt:lpstr>
      <vt:lpstr>Example: Finding m^th prime number</vt:lpstr>
      <vt:lpstr>Do-While Loops</vt:lpstr>
      <vt:lpstr>Do-While Loops: Example</vt:lpstr>
      <vt:lpstr>Example: getchar and putchar</vt:lpstr>
      <vt:lpstr>For Loops</vt:lpstr>
      <vt:lpstr>For Loops: Example</vt:lpstr>
      <vt:lpstr>For Loops</vt:lpstr>
      <vt:lpstr>Overview</vt:lpstr>
      <vt:lpstr>If Statements</vt:lpstr>
      <vt:lpstr>Switch Statements</vt:lpstr>
      <vt:lpstr>Example of Switch Statements using break</vt:lpstr>
      <vt:lpstr>Example of Switch Statements</vt:lpstr>
      <vt:lpstr>Recap</vt:lpstr>
      <vt:lpstr>PowerPoint Presentation</vt:lpstr>
      <vt:lpstr>PowerPoint Presentation</vt:lpstr>
      <vt:lpstr>PowerPoint Presentation</vt:lpstr>
      <vt:lpstr>While Loops: Example</vt:lpstr>
      <vt:lpstr>While Loops: Example</vt:lpstr>
      <vt:lpstr>While Loops: Example</vt:lpstr>
      <vt:lpstr>While Loops: Example</vt:lpstr>
      <vt:lpstr>While Loops: Example</vt:lpstr>
      <vt:lpstr>While Loops: Example</vt:lpstr>
      <vt:lpstr>break and continue in loops: Example</vt:lpstr>
      <vt:lpstr>getchar and putchar</vt:lpstr>
      <vt:lpstr>getchar and putchar</vt:lpstr>
      <vt:lpstr>Example: Finding m^th prime number</vt:lpstr>
      <vt:lpstr>Example: Finding m^th prime number</vt:lpstr>
      <vt:lpstr>Example: Finding m^th prime number</vt:lpstr>
      <vt:lpstr>Example: Finding m^th prime number</vt:lpstr>
      <vt:lpstr>Example: Finding m^th prime number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Course Overview  CMSC 14300: System programming I 1st Lecture</dc:title>
  <dc:creator>Junchen Jiang</dc:creator>
  <cp:lastModifiedBy>Junchen Jiang</cp:lastModifiedBy>
  <cp:revision>162</cp:revision>
  <dcterms:created xsi:type="dcterms:W3CDTF">2023-03-12T16:00:37Z</dcterms:created>
  <dcterms:modified xsi:type="dcterms:W3CDTF">2023-04-16T01:41:39Z</dcterms:modified>
</cp:coreProperties>
</file>