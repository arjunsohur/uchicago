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9" r:id="rId3"/>
    <p:sldId id="280" r:id="rId4"/>
    <p:sldId id="283" r:id="rId5"/>
    <p:sldId id="284" r:id="rId6"/>
    <p:sldId id="286" r:id="rId7"/>
    <p:sldId id="263" r:id="rId8"/>
    <p:sldId id="290" r:id="rId9"/>
    <p:sldId id="287" r:id="rId10"/>
    <p:sldId id="288" r:id="rId11"/>
    <p:sldId id="292" r:id="rId12"/>
    <p:sldId id="289" r:id="rId13"/>
    <p:sldId id="291" r:id="rId14"/>
    <p:sldId id="302" r:id="rId15"/>
    <p:sldId id="294" r:id="rId16"/>
    <p:sldId id="295" r:id="rId17"/>
    <p:sldId id="312" r:id="rId18"/>
    <p:sldId id="277" r:id="rId19"/>
    <p:sldId id="296" r:id="rId20"/>
    <p:sldId id="297" r:id="rId21"/>
    <p:sldId id="310" r:id="rId22"/>
    <p:sldId id="314" r:id="rId23"/>
    <p:sldId id="304" r:id="rId24"/>
    <p:sldId id="305" r:id="rId25"/>
    <p:sldId id="278" r:id="rId26"/>
    <p:sldId id="271" r:id="rId27"/>
    <p:sldId id="315" r:id="rId28"/>
    <p:sldId id="274" r:id="rId29"/>
    <p:sldId id="308" r:id="rId30"/>
    <p:sldId id="273" r:id="rId31"/>
    <p:sldId id="316" r:id="rId32"/>
    <p:sldId id="309" r:id="rId33"/>
    <p:sldId id="301" r:id="rId34"/>
    <p:sldId id="299" r:id="rId35"/>
    <p:sldId id="293" r:id="rId36"/>
    <p:sldId id="257" r:id="rId37"/>
    <p:sldId id="303" r:id="rId38"/>
    <p:sldId id="31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92CE"/>
    <a:srgbClr val="F5D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41"/>
    <p:restoredTop sz="73697"/>
  </p:normalViewPr>
  <p:slideViewPr>
    <p:cSldViewPr snapToGrid="0">
      <p:cViewPr varScale="1">
        <p:scale>
          <a:sx n="136" d="100"/>
          <a:sy n="136" d="100"/>
        </p:scale>
        <p:origin x="1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3/22/23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18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82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74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36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535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78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84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8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Show python and c code side-by-side, with the same output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 1: different ways of running (screenshots of how they are run)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 2: different speeds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 3: specifying the types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 4: pointers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80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0193B-EA53-B84A-B492-DAB98032E1DA}" type="datetime1">
              <a:rPr lang="en-US" smtClean="0"/>
              <a:t>3/22/23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5450A-386F-124A-A0BC-8B8A855794A4}" type="datetime1">
              <a:rPr lang="en-US" smtClean="0"/>
              <a:t>3/22/23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569B-70C2-124E-ACCF-6BCD7EA2091F}" type="datetime1">
              <a:rPr lang="en-US" smtClean="0"/>
              <a:t>3/22/23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756D-3027-7F4A-BCC3-E3EAE7E44D26}" type="datetime1">
              <a:rPr lang="en-US" smtClean="0"/>
              <a:t>3/22/23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4833-8FF2-694F-A65C-415E6FB98F9D}" type="datetime1">
              <a:rPr lang="en-US" smtClean="0"/>
              <a:t>3/22/23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04684-5B10-A24F-8C13-07822C90E896}" type="datetime1">
              <a:rPr lang="en-US" smtClean="0"/>
              <a:t>3/22/23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A4FA5-2BB4-724C-B32E-8B7176C2280A}" type="datetime1">
              <a:rPr lang="en-US" smtClean="0"/>
              <a:t>3/22/23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16B32-54C9-704B-A7AA-B31FF670D97D}" type="datetime1">
              <a:rPr lang="en-US" smtClean="0"/>
              <a:t>3/22/23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3A49-3B27-0344-9877-A9B40B3A9A9E}" type="datetime1">
              <a:rPr lang="en-US" smtClean="0"/>
              <a:t>3/22/23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81AF2-FB36-4943-80CB-11DF62FAABE2}" type="datetime1">
              <a:rPr lang="en-US" smtClean="0"/>
              <a:t>3/22/23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96116-59F2-404E-92B7-5951328C8B0F}" type="datetime1">
              <a:rPr lang="en-US" smtClean="0"/>
              <a:t>3/22/23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403A7-8715-0940-9344-8FBA236BC528}" type="datetime1">
              <a:rPr lang="en-US" smtClean="0"/>
              <a:t>3/22/23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edstem.org/us/courses/38041/discussio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zxxia@uchicago.edu" TargetMode="External"/><Relationship Id="rId2" Type="http://schemas.openxmlformats.org/officeDocument/2006/relationships/hyperlink" Target="https://disabilities.uchicago.edu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Basics I (Overview)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1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st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6A1C5-A600-E262-6692-C5E563494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5ACF8-89CB-1A3E-5438-BA02B5EF6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you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C4BF8-6F74-6C24-D444-D96570FEB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90634" cy="1388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will learn </a:t>
            </a:r>
            <a:r>
              <a:rPr lang="en-US" b="1" dirty="0"/>
              <a:t>C programming language</a:t>
            </a:r>
          </a:p>
          <a:p>
            <a:pPr marL="457200" lvl="1" indent="0">
              <a:buNone/>
            </a:pPr>
            <a:r>
              <a:rPr lang="en-US" dirty="0"/>
              <a:t>C is the basic </a:t>
            </a:r>
            <a:r>
              <a:rPr lang="en-US" i="1" dirty="0"/>
              <a:t>programming language </a:t>
            </a:r>
            <a:r>
              <a:rPr lang="en-US" dirty="0"/>
              <a:t>for computer programmers, and one of the historic and ongoing successes in the design of practical </a:t>
            </a:r>
            <a:r>
              <a:rPr lang="en-US" i="1" dirty="0"/>
              <a:t>system programming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73D3F4-2225-0611-A766-C651D46ED63F}"/>
              </a:ext>
            </a:extLst>
          </p:cNvPr>
          <p:cNvSpPr/>
          <p:nvPr/>
        </p:nvSpPr>
        <p:spPr>
          <a:xfrm>
            <a:off x="1379038" y="3644155"/>
            <a:ext cx="1949825" cy="11564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14100</a:t>
            </a:r>
          </a:p>
          <a:p>
            <a:pPr algn="ctr"/>
            <a:r>
              <a:rPr lang="en-US" sz="2400" dirty="0"/>
              <a:t>(Python)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62B30E-AE71-307F-F2E4-17EA0ADB6C3E}"/>
              </a:ext>
            </a:extLst>
          </p:cNvPr>
          <p:cNvSpPr/>
          <p:nvPr/>
        </p:nvSpPr>
        <p:spPr>
          <a:xfrm>
            <a:off x="4529178" y="3644154"/>
            <a:ext cx="2629714" cy="11564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14200</a:t>
            </a:r>
          </a:p>
          <a:p>
            <a:pPr algn="ctr"/>
            <a:r>
              <a:rPr lang="en-US" sz="2400" dirty="0"/>
              <a:t>(Advanced Python)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2DCDE8-6028-95AC-AED1-8C29BF422916}"/>
              </a:ext>
            </a:extLst>
          </p:cNvPr>
          <p:cNvSpPr/>
          <p:nvPr/>
        </p:nvSpPr>
        <p:spPr>
          <a:xfrm>
            <a:off x="8450089" y="3644154"/>
            <a:ext cx="2629714" cy="11564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14300</a:t>
            </a:r>
          </a:p>
          <a:p>
            <a:pPr algn="ctr"/>
            <a:r>
              <a:rPr lang="en-US" sz="2400" dirty="0"/>
              <a:t>(C programming)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E0976875-1336-C14D-C098-BE9B291212D9}"/>
              </a:ext>
            </a:extLst>
          </p:cNvPr>
          <p:cNvSpPr/>
          <p:nvPr/>
        </p:nvSpPr>
        <p:spPr>
          <a:xfrm>
            <a:off x="3616873" y="4032668"/>
            <a:ext cx="562592" cy="37941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52F7A4CF-6BFB-B5BB-EE4F-934B1C18332F}"/>
              </a:ext>
            </a:extLst>
          </p:cNvPr>
          <p:cNvSpPr/>
          <p:nvPr/>
        </p:nvSpPr>
        <p:spPr>
          <a:xfrm>
            <a:off x="7566967" y="4032667"/>
            <a:ext cx="562592" cy="37941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C0DA59-D7A3-BECD-C1B5-E06E87B44B81}"/>
              </a:ext>
            </a:extLst>
          </p:cNvPr>
          <p:cNvSpPr txBox="1"/>
          <p:nvPr/>
        </p:nvSpPr>
        <p:spPr>
          <a:xfrm>
            <a:off x="1260524" y="5619422"/>
            <a:ext cx="60247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Python </a:t>
            </a:r>
            <a:r>
              <a:rPr lang="en-US" sz="2800" dirty="0">
                <a:sym typeface="Wingdings" pitchFamily="2" charset="2"/>
              </a:rPr>
              <a:t>vs. C   </a:t>
            </a:r>
            <a:r>
              <a:rPr lang="en-US" sz="2800" i="1" dirty="0"/>
              <a:t>Just a different language?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3554B2-E14E-B079-5D98-22688052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7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9FBE-706A-F4E8-F26C-76E0A8C7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722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Python vs C:</a:t>
            </a:r>
            <a:r>
              <a:rPr lang="en-US" dirty="0"/>
              <a:t> How to run the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D03A19-630D-D646-0E59-EFD04C84A794}"/>
              </a:ext>
            </a:extLst>
          </p:cNvPr>
          <p:cNvSpPr/>
          <p:nvPr/>
        </p:nvSpPr>
        <p:spPr>
          <a:xfrm>
            <a:off x="990664" y="1450741"/>
            <a:ext cx="3886136" cy="16574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sum = 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 = 100000000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 range(N):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sum +=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print(sum)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3B9BF-5BC4-4482-1C74-7D0951000728}"/>
              </a:ext>
            </a:extLst>
          </p:cNvPr>
          <p:cNvSpPr/>
          <p:nvPr/>
        </p:nvSpPr>
        <p:spPr>
          <a:xfrm>
            <a:off x="977821" y="3639826"/>
            <a:ext cx="3898979" cy="31290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int sum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int N = 100000000;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for (int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&lt;N;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sum +=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(“%u\n”, sum);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6B339-BBB4-6725-9E5F-889B8EFFDEAB}"/>
              </a:ext>
            </a:extLst>
          </p:cNvPr>
          <p:cNvSpPr txBox="1"/>
          <p:nvPr/>
        </p:nvSpPr>
        <p:spPr>
          <a:xfrm>
            <a:off x="886329" y="1042763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lec1.py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8119A1-94BE-243D-0A89-7835C94BBDF5}"/>
              </a:ext>
            </a:extLst>
          </p:cNvPr>
          <p:cNvSpPr txBox="1"/>
          <p:nvPr/>
        </p:nvSpPr>
        <p:spPr>
          <a:xfrm>
            <a:off x="977821" y="3199742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lec1.c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9FE242-FFDD-9DC8-6842-D6E888C42B70}"/>
              </a:ext>
            </a:extLst>
          </p:cNvPr>
          <p:cNvSpPr txBox="1"/>
          <p:nvPr/>
        </p:nvSpPr>
        <p:spPr>
          <a:xfrm>
            <a:off x="8357721" y="1509553"/>
            <a:ext cx="3162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Python runs in one step with Python interpreter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AD828C-FBCF-AF2F-7BFB-727429450576}"/>
              </a:ext>
            </a:extLst>
          </p:cNvPr>
          <p:cNvSpPr txBox="1"/>
          <p:nvPr/>
        </p:nvSpPr>
        <p:spPr>
          <a:xfrm>
            <a:off x="8231059" y="3849243"/>
            <a:ext cx="39830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Two steps: (more on this later)</a:t>
            </a:r>
          </a:p>
          <a:p>
            <a:r>
              <a:rPr lang="en-US" sz="2400" dirty="0"/>
              <a:t>1. compile C code</a:t>
            </a:r>
          </a:p>
          <a:p>
            <a:r>
              <a:rPr lang="en-US" sz="2400" dirty="0"/>
              <a:t>2. run the machine code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1CA95C1-87B2-30B4-9715-36BE27D8B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069" y="1525295"/>
            <a:ext cx="2646383" cy="73152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74796F7-CB56-A593-AA63-AC56E368129A}"/>
              </a:ext>
            </a:extLst>
          </p:cNvPr>
          <p:cNvSpPr/>
          <p:nvPr/>
        </p:nvSpPr>
        <p:spPr>
          <a:xfrm>
            <a:off x="5213860" y="1586823"/>
            <a:ext cx="2860098" cy="3382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F76DB41-7C87-DD2C-BA45-34EBF81E8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110" y="3775184"/>
            <a:ext cx="2542953" cy="113277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1949DA27-4744-A263-D601-0835B5CDE246}"/>
              </a:ext>
            </a:extLst>
          </p:cNvPr>
          <p:cNvSpPr/>
          <p:nvPr/>
        </p:nvSpPr>
        <p:spPr>
          <a:xfrm>
            <a:off x="5197818" y="3849243"/>
            <a:ext cx="2860098" cy="6572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B70E93-F284-39FB-3D6B-57607919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481ED-EB42-6B61-335C-B1D84F32CB74}"/>
              </a:ext>
            </a:extLst>
          </p:cNvPr>
          <p:cNvSpPr txBox="1"/>
          <p:nvPr/>
        </p:nvSpPr>
        <p:spPr>
          <a:xfrm>
            <a:off x="3585212" y="1022352"/>
            <a:ext cx="1100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8778B3-9937-1B47-885D-3BD4439BC327}"/>
              </a:ext>
            </a:extLst>
          </p:cNvPr>
          <p:cNvSpPr txBox="1"/>
          <p:nvPr/>
        </p:nvSpPr>
        <p:spPr>
          <a:xfrm>
            <a:off x="2927310" y="3218174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Same logic in C</a:t>
            </a:r>
          </a:p>
        </p:txBody>
      </p:sp>
    </p:spTree>
    <p:extLst>
      <p:ext uri="{BB962C8B-B14F-4D97-AF65-F5344CB8AC3E}">
        <p14:creationId xmlns:p14="http://schemas.microsoft.com/office/powerpoint/2010/main" val="373695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  <p:bldP spid="15" grpId="0"/>
      <p:bldP spid="16" grpId="0"/>
      <p:bldP spid="26" grpId="0" animBg="1"/>
      <p:bldP spid="37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9FBE-706A-F4E8-F26C-76E0A8C7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722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Python vs C:</a:t>
            </a:r>
            <a:r>
              <a:rPr lang="en-US" dirty="0"/>
              <a:t> Speed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D03A19-630D-D646-0E59-EFD04C84A794}"/>
              </a:ext>
            </a:extLst>
          </p:cNvPr>
          <p:cNvSpPr/>
          <p:nvPr/>
        </p:nvSpPr>
        <p:spPr>
          <a:xfrm>
            <a:off x="990664" y="1450741"/>
            <a:ext cx="3886136" cy="16574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sum = 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 = 100000000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 range(N):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sum +=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print(sum)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3B9BF-5BC4-4482-1C74-7D0951000728}"/>
              </a:ext>
            </a:extLst>
          </p:cNvPr>
          <p:cNvSpPr/>
          <p:nvPr/>
        </p:nvSpPr>
        <p:spPr>
          <a:xfrm>
            <a:off x="977821" y="3639826"/>
            <a:ext cx="3898979" cy="31290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int sum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int N = 100000000;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for (int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&lt;N;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sum +=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(“%u\n”, sum);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6B339-BBB4-6725-9E5F-889B8EFFDEAB}"/>
              </a:ext>
            </a:extLst>
          </p:cNvPr>
          <p:cNvSpPr txBox="1"/>
          <p:nvPr/>
        </p:nvSpPr>
        <p:spPr>
          <a:xfrm>
            <a:off x="886329" y="1042763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lec1.py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8119A1-94BE-243D-0A89-7835C94BBDF5}"/>
              </a:ext>
            </a:extLst>
          </p:cNvPr>
          <p:cNvSpPr txBox="1"/>
          <p:nvPr/>
        </p:nvSpPr>
        <p:spPr>
          <a:xfrm>
            <a:off x="977821" y="3199742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lec1.c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6E5CFA-6A3D-B37D-9244-D0D0E29FC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448" y="1767833"/>
            <a:ext cx="3886137" cy="12709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BD4E9E3-F584-D8EA-8752-6FB88D0384E8}"/>
              </a:ext>
            </a:extLst>
          </p:cNvPr>
          <p:cNvSpPr/>
          <p:nvPr/>
        </p:nvSpPr>
        <p:spPr>
          <a:xfrm>
            <a:off x="7989143" y="2515743"/>
            <a:ext cx="1186941" cy="59241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B00A7-4534-3BCB-CB9A-4DE62508A64E}"/>
              </a:ext>
            </a:extLst>
          </p:cNvPr>
          <p:cNvSpPr txBox="1"/>
          <p:nvPr/>
        </p:nvSpPr>
        <p:spPr>
          <a:xfrm>
            <a:off x="8438147" y="4249148"/>
            <a:ext cx="348113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 is more than </a:t>
            </a:r>
            <a:r>
              <a:rPr lang="en-US" sz="3200" b="1" dirty="0">
                <a:solidFill>
                  <a:srgbClr val="C00000"/>
                </a:solidFill>
              </a:rPr>
              <a:t>60x</a:t>
            </a:r>
            <a:r>
              <a:rPr lang="en-US" sz="2400" dirty="0"/>
              <a:t> faster</a:t>
            </a:r>
          </a:p>
          <a:p>
            <a:endParaRPr lang="en-US" sz="2400" dirty="0"/>
          </a:p>
          <a:p>
            <a:r>
              <a:rPr lang="en-US" sz="2400" dirty="0"/>
              <a:t>(can be even faster with optimized compilation)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19F435-F408-9A19-76E0-632B03BEC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448" y="4460064"/>
            <a:ext cx="2723440" cy="12709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4864A9-9842-FC39-3E1B-39A574653FE2}"/>
              </a:ext>
            </a:extLst>
          </p:cNvPr>
          <p:cNvSpPr/>
          <p:nvPr/>
        </p:nvSpPr>
        <p:spPr>
          <a:xfrm>
            <a:off x="6739910" y="5307812"/>
            <a:ext cx="1197615" cy="4932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19EFA-4114-D637-CC3F-4536EEFFD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4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C44302-5AAA-7B0F-D3EA-D924B90209E3}"/>
              </a:ext>
            </a:extLst>
          </p:cNvPr>
          <p:cNvSpPr txBox="1"/>
          <p:nvPr/>
        </p:nvSpPr>
        <p:spPr>
          <a:xfrm>
            <a:off x="3585212" y="1022352"/>
            <a:ext cx="1100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Python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E357CB-459E-1BD6-F855-18CCE69B3B77}"/>
              </a:ext>
            </a:extLst>
          </p:cNvPr>
          <p:cNvSpPr txBox="1"/>
          <p:nvPr/>
        </p:nvSpPr>
        <p:spPr>
          <a:xfrm>
            <a:off x="2927310" y="3218174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Same logic in C</a:t>
            </a:r>
          </a:p>
        </p:txBody>
      </p:sp>
    </p:spTree>
    <p:extLst>
      <p:ext uri="{BB962C8B-B14F-4D97-AF65-F5344CB8AC3E}">
        <p14:creationId xmlns:p14="http://schemas.microsoft.com/office/powerpoint/2010/main" val="43698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9FBE-706A-F4E8-F26C-76E0A8C7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722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Python vs C:</a:t>
            </a:r>
            <a:r>
              <a:rPr lang="en-US" dirty="0"/>
              <a:t> How to declare variable type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D03A19-630D-D646-0E59-EFD04C84A794}"/>
              </a:ext>
            </a:extLst>
          </p:cNvPr>
          <p:cNvSpPr/>
          <p:nvPr/>
        </p:nvSpPr>
        <p:spPr>
          <a:xfrm>
            <a:off x="990664" y="1450741"/>
            <a:ext cx="3886136" cy="16574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sum = 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 = 100000000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 range(N):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sum +=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print(sum)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3B9BF-5BC4-4482-1C74-7D0951000728}"/>
              </a:ext>
            </a:extLst>
          </p:cNvPr>
          <p:cNvSpPr/>
          <p:nvPr/>
        </p:nvSpPr>
        <p:spPr>
          <a:xfrm>
            <a:off x="977821" y="3639826"/>
            <a:ext cx="3898979" cy="31290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int sum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int N = 100000000;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for (int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&lt;N;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sum +=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(“%u\n”, sum);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6B339-BBB4-6725-9E5F-889B8EFFDEAB}"/>
              </a:ext>
            </a:extLst>
          </p:cNvPr>
          <p:cNvSpPr txBox="1"/>
          <p:nvPr/>
        </p:nvSpPr>
        <p:spPr>
          <a:xfrm>
            <a:off x="886329" y="1042763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lec1.py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8119A1-94BE-243D-0A89-7835C94BBDF5}"/>
              </a:ext>
            </a:extLst>
          </p:cNvPr>
          <p:cNvSpPr txBox="1"/>
          <p:nvPr/>
        </p:nvSpPr>
        <p:spPr>
          <a:xfrm>
            <a:off x="977821" y="3199742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lec1.c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169CD4-1F7E-D511-5C31-D445598F2DA8}"/>
              </a:ext>
            </a:extLst>
          </p:cNvPr>
          <p:cNvSpPr/>
          <p:nvPr/>
        </p:nvSpPr>
        <p:spPr>
          <a:xfrm>
            <a:off x="990665" y="1524839"/>
            <a:ext cx="565420" cy="51125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079B49-3F07-C928-7533-9DFA5F3338D0}"/>
              </a:ext>
            </a:extLst>
          </p:cNvPr>
          <p:cNvSpPr/>
          <p:nvPr/>
        </p:nvSpPr>
        <p:spPr>
          <a:xfrm>
            <a:off x="1273375" y="4803474"/>
            <a:ext cx="1088038" cy="55324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AC0B8-2C8F-1D07-ED56-D32394CFF87B}"/>
              </a:ext>
            </a:extLst>
          </p:cNvPr>
          <p:cNvSpPr txBox="1"/>
          <p:nvPr/>
        </p:nvSpPr>
        <p:spPr>
          <a:xfrm>
            <a:off x="5678905" y="2005263"/>
            <a:ext cx="4701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 need to declare type of variables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5BD458-2DFD-B0B9-915F-BF00D3352B74}"/>
              </a:ext>
            </a:extLst>
          </p:cNvPr>
          <p:cNvSpPr txBox="1"/>
          <p:nvPr/>
        </p:nvSpPr>
        <p:spPr>
          <a:xfrm>
            <a:off x="5678905" y="4743770"/>
            <a:ext cx="5251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Compulsory to declare type of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DBA8E2-D6EE-7417-77D2-107384AF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303A9-8E67-3E2E-BE56-B72C243FC555}"/>
              </a:ext>
            </a:extLst>
          </p:cNvPr>
          <p:cNvSpPr txBox="1"/>
          <p:nvPr/>
        </p:nvSpPr>
        <p:spPr>
          <a:xfrm>
            <a:off x="3585212" y="1022352"/>
            <a:ext cx="1100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Python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D4AA23-C341-6D8A-1E26-1783EB338BDA}"/>
              </a:ext>
            </a:extLst>
          </p:cNvPr>
          <p:cNvSpPr txBox="1"/>
          <p:nvPr/>
        </p:nvSpPr>
        <p:spPr>
          <a:xfrm>
            <a:off x="2927310" y="3218174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Same logic in C</a:t>
            </a:r>
          </a:p>
        </p:txBody>
      </p:sp>
    </p:spTree>
    <p:extLst>
      <p:ext uri="{BB962C8B-B14F-4D97-AF65-F5344CB8AC3E}">
        <p14:creationId xmlns:p14="http://schemas.microsoft.com/office/powerpoint/2010/main" val="190459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9FBE-706A-F4E8-F26C-76E0A8C7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722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Python vs C:</a:t>
            </a:r>
            <a:r>
              <a:rPr lang="en-US" dirty="0"/>
              <a:t> Access to low-level details (memory)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D03A19-630D-D646-0E59-EFD04C84A794}"/>
              </a:ext>
            </a:extLst>
          </p:cNvPr>
          <p:cNvSpPr/>
          <p:nvPr/>
        </p:nvSpPr>
        <p:spPr>
          <a:xfrm>
            <a:off x="252729" y="1450741"/>
            <a:ext cx="3886136" cy="16574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sum = 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 = 100000000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 range(N):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sum +=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print(sum)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3B9BF-5BC4-4482-1C74-7D0951000728}"/>
              </a:ext>
            </a:extLst>
          </p:cNvPr>
          <p:cNvSpPr/>
          <p:nvPr/>
        </p:nvSpPr>
        <p:spPr>
          <a:xfrm>
            <a:off x="239886" y="3639826"/>
            <a:ext cx="3898979" cy="31290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int sum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int N = 100000000;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for (int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&lt;N;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sum +=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(“%u\n”, sum);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6B339-BBB4-6725-9E5F-889B8EFFDEAB}"/>
              </a:ext>
            </a:extLst>
          </p:cNvPr>
          <p:cNvSpPr txBox="1"/>
          <p:nvPr/>
        </p:nvSpPr>
        <p:spPr>
          <a:xfrm>
            <a:off x="148394" y="1042763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lec1.py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68212-E863-9B08-4B6D-8ED5F801D3EA}"/>
              </a:ext>
            </a:extLst>
          </p:cNvPr>
          <p:cNvSpPr txBox="1"/>
          <p:nvPr/>
        </p:nvSpPr>
        <p:spPr>
          <a:xfrm>
            <a:off x="239886" y="3199742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lec1.c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29AA0-802A-043C-FB2B-4B05781B0720}"/>
              </a:ext>
            </a:extLst>
          </p:cNvPr>
          <p:cNvSpPr txBox="1"/>
          <p:nvPr/>
        </p:nvSpPr>
        <p:spPr>
          <a:xfrm>
            <a:off x="4737461" y="1679285"/>
            <a:ext cx="60020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Can’t see where the variables are in memory.</a:t>
            </a:r>
          </a:p>
          <a:p>
            <a:r>
              <a:rPr lang="en-US" sz="2400" dirty="0"/>
              <a:t>Low-level details are invisible to programmers.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B3697-3596-D0B3-F476-BBDD9F0E88BD}"/>
              </a:ext>
            </a:extLst>
          </p:cNvPr>
          <p:cNvSpPr txBox="1"/>
          <p:nvPr/>
        </p:nvSpPr>
        <p:spPr>
          <a:xfrm>
            <a:off x="4643557" y="3630676"/>
            <a:ext cx="71904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can see where the variables are in (virtual) memory!</a:t>
            </a:r>
          </a:p>
          <a:p>
            <a:r>
              <a:rPr lang="en-US" b="1" dirty="0"/>
              <a:t>(We will learn pointers and how to do this in future lectures!)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27905-8AE8-6066-3236-8B1C1E2BFC9B}"/>
              </a:ext>
            </a:extLst>
          </p:cNvPr>
          <p:cNvSpPr txBox="1"/>
          <p:nvPr/>
        </p:nvSpPr>
        <p:spPr>
          <a:xfrm>
            <a:off x="4357678" y="5372372"/>
            <a:ext cx="289191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("%p\n", &amp;sum);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D05A2EA-A30D-1AC6-DBB3-A3142EA639FA}"/>
              </a:ext>
            </a:extLst>
          </p:cNvPr>
          <p:cNvSpPr/>
          <p:nvPr/>
        </p:nvSpPr>
        <p:spPr>
          <a:xfrm>
            <a:off x="7385966" y="5396415"/>
            <a:ext cx="336884" cy="3179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B3B500-A3A5-74B3-BE93-F9C042E419E5}"/>
              </a:ext>
            </a:extLst>
          </p:cNvPr>
          <p:cNvSpPr txBox="1"/>
          <p:nvPr/>
        </p:nvSpPr>
        <p:spPr>
          <a:xfrm>
            <a:off x="7859147" y="5370728"/>
            <a:ext cx="1630142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0x16f173498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B6EC1D-C3A8-FB1D-FD7A-9185782E195C}"/>
              </a:ext>
            </a:extLst>
          </p:cNvPr>
          <p:cNvSpPr txBox="1"/>
          <p:nvPr/>
        </p:nvSpPr>
        <p:spPr>
          <a:xfrm>
            <a:off x="8674218" y="4492881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0866BA-B683-8D58-9A10-EC3D8E3467F4}"/>
              </a:ext>
            </a:extLst>
          </p:cNvPr>
          <p:cNvSpPr txBox="1"/>
          <p:nvPr/>
        </p:nvSpPr>
        <p:spPr>
          <a:xfrm>
            <a:off x="11340204" y="443718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B7C457-5408-A983-4EFF-2294A75BA8FE}"/>
              </a:ext>
            </a:extLst>
          </p:cNvPr>
          <p:cNvSpPr txBox="1"/>
          <p:nvPr/>
        </p:nvSpPr>
        <p:spPr>
          <a:xfrm>
            <a:off x="4091437" y="4485717"/>
            <a:ext cx="4630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Content in memory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(hex of 1000000)</a:t>
            </a:r>
            <a:endParaRPr lang="en-US" sz="2000" dirty="0"/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FF7800F1-D0C0-B8B9-1815-2592E89F538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736743" y="5042752"/>
            <a:ext cx="444454" cy="1566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2784693-76B0-41FA-0D89-BD7E0EE30C98}"/>
              </a:ext>
            </a:extLst>
          </p:cNvPr>
          <p:cNvSpPr txBox="1"/>
          <p:nvPr/>
        </p:nvSpPr>
        <p:spPr>
          <a:xfrm>
            <a:off x="5607818" y="5004289"/>
            <a:ext cx="27361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 address of </a:t>
            </a:r>
            <a:r>
              <a:rPr lang="en-US" sz="2000" dirty="0">
                <a:latin typeface="Courier" pitchFamily="2" charset="0"/>
              </a:rPr>
              <a:t>sum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E088F8-A828-F2E3-AC67-A3ACE9313ABF}"/>
              </a:ext>
            </a:extLst>
          </p:cNvPr>
          <p:cNvSpPr txBox="1"/>
          <p:nvPr/>
        </p:nvSpPr>
        <p:spPr>
          <a:xfrm>
            <a:off x="9049350" y="4539048"/>
            <a:ext cx="568258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CF9D28-F5FD-295D-9AEB-59D4E8B2E1E7}"/>
              </a:ext>
            </a:extLst>
          </p:cNvPr>
          <p:cNvSpPr txBox="1"/>
          <p:nvPr/>
        </p:nvSpPr>
        <p:spPr>
          <a:xfrm>
            <a:off x="9617608" y="4539048"/>
            <a:ext cx="568258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f5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3A3F9E-FFB5-5F6C-F0AE-4240981470BE}"/>
              </a:ext>
            </a:extLst>
          </p:cNvPr>
          <p:cNvSpPr txBox="1"/>
          <p:nvPr/>
        </p:nvSpPr>
        <p:spPr>
          <a:xfrm>
            <a:off x="10191811" y="4539048"/>
            <a:ext cx="568258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e1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840130-0C6C-4D3E-596F-9AEE34AB89AA}"/>
              </a:ext>
            </a:extLst>
          </p:cNvPr>
          <p:cNvSpPr txBox="1"/>
          <p:nvPr/>
        </p:nvSpPr>
        <p:spPr>
          <a:xfrm>
            <a:off x="10761177" y="4539048"/>
            <a:ext cx="568258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678582-9366-6F75-C61D-04689945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2AE45-690C-CA20-6B89-6955A3EBCF1F}"/>
              </a:ext>
            </a:extLst>
          </p:cNvPr>
          <p:cNvSpPr txBox="1"/>
          <p:nvPr/>
        </p:nvSpPr>
        <p:spPr>
          <a:xfrm>
            <a:off x="2767063" y="1022352"/>
            <a:ext cx="1100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Python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E4D19-4AD9-AD02-6320-E58382566A43}"/>
              </a:ext>
            </a:extLst>
          </p:cNvPr>
          <p:cNvSpPr txBox="1"/>
          <p:nvPr/>
        </p:nvSpPr>
        <p:spPr>
          <a:xfrm>
            <a:off x="2580800" y="3218174"/>
            <a:ext cx="2089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Same logic in 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52B507-3B3F-2829-9541-63B1EC883B60}"/>
              </a:ext>
            </a:extLst>
          </p:cNvPr>
          <p:cNvSpPr/>
          <p:nvPr/>
        </p:nvSpPr>
        <p:spPr>
          <a:xfrm>
            <a:off x="6216877" y="5396415"/>
            <a:ext cx="632391" cy="40011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0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6" grpId="0" animBg="1"/>
      <p:bldP spid="24" grpId="0"/>
      <p:bldP spid="27" grpId="0"/>
      <p:bldP spid="36" grpId="0"/>
      <p:bldP spid="39" grpId="0"/>
      <p:bldP spid="46" grpId="0" animBg="1"/>
      <p:bldP spid="47" grpId="0" animBg="1"/>
      <p:bldP spid="48" grpId="0" animBg="1"/>
      <p:bldP spid="49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8BCC-9510-E079-7F91-740FAA45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C: System Programming</a:t>
            </a:r>
          </a:p>
        </p:txBody>
      </p:sp>
      <p:sp>
        <p:nvSpPr>
          <p:cNvPr id="28" name="AutoShape 12">
            <a:extLst>
              <a:ext uri="{FF2B5EF4-FFF2-40B4-BE49-F238E27FC236}">
                <a16:creationId xmlns:a16="http://schemas.microsoft.com/office/drawing/2014/main" id="{EBDBF203-B8C1-6162-DE1F-FAF52ACB1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977934"/>
            <a:ext cx="4225925" cy="45878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Physics</a:t>
            </a:r>
          </a:p>
        </p:txBody>
      </p:sp>
      <p:sp>
        <p:nvSpPr>
          <p:cNvPr id="37" name="AutoShape 3">
            <a:extLst>
              <a:ext uri="{FF2B5EF4-FFF2-40B4-BE49-F238E27FC236}">
                <a16:creationId xmlns:a16="http://schemas.microsoft.com/office/drawing/2014/main" id="{E2FD1038-4B1B-EF64-DE18-CE041FCA0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093913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Applications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26BC129-5AF6-72DD-B5B8-A59F71C46E5C}"/>
              </a:ext>
            </a:extLst>
          </p:cNvPr>
          <p:cNvCxnSpPr>
            <a:cxnSpLocks/>
          </p:cNvCxnSpPr>
          <p:nvPr/>
        </p:nvCxnSpPr>
        <p:spPr>
          <a:xfrm>
            <a:off x="3276600" y="2497138"/>
            <a:ext cx="0" cy="2480796"/>
          </a:xfrm>
          <a:prstGeom prst="straightConnector1">
            <a:avLst/>
          </a:prstGeom>
          <a:ln w="63500">
            <a:headEnd type="arrow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4994B59-4CD3-BD88-B2DD-7EF945D145C7}"/>
              </a:ext>
            </a:extLst>
          </p:cNvPr>
          <p:cNvSpPr txBox="1"/>
          <p:nvPr/>
        </p:nvSpPr>
        <p:spPr>
          <a:xfrm>
            <a:off x="470639" y="3164689"/>
            <a:ext cx="28059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Gap too large to </a:t>
            </a:r>
          </a:p>
          <a:p>
            <a:r>
              <a:rPr lang="en-US" sz="2800" dirty="0"/>
              <a:t>bridge in one step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42A4C5-D712-D2BF-797C-80C05552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83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8BCC-9510-E079-7F91-740FAA45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C: System Programming</a:t>
            </a:r>
          </a:p>
        </p:txBody>
      </p:sp>
      <p:sp>
        <p:nvSpPr>
          <p:cNvPr id="28" name="AutoShape 12">
            <a:extLst>
              <a:ext uri="{FF2B5EF4-FFF2-40B4-BE49-F238E27FC236}">
                <a16:creationId xmlns:a16="http://schemas.microsoft.com/office/drawing/2014/main" id="{EBDBF203-B8C1-6162-DE1F-FAF52ACB1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977934"/>
            <a:ext cx="4225925" cy="45878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Physics</a:t>
            </a:r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1CE1E570-73D4-D2D8-557C-7660F5F9F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574428"/>
            <a:ext cx="4225925" cy="39211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/>
              <a:t>Gates &amp; Circuits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201A5F89-1845-C790-FDFE-E1C9412F3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183141"/>
            <a:ext cx="4225925" cy="39211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Register-Transfer Level</a:t>
            </a:r>
          </a:p>
        </p:txBody>
      </p:sp>
      <p:sp>
        <p:nvSpPr>
          <p:cNvPr id="33" name="AutoShape 8">
            <a:extLst>
              <a:ext uri="{FF2B5EF4-FFF2-40B4-BE49-F238E27FC236}">
                <a16:creationId xmlns:a16="http://schemas.microsoft.com/office/drawing/2014/main" id="{097D11B8-1FE1-A71B-95E7-ED2C4A21E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3779916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Microarchitecture</a:t>
            </a:r>
          </a:p>
        </p:txBody>
      </p:sp>
      <p:sp>
        <p:nvSpPr>
          <p:cNvPr id="34" name="AutoShape 6">
            <a:extLst>
              <a:ext uri="{FF2B5EF4-FFF2-40B4-BE49-F238E27FC236}">
                <a16:creationId xmlns:a16="http://schemas.microsoft.com/office/drawing/2014/main" id="{133A8340-CC3D-DA91-2590-954E80D0F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3308429"/>
            <a:ext cx="4225925" cy="47148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Instruction Set Architecture</a:t>
            </a:r>
          </a:p>
        </p:txBody>
      </p:sp>
      <p:sp>
        <p:nvSpPr>
          <p:cNvPr id="35" name="AutoShape 7">
            <a:extLst>
              <a:ext uri="{FF2B5EF4-FFF2-40B4-BE49-F238E27FC236}">
                <a16:creationId xmlns:a16="http://schemas.microsoft.com/office/drawing/2014/main" id="{3FC8C698-2E7C-89EC-4F92-A195C99BC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905204"/>
            <a:ext cx="4214813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Operating System/Virtual Machines</a:t>
            </a:r>
          </a:p>
        </p:txBody>
      </p:sp>
      <p:sp>
        <p:nvSpPr>
          <p:cNvPr id="36" name="AutoShape 10">
            <a:extLst>
              <a:ext uri="{FF2B5EF4-FFF2-40B4-BE49-F238E27FC236}">
                <a16:creationId xmlns:a16="http://schemas.microsoft.com/office/drawing/2014/main" id="{E7B91CC1-D0F1-124C-398E-4AFC6C081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501979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Algorithms</a:t>
            </a:r>
          </a:p>
        </p:txBody>
      </p:sp>
      <p:sp>
        <p:nvSpPr>
          <p:cNvPr id="37" name="AutoShape 3">
            <a:extLst>
              <a:ext uri="{FF2B5EF4-FFF2-40B4-BE49-F238E27FC236}">
                <a16:creationId xmlns:a16="http://schemas.microsoft.com/office/drawing/2014/main" id="{E2FD1038-4B1B-EF64-DE18-CE041FCA0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093913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Applications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66D4A4-F8AE-CD14-8114-46AE7C56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38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8BCC-9510-E079-7F91-740FAA45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C: System Programming</a:t>
            </a: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DB0DAB80-178D-45A7-E159-44CD71750C12}"/>
              </a:ext>
            </a:extLst>
          </p:cNvPr>
          <p:cNvSpPr/>
          <p:nvPr/>
        </p:nvSpPr>
        <p:spPr>
          <a:xfrm>
            <a:off x="4824644" y="2098825"/>
            <a:ext cx="468311" cy="806379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2D2EB0-7B12-4CC5-B3C9-2CDCDF23106B}"/>
              </a:ext>
            </a:extLst>
          </p:cNvPr>
          <p:cNvSpPr txBox="1"/>
          <p:nvPr/>
        </p:nvSpPr>
        <p:spPr>
          <a:xfrm>
            <a:off x="5292955" y="2241926"/>
            <a:ext cx="42259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Python: popular in applications (esp. data analytics &amp; ML)</a:t>
            </a:r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BB800C79-C20E-04A5-E661-874B6EDE8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977934"/>
            <a:ext cx="4225925" cy="45878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Physics</a:t>
            </a:r>
          </a:p>
        </p:txBody>
      </p:sp>
      <p:sp>
        <p:nvSpPr>
          <p:cNvPr id="4" name="AutoShape 11">
            <a:extLst>
              <a:ext uri="{FF2B5EF4-FFF2-40B4-BE49-F238E27FC236}">
                <a16:creationId xmlns:a16="http://schemas.microsoft.com/office/drawing/2014/main" id="{9C79A65F-F28C-59D0-0BF3-1F6B09169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574428"/>
            <a:ext cx="4225925" cy="39211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/>
              <a:t>Gates &amp; Circuits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1C5B874F-3F56-9F3A-D166-C7E376148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183141"/>
            <a:ext cx="4225925" cy="39211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Register-Transfer Level</a:t>
            </a: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271B754E-8D37-61C1-5246-DB5E3B0A7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3779916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Microarchitecture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A321EA-52A5-3BF1-1633-CDB5C0FCF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3308429"/>
            <a:ext cx="4225925" cy="47148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Instruction Set Architecture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0DE16EFE-DB29-7AD9-2724-70CEAEF58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905204"/>
            <a:ext cx="4214813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Operating System/Virtual Machines</a:t>
            </a: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DAD4971E-1C4E-E540-2882-2CBFA888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501979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Algorithms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55976AF5-8452-763B-494A-FC49B374E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093913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Applications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BE10394-9373-C95D-FA42-E61BB57C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08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8BCC-9510-E079-7F91-740FAA45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C: System Programming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A26B9F-6ED1-2FE2-7EE0-40EE010D51EE}"/>
              </a:ext>
            </a:extLst>
          </p:cNvPr>
          <p:cNvSpPr txBox="1"/>
          <p:nvPr/>
        </p:nvSpPr>
        <p:spPr>
          <a:xfrm>
            <a:off x="5340133" y="2333703"/>
            <a:ext cx="5656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 programming: de-facto systems language</a:t>
            </a:r>
          </a:p>
          <a:p>
            <a:r>
              <a:rPr lang="en-US" sz="2400" b="1" dirty="0"/>
              <a:t>(this class)</a:t>
            </a:r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5448FD95-0C1C-66F6-C07A-148C2BE43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977934"/>
            <a:ext cx="4225925" cy="45878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Physics</a:t>
            </a:r>
          </a:p>
        </p:txBody>
      </p:sp>
      <p:sp>
        <p:nvSpPr>
          <p:cNvPr id="4" name="AutoShape 11">
            <a:extLst>
              <a:ext uri="{FF2B5EF4-FFF2-40B4-BE49-F238E27FC236}">
                <a16:creationId xmlns:a16="http://schemas.microsoft.com/office/drawing/2014/main" id="{3C667266-32AD-B143-DA76-18F6500CD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574428"/>
            <a:ext cx="4225925" cy="39211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/>
              <a:t>Gates &amp; Circuits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033DCAE-FF5E-70FC-1A79-FD4F072B2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183141"/>
            <a:ext cx="4225925" cy="39211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Register-Transfer Level</a:t>
            </a: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0948FD5A-6160-B415-3C72-FAD1E514C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3779916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Microarchitecture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B5D5D223-3535-EF0E-50BD-6614C9471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3308429"/>
            <a:ext cx="4225925" cy="47148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Instruction Set Architecture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BDBCFC4C-AA18-7902-D7EF-9FA2DD63F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905204"/>
            <a:ext cx="4214813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Operating System/Virtual Machines</a:t>
            </a: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7757ED5F-6CE7-5AD0-0BF9-325ED6F71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501979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Algorithms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7EC28649-D2FD-5EB6-2D3D-A6F5D00F7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093913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Applications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FD9EF7-E84D-5A3E-C986-49492637F8E5}"/>
              </a:ext>
            </a:extLst>
          </p:cNvPr>
          <p:cNvSpPr txBox="1"/>
          <p:nvPr/>
        </p:nvSpPr>
        <p:spPr>
          <a:xfrm>
            <a:off x="5340133" y="4605724"/>
            <a:ext cx="6481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Learning C helps you understand and visualize the </a:t>
            </a:r>
            <a:r>
              <a:rPr lang="en-US" sz="2400" b="1" dirty="0"/>
              <a:t>inner workings of a computer</a:t>
            </a:r>
            <a:r>
              <a:rPr lang="en-US" sz="2400" dirty="0"/>
              <a:t>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2175DD-2C4C-DD62-A8B0-ABDCC63BD799}"/>
              </a:ext>
            </a:extLst>
          </p:cNvPr>
          <p:cNvCxnSpPr>
            <a:cxnSpLocks/>
          </p:cNvCxnSpPr>
          <p:nvPr/>
        </p:nvCxnSpPr>
        <p:spPr>
          <a:xfrm>
            <a:off x="5024718" y="3349611"/>
            <a:ext cx="0" cy="943816"/>
          </a:xfrm>
          <a:prstGeom prst="straightConnector1">
            <a:avLst/>
          </a:prstGeom>
          <a:ln w="63500">
            <a:solidFill>
              <a:schemeClr val="bg1">
                <a:lumMod val="65000"/>
              </a:schemeClr>
            </a:solidFill>
            <a:headEnd type="none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21498D-97D0-18B3-285F-F1EA15D2BC4D}"/>
              </a:ext>
            </a:extLst>
          </p:cNvPr>
          <p:cNvSpPr txBox="1"/>
          <p:nvPr/>
        </p:nvSpPr>
        <p:spPr>
          <a:xfrm>
            <a:off x="5340133" y="3576130"/>
            <a:ext cx="5083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Machine language (assembly language)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0606C5-12EF-45D5-29DC-2B4C0F6112BC}"/>
              </a:ext>
            </a:extLst>
          </p:cNvPr>
          <p:cNvCxnSpPr>
            <a:cxnSpLocks/>
          </p:cNvCxnSpPr>
          <p:nvPr/>
        </p:nvCxnSpPr>
        <p:spPr>
          <a:xfrm flipV="1">
            <a:off x="5024718" y="2144095"/>
            <a:ext cx="0" cy="1119319"/>
          </a:xfrm>
          <a:prstGeom prst="straightConnector1">
            <a:avLst/>
          </a:prstGeom>
          <a:ln w="63500">
            <a:headEnd type="none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A313D9C-BAF0-2032-CD5B-7BBA75506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56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8BCC-9510-E079-7F91-740FAA45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C: System Programming</a:t>
            </a:r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FC77EBB3-0395-4E92-3D37-654C6E72A091}"/>
              </a:ext>
            </a:extLst>
          </p:cNvPr>
          <p:cNvSpPr/>
          <p:nvPr/>
        </p:nvSpPr>
        <p:spPr>
          <a:xfrm>
            <a:off x="4871822" y="2093913"/>
            <a:ext cx="468311" cy="1160916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5448FD95-0C1C-66F6-C07A-148C2BE43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977934"/>
            <a:ext cx="4225925" cy="45878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Physics</a:t>
            </a:r>
          </a:p>
        </p:txBody>
      </p:sp>
      <p:sp>
        <p:nvSpPr>
          <p:cNvPr id="4" name="AutoShape 11">
            <a:extLst>
              <a:ext uri="{FF2B5EF4-FFF2-40B4-BE49-F238E27FC236}">
                <a16:creationId xmlns:a16="http://schemas.microsoft.com/office/drawing/2014/main" id="{3C667266-32AD-B143-DA76-18F6500CD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574428"/>
            <a:ext cx="4225925" cy="39211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/>
              <a:t>Gates &amp; Circuits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033DCAE-FF5E-70FC-1A79-FD4F072B2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183141"/>
            <a:ext cx="4225925" cy="39211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Register-Transfer Level</a:t>
            </a: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0948FD5A-6160-B415-3C72-FAD1E514C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3779916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Microarchitecture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B5D5D223-3535-EF0E-50BD-6614C9471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3308429"/>
            <a:ext cx="4225925" cy="47148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Instruction Set Architecture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BDBCFC4C-AA18-7902-D7EF-9FA2DD63F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905204"/>
            <a:ext cx="4214813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Operating System/Virtual Machines</a:t>
            </a: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7757ED5F-6CE7-5AD0-0BF9-325ED6F71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501979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Algorithms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7EC28649-D2FD-5EB6-2D3D-A6F5D00F7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093913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Applications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791C37-75C9-5743-B3C0-4F0B67379136}"/>
              </a:ext>
            </a:extLst>
          </p:cNvPr>
          <p:cNvSpPr txBox="1"/>
          <p:nvPr/>
        </p:nvSpPr>
        <p:spPr>
          <a:xfrm>
            <a:off x="5040764" y="3428668"/>
            <a:ext cx="71396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Widely used in low-level systems for speed and control!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Operating systems (e.g., UNIX is mostly in C)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Compilers (e.g., the Python Interpreter)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Scientific computing (e.g., MATLAB, Mathematica)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Popular applications (e.g., Browsers, Video player)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…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E991E37-F289-304F-5228-9E0210F2D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11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D42A06-7550-8F54-07B1-CEC884904C88}"/>
              </a:ext>
            </a:extLst>
          </p:cNvPr>
          <p:cNvSpPr txBox="1"/>
          <p:nvPr/>
        </p:nvSpPr>
        <p:spPr>
          <a:xfrm>
            <a:off x="5340133" y="2333703"/>
            <a:ext cx="5656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 programming: de-facto systems language</a:t>
            </a:r>
          </a:p>
          <a:p>
            <a:r>
              <a:rPr lang="en-US" sz="2400" b="1" dirty="0"/>
              <a:t>(this class)</a:t>
            </a:r>
          </a:p>
        </p:txBody>
      </p:sp>
    </p:spTree>
    <p:extLst>
      <p:ext uri="{BB962C8B-B14F-4D97-AF65-F5344CB8AC3E}">
        <p14:creationId xmlns:p14="http://schemas.microsoft.com/office/powerpoint/2010/main" val="1554640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8BCC-9510-E079-7F91-740FAA45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C: System Programming</a:t>
            </a:r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FC77EBB3-0395-4E92-3D37-654C6E72A091}"/>
              </a:ext>
            </a:extLst>
          </p:cNvPr>
          <p:cNvSpPr/>
          <p:nvPr/>
        </p:nvSpPr>
        <p:spPr>
          <a:xfrm>
            <a:off x="4871822" y="2093913"/>
            <a:ext cx="468311" cy="1160916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A26B9F-6ED1-2FE2-7EE0-40EE010D51EE}"/>
              </a:ext>
            </a:extLst>
          </p:cNvPr>
          <p:cNvSpPr txBox="1"/>
          <p:nvPr/>
        </p:nvSpPr>
        <p:spPr>
          <a:xfrm>
            <a:off x="5340133" y="2432417"/>
            <a:ext cx="5656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 programming: de-facto systems language</a:t>
            </a:r>
          </a:p>
          <a:p>
            <a:r>
              <a:rPr lang="en-US" sz="2400" b="1" dirty="0"/>
              <a:t>(this class)</a:t>
            </a:r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5448FD95-0C1C-66F6-C07A-148C2BE43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977934"/>
            <a:ext cx="4225925" cy="45878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Physics</a:t>
            </a:r>
          </a:p>
        </p:txBody>
      </p:sp>
      <p:sp>
        <p:nvSpPr>
          <p:cNvPr id="4" name="AutoShape 11">
            <a:extLst>
              <a:ext uri="{FF2B5EF4-FFF2-40B4-BE49-F238E27FC236}">
                <a16:creationId xmlns:a16="http://schemas.microsoft.com/office/drawing/2014/main" id="{3C667266-32AD-B143-DA76-18F6500CD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574428"/>
            <a:ext cx="4225925" cy="39211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/>
              <a:t>Gates &amp; Circuits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033DCAE-FF5E-70FC-1A79-FD4F072B2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4183141"/>
            <a:ext cx="4225925" cy="39211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Register-Transfer Level</a:t>
            </a: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0948FD5A-6160-B415-3C72-FAD1E514C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3779916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Microarchitecture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B5D5D223-3535-EF0E-50BD-6614C9471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3308429"/>
            <a:ext cx="4225925" cy="471487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Instruction Set Architecture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BDBCFC4C-AA18-7902-D7EF-9FA2DD63F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905204"/>
            <a:ext cx="4214813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Operating System/Virtual Machines</a:t>
            </a: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7757ED5F-6CE7-5AD0-0BF9-325ED6F71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501979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Algorithms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7EC28649-D2FD-5EB6-2D3D-A6F5D00F7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22" y="2093913"/>
            <a:ext cx="4225925" cy="403225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Applications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64D21F1C-692B-EAFC-1BC8-2769C2E69AEB}"/>
              </a:ext>
            </a:extLst>
          </p:cNvPr>
          <p:cNvSpPr/>
          <p:nvPr/>
        </p:nvSpPr>
        <p:spPr>
          <a:xfrm>
            <a:off x="4871822" y="3351139"/>
            <a:ext cx="468311" cy="830997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A4F070-5A17-2211-4534-AD84F1B9F33F}"/>
              </a:ext>
            </a:extLst>
          </p:cNvPr>
          <p:cNvSpPr txBox="1"/>
          <p:nvPr/>
        </p:nvSpPr>
        <p:spPr>
          <a:xfrm>
            <a:off x="5340133" y="3519863"/>
            <a:ext cx="5762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Next class: </a:t>
            </a:r>
            <a:r>
              <a:rPr lang="en-US" sz="2400" i="1" dirty="0"/>
              <a:t>CS 144 Intro to computer systems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F23DF22-A7B9-260D-4743-1C4F5769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68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472543-D694-053D-1420-180CD1BBA976}"/>
              </a:ext>
            </a:extLst>
          </p:cNvPr>
          <p:cNvSpPr txBox="1"/>
          <p:nvPr/>
        </p:nvSpPr>
        <p:spPr>
          <a:xfrm>
            <a:off x="1116105" y="2232215"/>
            <a:ext cx="943983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i="1" dirty="0"/>
              <a:t>“C is quirky, flawed, and an enormous success.”</a:t>
            </a:r>
          </a:p>
          <a:p>
            <a:pPr algn="r"/>
            <a:r>
              <a:rPr lang="en-US" sz="2600" dirty="0"/>
              <a:t>-- Dennis M. Ritchie (Inventor of C and UNIX)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73F1D9-65A7-A360-8055-6DA618D33BE4}"/>
              </a:ext>
            </a:extLst>
          </p:cNvPr>
          <p:cNvSpPr txBox="1"/>
          <p:nvPr/>
        </p:nvSpPr>
        <p:spPr>
          <a:xfrm>
            <a:off x="1116105" y="3895184"/>
            <a:ext cx="943983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i="1" dirty="0"/>
              <a:t>C’s “influence on Python is considerable.” </a:t>
            </a:r>
          </a:p>
          <a:p>
            <a:pPr algn="r"/>
            <a:r>
              <a:rPr lang="en-US" sz="2600" dirty="0"/>
              <a:t>-- Guido van Rossum (Inventor of Python)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44DBE-0C40-6C2D-3A6B-8EFA7E03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95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A17C-3534-DB20-0F28-5776C175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D8510-2707-1917-C347-049750689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Course theme</a:t>
            </a:r>
          </a:p>
          <a:p>
            <a:r>
              <a:rPr lang="en-US" dirty="0"/>
              <a:t>Example C code</a:t>
            </a:r>
          </a:p>
          <a:p>
            <a:r>
              <a:rPr lang="en-US" dirty="0"/>
              <a:t>Setting up environment</a:t>
            </a:r>
          </a:p>
          <a:p>
            <a:r>
              <a:rPr lang="en-US" dirty="0"/>
              <a:t>Logistics</a:t>
            </a:r>
          </a:p>
          <a:p>
            <a:r>
              <a:rPr lang="en-US" dirty="0"/>
              <a:t>Getting help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46C25-3280-CCB5-F5F4-78B6D8D2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8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79E00-5B0C-3545-786A-C8679CBB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Example: Implementation of Factorial Function in 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F27105-C0F6-EEFD-0019-110C8EF2B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758" y="3107646"/>
            <a:ext cx="5832840" cy="22224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2B4838CD-1379-934D-58FA-8546059F6D0D}"/>
              </a:ext>
            </a:extLst>
          </p:cNvPr>
          <p:cNvGrpSpPr/>
          <p:nvPr/>
        </p:nvGrpSpPr>
        <p:grpSpPr>
          <a:xfrm>
            <a:off x="1167218" y="2104166"/>
            <a:ext cx="4220844" cy="1388123"/>
            <a:chOff x="507460" y="2276886"/>
            <a:chExt cx="4220844" cy="1388123"/>
          </a:xfrm>
          <a:solidFill>
            <a:srgbClr val="92D050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4BF8A0-3642-B2A7-9D4E-9BE8B6DE13E6}"/>
                </a:ext>
              </a:extLst>
            </p:cNvPr>
            <p:cNvSpPr/>
            <p:nvPr/>
          </p:nvSpPr>
          <p:spPr>
            <a:xfrm>
              <a:off x="2075468" y="3368877"/>
              <a:ext cx="1572645" cy="296132"/>
            </a:xfrm>
            <a:prstGeom prst="rect">
              <a:avLst/>
            </a:prstGeom>
            <a:solidFill>
              <a:srgbClr val="92D050">
                <a:alpha val="32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ular Callout 11">
              <a:extLst>
                <a:ext uri="{FF2B5EF4-FFF2-40B4-BE49-F238E27FC236}">
                  <a16:creationId xmlns:a16="http://schemas.microsoft.com/office/drawing/2014/main" id="{48584C5C-7F08-771E-5B7D-07FAAE7D0033}"/>
                </a:ext>
              </a:extLst>
            </p:cNvPr>
            <p:cNvSpPr/>
            <p:nvPr/>
          </p:nvSpPr>
          <p:spPr>
            <a:xfrm>
              <a:off x="507460" y="2276886"/>
              <a:ext cx="4220844" cy="753036"/>
            </a:xfrm>
            <a:prstGeom prst="wedgeRectCallout">
              <a:avLst>
                <a:gd name="adj1" fmla="val -2651"/>
                <a:gd name="adj2" fmla="val 85714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int</a:t>
              </a:r>
              <a:r>
                <a:rPr lang="en-US" dirty="0"/>
                <a:t> is a data type (designates non-negative integer)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D387719-8758-0AC1-4366-1B6AF71DC8C3}"/>
              </a:ext>
            </a:extLst>
          </p:cNvPr>
          <p:cNvGrpSpPr/>
          <p:nvPr/>
        </p:nvGrpSpPr>
        <p:grpSpPr>
          <a:xfrm>
            <a:off x="4393631" y="1690688"/>
            <a:ext cx="7308374" cy="1801601"/>
            <a:chOff x="3733873" y="1863408"/>
            <a:chExt cx="7308374" cy="18016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49BA30-FB60-4643-0959-C81E6E30E247}"/>
                </a:ext>
              </a:extLst>
            </p:cNvPr>
            <p:cNvSpPr/>
            <p:nvPr/>
          </p:nvSpPr>
          <p:spPr>
            <a:xfrm>
              <a:off x="3733873" y="3368877"/>
              <a:ext cx="3229058" cy="29613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8214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ular Callout 18">
              <a:extLst>
                <a:ext uri="{FF2B5EF4-FFF2-40B4-BE49-F238E27FC236}">
                  <a16:creationId xmlns:a16="http://schemas.microsoft.com/office/drawing/2014/main" id="{7D2CA062-97C9-7747-1734-05657FA8844F}"/>
                </a:ext>
              </a:extLst>
            </p:cNvPr>
            <p:cNvSpPr/>
            <p:nvPr/>
          </p:nvSpPr>
          <p:spPr>
            <a:xfrm>
              <a:off x="5756638" y="1863408"/>
              <a:ext cx="5285609" cy="1157212"/>
            </a:xfrm>
            <a:prstGeom prst="wedgeRectCallout">
              <a:avLst>
                <a:gd name="adj1" fmla="val -46792"/>
                <a:gd name="adj2" fmla="val 72928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factorial</a:t>
              </a:r>
              <a:r>
                <a:rPr lang="en-US" dirty="0"/>
                <a:t> is the function name</a:t>
              </a:r>
            </a:p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factorial</a:t>
              </a:r>
              <a:r>
                <a:rPr lang="en-US" dirty="0"/>
                <a:t> takes an argument </a:t>
              </a:r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  <a:r>
                <a:rPr lang="en-US" dirty="0"/>
                <a:t> has type </a:t>
              </a:r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int</a:t>
              </a:r>
            </a:p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factorial</a:t>
              </a:r>
              <a:r>
                <a:rPr lang="en-US" dirty="0"/>
                <a:t> returns a value of type </a:t>
              </a:r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int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E9B272-FA53-76A5-C3B4-BDFE2FF1A2DE}"/>
              </a:ext>
            </a:extLst>
          </p:cNvPr>
          <p:cNvGrpSpPr/>
          <p:nvPr/>
        </p:nvGrpSpPr>
        <p:grpSpPr>
          <a:xfrm>
            <a:off x="114809" y="3494329"/>
            <a:ext cx="3930701" cy="849970"/>
            <a:chOff x="-544949" y="3667049"/>
            <a:chExt cx="3930701" cy="84997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21A559-22C8-5EA6-A146-6DF48E88AC5C}"/>
                </a:ext>
              </a:extLst>
            </p:cNvPr>
            <p:cNvSpPr/>
            <p:nvPr/>
          </p:nvSpPr>
          <p:spPr>
            <a:xfrm>
              <a:off x="2617882" y="4220887"/>
              <a:ext cx="767870" cy="296132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44037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ular Callout 21">
              <a:extLst>
                <a:ext uri="{FF2B5EF4-FFF2-40B4-BE49-F238E27FC236}">
                  <a16:creationId xmlns:a16="http://schemas.microsoft.com/office/drawing/2014/main" id="{997239D4-2C1C-3D85-EBE9-02D1198BC555}"/>
                </a:ext>
              </a:extLst>
            </p:cNvPr>
            <p:cNvSpPr/>
            <p:nvPr/>
          </p:nvSpPr>
          <p:spPr>
            <a:xfrm>
              <a:off x="-544949" y="3759291"/>
              <a:ext cx="2653641" cy="624478"/>
            </a:xfrm>
            <a:prstGeom prst="wedgeRectCallout">
              <a:avLst>
                <a:gd name="adj1" fmla="val 60797"/>
                <a:gd name="adj2" fmla="val -36719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if else</a:t>
              </a:r>
              <a:r>
                <a:rPr lang="en-US" dirty="0"/>
                <a:t> is a conditional (exactly one branch taken)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D68DAA9-9CCF-9FCB-2487-87AD00A29986}"/>
                </a:ext>
              </a:extLst>
            </p:cNvPr>
            <p:cNvSpPr/>
            <p:nvPr/>
          </p:nvSpPr>
          <p:spPr>
            <a:xfrm>
              <a:off x="2405448" y="3667049"/>
              <a:ext cx="437889" cy="296132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44037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E02C6BB-A695-F750-49CF-01443540D079}"/>
              </a:ext>
            </a:extLst>
          </p:cNvPr>
          <p:cNvGrpSpPr/>
          <p:nvPr/>
        </p:nvGrpSpPr>
        <p:grpSpPr>
          <a:xfrm>
            <a:off x="4537364" y="3788421"/>
            <a:ext cx="6252660" cy="1026573"/>
            <a:chOff x="3877606" y="3961141"/>
            <a:chExt cx="6252660" cy="1026573"/>
          </a:xfrm>
          <a:solidFill>
            <a:srgbClr val="7030A0">
              <a:alpha val="53000"/>
            </a:srgbClr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75B1E6E-ED8E-5B54-C6E1-1C963F36C350}"/>
                </a:ext>
              </a:extLst>
            </p:cNvPr>
            <p:cNvSpPr/>
            <p:nvPr/>
          </p:nvSpPr>
          <p:spPr>
            <a:xfrm>
              <a:off x="6267857" y="4509684"/>
              <a:ext cx="250645" cy="296132"/>
            </a:xfrm>
            <a:prstGeom prst="rect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1949903-F169-B844-21C5-593FAA6338B5}"/>
                </a:ext>
              </a:extLst>
            </p:cNvPr>
            <p:cNvSpPr/>
            <p:nvPr/>
          </p:nvSpPr>
          <p:spPr>
            <a:xfrm>
              <a:off x="3877606" y="3961141"/>
              <a:ext cx="250645" cy="296132"/>
            </a:xfrm>
            <a:prstGeom prst="rect">
              <a:avLst/>
            </a:prstGeom>
            <a:grp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ular Callout 31">
              <a:extLst>
                <a:ext uri="{FF2B5EF4-FFF2-40B4-BE49-F238E27FC236}">
                  <a16:creationId xmlns:a16="http://schemas.microsoft.com/office/drawing/2014/main" id="{032E293A-400B-ED50-985D-B7CBE40255BA}"/>
                </a:ext>
              </a:extLst>
            </p:cNvPr>
            <p:cNvSpPr/>
            <p:nvPr/>
          </p:nvSpPr>
          <p:spPr>
            <a:xfrm>
              <a:off x="7008133" y="4295704"/>
              <a:ext cx="3122133" cy="692010"/>
            </a:xfrm>
            <a:prstGeom prst="wedgeRectCallout">
              <a:avLst>
                <a:gd name="adj1" fmla="val -62670"/>
                <a:gd name="adj2" fmla="val 2904"/>
              </a:avLst>
            </a:prstGeom>
            <a:solidFill>
              <a:srgbClr val="B592C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Semicolon </a:t>
              </a:r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r>
                <a:rPr lang="en-US" dirty="0"/>
                <a:t>  terminates each statement (required)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AC62737-8D27-24D4-3425-357FE0E85EA0}"/>
              </a:ext>
            </a:extLst>
          </p:cNvPr>
          <p:cNvGrpSpPr/>
          <p:nvPr/>
        </p:nvGrpSpPr>
        <p:grpSpPr>
          <a:xfrm>
            <a:off x="3484374" y="4331845"/>
            <a:ext cx="5451885" cy="1200779"/>
            <a:chOff x="2824616" y="4331845"/>
            <a:chExt cx="5451885" cy="1200779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CCF0659-43A6-1F60-D78A-B4D0F420E330}"/>
                </a:ext>
              </a:extLst>
            </p:cNvPr>
            <p:cNvSpPr/>
            <p:nvPr/>
          </p:nvSpPr>
          <p:spPr>
            <a:xfrm>
              <a:off x="2824616" y="4331845"/>
              <a:ext cx="3443242" cy="296132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3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ular Callout 39">
              <a:extLst>
                <a:ext uri="{FF2B5EF4-FFF2-40B4-BE49-F238E27FC236}">
                  <a16:creationId xmlns:a16="http://schemas.microsoft.com/office/drawing/2014/main" id="{C7087FFE-568E-6576-2449-129673674F40}"/>
                </a:ext>
              </a:extLst>
            </p:cNvPr>
            <p:cNvSpPr/>
            <p:nvPr/>
          </p:nvSpPr>
          <p:spPr>
            <a:xfrm>
              <a:off x="3775621" y="5017566"/>
              <a:ext cx="4500880" cy="515058"/>
            </a:xfrm>
            <a:prstGeom prst="wedgeRectCallout">
              <a:avLst>
                <a:gd name="adj1" fmla="val -38235"/>
                <a:gd name="adj2" fmla="val -116668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return</a:t>
              </a:r>
              <a:r>
                <a:rPr lang="en-US" dirty="0"/>
                <a:t> exits the function with a result value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EA6C20E-D89B-7057-D947-80CD183E1E38}"/>
              </a:ext>
            </a:extLst>
          </p:cNvPr>
          <p:cNvGrpSpPr/>
          <p:nvPr/>
        </p:nvGrpSpPr>
        <p:grpSpPr>
          <a:xfrm>
            <a:off x="3522825" y="3492289"/>
            <a:ext cx="6333094" cy="555878"/>
            <a:chOff x="2863067" y="3665009"/>
            <a:chExt cx="6333094" cy="555878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3387AAF-8DE3-6834-4CA0-45391D87A439}"/>
                </a:ext>
              </a:extLst>
            </p:cNvPr>
            <p:cNvSpPr/>
            <p:nvPr/>
          </p:nvSpPr>
          <p:spPr>
            <a:xfrm>
              <a:off x="2863067" y="3665009"/>
              <a:ext cx="1014540" cy="29613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607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ular Callout 17">
              <a:extLst>
                <a:ext uri="{FF2B5EF4-FFF2-40B4-BE49-F238E27FC236}">
                  <a16:creationId xmlns:a16="http://schemas.microsoft.com/office/drawing/2014/main" id="{D96BDF18-1A0F-6666-60C6-342468A47525}"/>
                </a:ext>
              </a:extLst>
            </p:cNvPr>
            <p:cNvSpPr/>
            <p:nvPr/>
          </p:nvSpPr>
          <p:spPr>
            <a:xfrm>
              <a:off x="4420021" y="3735660"/>
              <a:ext cx="4776140" cy="485227"/>
            </a:xfrm>
            <a:prstGeom prst="wedgeRectCallout">
              <a:avLst>
                <a:gd name="adj1" fmla="val -61106"/>
                <a:gd name="adj2" fmla="val -35381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==</a:t>
              </a:r>
              <a:r>
                <a:rPr lang="en-US" dirty="0"/>
                <a:t> is an equality test (checks value of variable </a:t>
              </a:r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  <a:r>
                <a:rPr lang="en-US" dirty="0"/>
                <a:t>)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62985F8-71FB-CDB8-6A8D-8CB753E0CED0}"/>
              </a:ext>
            </a:extLst>
          </p:cNvPr>
          <p:cNvGrpSpPr/>
          <p:nvPr/>
        </p:nvGrpSpPr>
        <p:grpSpPr>
          <a:xfrm>
            <a:off x="905915" y="3196157"/>
            <a:ext cx="7012622" cy="2932386"/>
            <a:chOff x="905915" y="3196157"/>
            <a:chExt cx="7012622" cy="293238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832AECC-0E61-C223-7D23-E257C9E6A292}"/>
                </a:ext>
              </a:extLst>
            </p:cNvPr>
            <p:cNvGrpSpPr/>
            <p:nvPr/>
          </p:nvGrpSpPr>
          <p:grpSpPr>
            <a:xfrm>
              <a:off x="905915" y="3196157"/>
              <a:ext cx="7012622" cy="2932386"/>
              <a:chOff x="246157" y="3368877"/>
              <a:chExt cx="7012622" cy="2932386"/>
            </a:xfrm>
            <a:solidFill>
              <a:srgbClr val="C00000">
                <a:alpha val="20205"/>
              </a:srgbClr>
            </a:solidFill>
          </p:grpSpPr>
          <p:sp>
            <p:nvSpPr>
              <p:cNvPr id="24" name="Rectangular Callout 23">
                <a:extLst>
                  <a:ext uri="{FF2B5EF4-FFF2-40B4-BE49-F238E27FC236}">
                    <a16:creationId xmlns:a16="http://schemas.microsoft.com/office/drawing/2014/main" id="{838F5657-5724-AC6F-678C-EDC35C819020}"/>
                  </a:ext>
                </a:extLst>
              </p:cNvPr>
              <p:cNvSpPr/>
              <p:nvPr/>
            </p:nvSpPr>
            <p:spPr>
              <a:xfrm>
                <a:off x="246157" y="5816036"/>
                <a:ext cx="4125668" cy="485227"/>
              </a:xfrm>
              <a:prstGeom prst="wedgeRectCallout">
                <a:avLst>
                  <a:gd name="adj1" fmla="val -4557"/>
                  <a:gd name="adj2" fmla="val -135569"/>
                </a:avLst>
              </a:prstGeom>
              <a:solidFill>
                <a:srgbClr val="F5D1C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/>
                  <a:t>Braces 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{}</a:t>
                </a:r>
                <a:r>
                  <a:rPr lang="en-US" dirty="0"/>
                  <a:t>  encloses a block of statements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7557830-E8A6-3D2B-423F-8E68AAEC69BF}"/>
                  </a:ext>
                </a:extLst>
              </p:cNvPr>
              <p:cNvSpPr/>
              <p:nvPr/>
            </p:nvSpPr>
            <p:spPr>
              <a:xfrm>
                <a:off x="2405447" y="4220887"/>
                <a:ext cx="250645" cy="296132"/>
              </a:xfrm>
              <a:prstGeom prst="rect">
                <a:avLst/>
              </a:prstGeom>
              <a:grp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FEC32CB-BECE-3BF4-7FDD-1C41005C42E3}"/>
                  </a:ext>
                </a:extLst>
              </p:cNvPr>
              <p:cNvSpPr/>
              <p:nvPr/>
            </p:nvSpPr>
            <p:spPr>
              <a:xfrm>
                <a:off x="2405447" y="4776765"/>
                <a:ext cx="250645" cy="296132"/>
              </a:xfrm>
              <a:prstGeom prst="rect">
                <a:avLst/>
              </a:prstGeom>
              <a:grp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53F29DD-3483-2EAD-F069-F94F7E838FFA}"/>
                  </a:ext>
                </a:extLst>
              </p:cNvPr>
              <p:cNvSpPr/>
              <p:nvPr/>
            </p:nvSpPr>
            <p:spPr>
              <a:xfrm>
                <a:off x="2058346" y="5047894"/>
                <a:ext cx="250645" cy="296132"/>
              </a:xfrm>
              <a:prstGeom prst="rect">
                <a:avLst/>
              </a:prstGeom>
              <a:grp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5E3598C-59EA-11B7-BFAA-AC2BD652C34A}"/>
                  </a:ext>
                </a:extLst>
              </p:cNvPr>
              <p:cNvSpPr/>
              <p:nvPr/>
            </p:nvSpPr>
            <p:spPr>
              <a:xfrm>
                <a:off x="3958468" y="3670396"/>
                <a:ext cx="250645" cy="296132"/>
              </a:xfrm>
              <a:prstGeom prst="rect">
                <a:avLst/>
              </a:prstGeom>
              <a:grp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1F399E7-47E0-AA39-806B-A584C2AA3529}"/>
                  </a:ext>
                </a:extLst>
              </p:cNvPr>
              <p:cNvSpPr/>
              <p:nvPr/>
            </p:nvSpPr>
            <p:spPr>
              <a:xfrm>
                <a:off x="7008134" y="3368877"/>
                <a:ext cx="250645" cy="296132"/>
              </a:xfrm>
              <a:prstGeom prst="rect">
                <a:avLst/>
              </a:prstGeom>
              <a:grp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A52E0B2-E3D4-7B94-B103-5A747D12FF4E}"/>
                </a:ext>
              </a:extLst>
            </p:cNvPr>
            <p:cNvSpPr/>
            <p:nvPr/>
          </p:nvSpPr>
          <p:spPr>
            <a:xfrm>
              <a:off x="4028866" y="4049739"/>
              <a:ext cx="250645" cy="296132"/>
            </a:xfrm>
            <a:prstGeom prst="rect">
              <a:avLst/>
            </a:prstGeom>
            <a:solidFill>
              <a:srgbClr val="C00000">
                <a:alpha val="20205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A5086-22D4-92EC-D59D-737056D0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6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BA1F-C000-5BC1-CCCA-91E79D309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r>
              <a:rPr lang="en-US" dirty="0"/>
              <a:t>Example: Factorial Program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FEAC7-B5E8-AF60-7974-A5170B9AF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976" y="1355023"/>
            <a:ext cx="5953271" cy="48719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0101361-BD8D-B135-78A0-001304A9F0B9}"/>
              </a:ext>
            </a:extLst>
          </p:cNvPr>
          <p:cNvGrpSpPr/>
          <p:nvPr/>
        </p:nvGrpSpPr>
        <p:grpSpPr>
          <a:xfrm>
            <a:off x="4553378" y="939076"/>
            <a:ext cx="6798189" cy="999368"/>
            <a:chOff x="2075468" y="2665641"/>
            <a:chExt cx="6798189" cy="999368"/>
          </a:xfrm>
          <a:solidFill>
            <a:srgbClr val="92D050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6F543C6-6AAF-E936-58F5-8289F562EB24}"/>
                </a:ext>
              </a:extLst>
            </p:cNvPr>
            <p:cNvSpPr/>
            <p:nvPr/>
          </p:nvSpPr>
          <p:spPr>
            <a:xfrm>
              <a:off x="2075468" y="3368877"/>
              <a:ext cx="1963166" cy="296132"/>
            </a:xfrm>
            <a:prstGeom prst="rect">
              <a:avLst/>
            </a:prstGeom>
            <a:solidFill>
              <a:srgbClr val="92D050">
                <a:alpha val="32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ular Callout 6">
              <a:extLst>
                <a:ext uri="{FF2B5EF4-FFF2-40B4-BE49-F238E27FC236}">
                  <a16:creationId xmlns:a16="http://schemas.microsoft.com/office/drawing/2014/main" id="{ED09E632-5BFA-AE88-3A6B-4A0E23F3CEE3}"/>
                </a:ext>
              </a:extLst>
            </p:cNvPr>
            <p:cNvSpPr/>
            <p:nvPr/>
          </p:nvSpPr>
          <p:spPr>
            <a:xfrm>
              <a:off x="4335487" y="2665641"/>
              <a:ext cx="4538170" cy="831894"/>
            </a:xfrm>
            <a:prstGeom prst="wedgeRectCallout">
              <a:avLst>
                <a:gd name="adj1" fmla="val -57580"/>
                <a:gd name="adj2" fmla="val 43128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&lt;</a:t>
              </a:r>
              <a:r>
                <a:rPr lang="en-US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stdio.h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  <a:r>
                <a:rPr lang="en-US" sz="1600" dirty="0"/>
                <a:t>  </a:t>
              </a:r>
              <a:r>
                <a:rPr lang="en-US" sz="1600" dirty="0">
                  <a:effectLst/>
                </a:rPr>
                <a:t>is a header file for the standard library input/output functions </a:t>
              </a:r>
            </a:p>
            <a:p>
              <a:r>
                <a:rPr lang="en-US" sz="1600" dirty="0"/>
                <a:t>including 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&lt;</a:t>
              </a:r>
              <a:r>
                <a:rPr lang="en-US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stdio.h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&gt;</a:t>
              </a:r>
              <a:r>
                <a:rPr lang="en-US" sz="1600" dirty="0">
                  <a:latin typeface="Courier" pitchFamily="2" charset="0"/>
                </a:rPr>
                <a:t> </a:t>
              </a:r>
              <a:r>
                <a:rPr lang="en-US" sz="1600" dirty="0"/>
                <a:t>allows use of </a:t>
              </a:r>
              <a:r>
                <a:rPr lang="en-US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sz="1600" b="1" dirty="0">
                <a:effectLst/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F1C3CD-6562-9D25-2F33-996E21DAC107}"/>
              </a:ext>
            </a:extLst>
          </p:cNvPr>
          <p:cNvGrpSpPr/>
          <p:nvPr/>
        </p:nvGrpSpPr>
        <p:grpSpPr>
          <a:xfrm>
            <a:off x="4879766" y="4355334"/>
            <a:ext cx="7167205" cy="899572"/>
            <a:chOff x="3733873" y="3368877"/>
            <a:chExt cx="7167205" cy="899572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83F5476-1FEE-D91F-0458-D8ECD18F6384}"/>
                </a:ext>
              </a:extLst>
            </p:cNvPr>
            <p:cNvSpPr/>
            <p:nvPr/>
          </p:nvSpPr>
          <p:spPr>
            <a:xfrm>
              <a:off x="3733873" y="3368877"/>
              <a:ext cx="849701" cy="29613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8214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3" name="Rectangular Callout 12">
              <a:extLst>
                <a:ext uri="{FF2B5EF4-FFF2-40B4-BE49-F238E27FC236}">
                  <a16:creationId xmlns:a16="http://schemas.microsoft.com/office/drawing/2014/main" id="{9484AE4A-AB6A-BF29-8BB5-45D11718D7F5}"/>
                </a:ext>
              </a:extLst>
            </p:cNvPr>
            <p:cNvSpPr/>
            <p:nvPr/>
          </p:nvSpPr>
          <p:spPr>
            <a:xfrm>
              <a:off x="7014256" y="3544758"/>
              <a:ext cx="3886822" cy="723691"/>
            </a:xfrm>
            <a:prstGeom prst="wedgeRectCallout">
              <a:avLst>
                <a:gd name="adj1" fmla="val -110442"/>
                <a:gd name="adj2" fmla="val -51523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en-US" sz="1600" dirty="0">
                  <a:solidFill>
                    <a:schemeClr val="tx1"/>
                  </a:solidFill>
                  <a:effectLst/>
                </a:rPr>
                <a:t> return type indicates no return value</a:t>
              </a:r>
              <a:br>
                <a:rPr lang="en-US" sz="1600" dirty="0">
                  <a:solidFill>
                    <a:schemeClr val="tx1"/>
                  </a:solidFill>
                  <a:effectLst/>
                </a:rPr>
              </a:br>
              <a:r>
                <a:rPr lang="en-US" sz="1600" dirty="0">
                  <a:solidFill>
                    <a:schemeClr val="tx1"/>
                  </a:solidFill>
                  <a:effectLst/>
                </a:rPr>
                <a:t>a </a:t>
              </a:r>
              <a:r>
                <a:rPr lang="en-US" sz="1600" b="1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  <a:cs typeface="Consolas" panose="020B0609020204030204" pitchFamily="49" charset="0"/>
                </a:rPr>
                <a:t>return</a:t>
              </a:r>
              <a:r>
                <a:rPr lang="en-US" sz="1600" dirty="0">
                  <a:solidFill>
                    <a:schemeClr val="tx1"/>
                  </a:solidFill>
                  <a:effectLst/>
                </a:rPr>
                <a:t> statement is optional in this case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4E1E83-D50E-C277-CACE-C4D016BBA430}"/>
              </a:ext>
            </a:extLst>
          </p:cNvPr>
          <p:cNvGrpSpPr/>
          <p:nvPr/>
        </p:nvGrpSpPr>
        <p:grpSpPr>
          <a:xfrm>
            <a:off x="76191" y="3827037"/>
            <a:ext cx="5314143" cy="2882097"/>
            <a:chOff x="-2084475" y="2414208"/>
            <a:chExt cx="5314143" cy="2882097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0E9931-10A0-24FB-A981-7BE1EA405A99}"/>
                </a:ext>
              </a:extLst>
            </p:cNvPr>
            <p:cNvSpPr/>
            <p:nvPr/>
          </p:nvSpPr>
          <p:spPr>
            <a:xfrm>
              <a:off x="2768583" y="3665009"/>
              <a:ext cx="461085" cy="29613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607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6" name="Rectangular Callout 15">
              <a:extLst>
                <a:ext uri="{FF2B5EF4-FFF2-40B4-BE49-F238E27FC236}">
                  <a16:creationId xmlns:a16="http://schemas.microsoft.com/office/drawing/2014/main" id="{9C2D1BF1-2FC9-10E7-8132-F7578035F866}"/>
                </a:ext>
              </a:extLst>
            </p:cNvPr>
            <p:cNvSpPr/>
            <p:nvPr/>
          </p:nvSpPr>
          <p:spPr>
            <a:xfrm>
              <a:off x="-2084475" y="2414208"/>
              <a:ext cx="3948438" cy="2882097"/>
            </a:xfrm>
            <a:prstGeom prst="wedgeRectCallout">
              <a:avLst>
                <a:gd name="adj1" fmla="val 79122"/>
                <a:gd name="adj2" fmla="val 2058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en-US" sz="1600" dirty="0"/>
                <a:t> is a special function name</a:t>
              </a:r>
            </a:p>
            <a:p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en-US" sz="1600" dirty="0"/>
                <a:t> runs when you run the program</a:t>
              </a:r>
            </a:p>
            <a:p>
              <a:r>
                <a:rPr lang="en-US" sz="1600" dirty="0"/>
                <a:t>convention: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main has 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en-US" sz="1600" dirty="0"/>
                <a:t> return type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returns 0 to denote success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returns non-zero to denote an error</a:t>
              </a:r>
            </a:p>
            <a:p>
              <a:r>
                <a:rPr lang="en-US" sz="1600" dirty="0">
                  <a:cs typeface="Consolas" panose="020B0609020204030204" pitchFamily="49" charset="0"/>
                </a:rPr>
                <a:t>arguments: 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int </a:t>
              </a:r>
              <a:r>
                <a:rPr lang="en-US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argc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, char** </a:t>
              </a:r>
              <a:r>
                <a:rPr lang="en-US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argv</a:t>
              </a:r>
              <a:endParaRPr lang="en-US" sz="1600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supports commend-line input (we’ll cover these much later)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can optionally declare without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D7A870-172C-3273-4CF7-E9D80A2FE93F}"/>
              </a:ext>
            </a:extLst>
          </p:cNvPr>
          <p:cNvGrpSpPr/>
          <p:nvPr/>
        </p:nvGrpSpPr>
        <p:grpSpPr>
          <a:xfrm>
            <a:off x="200742" y="2357165"/>
            <a:ext cx="9924238" cy="2050894"/>
            <a:chOff x="-5587138" y="-1018281"/>
            <a:chExt cx="9924238" cy="2050894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9" name="Rectangular Callout 18">
              <a:extLst>
                <a:ext uri="{FF2B5EF4-FFF2-40B4-BE49-F238E27FC236}">
                  <a16:creationId xmlns:a16="http://schemas.microsoft.com/office/drawing/2014/main" id="{41D142E1-C124-3BEA-E0B4-14C1BF865256}"/>
                </a:ext>
              </a:extLst>
            </p:cNvPr>
            <p:cNvSpPr/>
            <p:nvPr/>
          </p:nvSpPr>
          <p:spPr>
            <a:xfrm>
              <a:off x="-5587138" y="-1018281"/>
              <a:ext cx="3915326" cy="1247286"/>
            </a:xfrm>
            <a:prstGeom prst="wedgeRectCallout">
              <a:avLst>
                <a:gd name="adj1" fmla="val 71667"/>
                <a:gd name="adj2" fmla="val 98226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r>
                <a:rPr lang="en-US" sz="16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(…)</a:t>
              </a:r>
              <a:r>
                <a:rPr lang="en-US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performs output to screen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takes variable number of arguments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first argument is a format string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EB64FE3-B25C-50A9-F4F7-9DFAE5EF99A5}"/>
                </a:ext>
              </a:extLst>
            </p:cNvPr>
            <p:cNvSpPr/>
            <p:nvPr/>
          </p:nvSpPr>
          <p:spPr>
            <a:xfrm>
              <a:off x="-942835" y="736481"/>
              <a:ext cx="5279935" cy="296132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44037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21" name="Rectangular Callout 20">
            <a:extLst>
              <a:ext uri="{FF2B5EF4-FFF2-40B4-BE49-F238E27FC236}">
                <a16:creationId xmlns:a16="http://schemas.microsoft.com/office/drawing/2014/main" id="{3BFF352B-10EC-4FEB-A38C-F9577B25B530}"/>
              </a:ext>
            </a:extLst>
          </p:cNvPr>
          <p:cNvSpPr/>
          <p:nvPr/>
        </p:nvSpPr>
        <p:spPr>
          <a:xfrm>
            <a:off x="8376606" y="2037973"/>
            <a:ext cx="3774540" cy="1914345"/>
          </a:xfrm>
          <a:prstGeom prst="wedgeRectCallout">
            <a:avLst>
              <a:gd name="adj1" fmla="val -73312"/>
              <a:gd name="adj2" fmla="val 55689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"%__"</a:t>
            </a: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 be replaced by subsequent argument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2</a:t>
            </a:r>
            <a:r>
              <a:rPr lang="en-US" sz="1600" baseline="30000" dirty="0"/>
              <a:t>nd</a:t>
            </a:r>
            <a:r>
              <a:rPr lang="en-US" sz="1600" dirty="0"/>
              <a:t> character denotes argument type, e.g.,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u</a:t>
            </a:r>
            <a:r>
              <a:rPr lang="en-US" sz="1600" dirty="0"/>
              <a:t> denotes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unsigned int</a:t>
            </a:r>
          </a:p>
          <a:p>
            <a:endParaRPr lang="en-US" sz="1600" dirty="0"/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“\n”</a:t>
            </a:r>
            <a:r>
              <a:rPr lang="en-US" sz="1600" dirty="0"/>
              <a:t> denotes new line, any additional output would appear on the next 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C55DE5-2DAD-3AD6-06FF-B61D9812C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A17C-3534-DB20-0F28-5776C175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D8510-2707-1917-C347-049750689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Course theme</a:t>
            </a:r>
          </a:p>
          <a:p>
            <a:r>
              <a:rPr lang="en-US" strike="sngStrike" dirty="0"/>
              <a:t>Example C code</a:t>
            </a:r>
          </a:p>
          <a:p>
            <a:r>
              <a:rPr lang="en-US" dirty="0"/>
              <a:t>Setting up environment</a:t>
            </a:r>
          </a:p>
          <a:p>
            <a:r>
              <a:rPr lang="en-US" dirty="0"/>
              <a:t>Logistics</a:t>
            </a:r>
          </a:p>
          <a:p>
            <a:r>
              <a:rPr lang="en-US" dirty="0"/>
              <a:t>Getting help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D9718-4A0F-7A62-9710-0B3C56B2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53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2CB02-1D86-F952-3D63-4DA1428F3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working environment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FE2137-2300-B8BE-DD03-004789753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48200" cy="3903966"/>
          </a:xfrm>
        </p:spPr>
        <p:txBody>
          <a:bodyPr/>
          <a:lstStyle/>
          <a:p>
            <a:r>
              <a:rPr lang="en-US" dirty="0"/>
              <a:t>Editor: Vim </a:t>
            </a:r>
          </a:p>
          <a:p>
            <a:endParaRPr lang="en-US" dirty="0"/>
          </a:p>
          <a:p>
            <a:r>
              <a:rPr lang="en-US" dirty="0"/>
              <a:t>Compiler: Clang</a:t>
            </a:r>
          </a:p>
          <a:p>
            <a:endParaRPr lang="en-US" dirty="0"/>
          </a:p>
          <a:p>
            <a:r>
              <a:rPr lang="en-US" dirty="0"/>
              <a:t>Command line interface: Bash</a:t>
            </a:r>
          </a:p>
          <a:p>
            <a:endParaRPr lang="en-US" dirty="0"/>
          </a:p>
          <a:p>
            <a:r>
              <a:rPr lang="en-US" b="1" dirty="0"/>
              <a:t>(part of Lab 1 on Tuesday)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3364BB-2EDB-27B8-3225-F065B9009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27765"/>
            <a:ext cx="2162783" cy="2457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2AFA74-18C9-22CB-5548-4481B8FFD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61841"/>
            <a:ext cx="5270500" cy="4089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A20A83-B18A-DF29-B5EB-99A2FF926CA4}"/>
              </a:ext>
            </a:extLst>
          </p:cNvPr>
          <p:cNvSpPr txBox="1"/>
          <p:nvPr/>
        </p:nvSpPr>
        <p:spPr>
          <a:xfrm>
            <a:off x="6079785" y="1439693"/>
            <a:ext cx="2727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Type this in terminal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DC709-81FB-CCE0-E181-4EE9DCC9F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47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24C6-8BF6-E1BF-39CD-A356BC411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Running “Factorial” Program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6E1DE-E975-FAE7-55E5-4794C420E5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504"/>
          <a:stretch/>
        </p:blipFill>
        <p:spPr>
          <a:xfrm>
            <a:off x="6868907" y="2293042"/>
            <a:ext cx="2628019" cy="3070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13D0DE-D52E-4D03-46E3-57E2DACB73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908" b="29854"/>
          <a:stretch/>
        </p:blipFill>
        <p:spPr>
          <a:xfrm>
            <a:off x="6868907" y="4174435"/>
            <a:ext cx="2628019" cy="501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03DA1F-B813-7645-D1E8-C45FD8136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62" y="1819708"/>
            <a:ext cx="5953271" cy="48719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98B8DC-FE63-499E-B277-C10A13E0ECB6}"/>
              </a:ext>
            </a:extLst>
          </p:cNvPr>
          <p:cNvSpPr txBox="1"/>
          <p:nvPr/>
        </p:nvSpPr>
        <p:spPr>
          <a:xfrm>
            <a:off x="6713620" y="1889471"/>
            <a:ext cx="47970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Compiling (specifying executable name):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3552A-8D4C-276F-4185-D8DF1E1873B2}"/>
              </a:ext>
            </a:extLst>
          </p:cNvPr>
          <p:cNvSpPr txBox="1"/>
          <p:nvPr/>
        </p:nvSpPr>
        <p:spPr>
          <a:xfrm>
            <a:off x="6749639" y="3775076"/>
            <a:ext cx="1200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Running: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1E8F51-FDEE-4BF4-48F0-979C9D5D9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25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7D59-307E-C95A-F6BC-51249F2F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Running “Factorial” Program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C91E6B-1F55-64DE-9020-A584CB93F8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721"/>
          <a:stretch/>
        </p:blipFill>
        <p:spPr>
          <a:xfrm>
            <a:off x="6845890" y="2308069"/>
            <a:ext cx="4007441" cy="2708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9429BE-1497-39A9-64EA-41AA73E4C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62" y="1819708"/>
            <a:ext cx="5953271" cy="48719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26E363-DF9C-D80D-1310-D407BEFF44FF}"/>
              </a:ext>
            </a:extLst>
          </p:cNvPr>
          <p:cNvSpPr txBox="1"/>
          <p:nvPr/>
        </p:nvSpPr>
        <p:spPr>
          <a:xfrm>
            <a:off x="6713620" y="1889471"/>
            <a:ext cx="47970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Compiling (specifying executable name):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CD270-0406-C577-6978-A198D00BF6D8}"/>
              </a:ext>
            </a:extLst>
          </p:cNvPr>
          <p:cNvSpPr txBox="1"/>
          <p:nvPr/>
        </p:nvSpPr>
        <p:spPr>
          <a:xfrm>
            <a:off x="6749639" y="3775076"/>
            <a:ext cx="1200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Running: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F25A5D-4ECE-CE4B-7881-D02CF9218F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650"/>
          <a:stretch/>
        </p:blipFill>
        <p:spPr>
          <a:xfrm>
            <a:off x="6845890" y="4195813"/>
            <a:ext cx="4007441" cy="5232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E9525C-8149-C7A9-4434-D1E84BF0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19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E622-7617-9BC2-C500-5720F54B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interface: Bash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657229-4273-F63F-2925-ADDDBE03A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8260" cy="3816418"/>
          </a:xfrm>
        </p:spPr>
        <p:txBody>
          <a:bodyPr/>
          <a:lstStyle/>
          <a:p>
            <a:r>
              <a:rPr lang="en-US" dirty="0"/>
              <a:t>Bash (default shell in </a:t>
            </a:r>
            <a:r>
              <a:rPr lang="en-US" dirty="0" err="1"/>
              <a:t>unix</a:t>
            </a:r>
            <a:r>
              <a:rPr lang="en-US" dirty="0"/>
              <a:t>) is much more powerful than opening, compiling and executing C programs. </a:t>
            </a:r>
          </a:p>
          <a:p>
            <a:endParaRPr lang="en-US" dirty="0"/>
          </a:p>
          <a:p>
            <a:r>
              <a:rPr lang="en-US" dirty="0"/>
              <a:t>Example: counting unique values in a specific column of a csv file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52C85-3D44-7653-C920-1639C484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11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A17C-3534-DB20-0F28-5776C175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D8510-2707-1917-C347-049750689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Course theme</a:t>
            </a:r>
          </a:p>
          <a:p>
            <a:r>
              <a:rPr lang="en-US" strike="sngStrike" dirty="0"/>
              <a:t>Example C code</a:t>
            </a:r>
          </a:p>
          <a:p>
            <a:r>
              <a:rPr lang="en-US" strike="sngStrike" dirty="0"/>
              <a:t>Setting up environment</a:t>
            </a:r>
          </a:p>
          <a:p>
            <a:r>
              <a:rPr lang="en-US" dirty="0"/>
              <a:t>Logistics</a:t>
            </a:r>
          </a:p>
          <a:p>
            <a:r>
              <a:rPr lang="en-US" dirty="0"/>
              <a:t>Getting help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C8E82-8190-6AE3-517F-1049D3FB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79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E21F2-4152-C3FC-2623-153ADCE4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AF995-2F43-8C11-E10A-C90850A0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661474"/>
          </a:xfrm>
        </p:spPr>
        <p:txBody>
          <a:bodyPr>
            <a:normAutofit/>
          </a:bodyPr>
          <a:lstStyle/>
          <a:p>
            <a:r>
              <a:rPr lang="en-US" b="1" dirty="0"/>
              <a:t>Course site on Canvas</a:t>
            </a:r>
            <a:r>
              <a:rPr lang="en-US" dirty="0"/>
              <a:t>: https://</a:t>
            </a:r>
            <a:r>
              <a:rPr lang="en-US" dirty="0" err="1"/>
              <a:t>canvas.uchicago.edu</a:t>
            </a:r>
            <a:r>
              <a:rPr lang="en-US" dirty="0"/>
              <a:t>/courses/49727</a:t>
            </a:r>
          </a:p>
          <a:p>
            <a:endParaRPr lang="en-US" dirty="0"/>
          </a:p>
          <a:p>
            <a:r>
              <a:rPr lang="en-US" b="1" dirty="0"/>
              <a:t>Course document</a:t>
            </a:r>
            <a:r>
              <a:rPr lang="en-US" dirty="0"/>
              <a:t> on Canvas</a:t>
            </a:r>
            <a:endParaRPr lang="en-US" b="1" dirty="0"/>
          </a:p>
          <a:p>
            <a:pPr lvl="1"/>
            <a:r>
              <a:rPr lang="en-US" dirty="0"/>
              <a:t>including syllabus, grading, homework, labs, policy, …</a:t>
            </a:r>
          </a:p>
          <a:p>
            <a:endParaRPr lang="en-US" dirty="0"/>
          </a:p>
          <a:p>
            <a:r>
              <a:rPr lang="en-US" b="1" dirty="0"/>
              <a:t>Lecture slides</a:t>
            </a:r>
            <a:r>
              <a:rPr lang="en-US" dirty="0"/>
              <a:t> will be put on Canvas.</a:t>
            </a:r>
          </a:p>
          <a:p>
            <a:endParaRPr lang="en-US" dirty="0"/>
          </a:p>
          <a:p>
            <a:r>
              <a:rPr lang="en-US" dirty="0"/>
              <a:t>Textbook: </a:t>
            </a:r>
            <a:r>
              <a:rPr lang="en-US" i="1" dirty="0"/>
              <a:t>The C Programming Language (Second Edition)</a:t>
            </a:r>
            <a:r>
              <a:rPr lang="en-US" dirty="0"/>
              <a:t>, Kernighan, Ritchie.</a:t>
            </a:r>
          </a:p>
          <a:p>
            <a:pPr lvl="1"/>
            <a:r>
              <a:rPr lang="en-US" dirty="0"/>
              <a:t>The book is an excellent technical reference.</a:t>
            </a:r>
          </a:p>
          <a:p>
            <a:pPr lvl="1"/>
            <a:r>
              <a:rPr lang="en-US" dirty="0"/>
              <a:t>Exams are covered by Lectures, HWs and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9001F-3C7D-6559-24DF-37F68FC4C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68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C190-F183-E397-24E6-C6857D121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BE9C6-3566-1B23-E036-58CD58B5B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Weekly assignments</a:t>
            </a:r>
          </a:p>
          <a:p>
            <a:endParaRPr lang="en-US" dirty="0"/>
          </a:p>
          <a:p>
            <a:r>
              <a:rPr lang="en-US" dirty="0"/>
              <a:t>Writing C code to enhance your understanding of the programming concepts</a:t>
            </a:r>
          </a:p>
          <a:p>
            <a:r>
              <a:rPr lang="en-US" dirty="0"/>
              <a:t>Also makes you a better programmer</a:t>
            </a:r>
          </a:p>
          <a:p>
            <a:endParaRPr lang="en-US" dirty="0"/>
          </a:p>
          <a:p>
            <a:r>
              <a:rPr lang="en-US" dirty="0"/>
              <a:t>Due every </a:t>
            </a:r>
            <a:r>
              <a:rPr lang="en-US" b="1" dirty="0"/>
              <a:t>Monday 11:59pm, Chicago time</a:t>
            </a:r>
          </a:p>
          <a:p>
            <a:endParaRPr lang="en-US" dirty="0"/>
          </a:p>
          <a:p>
            <a:r>
              <a:rPr lang="en-US" dirty="0"/>
              <a:t>Late policy:</a:t>
            </a:r>
          </a:p>
          <a:p>
            <a:pPr lvl="1"/>
            <a:r>
              <a:rPr lang="en-US" dirty="0"/>
              <a:t>No late extension</a:t>
            </a:r>
          </a:p>
          <a:p>
            <a:pPr lvl="1"/>
            <a:r>
              <a:rPr lang="en-US" dirty="0"/>
              <a:t>For everyone: we drop the lowest Homework grade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367A8-BFDA-BDD6-691C-5C858C59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56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4439-69DF-BC4B-1997-83F2C25A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4FCDE-F6C0-576A-393A-922ECBA2D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necessary tools of </a:t>
            </a:r>
            <a:r>
              <a:rPr lang="en-US" dirty="0">
                <a:solidFill>
                  <a:srgbClr val="C00000"/>
                </a:solidFill>
              </a:rPr>
              <a:t>coding, testing, debugging, …</a:t>
            </a:r>
          </a:p>
          <a:p>
            <a:r>
              <a:rPr lang="en-US" dirty="0"/>
              <a:t>Very helpful for coding homework questions</a:t>
            </a:r>
          </a:p>
          <a:p>
            <a:r>
              <a:rPr lang="en-US" dirty="0">
                <a:solidFill>
                  <a:srgbClr val="C00000"/>
                </a:solidFill>
              </a:rPr>
              <a:t>STRONGLY</a:t>
            </a:r>
            <a:r>
              <a:rPr lang="en-US" dirty="0"/>
              <a:t> encouraged to attend!</a:t>
            </a:r>
          </a:p>
          <a:p>
            <a:pPr lvl="1"/>
            <a:r>
              <a:rPr lang="en-US" dirty="0"/>
              <a:t>May appear in Exam and Quiz questions</a:t>
            </a:r>
          </a:p>
          <a:p>
            <a:endParaRPr lang="en-US" dirty="0"/>
          </a:p>
          <a:p>
            <a:r>
              <a:rPr lang="en-US" dirty="0"/>
              <a:t>Three sessions on Tuesdays in CSIL</a:t>
            </a:r>
          </a:p>
          <a:p>
            <a:pPr lvl="1"/>
            <a:r>
              <a:rPr lang="en-US" dirty="0"/>
              <a:t>Tues 3:30pm–4:50pm, 5:00pm–6:20pm, 6:30pm–7:50pm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14C68-A27D-0D4F-0AE8-48533C8F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20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3442-198E-486A-632E-F8898836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and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26E1B-943D-0B11-B9EB-C9468CCC7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Quiz: </a:t>
            </a:r>
          </a:p>
          <a:p>
            <a:pPr lvl="1"/>
            <a:r>
              <a:rPr lang="en-US" dirty="0"/>
              <a:t>Monday, April 17</a:t>
            </a:r>
          </a:p>
          <a:p>
            <a:pPr lvl="1"/>
            <a:r>
              <a:rPr lang="en-US" dirty="0"/>
              <a:t>In-class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Exam: </a:t>
            </a:r>
          </a:p>
          <a:p>
            <a:pPr lvl="1"/>
            <a:r>
              <a:rPr lang="en-US" dirty="0"/>
              <a:t>about May 23 (time and location announced later)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9DF033D-EDDC-BAC8-41CC-365A97869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063104"/>
              </p:ext>
            </p:extLst>
          </p:nvPr>
        </p:nvGraphicFramePr>
        <p:xfrm>
          <a:off x="8658835" y="2523943"/>
          <a:ext cx="2917129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336">
                  <a:extLst>
                    <a:ext uri="{9D8B030D-6E8A-4147-A177-3AD203B41FA5}">
                      <a16:colId xmlns:a16="http://schemas.microsoft.com/office/drawing/2014/main" val="1552558683"/>
                    </a:ext>
                  </a:extLst>
                </a:gridCol>
                <a:gridCol w="879793">
                  <a:extLst>
                    <a:ext uri="{9D8B030D-6E8A-4147-A177-3AD203B41FA5}">
                      <a16:colId xmlns:a16="http://schemas.microsoft.com/office/drawing/2014/main" val="950735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Homework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913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Quiz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151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Exam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39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037EA7-1063-81F3-FFCE-5450F29440D7}"/>
              </a:ext>
            </a:extLst>
          </p:cNvPr>
          <p:cNvSpPr txBox="1"/>
          <p:nvPr/>
        </p:nvSpPr>
        <p:spPr>
          <a:xfrm>
            <a:off x="9335514" y="1927341"/>
            <a:ext cx="1186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Grading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B8936-B454-EE52-C400-8D30DA3E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26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A17C-3534-DB20-0F28-5776C175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D8510-2707-1917-C347-049750689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Course theme</a:t>
            </a:r>
          </a:p>
          <a:p>
            <a:r>
              <a:rPr lang="en-US" strike="sngStrike" dirty="0"/>
              <a:t>Example C code</a:t>
            </a:r>
          </a:p>
          <a:p>
            <a:r>
              <a:rPr lang="en-US" strike="sngStrike" dirty="0"/>
              <a:t>Setting up environment</a:t>
            </a:r>
          </a:p>
          <a:p>
            <a:r>
              <a:rPr lang="en-US" strike="sngStrike" dirty="0"/>
              <a:t>Logistics</a:t>
            </a:r>
          </a:p>
          <a:p>
            <a:r>
              <a:rPr lang="en-US" dirty="0"/>
              <a:t>Getting help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237C3-5A9D-1D66-473B-7ED1BE983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07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B1AC0-DCD9-9514-0E4F-5E7FD46D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F34F1-D113-3A49-C470-B5150A189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need help on lectures and HWs, where should I go?</a:t>
            </a:r>
          </a:p>
          <a:p>
            <a:pPr lvl="1"/>
            <a:r>
              <a:rPr lang="en-US" dirty="0"/>
              <a:t>ED: </a:t>
            </a:r>
            <a:r>
              <a:rPr lang="en-US" dirty="0">
                <a:hlinkClick r:id="rId3"/>
              </a:rPr>
              <a:t>https://edstem.org</a:t>
            </a:r>
            <a:r>
              <a:rPr lang="en-US">
                <a:hlinkClick r:id="rId3"/>
              </a:rPr>
              <a:t>/us/courses/38041/discussion/</a:t>
            </a:r>
            <a:endParaRPr lang="en-US"/>
          </a:p>
          <a:p>
            <a:pPr lvl="2"/>
            <a:r>
              <a:rPr lang="en-US"/>
              <a:t>We </a:t>
            </a:r>
            <a:r>
              <a:rPr lang="en-US" dirty="0"/>
              <a:t>will response as fast as possible</a:t>
            </a:r>
          </a:p>
          <a:p>
            <a:pPr lvl="2"/>
            <a:r>
              <a:rPr lang="en-US" dirty="0"/>
              <a:t>If not, re-post – We actively monitor this</a:t>
            </a:r>
          </a:p>
          <a:p>
            <a:pPr lvl="2"/>
            <a:r>
              <a:rPr lang="en-US" dirty="0"/>
              <a:t>TAG your posts properly (e.g., “hw1”)</a:t>
            </a:r>
          </a:p>
          <a:p>
            <a:pPr lvl="1"/>
            <a:r>
              <a:rPr lang="en-US" dirty="0"/>
              <a:t>Office hours (TAs, instructors): To be announced soon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866E3-76C2-631B-E11C-08585E06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77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3DE1-D104-170D-D51D-4946D88B0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Help, Help, Help!!! … Start early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FDF84-9B30-85F3-2101-D309C96B8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Deadline is less than 24 </a:t>
            </a:r>
            <a:r>
              <a:rPr lang="en-US" dirty="0" err="1"/>
              <a:t>hr</a:t>
            </a:r>
            <a:r>
              <a:rPr lang="en-US" dirty="0"/>
              <a:t>, but I’m not getting enough help.</a:t>
            </a:r>
          </a:p>
          <a:p>
            <a:pPr lvl="1"/>
            <a:r>
              <a:rPr lang="en-US" dirty="0"/>
              <a:t>We will try out best, but … please </a:t>
            </a:r>
            <a:r>
              <a:rPr lang="en-US" dirty="0">
                <a:solidFill>
                  <a:srgbClr val="C00000"/>
                </a:solidFill>
              </a:rPr>
              <a:t>start early!</a:t>
            </a:r>
          </a:p>
          <a:p>
            <a:pPr lvl="1"/>
            <a:r>
              <a:rPr lang="en-US" dirty="0"/>
              <a:t>We cannot help 180+ students who start late</a:t>
            </a:r>
          </a:p>
          <a:p>
            <a:endParaRPr lang="en-US" dirty="0"/>
          </a:p>
          <a:p>
            <a:r>
              <a:rPr lang="en-US" dirty="0"/>
              <a:t>How to ask for help?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rgbClr val="C00000"/>
                </a:solidFill>
              </a:rPr>
              <a:t>details</a:t>
            </a:r>
            <a:r>
              <a:rPr lang="en-US" dirty="0"/>
              <a:t> – “it doesn’t work” vs. “I tried X, but got Y, then tried Z…”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4A16-881E-4B1F-28DA-0418971C3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79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0A34E-746F-B57A-AA88-D2314192F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Misconduct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B6173-D004-E538-DE5E-1330C4CE4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Well … </a:t>
            </a:r>
            <a:r>
              <a:rPr lang="en-US" dirty="0">
                <a:solidFill>
                  <a:srgbClr val="C00000"/>
                </a:solidFill>
              </a:rPr>
              <a:t>don’t cheat! </a:t>
            </a:r>
          </a:p>
          <a:p>
            <a:endParaRPr lang="en-US" dirty="0"/>
          </a:p>
          <a:p>
            <a:r>
              <a:rPr lang="en-US" dirty="0"/>
              <a:t>Involve department and university level, and potentially a Fail</a:t>
            </a:r>
          </a:p>
          <a:p>
            <a:pPr lvl="1"/>
            <a:r>
              <a:rPr lang="en-US" dirty="0"/>
              <a:t>Don’t ruin your good reputation</a:t>
            </a:r>
          </a:p>
          <a:p>
            <a:endParaRPr lang="en-US" dirty="0"/>
          </a:p>
          <a:p>
            <a:r>
              <a:rPr lang="en-US" dirty="0"/>
              <a:t>Never copy work from any other source and submit it as your own.</a:t>
            </a:r>
          </a:p>
          <a:p>
            <a:r>
              <a:rPr lang="en-US" dirty="0"/>
              <a:t>Never allow your work to be copied or seen by another student.</a:t>
            </a:r>
          </a:p>
          <a:p>
            <a:pPr lvl="1"/>
            <a:r>
              <a:rPr lang="en-US" b="1" dirty="0"/>
              <a:t>No screenshot</a:t>
            </a:r>
            <a:r>
              <a:rPr lang="en-US" dirty="0"/>
              <a:t> when posting your question or answer on ED</a:t>
            </a:r>
          </a:p>
          <a:p>
            <a:r>
              <a:rPr lang="en-US" dirty="0"/>
              <a:t>Document all collaboration &amp; cite sources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E9383-496F-7CB2-87D4-6F830CF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41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7D9E-3019-0458-04C1-C5E304EA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Accommodation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99AC9-920E-3497-125C-65A71D82B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https://disabilities.uchicago.edu</a:t>
            </a:r>
            <a:r>
              <a:rPr lang="en-US" dirty="0"/>
              <a:t>. </a:t>
            </a:r>
          </a:p>
          <a:p>
            <a:pPr lvl="1"/>
            <a:r>
              <a:rPr lang="en-US" dirty="0"/>
              <a:t>links up for accommodation requests</a:t>
            </a:r>
          </a:p>
          <a:p>
            <a:endParaRPr lang="en-US" dirty="0"/>
          </a:p>
          <a:p>
            <a:r>
              <a:rPr lang="en-US" dirty="0"/>
              <a:t>We follow recommendations and guidelines from SDS </a:t>
            </a:r>
          </a:p>
          <a:p>
            <a:endParaRPr lang="en-US" dirty="0"/>
          </a:p>
          <a:p>
            <a:r>
              <a:rPr lang="en-US" dirty="0"/>
              <a:t>Also send a </a:t>
            </a:r>
            <a:r>
              <a:rPr lang="en-US" b="1" dirty="0"/>
              <a:t>separate email </a:t>
            </a:r>
            <a:r>
              <a:rPr lang="en-US" dirty="0"/>
              <a:t>to the instructors and TA (</a:t>
            </a:r>
            <a:r>
              <a:rPr lang="en-US" dirty="0" err="1"/>
              <a:t>Zhengxu</a:t>
            </a:r>
            <a:r>
              <a:rPr lang="en-US" dirty="0"/>
              <a:t> Xia </a:t>
            </a:r>
            <a:r>
              <a:rPr lang="en-US" dirty="0">
                <a:hlinkClick r:id="rId3"/>
              </a:rPr>
              <a:t>zxxia@uchicago.edu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10533-C999-E197-D6F6-A3E0584EB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87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920F-7C59-813B-8E17-05CD1774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45EC-4FA7-2303-087C-35C3FA3EB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Getting a deeper understanding of low-level computer programming</a:t>
            </a:r>
          </a:p>
          <a:p>
            <a:endParaRPr lang="en-US" dirty="0"/>
          </a:p>
          <a:p>
            <a:r>
              <a:rPr lang="en-US" dirty="0"/>
              <a:t>Learn, enjoy, don’t stress, and don’t hesitate to ask for help!</a:t>
            </a:r>
          </a:p>
          <a:p>
            <a:endParaRPr lang="en-US" dirty="0"/>
          </a:p>
          <a:p>
            <a:r>
              <a:rPr lang="en-US" dirty="0"/>
              <a:t>We are also experimenting, so bear with us and provide feedback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CCFA1-A8A8-7931-27D4-95AAE4F6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33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47CC1-04D9-E169-4061-B21A8622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FE891-572C-F052-DDA5-4325E17F5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58352-3BFF-30C0-AF36-A06EFC22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811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B417-FFA9-0783-0C90-35685E64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C1AA1-AEFC-5F3B-AF58-9D6A83526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69B50-8898-A152-71F2-EA338C9B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70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79E00-5B0C-3545-786A-C8679CBB2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Example: Implementation of Factorial Function in 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F27105-C0F6-EEFD-0019-110C8EF2B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758" y="3107646"/>
            <a:ext cx="5832840" cy="2222406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2B4838CD-1379-934D-58FA-8546059F6D0D}"/>
              </a:ext>
            </a:extLst>
          </p:cNvPr>
          <p:cNvGrpSpPr/>
          <p:nvPr/>
        </p:nvGrpSpPr>
        <p:grpSpPr>
          <a:xfrm>
            <a:off x="1167218" y="2104166"/>
            <a:ext cx="4220844" cy="1388123"/>
            <a:chOff x="507460" y="2276886"/>
            <a:chExt cx="4220844" cy="13881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4BF8A0-3642-B2A7-9D4E-9BE8B6DE13E6}"/>
                </a:ext>
              </a:extLst>
            </p:cNvPr>
            <p:cNvSpPr/>
            <p:nvPr/>
          </p:nvSpPr>
          <p:spPr>
            <a:xfrm>
              <a:off x="2075468" y="3368877"/>
              <a:ext cx="1572645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ular Callout 11">
              <a:extLst>
                <a:ext uri="{FF2B5EF4-FFF2-40B4-BE49-F238E27FC236}">
                  <a16:creationId xmlns:a16="http://schemas.microsoft.com/office/drawing/2014/main" id="{48584C5C-7F08-771E-5B7D-07FAAE7D0033}"/>
                </a:ext>
              </a:extLst>
            </p:cNvPr>
            <p:cNvSpPr/>
            <p:nvPr/>
          </p:nvSpPr>
          <p:spPr>
            <a:xfrm>
              <a:off x="507460" y="2276886"/>
              <a:ext cx="4220844" cy="753036"/>
            </a:xfrm>
            <a:prstGeom prst="wedgeRectCallout">
              <a:avLst>
                <a:gd name="adj1" fmla="val -2651"/>
                <a:gd name="adj2" fmla="val 85714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Courier" pitchFamily="2" charset="0"/>
                </a:rPr>
                <a:t>unsigned int</a:t>
              </a:r>
              <a:r>
                <a:rPr lang="en-US" dirty="0"/>
                <a:t> is a data type (designates non-negative integer)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D387719-8758-0AC1-4366-1B6AF71DC8C3}"/>
              </a:ext>
            </a:extLst>
          </p:cNvPr>
          <p:cNvGrpSpPr/>
          <p:nvPr/>
        </p:nvGrpSpPr>
        <p:grpSpPr>
          <a:xfrm>
            <a:off x="4393631" y="1690688"/>
            <a:ext cx="7308374" cy="1801601"/>
            <a:chOff x="3733873" y="1863408"/>
            <a:chExt cx="7308374" cy="180160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49BA30-FB60-4643-0959-C81E6E30E247}"/>
                </a:ext>
              </a:extLst>
            </p:cNvPr>
            <p:cNvSpPr/>
            <p:nvPr/>
          </p:nvSpPr>
          <p:spPr>
            <a:xfrm>
              <a:off x="3733873" y="3368877"/>
              <a:ext cx="3229058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ular Callout 18">
              <a:extLst>
                <a:ext uri="{FF2B5EF4-FFF2-40B4-BE49-F238E27FC236}">
                  <a16:creationId xmlns:a16="http://schemas.microsoft.com/office/drawing/2014/main" id="{7D2CA062-97C9-7747-1734-05657FA8844F}"/>
                </a:ext>
              </a:extLst>
            </p:cNvPr>
            <p:cNvSpPr/>
            <p:nvPr/>
          </p:nvSpPr>
          <p:spPr>
            <a:xfrm>
              <a:off x="5756638" y="1863408"/>
              <a:ext cx="5285609" cy="1157212"/>
            </a:xfrm>
            <a:prstGeom prst="wedgeRectCallout">
              <a:avLst>
                <a:gd name="adj1" fmla="val -46792"/>
                <a:gd name="adj2" fmla="val 72928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Courier" pitchFamily="2" charset="0"/>
                </a:rPr>
                <a:t>factorial</a:t>
              </a:r>
              <a:r>
                <a:rPr lang="en-US" dirty="0"/>
                <a:t> is the function name</a:t>
              </a:r>
            </a:p>
            <a:p>
              <a:r>
                <a:rPr lang="en-US" b="1" dirty="0">
                  <a:latin typeface="Courier" pitchFamily="2" charset="0"/>
                </a:rPr>
                <a:t>factorial</a:t>
              </a:r>
              <a:r>
                <a:rPr lang="en-US" dirty="0"/>
                <a:t> takes an argument </a:t>
              </a:r>
              <a:r>
                <a:rPr lang="en-US" b="1" dirty="0">
                  <a:latin typeface="Courier" pitchFamily="2" charset="0"/>
                </a:rPr>
                <a:t>x</a:t>
              </a:r>
            </a:p>
            <a:p>
              <a:r>
                <a:rPr lang="en-US" b="1" dirty="0">
                  <a:latin typeface="Courier" pitchFamily="2" charset="0"/>
                </a:rPr>
                <a:t>x</a:t>
              </a:r>
              <a:r>
                <a:rPr lang="en-US" dirty="0"/>
                <a:t> has type </a:t>
              </a:r>
              <a:r>
                <a:rPr lang="en-US" b="1" dirty="0">
                  <a:latin typeface="Courier" pitchFamily="2" charset="0"/>
                </a:rPr>
                <a:t>unsigned int</a:t>
              </a:r>
            </a:p>
            <a:p>
              <a:r>
                <a:rPr lang="en-US" b="1" dirty="0">
                  <a:latin typeface="Courier" pitchFamily="2" charset="0"/>
                </a:rPr>
                <a:t>factorial</a:t>
              </a:r>
              <a:r>
                <a:rPr lang="en-US" dirty="0"/>
                <a:t> returns a value of type </a:t>
              </a:r>
              <a:r>
                <a:rPr lang="en-US" b="1" dirty="0">
                  <a:latin typeface="Courier" pitchFamily="2" charset="0"/>
                </a:rPr>
                <a:t>unsigned int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E9B272-FA53-76A5-C3B4-BDFE2FF1A2DE}"/>
              </a:ext>
            </a:extLst>
          </p:cNvPr>
          <p:cNvGrpSpPr/>
          <p:nvPr/>
        </p:nvGrpSpPr>
        <p:grpSpPr>
          <a:xfrm>
            <a:off x="114809" y="3494329"/>
            <a:ext cx="3930701" cy="902463"/>
            <a:chOff x="-544949" y="3667049"/>
            <a:chExt cx="3930701" cy="9024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21A559-22C8-5EA6-A146-6DF48E88AC5C}"/>
                </a:ext>
              </a:extLst>
            </p:cNvPr>
            <p:cNvSpPr/>
            <p:nvPr/>
          </p:nvSpPr>
          <p:spPr>
            <a:xfrm>
              <a:off x="2617882" y="4220887"/>
              <a:ext cx="767870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ular Callout 21">
              <a:extLst>
                <a:ext uri="{FF2B5EF4-FFF2-40B4-BE49-F238E27FC236}">
                  <a16:creationId xmlns:a16="http://schemas.microsoft.com/office/drawing/2014/main" id="{997239D4-2C1C-3D85-EBE9-02D1198BC555}"/>
                </a:ext>
              </a:extLst>
            </p:cNvPr>
            <p:cNvSpPr/>
            <p:nvPr/>
          </p:nvSpPr>
          <p:spPr>
            <a:xfrm>
              <a:off x="-544949" y="3945034"/>
              <a:ext cx="2653641" cy="624478"/>
            </a:xfrm>
            <a:prstGeom prst="wedgeRectCallout">
              <a:avLst>
                <a:gd name="adj1" fmla="val 60797"/>
                <a:gd name="adj2" fmla="val -36719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Courier" pitchFamily="2" charset="0"/>
                </a:rPr>
                <a:t>if else</a:t>
              </a:r>
              <a:r>
                <a:rPr lang="en-US" dirty="0"/>
                <a:t> is a conditional (exactly one branch taken)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D68DAA9-9CCF-9FCB-2487-87AD00A29986}"/>
                </a:ext>
              </a:extLst>
            </p:cNvPr>
            <p:cNvSpPr/>
            <p:nvPr/>
          </p:nvSpPr>
          <p:spPr>
            <a:xfrm>
              <a:off x="2405448" y="3667049"/>
              <a:ext cx="437889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832AECC-0E61-C223-7D23-E257C9E6A292}"/>
              </a:ext>
            </a:extLst>
          </p:cNvPr>
          <p:cNvGrpSpPr/>
          <p:nvPr/>
        </p:nvGrpSpPr>
        <p:grpSpPr>
          <a:xfrm>
            <a:off x="905915" y="3196157"/>
            <a:ext cx="7012622" cy="2932386"/>
            <a:chOff x="246157" y="3368877"/>
            <a:chExt cx="7012622" cy="2932386"/>
          </a:xfrm>
        </p:grpSpPr>
        <p:sp>
          <p:nvSpPr>
            <p:cNvPr id="24" name="Rectangular Callout 23">
              <a:extLst>
                <a:ext uri="{FF2B5EF4-FFF2-40B4-BE49-F238E27FC236}">
                  <a16:creationId xmlns:a16="http://schemas.microsoft.com/office/drawing/2014/main" id="{838F5657-5724-AC6F-678C-EDC35C819020}"/>
                </a:ext>
              </a:extLst>
            </p:cNvPr>
            <p:cNvSpPr/>
            <p:nvPr/>
          </p:nvSpPr>
          <p:spPr>
            <a:xfrm>
              <a:off x="246157" y="5816036"/>
              <a:ext cx="4125668" cy="485227"/>
            </a:xfrm>
            <a:prstGeom prst="wedgeRectCallout">
              <a:avLst>
                <a:gd name="adj1" fmla="val -4557"/>
                <a:gd name="adj2" fmla="val -135569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Braces  </a:t>
              </a:r>
              <a:r>
                <a:rPr lang="en-US" b="1" dirty="0">
                  <a:latin typeface="Courier" pitchFamily="2" charset="0"/>
                </a:rPr>
                <a:t>{}</a:t>
              </a:r>
              <a:r>
                <a:rPr lang="en-US" dirty="0"/>
                <a:t>  encloses a block of statements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7557830-E8A6-3D2B-423F-8E68AAEC69BF}"/>
                </a:ext>
              </a:extLst>
            </p:cNvPr>
            <p:cNvSpPr/>
            <p:nvPr/>
          </p:nvSpPr>
          <p:spPr>
            <a:xfrm>
              <a:off x="2405447" y="4220887"/>
              <a:ext cx="250645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FEC32CB-BECE-3BF4-7FDD-1C41005C42E3}"/>
                </a:ext>
              </a:extLst>
            </p:cNvPr>
            <p:cNvSpPr/>
            <p:nvPr/>
          </p:nvSpPr>
          <p:spPr>
            <a:xfrm>
              <a:off x="2405447" y="4776765"/>
              <a:ext cx="250645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53F29DD-3483-2EAD-F069-F94F7E838FFA}"/>
                </a:ext>
              </a:extLst>
            </p:cNvPr>
            <p:cNvSpPr/>
            <p:nvPr/>
          </p:nvSpPr>
          <p:spPr>
            <a:xfrm>
              <a:off x="2058346" y="5047894"/>
              <a:ext cx="250645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E3598C-59EA-11B7-BFAA-AC2BD652C34A}"/>
                </a:ext>
              </a:extLst>
            </p:cNvPr>
            <p:cNvSpPr/>
            <p:nvPr/>
          </p:nvSpPr>
          <p:spPr>
            <a:xfrm>
              <a:off x="3958468" y="3670396"/>
              <a:ext cx="250645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1F399E7-47E0-AA39-806B-A584C2AA3529}"/>
                </a:ext>
              </a:extLst>
            </p:cNvPr>
            <p:cNvSpPr/>
            <p:nvPr/>
          </p:nvSpPr>
          <p:spPr>
            <a:xfrm>
              <a:off x="7008134" y="3368877"/>
              <a:ext cx="250645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E02C6BB-A695-F750-49CF-01443540D079}"/>
              </a:ext>
            </a:extLst>
          </p:cNvPr>
          <p:cNvGrpSpPr/>
          <p:nvPr/>
        </p:nvGrpSpPr>
        <p:grpSpPr>
          <a:xfrm>
            <a:off x="4537364" y="3788421"/>
            <a:ext cx="6252660" cy="1026573"/>
            <a:chOff x="3877606" y="3961141"/>
            <a:chExt cx="6252660" cy="102657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75B1E6E-ED8E-5B54-C6E1-1C963F36C350}"/>
                </a:ext>
              </a:extLst>
            </p:cNvPr>
            <p:cNvSpPr/>
            <p:nvPr/>
          </p:nvSpPr>
          <p:spPr>
            <a:xfrm>
              <a:off x="6267857" y="4509684"/>
              <a:ext cx="250645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1949903-F169-B844-21C5-593FAA6338B5}"/>
                </a:ext>
              </a:extLst>
            </p:cNvPr>
            <p:cNvSpPr/>
            <p:nvPr/>
          </p:nvSpPr>
          <p:spPr>
            <a:xfrm>
              <a:off x="3877606" y="3961141"/>
              <a:ext cx="250645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ular Callout 31">
              <a:extLst>
                <a:ext uri="{FF2B5EF4-FFF2-40B4-BE49-F238E27FC236}">
                  <a16:creationId xmlns:a16="http://schemas.microsoft.com/office/drawing/2014/main" id="{032E293A-400B-ED50-985D-B7CBE40255BA}"/>
                </a:ext>
              </a:extLst>
            </p:cNvPr>
            <p:cNvSpPr/>
            <p:nvPr/>
          </p:nvSpPr>
          <p:spPr>
            <a:xfrm>
              <a:off x="7008133" y="4295704"/>
              <a:ext cx="3122133" cy="692010"/>
            </a:xfrm>
            <a:prstGeom prst="wedgeRectCallout">
              <a:avLst>
                <a:gd name="adj1" fmla="val -62670"/>
                <a:gd name="adj2" fmla="val 2904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Semicolon </a:t>
              </a:r>
              <a:r>
                <a:rPr lang="en-US" b="1" dirty="0">
                  <a:latin typeface="Courier" pitchFamily="2" charset="0"/>
                </a:rPr>
                <a:t>;</a:t>
              </a:r>
              <a:r>
                <a:rPr lang="en-US" dirty="0"/>
                <a:t>  terminates each statement (required)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AC62737-8D27-24D4-3425-357FE0E85EA0}"/>
              </a:ext>
            </a:extLst>
          </p:cNvPr>
          <p:cNvGrpSpPr/>
          <p:nvPr/>
        </p:nvGrpSpPr>
        <p:grpSpPr>
          <a:xfrm>
            <a:off x="3484373" y="4331845"/>
            <a:ext cx="5451886" cy="1200779"/>
            <a:chOff x="2824615" y="4331845"/>
            <a:chExt cx="5451886" cy="120077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CCF0659-43A6-1F60-D78A-B4D0F420E330}"/>
                </a:ext>
              </a:extLst>
            </p:cNvPr>
            <p:cNvSpPr/>
            <p:nvPr/>
          </p:nvSpPr>
          <p:spPr>
            <a:xfrm>
              <a:off x="2824615" y="4331845"/>
              <a:ext cx="3693887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ular Callout 39">
              <a:extLst>
                <a:ext uri="{FF2B5EF4-FFF2-40B4-BE49-F238E27FC236}">
                  <a16:creationId xmlns:a16="http://schemas.microsoft.com/office/drawing/2014/main" id="{C7087FFE-568E-6576-2449-129673674F40}"/>
                </a:ext>
              </a:extLst>
            </p:cNvPr>
            <p:cNvSpPr/>
            <p:nvPr/>
          </p:nvSpPr>
          <p:spPr>
            <a:xfrm>
              <a:off x="3775621" y="5017566"/>
              <a:ext cx="4500880" cy="515058"/>
            </a:xfrm>
            <a:prstGeom prst="wedgeRectCallout">
              <a:avLst>
                <a:gd name="adj1" fmla="val -38235"/>
                <a:gd name="adj2" fmla="val -116668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Courier" pitchFamily="2" charset="0"/>
                </a:rPr>
                <a:t>return</a:t>
              </a:r>
              <a:r>
                <a:rPr lang="en-US" dirty="0"/>
                <a:t> exits the function with a result value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EA6C20E-D89B-7057-D947-80CD183E1E38}"/>
              </a:ext>
            </a:extLst>
          </p:cNvPr>
          <p:cNvGrpSpPr/>
          <p:nvPr/>
        </p:nvGrpSpPr>
        <p:grpSpPr>
          <a:xfrm>
            <a:off x="3522825" y="3492289"/>
            <a:ext cx="6333094" cy="555878"/>
            <a:chOff x="2863067" y="3665009"/>
            <a:chExt cx="6333094" cy="55587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3387AAF-8DE3-6834-4CA0-45391D87A439}"/>
                </a:ext>
              </a:extLst>
            </p:cNvPr>
            <p:cNvSpPr/>
            <p:nvPr/>
          </p:nvSpPr>
          <p:spPr>
            <a:xfrm>
              <a:off x="2863067" y="3665009"/>
              <a:ext cx="1014540" cy="296132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ular Callout 17">
              <a:extLst>
                <a:ext uri="{FF2B5EF4-FFF2-40B4-BE49-F238E27FC236}">
                  <a16:creationId xmlns:a16="http://schemas.microsoft.com/office/drawing/2014/main" id="{D96BDF18-1A0F-6666-60C6-342468A47525}"/>
                </a:ext>
              </a:extLst>
            </p:cNvPr>
            <p:cNvSpPr/>
            <p:nvPr/>
          </p:nvSpPr>
          <p:spPr>
            <a:xfrm>
              <a:off x="4420021" y="3735660"/>
              <a:ext cx="4776140" cy="485227"/>
            </a:xfrm>
            <a:prstGeom prst="wedgeRectCallout">
              <a:avLst>
                <a:gd name="adj1" fmla="val -61106"/>
                <a:gd name="adj2" fmla="val -35381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Courier" pitchFamily="2" charset="0"/>
                </a:rPr>
                <a:t>==</a:t>
              </a:r>
              <a:r>
                <a:rPr lang="en-US" dirty="0"/>
                <a:t> is an equality test (checks value of variable </a:t>
              </a:r>
              <a:r>
                <a:rPr lang="en-US" b="1" dirty="0">
                  <a:latin typeface="Courier" pitchFamily="2" charset="0"/>
                </a:rPr>
                <a:t>x</a:t>
              </a:r>
              <a:r>
                <a:rPr lang="en-US" dirty="0"/>
                <a:t>)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A3669-4054-0DD0-3379-95B42F9A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8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F2BF57-CC38-46FA-C28E-729A73EDBC7D}"/>
              </a:ext>
            </a:extLst>
          </p:cNvPr>
          <p:cNvSpPr/>
          <p:nvPr/>
        </p:nvSpPr>
        <p:spPr>
          <a:xfrm>
            <a:off x="466230" y="1988624"/>
            <a:ext cx="6284194" cy="43180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latin typeface="Courier" pitchFamily="2" charset="0"/>
              </a:rPr>
              <a:t> 1 #include &lt;</a:t>
            </a:r>
            <a:r>
              <a:rPr lang="en-US" sz="1400" dirty="0" err="1">
                <a:latin typeface="Courier" pitchFamily="2" charset="0"/>
              </a:rPr>
              <a:t>stdio.h</a:t>
            </a:r>
            <a:r>
              <a:rPr lang="en-US" sz="1400" dirty="0">
                <a:latin typeface="Courier" pitchFamily="2" charset="0"/>
              </a:rPr>
              <a:t>&gt;</a:t>
            </a:r>
          </a:p>
          <a:p>
            <a:r>
              <a:rPr lang="en-US" sz="1400" dirty="0">
                <a:latin typeface="Courier" pitchFamily="2" charset="0"/>
              </a:rPr>
              <a:t> 2 </a:t>
            </a:r>
          </a:p>
          <a:p>
            <a:r>
              <a:rPr lang="en-US" sz="1400" dirty="0">
                <a:latin typeface="Courier" pitchFamily="2" charset="0"/>
              </a:rPr>
              <a:t> 3 unsigned int factorial(unsigned int x){</a:t>
            </a:r>
          </a:p>
          <a:p>
            <a:r>
              <a:rPr lang="en-US" sz="1400" dirty="0">
                <a:latin typeface="Courier" pitchFamily="2" charset="0"/>
              </a:rPr>
              <a:t> 4    if (x == 0) {</a:t>
            </a:r>
          </a:p>
          <a:p>
            <a:r>
              <a:rPr lang="en-US" sz="1400" dirty="0">
                <a:latin typeface="Courier" pitchFamily="2" charset="0"/>
              </a:rPr>
              <a:t> 5       return 1;</a:t>
            </a:r>
          </a:p>
          <a:p>
            <a:r>
              <a:rPr lang="en-US" sz="1400" dirty="0">
                <a:latin typeface="Courier" pitchFamily="2" charset="0"/>
              </a:rPr>
              <a:t> 6    } else {</a:t>
            </a:r>
          </a:p>
          <a:p>
            <a:r>
              <a:rPr lang="en-US" sz="1400" dirty="0">
                <a:latin typeface="Courier" pitchFamily="2" charset="0"/>
              </a:rPr>
              <a:t> 7       return x * factorial(x-1);</a:t>
            </a:r>
          </a:p>
          <a:p>
            <a:r>
              <a:rPr lang="en-US" sz="1400" dirty="0">
                <a:latin typeface="Courier" pitchFamily="2" charset="0"/>
              </a:rPr>
              <a:t> 8    }</a:t>
            </a:r>
          </a:p>
          <a:p>
            <a:r>
              <a:rPr lang="en-US" sz="1400" dirty="0">
                <a:latin typeface="Courier" pitchFamily="2" charset="0"/>
              </a:rPr>
              <a:t> 9 }</a:t>
            </a:r>
          </a:p>
          <a:p>
            <a:r>
              <a:rPr lang="en-US" sz="1400" dirty="0">
                <a:latin typeface="Courier" pitchFamily="2" charset="0"/>
              </a:rPr>
              <a:t>10</a:t>
            </a:r>
          </a:p>
          <a:p>
            <a:r>
              <a:rPr lang="en-US" sz="1400" dirty="0">
                <a:latin typeface="Courier" pitchFamily="2" charset="0"/>
              </a:rPr>
              <a:t>11 void </a:t>
            </a:r>
            <a:r>
              <a:rPr lang="en-US" sz="1400" dirty="0" err="1">
                <a:latin typeface="Courier" pitchFamily="2" charset="0"/>
              </a:rPr>
              <a:t>print_factorial</a:t>
            </a:r>
            <a:r>
              <a:rPr lang="en-US" sz="1400" dirty="0">
                <a:latin typeface="Courier" pitchFamily="2" charset="0"/>
              </a:rPr>
              <a:t>(unsigned int x) {</a:t>
            </a:r>
          </a:p>
          <a:p>
            <a:r>
              <a:rPr lang="en-US" sz="1400" dirty="0">
                <a:latin typeface="Courier" pitchFamily="2" charset="0"/>
              </a:rPr>
              <a:t>12    </a:t>
            </a:r>
            <a:r>
              <a:rPr lang="en-US" sz="1400" dirty="0" err="1">
                <a:latin typeface="Courier" pitchFamily="2" charset="0"/>
              </a:rPr>
              <a:t>printf</a:t>
            </a:r>
            <a:r>
              <a:rPr lang="en-US" sz="1400" dirty="0">
                <a:latin typeface="Courier" pitchFamily="2" charset="0"/>
              </a:rPr>
              <a:t>(“Factorial of %u is %u\n”, x, factorial(x));</a:t>
            </a:r>
          </a:p>
          <a:p>
            <a:r>
              <a:rPr lang="en-US" sz="1400" dirty="0">
                <a:latin typeface="Courier" pitchFamily="2" charset="0"/>
              </a:rPr>
              <a:t>13 }</a:t>
            </a:r>
          </a:p>
          <a:p>
            <a:r>
              <a:rPr lang="en-US" sz="1400" dirty="0">
                <a:latin typeface="Courier" pitchFamily="2" charset="0"/>
              </a:rPr>
              <a:t>14</a:t>
            </a:r>
          </a:p>
          <a:p>
            <a:r>
              <a:rPr lang="en-US" sz="1400" dirty="0">
                <a:latin typeface="Courier" pitchFamily="2" charset="0"/>
              </a:rPr>
              <a:t>15 int main(int </a:t>
            </a:r>
            <a:r>
              <a:rPr lang="en-US" sz="1400" dirty="0" err="1">
                <a:latin typeface="Courier" pitchFamily="2" charset="0"/>
              </a:rPr>
              <a:t>argc</a:t>
            </a:r>
            <a:r>
              <a:rPr lang="en-US" sz="1400" dirty="0">
                <a:latin typeface="Courier" pitchFamily="2" charset="0"/>
              </a:rPr>
              <a:t>, char** </a:t>
            </a:r>
            <a:r>
              <a:rPr lang="en-US" sz="1400" dirty="0" err="1">
                <a:latin typeface="Courier" pitchFamily="2" charset="0"/>
              </a:rPr>
              <a:t>argv</a:t>
            </a:r>
            <a:r>
              <a:rPr lang="en-US" sz="1400" dirty="0">
                <a:latin typeface="Courier" pitchFamily="2" charset="0"/>
              </a:rPr>
              <a:t>) {</a:t>
            </a:r>
          </a:p>
          <a:p>
            <a:r>
              <a:rPr lang="en-US" sz="1400" dirty="0">
                <a:latin typeface="Courier" pitchFamily="2" charset="0"/>
              </a:rPr>
              <a:t>16    unsigned int a = 5;</a:t>
            </a:r>
          </a:p>
          <a:p>
            <a:r>
              <a:rPr lang="en-US" sz="1400" dirty="0">
                <a:latin typeface="Courier" pitchFamily="2" charset="0"/>
              </a:rPr>
              <a:t>17    </a:t>
            </a:r>
            <a:r>
              <a:rPr lang="en-US" sz="1400" dirty="0" err="1">
                <a:latin typeface="Courier" pitchFamily="2" charset="0"/>
              </a:rPr>
              <a:t>print_factorial</a:t>
            </a:r>
            <a:r>
              <a:rPr lang="en-US" sz="1400" dirty="0">
                <a:latin typeface="Courier" pitchFamily="2" charset="0"/>
              </a:rPr>
              <a:t>(a);</a:t>
            </a:r>
          </a:p>
          <a:p>
            <a:r>
              <a:rPr lang="en-US" sz="1400" dirty="0">
                <a:latin typeface="Courier" pitchFamily="2" charset="0"/>
              </a:rPr>
              <a:t>18    return 0;</a:t>
            </a:r>
          </a:p>
          <a:p>
            <a:r>
              <a:rPr lang="en-US" sz="1400" dirty="0">
                <a:latin typeface="Courier" pitchFamily="2" charset="0"/>
              </a:rPr>
              <a:t>19 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1BEA06-29FB-6C73-0952-5203A6EF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724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9FBE-706A-F4E8-F26C-76E0A8C7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7227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vs C: Access to low-level details (memory)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D03A19-630D-D646-0E59-EFD04C84A794}"/>
              </a:ext>
            </a:extLst>
          </p:cNvPr>
          <p:cNvSpPr/>
          <p:nvPr/>
        </p:nvSpPr>
        <p:spPr>
          <a:xfrm>
            <a:off x="252729" y="1450741"/>
            <a:ext cx="3886136" cy="16574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sum = 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 = 1000000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 range(N):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sum +=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print(sum)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3B9BF-5BC4-4482-1C74-7D0951000728}"/>
              </a:ext>
            </a:extLst>
          </p:cNvPr>
          <p:cNvSpPr/>
          <p:nvPr/>
        </p:nvSpPr>
        <p:spPr>
          <a:xfrm>
            <a:off x="239886" y="3639826"/>
            <a:ext cx="3898979" cy="31290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int sum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int N = 1000000;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for (int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&lt;N;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sum += 1;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(“%u\n”, sum);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6B339-BBB4-6725-9E5F-889B8EFFDEAB}"/>
              </a:ext>
            </a:extLst>
          </p:cNvPr>
          <p:cNvSpPr txBox="1"/>
          <p:nvPr/>
        </p:nvSpPr>
        <p:spPr>
          <a:xfrm>
            <a:off x="148394" y="1042763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lec1.py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68212-E863-9B08-4B6D-8ED5F801D3EA}"/>
              </a:ext>
            </a:extLst>
          </p:cNvPr>
          <p:cNvSpPr txBox="1"/>
          <p:nvPr/>
        </p:nvSpPr>
        <p:spPr>
          <a:xfrm>
            <a:off x="239886" y="3199742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lec1.c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29AA0-802A-043C-FB2B-4B05781B0720}"/>
              </a:ext>
            </a:extLst>
          </p:cNvPr>
          <p:cNvSpPr txBox="1"/>
          <p:nvPr/>
        </p:nvSpPr>
        <p:spPr>
          <a:xfrm>
            <a:off x="5165480" y="1679285"/>
            <a:ext cx="60020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Can’t see where the variables are in memory.</a:t>
            </a:r>
          </a:p>
          <a:p>
            <a:r>
              <a:rPr lang="en-US" sz="2400" dirty="0"/>
              <a:t>Low-level details are invisible to programmers.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B3697-3596-D0B3-F476-BBDD9F0E88BD}"/>
              </a:ext>
            </a:extLst>
          </p:cNvPr>
          <p:cNvSpPr txBox="1"/>
          <p:nvPr/>
        </p:nvSpPr>
        <p:spPr>
          <a:xfrm>
            <a:off x="4643557" y="2931432"/>
            <a:ext cx="66400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see where the variables are in (virtual) memory</a:t>
            </a:r>
          </a:p>
          <a:p>
            <a:r>
              <a:rPr lang="en-US" sz="2400" b="1" dirty="0"/>
              <a:t>(We will learn how to do this in future lectures!)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27905-8AE8-6066-3236-8B1C1E2BFC9B}"/>
              </a:ext>
            </a:extLst>
          </p:cNvPr>
          <p:cNvSpPr txBox="1"/>
          <p:nvPr/>
        </p:nvSpPr>
        <p:spPr>
          <a:xfrm>
            <a:off x="4357678" y="4632787"/>
            <a:ext cx="289191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("%p\n", &amp;sum);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D05A2EA-A30D-1AC6-DBB3-A3142EA639FA}"/>
              </a:ext>
            </a:extLst>
          </p:cNvPr>
          <p:cNvSpPr/>
          <p:nvPr/>
        </p:nvSpPr>
        <p:spPr>
          <a:xfrm>
            <a:off x="7167149" y="4658474"/>
            <a:ext cx="336884" cy="3179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B3B500-A3A5-74B3-BE93-F9C042E419E5}"/>
              </a:ext>
            </a:extLst>
          </p:cNvPr>
          <p:cNvSpPr txBox="1"/>
          <p:nvPr/>
        </p:nvSpPr>
        <p:spPr>
          <a:xfrm>
            <a:off x="7543041" y="4628758"/>
            <a:ext cx="1425389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16f3a7488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F76BAC-9A0C-B281-1007-C5D0D9014B94}"/>
              </a:ext>
            </a:extLst>
          </p:cNvPr>
          <p:cNvSpPr txBox="1"/>
          <p:nvPr/>
        </p:nvSpPr>
        <p:spPr>
          <a:xfrm>
            <a:off x="4357678" y="5139598"/>
            <a:ext cx="3167410" cy="15118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char* a = (char*)&amp;sum;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("%02x", *(a+3));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("%02x", *(a+2));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("%02x", *(a+1));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("%02x", *(a));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B6EC1D-C3A8-FB1D-FD7A-9185782E195C}"/>
              </a:ext>
            </a:extLst>
          </p:cNvPr>
          <p:cNvSpPr txBox="1"/>
          <p:nvPr/>
        </p:nvSpPr>
        <p:spPr>
          <a:xfrm>
            <a:off x="8343952" y="410965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0866BA-B683-8D58-9A10-EC3D8E3467F4}"/>
              </a:ext>
            </a:extLst>
          </p:cNvPr>
          <p:cNvSpPr txBox="1"/>
          <p:nvPr/>
        </p:nvSpPr>
        <p:spPr>
          <a:xfrm>
            <a:off x="11084711" y="3737936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8CAE2AE0-CDB1-FF06-E721-E1AFFA84EB58}"/>
              </a:ext>
            </a:extLst>
          </p:cNvPr>
          <p:cNvSpPr/>
          <p:nvPr/>
        </p:nvSpPr>
        <p:spPr>
          <a:xfrm>
            <a:off x="7442471" y="5510619"/>
            <a:ext cx="336884" cy="2041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2DBD51-3839-D728-D73C-6C60AD583542}"/>
              </a:ext>
            </a:extLst>
          </p:cNvPr>
          <p:cNvSpPr txBox="1"/>
          <p:nvPr/>
        </p:nvSpPr>
        <p:spPr>
          <a:xfrm>
            <a:off x="7884139" y="5474161"/>
            <a:ext cx="568258" cy="2691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F0A393-175C-0F92-4ED7-03A084C18ED6}"/>
              </a:ext>
            </a:extLst>
          </p:cNvPr>
          <p:cNvSpPr txBox="1"/>
          <p:nvPr/>
        </p:nvSpPr>
        <p:spPr>
          <a:xfrm>
            <a:off x="7884139" y="5770404"/>
            <a:ext cx="568258" cy="2691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0f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0B6C362C-0CE6-C2D2-C5D1-C7ACB0FAF9A3}"/>
              </a:ext>
            </a:extLst>
          </p:cNvPr>
          <p:cNvSpPr/>
          <p:nvPr/>
        </p:nvSpPr>
        <p:spPr>
          <a:xfrm>
            <a:off x="7442471" y="5803845"/>
            <a:ext cx="336884" cy="2041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EE1B52-A01E-FF53-1D4D-362790F6A2E5}"/>
              </a:ext>
            </a:extLst>
          </p:cNvPr>
          <p:cNvSpPr txBox="1"/>
          <p:nvPr/>
        </p:nvSpPr>
        <p:spPr>
          <a:xfrm>
            <a:off x="7884139" y="6066647"/>
            <a:ext cx="568258" cy="2691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9E7FE595-F2BE-11C4-4735-52BFD07F8B69}"/>
              </a:ext>
            </a:extLst>
          </p:cNvPr>
          <p:cNvSpPr/>
          <p:nvPr/>
        </p:nvSpPr>
        <p:spPr>
          <a:xfrm>
            <a:off x="7442471" y="6100088"/>
            <a:ext cx="336884" cy="2041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F717E9-5DA5-DD62-9451-076C0F6DFE1D}"/>
              </a:ext>
            </a:extLst>
          </p:cNvPr>
          <p:cNvSpPr txBox="1"/>
          <p:nvPr/>
        </p:nvSpPr>
        <p:spPr>
          <a:xfrm>
            <a:off x="7884139" y="6356460"/>
            <a:ext cx="568258" cy="2691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AE26EAB0-D9CE-F572-6757-7D3210FE8003}"/>
              </a:ext>
            </a:extLst>
          </p:cNvPr>
          <p:cNvSpPr/>
          <p:nvPr/>
        </p:nvSpPr>
        <p:spPr>
          <a:xfrm>
            <a:off x="7442471" y="6389901"/>
            <a:ext cx="336884" cy="2041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B7C457-5408-A983-4EFF-2294A75BA8FE}"/>
              </a:ext>
            </a:extLst>
          </p:cNvPr>
          <p:cNvSpPr txBox="1"/>
          <p:nvPr/>
        </p:nvSpPr>
        <p:spPr>
          <a:xfrm>
            <a:off x="4742211" y="3853716"/>
            <a:ext cx="4078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Content in memory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(hex of 1000000)</a:t>
            </a:r>
            <a:endParaRPr lang="en-US" dirty="0"/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FF7800F1-D0C0-B8B9-1815-2592E89F538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480279" y="4346780"/>
            <a:ext cx="444454" cy="1566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2784693-76B0-41FA-0D89-BD7E0EE30C98}"/>
              </a:ext>
            </a:extLst>
          </p:cNvPr>
          <p:cNvSpPr txBox="1"/>
          <p:nvPr/>
        </p:nvSpPr>
        <p:spPr>
          <a:xfrm>
            <a:off x="6032230" y="4265787"/>
            <a:ext cx="2462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address of </a:t>
            </a:r>
            <a:r>
              <a:rPr lang="en-US" dirty="0">
                <a:latin typeface="Courier" pitchFamily="2" charset="0"/>
              </a:rPr>
              <a:t>sum</a:t>
            </a:r>
          </a:p>
        </p:txBody>
      </p: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0FFB0CB3-CB0B-996A-CE56-2B3C10D4FD60}"/>
              </a:ext>
            </a:extLst>
          </p:cNvPr>
          <p:cNvCxnSpPr>
            <a:cxnSpLocks/>
            <a:stCxn id="34" idx="3"/>
            <a:endCxn id="49" idx="2"/>
          </p:cNvCxnSpPr>
          <p:nvPr/>
        </p:nvCxnSpPr>
        <p:spPr>
          <a:xfrm flipV="1">
            <a:off x="8452397" y="4209136"/>
            <a:ext cx="2337416" cy="228188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DE088F8-A828-F2E3-AC67-A3ACE9313ABF}"/>
              </a:ext>
            </a:extLst>
          </p:cNvPr>
          <p:cNvSpPr txBox="1"/>
          <p:nvPr/>
        </p:nvSpPr>
        <p:spPr>
          <a:xfrm>
            <a:off x="8793857" y="3839804"/>
            <a:ext cx="568258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CF9D28-F5FD-295D-9AEB-59D4E8B2E1E7}"/>
              </a:ext>
            </a:extLst>
          </p:cNvPr>
          <p:cNvSpPr txBox="1"/>
          <p:nvPr/>
        </p:nvSpPr>
        <p:spPr>
          <a:xfrm>
            <a:off x="9362115" y="3839804"/>
            <a:ext cx="568258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0f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3A3F9E-FFB5-5F6C-F0AE-4240981470BE}"/>
              </a:ext>
            </a:extLst>
          </p:cNvPr>
          <p:cNvSpPr txBox="1"/>
          <p:nvPr/>
        </p:nvSpPr>
        <p:spPr>
          <a:xfrm>
            <a:off x="9936318" y="3839804"/>
            <a:ext cx="568258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840130-0C6C-4D3E-596F-9AEE34AB89AA}"/>
              </a:ext>
            </a:extLst>
          </p:cNvPr>
          <p:cNvSpPr txBox="1"/>
          <p:nvPr/>
        </p:nvSpPr>
        <p:spPr>
          <a:xfrm>
            <a:off x="10505684" y="3839804"/>
            <a:ext cx="568258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>
              <a:defRPr>
                <a:solidFill>
                  <a:schemeClr val="dk1"/>
                </a:solidFill>
                <a:latin typeface="Courier" pitchFamily="2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</a:p>
        </p:txBody>
      </p: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F99B601B-AF32-DC05-AAAF-AC330D77BAE7}"/>
              </a:ext>
            </a:extLst>
          </p:cNvPr>
          <p:cNvCxnSpPr>
            <a:cxnSpLocks/>
            <a:stCxn id="32" idx="3"/>
            <a:endCxn id="48" idx="2"/>
          </p:cNvCxnSpPr>
          <p:nvPr/>
        </p:nvCxnSpPr>
        <p:spPr>
          <a:xfrm flipV="1">
            <a:off x="8452397" y="4209136"/>
            <a:ext cx="1768050" cy="199207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D6BB6690-A289-6D73-6CC5-F949CEE3F624}"/>
              </a:ext>
            </a:extLst>
          </p:cNvPr>
          <p:cNvCxnSpPr>
            <a:cxnSpLocks/>
            <a:stCxn id="30" idx="3"/>
            <a:endCxn id="47" idx="2"/>
          </p:cNvCxnSpPr>
          <p:nvPr/>
        </p:nvCxnSpPr>
        <p:spPr>
          <a:xfrm flipV="1">
            <a:off x="8452397" y="4209136"/>
            <a:ext cx="1193847" cy="169583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urved Connector 57">
            <a:extLst>
              <a:ext uri="{FF2B5EF4-FFF2-40B4-BE49-F238E27FC236}">
                <a16:creationId xmlns:a16="http://schemas.microsoft.com/office/drawing/2014/main" id="{EED13AF1-ACEF-55EE-A449-D848AE0E208F}"/>
              </a:ext>
            </a:extLst>
          </p:cNvPr>
          <p:cNvCxnSpPr>
            <a:cxnSpLocks/>
            <a:stCxn id="29" idx="3"/>
            <a:endCxn id="46" idx="2"/>
          </p:cNvCxnSpPr>
          <p:nvPr/>
        </p:nvCxnSpPr>
        <p:spPr>
          <a:xfrm flipV="1">
            <a:off x="8452397" y="4209136"/>
            <a:ext cx="625589" cy="139958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DF09774-AA93-6076-F874-D9E68574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75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E622-7617-9BC2-C500-5720F54B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interface: Bash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A1346-3913-02B8-2914-2F70B3DBF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 </a:t>
            </a:r>
          </a:p>
          <a:p>
            <a:endParaRPr lang="en-US" dirty="0"/>
          </a:p>
          <a:p>
            <a:r>
              <a:rPr lang="en-US" dirty="0"/>
              <a:t>ls –</a:t>
            </a:r>
            <a:r>
              <a:rPr lang="en-US" dirty="0" err="1"/>
              <a:t>lha</a:t>
            </a:r>
            <a:r>
              <a:rPr lang="en-US" dirty="0"/>
              <a:t> | grep xxx</a:t>
            </a:r>
          </a:p>
          <a:p>
            <a:r>
              <a:rPr lang="en-US" dirty="0"/>
              <a:t>cat </a:t>
            </a:r>
            <a:r>
              <a:rPr lang="en-US" dirty="0" err="1"/>
              <a:t>roster.txt</a:t>
            </a:r>
            <a:r>
              <a:rPr lang="en-US" dirty="0"/>
              <a:t> | ??</a:t>
            </a:r>
          </a:p>
          <a:p>
            <a:endParaRPr lang="en-US" dirty="0"/>
          </a:p>
          <a:p>
            <a:r>
              <a:rPr lang="en-US" dirty="0"/>
              <a:t>STILL DEVELOPING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E76C0-1886-5683-0A5C-364809FB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25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11148</TotalTime>
  <Words>2280</Words>
  <Application>Microsoft Macintosh PowerPoint</Application>
  <PresentationFormat>Widescreen</PresentationFormat>
  <Paragraphs>482</Paragraphs>
  <Slides>38</Slides>
  <Notes>9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Consolas</vt:lpstr>
      <vt:lpstr>Courier</vt:lpstr>
      <vt:lpstr>Office Theme</vt:lpstr>
      <vt:lpstr>Basics I (Overview)  CMSC 14300: System Programming I 1st Lecture</vt:lpstr>
      <vt:lpstr>What will you learn?</vt:lpstr>
      <vt:lpstr>Python vs C: How to run the code</vt:lpstr>
      <vt:lpstr>Python vs C: Speed</vt:lpstr>
      <vt:lpstr>Python vs C: How to declare variable type</vt:lpstr>
      <vt:lpstr>Python vs C: Access to low-level details (memory)</vt:lpstr>
      <vt:lpstr>C: System Programming</vt:lpstr>
      <vt:lpstr>C: System Programming</vt:lpstr>
      <vt:lpstr>C: System Programming</vt:lpstr>
      <vt:lpstr>C: System Programming</vt:lpstr>
      <vt:lpstr>C: System Programming</vt:lpstr>
      <vt:lpstr>C: System Programming</vt:lpstr>
      <vt:lpstr>PowerPoint Presentation</vt:lpstr>
      <vt:lpstr>Overview</vt:lpstr>
      <vt:lpstr>Example: Implementation of Factorial Function in C</vt:lpstr>
      <vt:lpstr>Example: Factorial Program </vt:lpstr>
      <vt:lpstr>Overview</vt:lpstr>
      <vt:lpstr>Setting up a working environment</vt:lpstr>
      <vt:lpstr>Example: Running “Factorial” Program </vt:lpstr>
      <vt:lpstr>Example: Running “Factorial” Program</vt:lpstr>
      <vt:lpstr>Command line interface: Bash</vt:lpstr>
      <vt:lpstr>Overview</vt:lpstr>
      <vt:lpstr>Course information</vt:lpstr>
      <vt:lpstr>Homework</vt:lpstr>
      <vt:lpstr>Lab</vt:lpstr>
      <vt:lpstr>Quiz and Exam</vt:lpstr>
      <vt:lpstr>Overview</vt:lpstr>
      <vt:lpstr>Help</vt:lpstr>
      <vt:lpstr>Help, Help, Help!!! … Start early</vt:lpstr>
      <vt:lpstr>Academic Misconduct</vt:lpstr>
      <vt:lpstr>Special Accommodation Requests</vt:lpstr>
      <vt:lpstr>Conclusion</vt:lpstr>
      <vt:lpstr>PowerPoint Presentation</vt:lpstr>
      <vt:lpstr>PowerPoint Presentation</vt:lpstr>
      <vt:lpstr>Example: Implementation of Factorial Function in C</vt:lpstr>
      <vt:lpstr>PowerPoint Presentation</vt:lpstr>
      <vt:lpstr>Python vs C: Access to low-level details (memory)</vt:lpstr>
      <vt:lpstr>Command line interface: Bash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131</cp:revision>
  <dcterms:created xsi:type="dcterms:W3CDTF">2023-03-12T16:00:37Z</dcterms:created>
  <dcterms:modified xsi:type="dcterms:W3CDTF">2023-03-22T15:28:40Z</dcterms:modified>
</cp:coreProperties>
</file>