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8" r:id="rId3"/>
    <p:sldId id="260" r:id="rId4"/>
    <p:sldId id="265" r:id="rId5"/>
    <p:sldId id="261" r:id="rId6"/>
    <p:sldId id="262" r:id="rId7"/>
    <p:sldId id="264" r:id="rId8"/>
    <p:sldId id="276" r:id="rId9"/>
    <p:sldId id="277" r:id="rId10"/>
    <p:sldId id="279" r:id="rId11"/>
    <p:sldId id="289" r:id="rId12"/>
    <p:sldId id="288" r:id="rId13"/>
    <p:sldId id="281" r:id="rId14"/>
    <p:sldId id="280" r:id="rId15"/>
    <p:sldId id="282" r:id="rId16"/>
    <p:sldId id="284" r:id="rId17"/>
    <p:sldId id="269" r:id="rId18"/>
    <p:sldId id="266" r:id="rId19"/>
    <p:sldId id="293" r:id="rId20"/>
    <p:sldId id="297" r:id="rId21"/>
    <p:sldId id="271" r:id="rId22"/>
    <p:sldId id="296" r:id="rId23"/>
    <p:sldId id="295" r:id="rId24"/>
    <p:sldId id="274" r:id="rId25"/>
    <p:sldId id="268" r:id="rId26"/>
    <p:sldId id="259" r:id="rId27"/>
    <p:sldId id="257" r:id="rId28"/>
    <p:sldId id="275" r:id="rId29"/>
    <p:sldId id="273" r:id="rId30"/>
    <p:sldId id="290" r:id="rId31"/>
    <p:sldId id="291" r:id="rId32"/>
    <p:sldId id="292" r:id="rId33"/>
    <p:sldId id="286" r:id="rId34"/>
    <p:sldId id="285" r:id="rId35"/>
    <p:sldId id="294" r:id="rId36"/>
    <p:sldId id="28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162"/>
    <p:restoredTop sz="80919"/>
  </p:normalViewPr>
  <p:slideViewPr>
    <p:cSldViewPr snapToGrid="0">
      <p:cViewPr>
        <p:scale>
          <a:sx n="110" d="100"/>
          <a:sy n="110" d="100"/>
        </p:scale>
        <p:origin x="792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4/27/23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37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58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3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pthread_t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80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starts? you can't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ends? you can't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38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pthread_t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6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pthread_t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41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starts? you can't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ends? you can't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02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pthread_t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starts? you can't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ends? you can't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5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starts? you can't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know when it ends? you can't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1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 sz="4400" b="1" kern="0" dirty="0">
                <a:solidFill>
                  <a:schemeClr val="tx1"/>
                </a:solidFill>
                <a:latin typeface="Calibri" pitchFamily="34" charset="0"/>
              </a:rPr>
              <a:t>Thread 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17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C647-DF13-82F9-F571-4A2EB0B8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Example: Highway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3EF2EB-B247-0A05-4B77-02263697F85E}"/>
              </a:ext>
            </a:extLst>
          </p:cNvPr>
          <p:cNvGrpSpPr/>
          <p:nvPr/>
        </p:nvGrpSpPr>
        <p:grpSpPr>
          <a:xfrm>
            <a:off x="1739530" y="1587399"/>
            <a:ext cx="1344384" cy="3156124"/>
            <a:chOff x="1249960" y="1560352"/>
            <a:chExt cx="1702965" cy="4731391"/>
          </a:xfrm>
        </p:grpSpPr>
        <p:pic>
          <p:nvPicPr>
            <p:cNvPr id="1026" name="Picture 2" descr="Simple Top View Car Sticker">
              <a:extLst>
                <a:ext uri="{FF2B5EF4-FFF2-40B4-BE49-F238E27FC236}">
                  <a16:creationId xmlns:a16="http://schemas.microsoft.com/office/drawing/2014/main" id="{F31CB5ED-559E-9A60-5EE6-FE498489A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309" y="4745726"/>
              <a:ext cx="738054" cy="1430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234FA81-B116-6DE5-8E36-7CF126AA3445}"/>
                </a:ext>
              </a:extLst>
            </p:cNvPr>
            <p:cNvCxnSpPr/>
            <p:nvPr/>
          </p:nvCxnSpPr>
          <p:spPr>
            <a:xfrm flipH="1">
              <a:off x="1249960" y="1560352"/>
              <a:ext cx="570451" cy="473139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A2A621-3BC2-0B88-DEEC-293FF89A16CD}"/>
                </a:ext>
              </a:extLst>
            </p:cNvPr>
            <p:cNvCxnSpPr>
              <a:cxnSpLocks/>
            </p:cNvCxnSpPr>
            <p:nvPr/>
          </p:nvCxnSpPr>
          <p:spPr>
            <a:xfrm>
              <a:off x="2374260" y="1560352"/>
              <a:ext cx="578665" cy="473139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" name="Picture 2" descr="Simple Top View Car Sticker">
              <a:extLst>
                <a:ext uri="{FF2B5EF4-FFF2-40B4-BE49-F238E27FC236}">
                  <a16:creationId xmlns:a16="http://schemas.microsoft.com/office/drawing/2014/main" id="{5B9D151C-72A5-F027-E365-D3888ED10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698" y="2120666"/>
              <a:ext cx="419275" cy="812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2C1A603-7783-B352-76CE-B0EEF5E121D9}"/>
              </a:ext>
            </a:extLst>
          </p:cNvPr>
          <p:cNvGrpSpPr/>
          <p:nvPr/>
        </p:nvGrpSpPr>
        <p:grpSpPr>
          <a:xfrm>
            <a:off x="6774927" y="1631247"/>
            <a:ext cx="4410524" cy="3097679"/>
            <a:chOff x="5615978" y="1648047"/>
            <a:chExt cx="6433836" cy="4643696"/>
          </a:xfrm>
        </p:grpSpPr>
        <p:pic>
          <p:nvPicPr>
            <p:cNvPr id="11" name="Picture 2" descr="Simple Top View Car Sticker">
              <a:extLst>
                <a:ext uri="{FF2B5EF4-FFF2-40B4-BE49-F238E27FC236}">
                  <a16:creationId xmlns:a16="http://schemas.microsoft.com/office/drawing/2014/main" id="{FE4D321F-A32A-18F9-A154-75D86E8B62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198978">
              <a:off x="6270026" y="4494785"/>
              <a:ext cx="738054" cy="1430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722F7D-B606-C480-3EC9-F164A9B03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978" y="1648047"/>
              <a:ext cx="1753385" cy="464369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3372FF3-EBB7-47C7-B3A6-B365975BF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8943" y="1648047"/>
              <a:ext cx="722396" cy="4643696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2" descr="Simple Top View Car Sticker">
              <a:extLst>
                <a:ext uri="{FF2B5EF4-FFF2-40B4-BE49-F238E27FC236}">
                  <a16:creationId xmlns:a16="http://schemas.microsoft.com/office/drawing/2014/main" id="{6A5DA3AC-82B1-DBBA-A7E2-8F05264F5D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198978">
              <a:off x="7267808" y="2128199"/>
              <a:ext cx="419275" cy="812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F85B4A-2492-0CA8-0F70-7505009A2744}"/>
                </a:ext>
              </a:extLst>
            </p:cNvPr>
            <p:cNvCxnSpPr>
              <a:cxnSpLocks/>
            </p:cNvCxnSpPr>
            <p:nvPr/>
          </p:nvCxnSpPr>
          <p:spPr>
            <a:xfrm>
              <a:off x="8768242" y="1648047"/>
              <a:ext cx="0" cy="4599848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2BAF978-7E12-8963-DF4F-F1BBE12D23FD}"/>
                </a:ext>
              </a:extLst>
            </p:cNvPr>
            <p:cNvCxnSpPr>
              <a:cxnSpLocks/>
            </p:cNvCxnSpPr>
            <p:nvPr/>
          </p:nvCxnSpPr>
          <p:spPr>
            <a:xfrm>
              <a:off x="9495146" y="1648047"/>
              <a:ext cx="809156" cy="4643696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A86F0D6-B9EA-9977-DC02-12E4771E5959}"/>
                </a:ext>
              </a:extLst>
            </p:cNvPr>
            <p:cNvCxnSpPr>
              <a:cxnSpLocks/>
            </p:cNvCxnSpPr>
            <p:nvPr/>
          </p:nvCxnSpPr>
          <p:spPr>
            <a:xfrm>
              <a:off x="10304302" y="1648047"/>
              <a:ext cx="1745512" cy="4528013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3" name="Picture 2" descr="Simple Top View Car Sticker">
              <a:extLst>
                <a:ext uri="{FF2B5EF4-FFF2-40B4-BE49-F238E27FC236}">
                  <a16:creationId xmlns:a16="http://schemas.microsoft.com/office/drawing/2014/main" id="{9AD4829A-7288-9FF8-6AEE-84E5BA744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4719">
              <a:off x="7775069" y="4662672"/>
              <a:ext cx="738054" cy="1430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Simple Top View Car Sticker">
              <a:extLst>
                <a:ext uri="{FF2B5EF4-FFF2-40B4-BE49-F238E27FC236}">
                  <a16:creationId xmlns:a16="http://schemas.microsoft.com/office/drawing/2014/main" id="{C2151916-A1A5-F928-0F23-7B92AF8329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4719">
              <a:off x="8081017" y="2165255"/>
              <a:ext cx="419275" cy="812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" descr="Simple Top View Car Sticker">
              <a:extLst>
                <a:ext uri="{FF2B5EF4-FFF2-40B4-BE49-F238E27FC236}">
                  <a16:creationId xmlns:a16="http://schemas.microsoft.com/office/drawing/2014/main" id="{1526EE1E-11A0-4ECA-6661-D200ED151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04572">
              <a:off x="9165848" y="4634912"/>
              <a:ext cx="738054" cy="1430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Simple Top View Car Sticker">
              <a:extLst>
                <a:ext uri="{FF2B5EF4-FFF2-40B4-BE49-F238E27FC236}">
                  <a16:creationId xmlns:a16="http://schemas.microsoft.com/office/drawing/2014/main" id="{2DCEE73A-4B10-E6EE-A408-13E94CC8B1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04572">
              <a:off x="9009998" y="2149485"/>
              <a:ext cx="419275" cy="812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Simple Top View Car Sticker">
              <a:extLst>
                <a:ext uri="{FF2B5EF4-FFF2-40B4-BE49-F238E27FC236}">
                  <a16:creationId xmlns:a16="http://schemas.microsoft.com/office/drawing/2014/main" id="{2683FC41-D738-9CC2-B0DC-FFA1F3F76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81915">
              <a:off x="10640141" y="4388461"/>
              <a:ext cx="738054" cy="1430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Simple Top View Car Sticker">
              <a:extLst>
                <a:ext uri="{FF2B5EF4-FFF2-40B4-BE49-F238E27FC236}">
                  <a16:creationId xmlns:a16="http://schemas.microsoft.com/office/drawing/2014/main" id="{7EF12DA9-00D4-3C37-6A7F-B4629863E0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711495">
              <a:off x="9910693" y="2043806"/>
              <a:ext cx="419275" cy="812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F2F376E-5C90-2C5E-01A7-8D30CBDB4809}"/>
              </a:ext>
            </a:extLst>
          </p:cNvPr>
          <p:cNvSpPr txBox="1"/>
          <p:nvPr/>
        </p:nvSpPr>
        <p:spPr>
          <a:xfrm>
            <a:off x="1309524" y="5413745"/>
            <a:ext cx="2197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Single-lane road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D63BD9-9653-D116-11F0-2B967343C834}"/>
              </a:ext>
            </a:extLst>
          </p:cNvPr>
          <p:cNvSpPr txBox="1"/>
          <p:nvPr/>
        </p:nvSpPr>
        <p:spPr>
          <a:xfrm>
            <a:off x="8189952" y="5417633"/>
            <a:ext cx="2124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Multi-lane road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F5E3B8-3D0D-40E7-329E-0E86824A8189}"/>
              </a:ext>
            </a:extLst>
          </p:cNvPr>
          <p:cNvSpPr txBox="1"/>
          <p:nvPr/>
        </p:nvSpPr>
        <p:spPr>
          <a:xfrm>
            <a:off x="8021497" y="6010664"/>
            <a:ext cx="250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Higher throughput</a:t>
            </a:r>
          </a:p>
        </p:txBody>
      </p:sp>
    </p:spTree>
    <p:extLst>
      <p:ext uri="{BB962C8B-B14F-4D97-AF65-F5344CB8AC3E}">
        <p14:creationId xmlns:p14="http://schemas.microsoft.com/office/powerpoint/2010/main" val="3602924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CE00-DDA1-9ED8-51CB-7FB978C2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Example: Video Encoding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C6191-9CB7-52EA-CAEA-D8D1AE3E7753}"/>
              </a:ext>
            </a:extLst>
          </p:cNvPr>
          <p:cNvSpPr/>
          <p:nvPr/>
        </p:nvSpPr>
        <p:spPr>
          <a:xfrm>
            <a:off x="191387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FCCC7C-159E-3C33-2936-3CE24A492D1D}"/>
              </a:ext>
            </a:extLst>
          </p:cNvPr>
          <p:cNvSpPr/>
          <p:nvPr/>
        </p:nvSpPr>
        <p:spPr>
          <a:xfrm>
            <a:off x="492642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B4956-DA15-453D-899A-EE9D8698ED26}"/>
              </a:ext>
            </a:extLst>
          </p:cNvPr>
          <p:cNvSpPr/>
          <p:nvPr/>
        </p:nvSpPr>
        <p:spPr>
          <a:xfrm>
            <a:off x="824024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81BFE9-55D7-CD54-C51B-CF2BB4A3B2CE}"/>
              </a:ext>
            </a:extLst>
          </p:cNvPr>
          <p:cNvSpPr/>
          <p:nvPr/>
        </p:nvSpPr>
        <p:spPr>
          <a:xfrm>
            <a:off x="1125279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D0C3E-AD57-BBA8-0919-F20DE8BDC720}"/>
              </a:ext>
            </a:extLst>
          </p:cNvPr>
          <p:cNvSpPr/>
          <p:nvPr/>
        </p:nvSpPr>
        <p:spPr>
          <a:xfrm>
            <a:off x="1451344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3B09B2-A4C1-E03B-6BE5-04C5C16F5CE8}"/>
              </a:ext>
            </a:extLst>
          </p:cNvPr>
          <p:cNvSpPr/>
          <p:nvPr/>
        </p:nvSpPr>
        <p:spPr>
          <a:xfrm>
            <a:off x="1752599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DCF33-0BF2-9C1B-92A4-B575A7C2D31F}"/>
              </a:ext>
            </a:extLst>
          </p:cNvPr>
          <p:cNvSpPr/>
          <p:nvPr/>
        </p:nvSpPr>
        <p:spPr>
          <a:xfrm>
            <a:off x="2083981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5B7D1-B2D5-42AF-8B0E-B11EC3B3990C}"/>
              </a:ext>
            </a:extLst>
          </p:cNvPr>
          <p:cNvSpPr/>
          <p:nvPr/>
        </p:nvSpPr>
        <p:spPr>
          <a:xfrm>
            <a:off x="2385236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D63ED6-CD17-F3BC-43D6-6055CE51015C}"/>
              </a:ext>
            </a:extLst>
          </p:cNvPr>
          <p:cNvSpPr/>
          <p:nvPr/>
        </p:nvSpPr>
        <p:spPr>
          <a:xfrm>
            <a:off x="2711301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0A7062-4A33-0CC5-4806-AD8D20C6FF3E}"/>
              </a:ext>
            </a:extLst>
          </p:cNvPr>
          <p:cNvSpPr/>
          <p:nvPr/>
        </p:nvSpPr>
        <p:spPr>
          <a:xfrm>
            <a:off x="3012556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0FFC13-7653-72D8-A013-00F43832F711}"/>
              </a:ext>
            </a:extLst>
          </p:cNvPr>
          <p:cNvSpPr/>
          <p:nvPr/>
        </p:nvSpPr>
        <p:spPr>
          <a:xfrm>
            <a:off x="3308494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5EE298-AE05-69FF-D0D9-F01042FC873D}"/>
              </a:ext>
            </a:extLst>
          </p:cNvPr>
          <p:cNvSpPr/>
          <p:nvPr/>
        </p:nvSpPr>
        <p:spPr>
          <a:xfrm>
            <a:off x="3609749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descr="Film strip with solid fill">
            <a:extLst>
              <a:ext uri="{FF2B5EF4-FFF2-40B4-BE49-F238E27FC236}">
                <a16:creationId xmlns:a16="http://schemas.microsoft.com/office/drawing/2014/main" id="{79BB7F3C-D871-CEE2-13B7-AB6EFA0E3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5246" y="3503428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80B6E86-EB74-439E-1FF6-4FCBEFE0CA57}"/>
              </a:ext>
            </a:extLst>
          </p:cNvPr>
          <p:cNvSpPr txBox="1"/>
          <p:nvPr/>
        </p:nvSpPr>
        <p:spPr>
          <a:xfrm>
            <a:off x="2902951" y="3786154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all.mp4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364BAD4C-85B2-53E8-E503-F51D7DA2A494}"/>
              </a:ext>
            </a:extLst>
          </p:cNvPr>
          <p:cNvSpPr/>
          <p:nvPr/>
        </p:nvSpPr>
        <p:spPr>
          <a:xfrm rot="16200000">
            <a:off x="2308498" y="1271824"/>
            <a:ext cx="465364" cy="384898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4192DF-A948-F06A-3F07-74FDB3961992}"/>
              </a:ext>
            </a:extLst>
          </p:cNvPr>
          <p:cNvSpPr/>
          <p:nvPr/>
        </p:nvSpPr>
        <p:spPr>
          <a:xfrm>
            <a:off x="6129672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714E17-96D0-5CEE-A9C5-28B62A299531}"/>
              </a:ext>
            </a:extLst>
          </p:cNvPr>
          <p:cNvSpPr/>
          <p:nvPr/>
        </p:nvSpPr>
        <p:spPr>
          <a:xfrm>
            <a:off x="6461054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F78D68-CADE-2347-A65A-88820ACDFF29}"/>
              </a:ext>
            </a:extLst>
          </p:cNvPr>
          <p:cNvSpPr/>
          <p:nvPr/>
        </p:nvSpPr>
        <p:spPr>
          <a:xfrm>
            <a:off x="6762309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3B4634-8FAC-8CB8-4478-D1837CE1077E}"/>
              </a:ext>
            </a:extLst>
          </p:cNvPr>
          <p:cNvSpPr/>
          <p:nvPr/>
        </p:nvSpPr>
        <p:spPr>
          <a:xfrm>
            <a:off x="7533171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322231-1762-DA02-106C-7A4A5672F25A}"/>
              </a:ext>
            </a:extLst>
          </p:cNvPr>
          <p:cNvSpPr/>
          <p:nvPr/>
        </p:nvSpPr>
        <p:spPr>
          <a:xfrm>
            <a:off x="7834426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633407-9E59-82DD-7215-05752D897302}"/>
              </a:ext>
            </a:extLst>
          </p:cNvPr>
          <p:cNvSpPr/>
          <p:nvPr/>
        </p:nvSpPr>
        <p:spPr>
          <a:xfrm>
            <a:off x="8165808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B4E5DA-8659-7A50-C650-FE4367679434}"/>
              </a:ext>
            </a:extLst>
          </p:cNvPr>
          <p:cNvSpPr/>
          <p:nvPr/>
        </p:nvSpPr>
        <p:spPr>
          <a:xfrm>
            <a:off x="8930464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1D0C46-34E9-BD70-1BDC-945DCFAF703A}"/>
              </a:ext>
            </a:extLst>
          </p:cNvPr>
          <p:cNvSpPr/>
          <p:nvPr/>
        </p:nvSpPr>
        <p:spPr>
          <a:xfrm>
            <a:off x="9256529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21D5D6-2227-AEAB-99B4-A1C772246865}"/>
              </a:ext>
            </a:extLst>
          </p:cNvPr>
          <p:cNvSpPr/>
          <p:nvPr/>
        </p:nvSpPr>
        <p:spPr>
          <a:xfrm>
            <a:off x="9557784" y="1754372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351DF1-6267-3803-364E-1ABDE9A58137}"/>
              </a:ext>
            </a:extLst>
          </p:cNvPr>
          <p:cNvSpPr/>
          <p:nvPr/>
        </p:nvSpPr>
        <p:spPr>
          <a:xfrm>
            <a:off x="10403960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84DF2C-7652-740F-7437-607A31E1F4E4}"/>
              </a:ext>
            </a:extLst>
          </p:cNvPr>
          <p:cNvSpPr/>
          <p:nvPr/>
        </p:nvSpPr>
        <p:spPr>
          <a:xfrm>
            <a:off x="10705215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 descr="Film strip with solid fill">
            <a:extLst>
              <a:ext uri="{FF2B5EF4-FFF2-40B4-BE49-F238E27FC236}">
                <a16:creationId xmlns:a16="http://schemas.microsoft.com/office/drawing/2014/main" id="{76955DFC-6174-C12B-DCAD-606C47806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5228" y="3480022"/>
            <a:ext cx="485921" cy="48592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C856CFD-4150-9160-55C5-F2B35087DCC2}"/>
              </a:ext>
            </a:extLst>
          </p:cNvPr>
          <p:cNvSpPr txBox="1"/>
          <p:nvPr/>
        </p:nvSpPr>
        <p:spPr>
          <a:xfrm>
            <a:off x="6502130" y="3965943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part1.mp4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ECED0E04-6249-55D0-31C2-450F10FFF7F0}"/>
              </a:ext>
            </a:extLst>
          </p:cNvPr>
          <p:cNvSpPr/>
          <p:nvPr/>
        </p:nvSpPr>
        <p:spPr>
          <a:xfrm rot="16200000">
            <a:off x="6845942" y="2682607"/>
            <a:ext cx="465364" cy="103666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9F0E92-4E6F-5445-93C0-2464C95D58CA}"/>
              </a:ext>
            </a:extLst>
          </p:cNvPr>
          <p:cNvSpPr/>
          <p:nvPr/>
        </p:nvSpPr>
        <p:spPr>
          <a:xfrm>
            <a:off x="10974570" y="1758995"/>
            <a:ext cx="1265274" cy="871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Graphic 43" descr="Film strip with solid fill">
            <a:extLst>
              <a:ext uri="{FF2B5EF4-FFF2-40B4-BE49-F238E27FC236}">
                <a16:creationId xmlns:a16="http://schemas.microsoft.com/office/drawing/2014/main" id="{E21D90A4-8439-B5AA-C010-03D43293A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8735" y="3480021"/>
            <a:ext cx="485921" cy="48592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0441A32-7529-135E-6102-A7DB637AA377}"/>
              </a:ext>
            </a:extLst>
          </p:cNvPr>
          <p:cNvSpPr txBox="1"/>
          <p:nvPr/>
        </p:nvSpPr>
        <p:spPr>
          <a:xfrm>
            <a:off x="7835637" y="396594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part2.mp4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E4799611-796A-F0BD-2DA2-475CCA0F9B0E}"/>
              </a:ext>
            </a:extLst>
          </p:cNvPr>
          <p:cNvSpPr/>
          <p:nvPr/>
        </p:nvSpPr>
        <p:spPr>
          <a:xfrm rot="16200000">
            <a:off x="8179449" y="2682606"/>
            <a:ext cx="465364" cy="103666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ilm strip with solid fill">
            <a:extLst>
              <a:ext uri="{FF2B5EF4-FFF2-40B4-BE49-F238E27FC236}">
                <a16:creationId xmlns:a16="http://schemas.microsoft.com/office/drawing/2014/main" id="{1EE9438C-9C28-58BD-DC1C-FC735A42B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575" y="3480021"/>
            <a:ext cx="485921" cy="48592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E310421-DDF9-FBEB-4BF3-5ED63E104707}"/>
              </a:ext>
            </a:extLst>
          </p:cNvPr>
          <p:cNvSpPr txBox="1"/>
          <p:nvPr/>
        </p:nvSpPr>
        <p:spPr>
          <a:xfrm>
            <a:off x="9235477" y="396594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part3.mp4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B863D7F8-0714-D7BC-E9DB-469077048D5B}"/>
              </a:ext>
            </a:extLst>
          </p:cNvPr>
          <p:cNvSpPr/>
          <p:nvPr/>
        </p:nvSpPr>
        <p:spPr>
          <a:xfrm rot="16200000">
            <a:off x="9579289" y="2682606"/>
            <a:ext cx="465364" cy="103666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Graphic 49" descr="Film strip with solid fill">
            <a:extLst>
              <a:ext uri="{FF2B5EF4-FFF2-40B4-BE49-F238E27FC236}">
                <a16:creationId xmlns:a16="http://schemas.microsoft.com/office/drawing/2014/main" id="{2F56F01A-9852-036A-E971-FD7004612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1637" y="3480021"/>
            <a:ext cx="485921" cy="48592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9D0DA1A-E827-BFD2-89E2-C77DFB645D23}"/>
              </a:ext>
            </a:extLst>
          </p:cNvPr>
          <p:cNvSpPr txBox="1"/>
          <p:nvPr/>
        </p:nvSpPr>
        <p:spPr>
          <a:xfrm>
            <a:off x="10568539" y="396594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part4.mp4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693BDE59-2E79-9B3C-02C1-01514B043A56}"/>
              </a:ext>
            </a:extLst>
          </p:cNvPr>
          <p:cNvSpPr/>
          <p:nvPr/>
        </p:nvSpPr>
        <p:spPr>
          <a:xfrm rot="16200000">
            <a:off x="10912351" y="2682606"/>
            <a:ext cx="465364" cy="103666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 descr="Film strip with solid fill">
            <a:extLst>
              <a:ext uri="{FF2B5EF4-FFF2-40B4-BE49-F238E27FC236}">
                <a16:creationId xmlns:a16="http://schemas.microsoft.com/office/drawing/2014/main" id="{A357167A-21E7-67EC-E4C5-F5D8905FC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1872" y="5027696"/>
            <a:ext cx="914400" cy="9144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A96F62F-C98A-3A2C-55AA-95072AFF85A7}"/>
              </a:ext>
            </a:extLst>
          </p:cNvPr>
          <p:cNvSpPr txBox="1"/>
          <p:nvPr/>
        </p:nvSpPr>
        <p:spPr>
          <a:xfrm>
            <a:off x="9567163" y="5327789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all.mp4</a:t>
            </a:r>
          </a:p>
        </p:txBody>
      </p:sp>
      <p:sp>
        <p:nvSpPr>
          <p:cNvPr id="55" name="Left Brace 54">
            <a:extLst>
              <a:ext uri="{FF2B5EF4-FFF2-40B4-BE49-F238E27FC236}">
                <a16:creationId xmlns:a16="http://schemas.microsoft.com/office/drawing/2014/main" id="{03D80CB9-16D4-A814-8E5D-D45B1F4E6B79}"/>
              </a:ext>
            </a:extLst>
          </p:cNvPr>
          <p:cNvSpPr/>
          <p:nvPr/>
        </p:nvSpPr>
        <p:spPr>
          <a:xfrm rot="16200000">
            <a:off x="8995124" y="2796092"/>
            <a:ext cx="465364" cy="384898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CC0137-FF96-84EF-C110-B3738B6627FF}"/>
              </a:ext>
            </a:extLst>
          </p:cNvPr>
          <p:cNvSpPr txBox="1"/>
          <p:nvPr/>
        </p:nvSpPr>
        <p:spPr>
          <a:xfrm>
            <a:off x="492642" y="5111099"/>
            <a:ext cx="4828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Compress frames to mp4 by sequentially going through all frames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19B8B-B702-9AB0-F343-D70F9F561C6B}"/>
              </a:ext>
            </a:extLst>
          </p:cNvPr>
          <p:cNvSpPr txBox="1"/>
          <p:nvPr/>
        </p:nvSpPr>
        <p:spPr>
          <a:xfrm>
            <a:off x="4763120" y="2005641"/>
            <a:ext cx="142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 frames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D8121F-B4A5-EF68-4710-386E4B09C0C0}"/>
              </a:ext>
            </a:extLst>
          </p:cNvPr>
          <p:cNvSpPr txBox="1"/>
          <p:nvPr/>
        </p:nvSpPr>
        <p:spPr>
          <a:xfrm>
            <a:off x="6519321" y="5926300"/>
            <a:ext cx="554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Split frames to independent frame groups and compress the groups </a:t>
            </a:r>
            <a:r>
              <a:rPr lang="en-US" sz="2400" i="1" dirty="0"/>
              <a:t>in parallel</a:t>
            </a:r>
          </a:p>
        </p:txBody>
      </p:sp>
    </p:spTree>
    <p:extLst>
      <p:ext uri="{BB962C8B-B14F-4D97-AF65-F5344CB8AC3E}">
        <p14:creationId xmlns:p14="http://schemas.microsoft.com/office/powerpoint/2010/main" val="136583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4A5F-A940-DF6D-AD6C-92DA62EF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7180D-6CA7-B982-9A0C-2F2D16C6C511}"/>
              </a:ext>
            </a:extLst>
          </p:cNvPr>
          <p:cNvSpPr txBox="1"/>
          <p:nvPr/>
        </p:nvSpPr>
        <p:spPr>
          <a:xfrm>
            <a:off x="861237" y="1616149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are examples of parallelism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Can be split into </a:t>
            </a:r>
            <a:r>
              <a:rPr lang="en-US" sz="2400" b="1" dirty="0"/>
              <a:t>independent</a:t>
            </a:r>
            <a:r>
              <a:rPr lang="en-US" sz="2400" dirty="0"/>
              <a:t> subtasks that can run </a:t>
            </a:r>
            <a:r>
              <a:rPr lang="en-US" sz="2400" b="1" i="1" dirty="0"/>
              <a:t>in parallel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order of completion of the subtasks does </a:t>
            </a:r>
            <a:r>
              <a:rPr lang="en-US" sz="2400" b="1" i="1" dirty="0"/>
              <a:t>not </a:t>
            </a:r>
            <a:r>
              <a:rPr lang="en-US" sz="2400" dirty="0"/>
              <a:t>matter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Threads</a:t>
            </a:r>
            <a:r>
              <a:rPr lang="en-US" sz="2400" dirty="0"/>
              <a:t> allow a computer to parallelize execution across </a:t>
            </a:r>
            <a:r>
              <a:rPr lang="en-US" sz="2400" b="1" dirty="0"/>
              <a:t>multiple processors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thread</a:t>
            </a:r>
            <a:r>
              <a:rPr lang="en-US" sz="2400" dirty="0"/>
              <a:t> of execution is a sequence of instructions that can be independently scheduled to run on a processor.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application can run multiple threads.</a:t>
            </a:r>
          </a:p>
        </p:txBody>
      </p:sp>
    </p:spTree>
    <p:extLst>
      <p:ext uri="{BB962C8B-B14F-4D97-AF65-F5344CB8AC3E}">
        <p14:creationId xmlns:p14="http://schemas.microsoft.com/office/powerpoint/2010/main" val="34684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9E76-AC70-51F2-C932-A496F512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Example of Parallelism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7878D-D778-D99C-E56F-8EE2DC2C3227}"/>
              </a:ext>
            </a:extLst>
          </p:cNvPr>
          <p:cNvSpPr txBox="1"/>
          <p:nvPr/>
        </p:nvSpPr>
        <p:spPr>
          <a:xfrm>
            <a:off x="838200" y="1365337"/>
            <a:ext cx="41304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Multi-core/processor – parallelism</a:t>
            </a:r>
          </a:p>
          <a:p>
            <a:pPr lvl="1"/>
            <a:r>
              <a:rPr lang="en-US" sz="2000" dirty="0"/>
              <a:t>Quad-core </a:t>
            </a:r>
            <a:r>
              <a:rPr lang="en-US" sz="2000" dirty="0">
                <a:sym typeface="Wingdings"/>
              </a:rPr>
              <a:t> 4 cores</a:t>
            </a:r>
          </a:p>
          <a:p>
            <a:pPr lvl="1"/>
            <a:r>
              <a:rPr lang="en-US" sz="2000" dirty="0">
                <a:sym typeface="Wingdings"/>
              </a:rPr>
              <a:t>server: 64-128 cores per machine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69210-7B51-CED4-D28C-A111D61B298D}"/>
              </a:ext>
            </a:extLst>
          </p:cNvPr>
          <p:cNvSpPr txBox="1"/>
          <p:nvPr/>
        </p:nvSpPr>
        <p:spPr>
          <a:xfrm>
            <a:off x="829340" y="2881423"/>
            <a:ext cx="5932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How to exploit parallelism?</a:t>
            </a:r>
          </a:p>
          <a:p>
            <a:pPr lvl="1"/>
            <a:r>
              <a:rPr lang="en-US" sz="2000" dirty="0"/>
              <a:t>A simple example: Count sum of a million numbers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BBDF4-473B-C808-1AEB-1DE1D08C50E1}"/>
              </a:ext>
            </a:extLst>
          </p:cNvPr>
          <p:cNvSpPr txBox="1"/>
          <p:nvPr/>
        </p:nvSpPr>
        <p:spPr>
          <a:xfrm>
            <a:off x="829340" y="4295553"/>
            <a:ext cx="49263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total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total +=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CB692-CDBE-892B-A1DB-1C5741D5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376" y="1331770"/>
            <a:ext cx="3644900" cy="233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6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D1F48-7447-D0B9-F403-A087C52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Leveraging multiple CPUs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346E2-5F4D-4D2E-590E-6AC8AD228575}"/>
              </a:ext>
            </a:extLst>
          </p:cNvPr>
          <p:cNvSpPr txBox="1"/>
          <p:nvPr/>
        </p:nvSpPr>
        <p:spPr>
          <a:xfrm>
            <a:off x="1175378" y="1266638"/>
            <a:ext cx="2117725" cy="923330"/>
          </a:xfrm>
          <a:prstGeom prst="rect">
            <a:avLst/>
          </a:prstGeom>
          <a:noFill/>
          <a:ln w="28575"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 1</a:t>
            </a:r>
          </a:p>
          <a:p>
            <a:pPr algn="ctr"/>
            <a:r>
              <a:rPr lang="en-US" sz="18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T1</a:t>
            </a: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Total of </a:t>
            </a:r>
            <a:r>
              <a:rPr lang="en-US" sz="1800" b="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[0-250K)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6F51C-D0B2-84AF-3835-93B6C4E8B940}"/>
              </a:ext>
            </a:extLst>
          </p:cNvPr>
          <p:cNvSpPr txBox="1"/>
          <p:nvPr/>
        </p:nvSpPr>
        <p:spPr>
          <a:xfrm>
            <a:off x="3186094" y="1246786"/>
            <a:ext cx="2102653" cy="923330"/>
          </a:xfrm>
          <a:prstGeom prst="rect">
            <a:avLst/>
          </a:prstGeom>
          <a:noFill/>
          <a:ln w="28575"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 2</a:t>
            </a:r>
          </a:p>
          <a:p>
            <a:pPr algn="ctr"/>
            <a:r>
              <a:rPr lang="en-US" sz="18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T2</a:t>
            </a: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Total of </a:t>
            </a:r>
            <a:r>
              <a:rPr lang="en-US" sz="1800" b="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[250-500K)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B3AE1-19B6-63AA-2863-C821A56EE440}"/>
              </a:ext>
            </a:extLst>
          </p:cNvPr>
          <p:cNvSpPr txBox="1"/>
          <p:nvPr/>
        </p:nvSpPr>
        <p:spPr>
          <a:xfrm>
            <a:off x="5288747" y="1246786"/>
            <a:ext cx="2102653" cy="923330"/>
          </a:xfrm>
          <a:prstGeom prst="rect">
            <a:avLst/>
          </a:prstGeom>
          <a:noFill/>
          <a:ln w="28575"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 3</a:t>
            </a:r>
          </a:p>
          <a:p>
            <a:pPr algn="ctr"/>
            <a:r>
              <a:rPr lang="en-US" sz="18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T3</a:t>
            </a: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Total of </a:t>
            </a:r>
            <a:r>
              <a:rPr lang="en-US" sz="1800" b="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[500-750K)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DA34C-E342-7405-92EB-7A35DCD9666E}"/>
              </a:ext>
            </a:extLst>
          </p:cNvPr>
          <p:cNvSpPr txBox="1"/>
          <p:nvPr/>
        </p:nvSpPr>
        <p:spPr>
          <a:xfrm>
            <a:off x="7543800" y="1246786"/>
            <a:ext cx="2102653" cy="923330"/>
          </a:xfrm>
          <a:prstGeom prst="rect">
            <a:avLst/>
          </a:prstGeom>
          <a:noFill/>
          <a:ln w="28575"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 4</a:t>
            </a:r>
          </a:p>
          <a:p>
            <a:pPr algn="ctr"/>
            <a:r>
              <a:rPr lang="en-US" sz="18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T4</a:t>
            </a: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Total of </a:t>
            </a:r>
            <a:r>
              <a:rPr lang="en-US" sz="1800" b="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[750-1000K)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320E9-88D9-3079-1559-DF57A95AC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103" y="2806827"/>
            <a:ext cx="3644900" cy="2339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908AFF-F922-1FD7-86F4-0336D728FA6C}"/>
              </a:ext>
            </a:extLst>
          </p:cNvPr>
          <p:cNvSpPr txBox="1"/>
          <p:nvPr/>
        </p:nvSpPr>
        <p:spPr>
          <a:xfrm>
            <a:off x="7227888" y="3334025"/>
            <a:ext cx="4191000" cy="369332"/>
          </a:xfrm>
          <a:prstGeom prst="rect">
            <a:avLst/>
          </a:prstGeom>
          <a:noFill/>
          <a:ln w="28575"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total = T1+ T2 + T3 + T4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5D177C-2964-9A28-03A2-E7BFA3E4F50C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2234241" y="2189968"/>
            <a:ext cx="1602668" cy="1233718"/>
          </a:xfrm>
          <a:prstGeom prst="straightConnector1">
            <a:avLst/>
          </a:prstGeom>
          <a:ln w="57150" cmpd="sng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20631B-0913-7D3D-E3B8-AD0A6FD0FB68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4237421" y="2170116"/>
            <a:ext cx="395305" cy="1330186"/>
          </a:xfrm>
          <a:prstGeom prst="straightConnector1">
            <a:avLst/>
          </a:prstGeom>
          <a:ln w="57150" cmpd="sng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EEDEC9-9E83-441B-D7A4-55CEC05FD26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665295" y="2170116"/>
            <a:ext cx="674779" cy="1330186"/>
          </a:xfrm>
          <a:prstGeom prst="straightConnector1">
            <a:avLst/>
          </a:prstGeom>
          <a:ln w="57150" cmpd="sng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324B5E-94F5-6822-82E0-9585D51164CF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340073" y="2170116"/>
            <a:ext cx="2255054" cy="1330186"/>
          </a:xfrm>
          <a:prstGeom prst="straightConnector1">
            <a:avLst/>
          </a:prstGeom>
          <a:ln w="57150" cmpd="sng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57335E4B-E27F-1970-8135-641F226AFC84}"/>
              </a:ext>
            </a:extLst>
          </p:cNvPr>
          <p:cNvSpPr/>
          <p:nvPr/>
        </p:nvSpPr>
        <p:spPr>
          <a:xfrm>
            <a:off x="9102975" y="4037769"/>
            <a:ext cx="2112739" cy="608137"/>
          </a:xfrm>
          <a:prstGeom prst="wedgeRoundRectCallout">
            <a:avLst>
              <a:gd name="adj1" fmla="val -32768"/>
              <a:gd name="adj2" fmla="val -89035"/>
              <a:gd name="adj3" fmla="val 16667"/>
            </a:avLst>
          </a:prstGeom>
          <a:solidFill>
            <a:srgbClr val="F5D1CF"/>
          </a:solidFill>
          <a:ln w="9525" cap="flat" cmpd="sng" algn="ctr">
            <a:solidFill>
              <a:srgbClr val="C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20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4x faster!!</a:t>
            </a:r>
          </a:p>
        </p:txBody>
      </p:sp>
    </p:spTree>
    <p:extLst>
      <p:ext uri="{BB962C8B-B14F-4D97-AF65-F5344CB8AC3E}">
        <p14:creationId xmlns:p14="http://schemas.microsoft.com/office/powerpoint/2010/main" val="339487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0011-D1D8-0BC5-5B68-38E61F1A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are everywhere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585589-F395-35F1-39C8-9D8B479D13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191"/>
          <a:stretch/>
        </p:blipFill>
        <p:spPr>
          <a:xfrm>
            <a:off x="1271483" y="1285121"/>
            <a:ext cx="8361032" cy="5207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BE1AFC-5952-2627-1F09-6E12E26C5381}"/>
              </a:ext>
            </a:extLst>
          </p:cNvPr>
          <p:cNvSpPr txBox="1"/>
          <p:nvPr/>
        </p:nvSpPr>
        <p:spPr>
          <a:xfrm>
            <a:off x="5318342" y="1638662"/>
            <a:ext cx="1220243" cy="4977031"/>
          </a:xfrm>
          <a:prstGeom prst="rect">
            <a:avLst/>
          </a:prstGeom>
          <a:solidFill>
            <a:srgbClr val="FF0000">
              <a:alpha val="27000"/>
            </a:srgbClr>
          </a:solidFill>
          <a:ln w="28575" cmpd="sng">
            <a:solidFill>
              <a:srgbClr val="FF0000"/>
            </a:solidFill>
          </a:ln>
          <a:effectLst/>
        </p:spPr>
        <p:txBody>
          <a:bodyPr wrap="square" tIns="0" bIns="0" rtlCol="0" anchor="ctr">
            <a:noAutofit/>
          </a:bodyPr>
          <a:lstStyle/>
          <a:p>
            <a:pPr algn="ctr"/>
            <a:endParaRPr lang="en-US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11399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FB15A38-4EBA-085B-D2F6-454E300C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47" y="2646357"/>
            <a:ext cx="5503353" cy="353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756596-2984-0451-1A66-5DFD84CE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Basic Question in Thread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E07CF8-EACE-7338-29CA-B6AA1BF4A56F}"/>
              </a:ext>
            </a:extLst>
          </p:cNvPr>
          <p:cNvSpPr/>
          <p:nvPr/>
        </p:nvSpPr>
        <p:spPr>
          <a:xfrm>
            <a:off x="2257581" y="1171326"/>
            <a:ext cx="1818168" cy="8624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main()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92861D-F0A0-EA71-12C2-793CE9EE682A}"/>
              </a:ext>
            </a:extLst>
          </p:cNvPr>
          <p:cNvSpPr/>
          <p:nvPr/>
        </p:nvSpPr>
        <p:spPr>
          <a:xfrm>
            <a:off x="1043665" y="3131798"/>
            <a:ext cx="872064" cy="595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Thread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FEA025-61FB-4A00-EAE6-C0F8DB39B417}"/>
              </a:ext>
            </a:extLst>
          </p:cNvPr>
          <p:cNvSpPr/>
          <p:nvPr/>
        </p:nvSpPr>
        <p:spPr>
          <a:xfrm>
            <a:off x="2101025" y="3131798"/>
            <a:ext cx="872064" cy="595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A2587C-0EFD-776B-3D94-23594DABB268}"/>
              </a:ext>
            </a:extLst>
          </p:cNvPr>
          <p:cNvSpPr/>
          <p:nvPr/>
        </p:nvSpPr>
        <p:spPr>
          <a:xfrm>
            <a:off x="3595078" y="3131798"/>
            <a:ext cx="872064" cy="595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Thread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241A6F-8004-ADA2-818E-8256B1556330}"/>
              </a:ext>
            </a:extLst>
          </p:cNvPr>
          <p:cNvSpPr/>
          <p:nvPr/>
        </p:nvSpPr>
        <p:spPr>
          <a:xfrm>
            <a:off x="4660718" y="3114633"/>
            <a:ext cx="872064" cy="595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Thread 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3AB1EC-6057-05FD-EEBB-FEB9B7B49D2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479697" y="2033768"/>
            <a:ext cx="1686968" cy="10980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95416C-E750-957D-09C8-6FBA2C09AF7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2537057" y="2033768"/>
            <a:ext cx="629608" cy="10980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85E019-870A-5991-8C21-E2FEC8DC2F47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3166665" y="2033768"/>
            <a:ext cx="864445" cy="10980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9929CF-E496-C0F7-ACA8-D9B7A8E85996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3166665" y="2033768"/>
            <a:ext cx="1930085" cy="10808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ular Callout 62">
            <a:extLst>
              <a:ext uri="{FF2B5EF4-FFF2-40B4-BE49-F238E27FC236}">
                <a16:creationId xmlns:a16="http://schemas.microsoft.com/office/drawing/2014/main" id="{0ED52D1A-3F6A-DF38-D82B-DB089E0E0E8B}"/>
              </a:ext>
            </a:extLst>
          </p:cNvPr>
          <p:cNvSpPr/>
          <p:nvPr/>
        </p:nvSpPr>
        <p:spPr>
          <a:xfrm>
            <a:off x="4705357" y="1460525"/>
            <a:ext cx="2533419" cy="959336"/>
          </a:xfrm>
          <a:prstGeom prst="wedgeRoundRectCallout">
            <a:avLst>
              <a:gd name="adj1" fmla="val -69425"/>
              <a:gd name="adj2" fmla="val 49487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How to tell thread </a:t>
            </a:r>
            <a:r>
              <a:rPr lang="en-US" sz="2000" i="1" dirty="0" err="1">
                <a:solidFill>
                  <a:schemeClr val="tx1"/>
                </a:solidFill>
              </a:rPr>
              <a:t>i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what to do?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4E4F92-7AAB-C6E7-ACF2-F77C6EF39FB0}"/>
              </a:ext>
            </a:extLst>
          </p:cNvPr>
          <p:cNvSpPr txBox="1"/>
          <p:nvPr/>
        </p:nvSpPr>
        <p:spPr>
          <a:xfrm>
            <a:off x="6942292" y="2812180"/>
            <a:ext cx="4657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How about each thread waits for main() to give the next instruction?</a:t>
            </a:r>
          </a:p>
          <a:p>
            <a:pPr lvl="1"/>
            <a:r>
              <a:rPr lang="en-US" sz="2000" dirty="0"/>
              <a:t>can be bottlenecked by main() </a:t>
            </a:r>
          </a:p>
          <a:p>
            <a:pPr lvl="1"/>
            <a:r>
              <a:rPr lang="en-US" sz="2000" dirty="0">
                <a:sym typeface="Wingdings" pitchFamily="2" charset="2"/>
              </a:rPr>
              <a:t> k</a:t>
            </a:r>
            <a:r>
              <a:rPr lang="en-US" sz="2000" dirty="0"/>
              <a:t>ills parallelism!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225B5D-22BE-4FA7-AB1D-DA708EB2D34B}"/>
              </a:ext>
            </a:extLst>
          </p:cNvPr>
          <p:cNvSpPr txBox="1"/>
          <p:nvPr/>
        </p:nvSpPr>
        <p:spPr>
          <a:xfrm>
            <a:off x="6942292" y="4527938"/>
            <a:ext cx="5029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Better idea: Pass the function to each thread</a:t>
            </a:r>
            <a:r>
              <a:rPr lang="en-US" sz="2000" i="1" dirty="0"/>
              <a:t> </a:t>
            </a:r>
          </a:p>
          <a:p>
            <a:pPr lvl="1"/>
            <a:r>
              <a:rPr lang="en-US" sz="2000" dirty="0"/>
              <a:t>so each thread can run its function independently</a:t>
            </a:r>
          </a:p>
        </p:txBody>
      </p:sp>
    </p:spTree>
    <p:extLst>
      <p:ext uri="{BB962C8B-B14F-4D97-AF65-F5344CB8AC3E}">
        <p14:creationId xmlns:p14="http://schemas.microsoft.com/office/powerpoint/2010/main" val="351304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b="1" dirty="0"/>
              <a:t>Function Pointers</a:t>
            </a:r>
          </a:p>
          <a:p>
            <a:r>
              <a:rPr lang="en-US" dirty="0"/>
              <a:t>Thread API: Creation and Termination</a:t>
            </a:r>
          </a:p>
          <a:p>
            <a:r>
              <a:rPr lang="en-US" dirty="0"/>
              <a:t>Example of Speedup</a:t>
            </a:r>
          </a:p>
        </p:txBody>
      </p:sp>
    </p:spTree>
    <p:extLst>
      <p:ext uri="{BB962C8B-B14F-4D97-AF65-F5344CB8AC3E}">
        <p14:creationId xmlns:p14="http://schemas.microsoft.com/office/powerpoint/2010/main" val="343320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37C1-11B7-613D-0110-14F672B3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 vs. Data Pointer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6296A-3C42-E039-54F2-B11DAB35F77B}"/>
              </a:ext>
            </a:extLst>
          </p:cNvPr>
          <p:cNvSpPr txBox="1"/>
          <p:nvPr/>
        </p:nvSpPr>
        <p:spPr>
          <a:xfrm>
            <a:off x="967127" y="3864396"/>
            <a:ext cx="37230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Code is stored in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Point to code, not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937C8-CB24-B524-5573-A3827866F52B}"/>
              </a:ext>
            </a:extLst>
          </p:cNvPr>
          <p:cNvSpPr txBox="1"/>
          <p:nvPr/>
        </p:nvSpPr>
        <p:spPr>
          <a:xfrm>
            <a:off x="6544230" y="1479277"/>
            <a:ext cx="5308245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 = &amp;x;</a:t>
            </a:r>
            <a:endParaRPr lang="en-US" dirty="0">
              <a:solidFill>
                <a:schemeClr val="accent1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dirty="0">
                <a:effectLst/>
                <a:latin typeface="Menlo" panose="020B0609030804020204" pitchFamily="49" charset="0"/>
              </a:rPr>
              <a:t>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dirty="0">
                <a:effectLst/>
                <a:latin typeface="Menlo" panose="020B060903080402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p and q are pointers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3E9D8-80E5-425C-AB4F-DB72537A717D}"/>
              </a:ext>
            </a:extLst>
          </p:cNvPr>
          <p:cNvSpPr txBox="1"/>
          <p:nvPr/>
        </p:nvSpPr>
        <p:spPr>
          <a:xfrm>
            <a:off x="6542564" y="3910187"/>
            <a:ext cx="5308245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bar(){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(*f)(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is a function pointer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f();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prints out "hello!\n"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DAC21-72CE-5FA5-CB9F-6F3C6C66C5A2}"/>
              </a:ext>
            </a:extLst>
          </p:cNvPr>
          <p:cNvSpPr txBox="1"/>
          <p:nvPr/>
        </p:nvSpPr>
        <p:spPr>
          <a:xfrm>
            <a:off x="7977383" y="1047825"/>
            <a:ext cx="2114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Regular pointer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72057-8D6D-13EB-82EF-BA88DD3E8221}"/>
              </a:ext>
            </a:extLst>
          </p:cNvPr>
          <p:cNvSpPr txBox="1"/>
          <p:nvPr/>
        </p:nvSpPr>
        <p:spPr>
          <a:xfrm>
            <a:off x="8009511" y="3448522"/>
            <a:ext cx="2259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Function pointer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D06D4E-4D4A-2784-9D38-378881E1FE0E}"/>
              </a:ext>
            </a:extLst>
          </p:cNvPr>
          <p:cNvSpPr/>
          <p:nvPr/>
        </p:nvSpPr>
        <p:spPr>
          <a:xfrm>
            <a:off x="6762304" y="5286675"/>
            <a:ext cx="3625702" cy="32960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683B5-06D4-5CB3-80A0-76D7BC7E9685}"/>
              </a:ext>
            </a:extLst>
          </p:cNvPr>
          <p:cNvSpPr txBox="1"/>
          <p:nvPr/>
        </p:nvSpPr>
        <p:spPr>
          <a:xfrm>
            <a:off x="967127" y="1411559"/>
            <a:ext cx="449353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Function pointer syntax: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ReturnType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(*f)(ArgType1, …)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(use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, if no argument)</a:t>
            </a:r>
          </a:p>
        </p:txBody>
      </p:sp>
    </p:spTree>
    <p:extLst>
      <p:ext uri="{BB962C8B-B14F-4D97-AF65-F5344CB8AC3E}">
        <p14:creationId xmlns:p14="http://schemas.microsoft.com/office/powerpoint/2010/main" val="146625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8A00C-CCB0-3B2F-16EF-BE6E024F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Segment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6CB14-6256-E259-0B7A-050CF28884A7}"/>
              </a:ext>
            </a:extLst>
          </p:cNvPr>
          <p:cNvSpPr/>
          <p:nvPr/>
        </p:nvSpPr>
        <p:spPr>
          <a:xfrm>
            <a:off x="2961989" y="1444211"/>
            <a:ext cx="1318437" cy="1509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8F2751-3BE2-8264-5B89-5C7E2D66331C}"/>
              </a:ext>
            </a:extLst>
          </p:cNvPr>
          <p:cNvSpPr/>
          <p:nvPr/>
        </p:nvSpPr>
        <p:spPr>
          <a:xfrm>
            <a:off x="2961988" y="4184025"/>
            <a:ext cx="1318437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700F40-EC6F-FDAA-4A43-75F12FF5D099}"/>
              </a:ext>
            </a:extLst>
          </p:cNvPr>
          <p:cNvSpPr/>
          <p:nvPr/>
        </p:nvSpPr>
        <p:spPr>
          <a:xfrm>
            <a:off x="2961797" y="5245888"/>
            <a:ext cx="1318437" cy="1557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05DD4A-32F2-5BB5-7FD4-496A73280D97}"/>
              </a:ext>
            </a:extLst>
          </p:cNvPr>
          <p:cNvCxnSpPr>
            <a:cxnSpLocks/>
          </p:cNvCxnSpPr>
          <p:nvPr/>
        </p:nvCxnSpPr>
        <p:spPr>
          <a:xfrm>
            <a:off x="3621207" y="2957694"/>
            <a:ext cx="0" cy="41632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5883D8-0B71-9A5B-9D5B-6E986EDCB5C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621207" y="3730211"/>
            <a:ext cx="1" cy="45381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493321F-72AF-48C7-C429-026D0F89FD9E}"/>
              </a:ext>
            </a:extLst>
          </p:cNvPr>
          <p:cNvSpPr/>
          <p:nvPr/>
        </p:nvSpPr>
        <p:spPr>
          <a:xfrm>
            <a:off x="2961797" y="1870787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47CF65-7D42-41AB-52F9-44A61EA8512A}"/>
              </a:ext>
            </a:extLst>
          </p:cNvPr>
          <p:cNvSpPr/>
          <p:nvPr/>
        </p:nvSpPr>
        <p:spPr>
          <a:xfrm>
            <a:off x="2961796" y="2185558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 = &amp;x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73E73668-7ECD-E7D3-7FAE-9FCE3D803731}"/>
              </a:ext>
            </a:extLst>
          </p:cNvPr>
          <p:cNvCxnSpPr>
            <a:cxnSpLocks/>
            <a:stCxn id="12" idx="3"/>
            <a:endCxn id="11" idx="3"/>
          </p:cNvCxnSpPr>
          <p:nvPr/>
        </p:nvCxnSpPr>
        <p:spPr>
          <a:xfrm flipV="1">
            <a:off x="4280233" y="1992012"/>
            <a:ext cx="1" cy="314771"/>
          </a:xfrm>
          <a:prstGeom prst="curvedConnector3">
            <a:avLst>
              <a:gd name="adj1" fmla="val 2286010000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730493A-9B1A-73A7-6B80-3B3077212ABA}"/>
              </a:ext>
            </a:extLst>
          </p:cNvPr>
          <p:cNvSpPr/>
          <p:nvPr/>
        </p:nvSpPr>
        <p:spPr>
          <a:xfrm>
            <a:off x="2961604" y="5927735"/>
            <a:ext cx="1318437" cy="5129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foo()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DC8AD3-2BAC-DBB7-A7DF-273558CF7EDF}"/>
              </a:ext>
            </a:extLst>
          </p:cNvPr>
          <p:cNvSpPr txBox="1"/>
          <p:nvPr/>
        </p:nvSpPr>
        <p:spPr>
          <a:xfrm>
            <a:off x="3244225" y="5276726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4399C-25E8-F35A-540D-5E5D222A2617}"/>
              </a:ext>
            </a:extLst>
          </p:cNvPr>
          <p:cNvSpPr txBox="1"/>
          <p:nvPr/>
        </p:nvSpPr>
        <p:spPr>
          <a:xfrm>
            <a:off x="3279340" y="4154637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5816C5-AE75-DE76-06B9-610F4EE82F0F}"/>
              </a:ext>
            </a:extLst>
          </p:cNvPr>
          <p:cNvSpPr txBox="1"/>
          <p:nvPr/>
        </p:nvSpPr>
        <p:spPr>
          <a:xfrm>
            <a:off x="2909441" y="1416696"/>
            <a:ext cx="140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foo</a:t>
            </a:r>
            <a:r>
              <a:rPr lang="en-US" sz="2000" b="1" dirty="0"/>
              <a:t>'s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3D0507-21C0-BB14-0905-B837F8034B26}"/>
              </a:ext>
            </a:extLst>
          </p:cNvPr>
          <p:cNvSpPr/>
          <p:nvPr/>
        </p:nvSpPr>
        <p:spPr>
          <a:xfrm>
            <a:off x="2961604" y="2523290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59D73F5F-7F83-731E-439E-A4881C7CC43D}"/>
              </a:ext>
            </a:extLst>
          </p:cNvPr>
          <p:cNvCxnSpPr>
            <a:cxnSpLocks/>
            <a:stCxn id="21" idx="3"/>
            <a:endCxn id="30" idx="3"/>
          </p:cNvCxnSpPr>
          <p:nvPr/>
        </p:nvCxnSpPr>
        <p:spPr>
          <a:xfrm flipH="1">
            <a:off x="4278258" y="2644515"/>
            <a:ext cx="1783" cy="2109050"/>
          </a:xfrm>
          <a:prstGeom prst="curvedConnector3">
            <a:avLst>
              <a:gd name="adj1" fmla="val -12821088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EDF6BC6-8270-A82C-54C7-4E6B89345D35}"/>
              </a:ext>
            </a:extLst>
          </p:cNvPr>
          <p:cNvSpPr/>
          <p:nvPr/>
        </p:nvSpPr>
        <p:spPr>
          <a:xfrm>
            <a:off x="2959821" y="4632340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2CE6BD-D1D6-656F-ABBF-D71378E53417}"/>
              </a:ext>
            </a:extLst>
          </p:cNvPr>
          <p:cNvSpPr/>
          <p:nvPr/>
        </p:nvSpPr>
        <p:spPr>
          <a:xfrm>
            <a:off x="2961989" y="1107322"/>
            <a:ext cx="1318437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662627-5FF0-DA68-6113-385CFDA149FD}"/>
              </a:ext>
            </a:extLst>
          </p:cNvPr>
          <p:cNvSpPr txBox="1"/>
          <p:nvPr/>
        </p:nvSpPr>
        <p:spPr>
          <a:xfrm>
            <a:off x="6544230" y="1479277"/>
            <a:ext cx="5308245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 = &amp;x;</a:t>
            </a:r>
            <a:endParaRPr lang="en-US" dirty="0">
              <a:solidFill>
                <a:schemeClr val="accent1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dirty="0">
                <a:effectLst/>
                <a:latin typeface="Menlo" panose="020B0609030804020204" pitchFamily="49" charset="0"/>
              </a:rPr>
              <a:t>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dirty="0">
                <a:effectLst/>
                <a:latin typeface="Menlo" panose="020B060903080402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p and q are pointers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78F545-6EFA-547D-A56A-EA173F06CAF8}"/>
              </a:ext>
            </a:extLst>
          </p:cNvPr>
          <p:cNvSpPr txBox="1"/>
          <p:nvPr/>
        </p:nvSpPr>
        <p:spPr>
          <a:xfrm>
            <a:off x="7977383" y="1047825"/>
            <a:ext cx="2114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Regular pointer</a:t>
            </a:r>
          </a:p>
        </p:txBody>
      </p:sp>
    </p:spTree>
    <p:extLst>
      <p:ext uri="{BB962C8B-B14F-4D97-AF65-F5344CB8AC3E}">
        <p14:creationId xmlns:p14="http://schemas.microsoft.com/office/powerpoint/2010/main" val="123425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21" grpId="0" animBg="1"/>
      <p:bldP spid="30" grpId="0" animBg="1"/>
      <p:bldP spid="33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984E-6525-5B0B-B52F-CF61F597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Segment and Function Pointer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6D73630-1BD6-2FD3-2A56-79364EEEE92F}"/>
              </a:ext>
            </a:extLst>
          </p:cNvPr>
          <p:cNvGrpSpPr/>
          <p:nvPr/>
        </p:nvGrpSpPr>
        <p:grpSpPr>
          <a:xfrm>
            <a:off x="2846169" y="1104635"/>
            <a:ext cx="1554536" cy="5695698"/>
            <a:chOff x="3147111" y="1139360"/>
            <a:chExt cx="1554536" cy="5695698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17796A9-89CC-FADE-BBE0-5255D8BA94D2}"/>
                </a:ext>
              </a:extLst>
            </p:cNvPr>
            <p:cNvSpPr/>
            <p:nvPr/>
          </p:nvSpPr>
          <p:spPr>
            <a:xfrm>
              <a:off x="3265546" y="1476249"/>
              <a:ext cx="1318437" cy="9250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0F42AF0-8952-3747-E789-072BC488EDA1}"/>
                </a:ext>
              </a:extLst>
            </p:cNvPr>
            <p:cNvSpPr/>
            <p:nvPr/>
          </p:nvSpPr>
          <p:spPr>
            <a:xfrm>
              <a:off x="3265545" y="4216063"/>
              <a:ext cx="1318437" cy="528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B83C491C-61CA-3B56-7A94-85236DF035FC}"/>
                </a:ext>
              </a:extLst>
            </p:cNvPr>
            <p:cNvSpPr txBox="1"/>
            <p:nvPr/>
          </p:nvSpPr>
          <p:spPr>
            <a:xfrm>
              <a:off x="3254387" y="1430459"/>
              <a:ext cx="14020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bar</a:t>
              </a:r>
              <a:r>
                <a:rPr lang="en-US" sz="2000" b="1" dirty="0"/>
                <a:t>'s stack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023E8AE-7E26-8ADF-3A30-42AE1ED5EFA6}"/>
                </a:ext>
              </a:extLst>
            </p:cNvPr>
            <p:cNvSpPr txBox="1"/>
            <p:nvPr/>
          </p:nvSpPr>
          <p:spPr>
            <a:xfrm>
              <a:off x="3572247" y="4243657"/>
              <a:ext cx="7409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Heap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3CF4DB1-CAA2-714F-70FC-095E642A4FF1}"/>
                </a:ext>
              </a:extLst>
            </p:cNvPr>
            <p:cNvSpPr/>
            <p:nvPr/>
          </p:nvSpPr>
          <p:spPr>
            <a:xfrm>
              <a:off x="3265354" y="5277926"/>
              <a:ext cx="1318437" cy="15571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F0EDCA08-5DA5-0F53-ED5D-84DAAE814781}"/>
                </a:ext>
              </a:extLst>
            </p:cNvPr>
            <p:cNvCxnSpPr>
              <a:cxnSpLocks/>
              <a:stCxn id="140" idx="2"/>
            </p:cNvCxnSpPr>
            <p:nvPr/>
          </p:nvCxnSpPr>
          <p:spPr>
            <a:xfrm flipH="1">
              <a:off x="3925031" y="2855094"/>
              <a:ext cx="3414" cy="397316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97EB1EAB-51EA-17D0-EF34-F3921C61EE4F}"/>
                </a:ext>
              </a:extLst>
            </p:cNvPr>
            <p:cNvCxnSpPr>
              <a:cxnSpLocks/>
              <a:stCxn id="132" idx="0"/>
            </p:cNvCxnSpPr>
            <p:nvPr/>
          </p:nvCxnSpPr>
          <p:spPr>
            <a:xfrm flipV="1">
              <a:off x="3924764" y="3762249"/>
              <a:ext cx="1" cy="453814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A097886-4A57-0E56-18F1-C77B17C39D37}"/>
                </a:ext>
              </a:extLst>
            </p:cNvPr>
            <p:cNvSpPr/>
            <p:nvPr/>
          </p:nvSpPr>
          <p:spPr>
            <a:xfrm>
              <a:off x="3265161" y="1860050"/>
              <a:ext cx="1318437" cy="2424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 = </a:t>
              </a:r>
              <a:r>
                <a:rPr lang="en-US" dirty="0" err="1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func</a:t>
              </a:r>
              <a:endPara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FB10243-EB8C-F8C4-7191-C4B065AB220A}"/>
                </a:ext>
              </a:extLst>
            </p:cNvPr>
            <p:cNvSpPr/>
            <p:nvPr/>
          </p:nvSpPr>
          <p:spPr>
            <a:xfrm>
              <a:off x="3265161" y="5675907"/>
              <a:ext cx="1318437" cy="4638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func</a:t>
              </a: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()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6319CFC2-7FB6-7158-4310-36982D743B74}"/>
                </a:ext>
              </a:extLst>
            </p:cNvPr>
            <p:cNvSpPr/>
            <p:nvPr/>
          </p:nvSpPr>
          <p:spPr>
            <a:xfrm>
              <a:off x="3269226" y="2394423"/>
              <a:ext cx="1318437" cy="4606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51C6C85-85A8-A3F3-0765-5177D5847AA1}"/>
                </a:ext>
              </a:extLst>
            </p:cNvPr>
            <p:cNvSpPr txBox="1"/>
            <p:nvPr/>
          </p:nvSpPr>
          <p:spPr>
            <a:xfrm>
              <a:off x="3147111" y="2414319"/>
              <a:ext cx="15545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func</a:t>
              </a:r>
              <a:r>
                <a:rPr lang="en-US" sz="2000" b="1" dirty="0" err="1"/>
                <a:t>'s</a:t>
              </a:r>
              <a:r>
                <a:rPr lang="en-US" sz="2000" b="1" dirty="0"/>
                <a:t> stack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A6FDED5-CD88-BCBC-1A88-691D93E8BD26}"/>
                </a:ext>
              </a:extLst>
            </p:cNvPr>
            <p:cNvSpPr/>
            <p:nvPr/>
          </p:nvSpPr>
          <p:spPr>
            <a:xfrm>
              <a:off x="3269226" y="6243837"/>
              <a:ext cx="1318437" cy="4638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bar()</a:t>
              </a:r>
            </a:p>
          </p:txBody>
        </p:sp>
        <p:cxnSp>
          <p:nvCxnSpPr>
            <p:cNvPr id="143" name="Curved Connector 142">
              <a:extLst>
                <a:ext uri="{FF2B5EF4-FFF2-40B4-BE49-F238E27FC236}">
                  <a16:creationId xmlns:a16="http://schemas.microsoft.com/office/drawing/2014/main" id="{1956F527-1ED4-B100-B605-0FFD5FC03D53}"/>
                </a:ext>
              </a:extLst>
            </p:cNvPr>
            <p:cNvCxnSpPr>
              <a:cxnSpLocks/>
              <a:stCxn id="138" idx="3"/>
              <a:endCxn id="139" idx="3"/>
            </p:cNvCxnSpPr>
            <p:nvPr/>
          </p:nvCxnSpPr>
          <p:spPr>
            <a:xfrm>
              <a:off x="4583598" y="1981275"/>
              <a:ext cx="12700" cy="3926545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552F2FE-05AC-0E1F-F1D4-AA59D46C393C}"/>
                </a:ext>
              </a:extLst>
            </p:cNvPr>
            <p:cNvSpPr/>
            <p:nvPr/>
          </p:nvSpPr>
          <p:spPr>
            <a:xfrm>
              <a:off x="3265546" y="1139360"/>
              <a:ext cx="1318437" cy="569569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95A19E-F125-D1A2-3896-7E51C44DE196}"/>
                </a:ext>
              </a:extLst>
            </p:cNvPr>
            <p:cNvSpPr txBox="1"/>
            <p:nvPr/>
          </p:nvSpPr>
          <p:spPr>
            <a:xfrm>
              <a:off x="3581375" y="5297318"/>
              <a:ext cx="7264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Code</a:t>
              </a: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C8CEA561-1066-3106-767A-29D53B66C20D}"/>
              </a:ext>
            </a:extLst>
          </p:cNvPr>
          <p:cNvSpPr txBox="1"/>
          <p:nvPr/>
        </p:nvSpPr>
        <p:spPr>
          <a:xfrm>
            <a:off x="6542564" y="2440204"/>
            <a:ext cx="5308245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bar(){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(*f)(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is a function pointer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f();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prints out "hello!\n"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2BB628A-2035-921E-2F3C-6417BB898A45}"/>
              </a:ext>
            </a:extLst>
          </p:cNvPr>
          <p:cNvSpPr txBox="1"/>
          <p:nvPr/>
        </p:nvSpPr>
        <p:spPr>
          <a:xfrm>
            <a:off x="8009511" y="1978539"/>
            <a:ext cx="2259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Function pointer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C689DFF7-5424-77D8-C252-AB6AABF9A128}"/>
              </a:ext>
            </a:extLst>
          </p:cNvPr>
          <p:cNvSpPr/>
          <p:nvPr/>
        </p:nvSpPr>
        <p:spPr>
          <a:xfrm>
            <a:off x="6762304" y="3816692"/>
            <a:ext cx="3625702" cy="32960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53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FDE2-8907-E91A-9961-FB7A39F0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Arguments Through Function Pointer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2BA3C-6942-2F8B-6A55-017C9ED38A23}"/>
              </a:ext>
            </a:extLst>
          </p:cNvPr>
          <p:cNvSpPr txBox="1"/>
          <p:nvPr/>
        </p:nvSpPr>
        <p:spPr>
          <a:xfrm>
            <a:off x="6409060" y="2063523"/>
            <a:ext cx="492431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add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x+y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bar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(*f)(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add;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f(x, 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71A838-5A2D-CEA7-A471-056A23C0AA6B}"/>
              </a:ext>
            </a:extLst>
          </p:cNvPr>
          <p:cNvSpPr/>
          <p:nvPr/>
        </p:nvSpPr>
        <p:spPr>
          <a:xfrm>
            <a:off x="6490083" y="2086674"/>
            <a:ext cx="2935619" cy="28001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8AECDD-A6BB-7C50-3F29-01A7A870D09A}"/>
              </a:ext>
            </a:extLst>
          </p:cNvPr>
          <p:cNvSpPr/>
          <p:nvPr/>
        </p:nvSpPr>
        <p:spPr>
          <a:xfrm>
            <a:off x="2964604" y="1441524"/>
            <a:ext cx="1318437" cy="1156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F446B1-5802-EEA7-5F8C-8B59B61657A5}"/>
              </a:ext>
            </a:extLst>
          </p:cNvPr>
          <p:cNvSpPr/>
          <p:nvPr/>
        </p:nvSpPr>
        <p:spPr>
          <a:xfrm>
            <a:off x="2964603" y="4540154"/>
            <a:ext cx="1318437" cy="5285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5306D-3E6B-4F72-CD4D-17886EAB9A26}"/>
              </a:ext>
            </a:extLst>
          </p:cNvPr>
          <p:cNvSpPr txBox="1"/>
          <p:nvPr/>
        </p:nvSpPr>
        <p:spPr>
          <a:xfrm>
            <a:off x="1453182" y="1823532"/>
            <a:ext cx="1402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bar</a:t>
            </a:r>
            <a:r>
              <a:rPr lang="en-US" sz="2000" b="1" dirty="0"/>
              <a:t>'s 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10991-8178-1DFE-D3BB-50B67D142E8C}"/>
              </a:ext>
            </a:extLst>
          </p:cNvPr>
          <p:cNvSpPr txBox="1"/>
          <p:nvPr/>
        </p:nvSpPr>
        <p:spPr>
          <a:xfrm>
            <a:off x="3271305" y="4567748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B5A768-90F9-1774-C3E6-05BDADEB91C4}"/>
              </a:ext>
            </a:extLst>
          </p:cNvPr>
          <p:cNvSpPr/>
          <p:nvPr/>
        </p:nvSpPr>
        <p:spPr>
          <a:xfrm>
            <a:off x="2964412" y="5243201"/>
            <a:ext cx="1318437" cy="1557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B5E27C-CC94-EFBA-9BE4-22CAFE334E9B}"/>
              </a:ext>
            </a:extLst>
          </p:cNvPr>
          <p:cNvCxnSpPr>
            <a:cxnSpLocks/>
          </p:cNvCxnSpPr>
          <p:nvPr/>
        </p:nvCxnSpPr>
        <p:spPr>
          <a:xfrm flipH="1">
            <a:off x="3638345" y="3456533"/>
            <a:ext cx="3414" cy="39731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D39C1C-BEE0-2979-B844-1EB017AB3B03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623822" y="4086340"/>
            <a:ext cx="1" cy="45381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54316-D5EC-F97C-48CF-CCBF25F5EEE2}"/>
              </a:ext>
            </a:extLst>
          </p:cNvPr>
          <p:cNvSpPr/>
          <p:nvPr/>
        </p:nvSpPr>
        <p:spPr>
          <a:xfrm>
            <a:off x="2964219" y="1559106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 = add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DAD56-073D-78AB-5134-C23C38F7EA5C}"/>
              </a:ext>
            </a:extLst>
          </p:cNvPr>
          <p:cNvSpPr/>
          <p:nvPr/>
        </p:nvSpPr>
        <p:spPr>
          <a:xfrm>
            <a:off x="2964219" y="5641182"/>
            <a:ext cx="1318437" cy="4638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add(</a:t>
            </a:r>
            <a:r>
              <a:rPr lang="en-US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x,y</a:t>
            </a:r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B71F5-3B0E-1FFF-8C4B-815FDDCEDBB8}"/>
              </a:ext>
            </a:extLst>
          </p:cNvPr>
          <p:cNvSpPr/>
          <p:nvPr/>
        </p:nvSpPr>
        <p:spPr>
          <a:xfrm>
            <a:off x="2968284" y="2595736"/>
            <a:ext cx="1318437" cy="894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A9C2D3-6BCF-1AB6-14A1-8091D4D7C745}"/>
              </a:ext>
            </a:extLst>
          </p:cNvPr>
          <p:cNvSpPr txBox="1"/>
          <p:nvPr/>
        </p:nvSpPr>
        <p:spPr>
          <a:xfrm>
            <a:off x="1413748" y="2864477"/>
            <a:ext cx="155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add</a:t>
            </a:r>
            <a:r>
              <a:rPr lang="en-US" sz="2000" b="1" dirty="0" err="1"/>
              <a:t>'s</a:t>
            </a:r>
            <a:r>
              <a:rPr lang="en-US" sz="2000" b="1" dirty="0"/>
              <a:t> stack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614679-4FA1-52A9-3617-D42CF0FDC161}"/>
              </a:ext>
            </a:extLst>
          </p:cNvPr>
          <p:cNvSpPr/>
          <p:nvPr/>
        </p:nvSpPr>
        <p:spPr>
          <a:xfrm>
            <a:off x="2968284" y="6209112"/>
            <a:ext cx="1318437" cy="4638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bar()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A9A4A0D-4C49-728C-061D-83478A2C5E86}"/>
              </a:ext>
            </a:extLst>
          </p:cNvPr>
          <p:cNvCxnSpPr>
            <a:cxnSpLocks/>
            <a:stCxn id="15" idx="3"/>
            <a:endCxn id="16" idx="3"/>
          </p:cNvCxnSpPr>
          <p:nvPr/>
        </p:nvCxnSpPr>
        <p:spPr>
          <a:xfrm>
            <a:off x="4282656" y="1680331"/>
            <a:ext cx="12700" cy="4192764"/>
          </a:xfrm>
          <a:prstGeom prst="curvedConnector3">
            <a:avLst>
              <a:gd name="adj1" fmla="val 180000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573BBC-29E1-AE2F-F74D-A18CF67E4624}"/>
              </a:ext>
            </a:extLst>
          </p:cNvPr>
          <p:cNvSpPr txBox="1"/>
          <p:nvPr/>
        </p:nvSpPr>
        <p:spPr>
          <a:xfrm>
            <a:off x="3280433" y="5262593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1712B6A-122E-1977-C62D-64ED5154F0A8}"/>
              </a:ext>
            </a:extLst>
          </p:cNvPr>
          <p:cNvSpPr/>
          <p:nvPr/>
        </p:nvSpPr>
        <p:spPr>
          <a:xfrm>
            <a:off x="6688782" y="3552792"/>
            <a:ext cx="3300170" cy="28001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014139-3A60-2B6A-FEFF-218327B56EB1}"/>
              </a:ext>
            </a:extLst>
          </p:cNvPr>
          <p:cNvSpPr/>
          <p:nvPr/>
        </p:nvSpPr>
        <p:spPr>
          <a:xfrm>
            <a:off x="2964219" y="1874283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 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C02F4F-FCF5-D3F9-8504-F59569C162F6}"/>
              </a:ext>
            </a:extLst>
          </p:cNvPr>
          <p:cNvSpPr/>
          <p:nvPr/>
        </p:nvSpPr>
        <p:spPr>
          <a:xfrm>
            <a:off x="2964219" y="2189304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316797-D61F-AF94-7202-7C5218D057BC}"/>
              </a:ext>
            </a:extLst>
          </p:cNvPr>
          <p:cNvSpPr/>
          <p:nvPr/>
        </p:nvSpPr>
        <p:spPr>
          <a:xfrm>
            <a:off x="2967551" y="2787941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38F4A5-F6CD-115D-3279-5BCE9FEF8703}"/>
              </a:ext>
            </a:extLst>
          </p:cNvPr>
          <p:cNvSpPr/>
          <p:nvPr/>
        </p:nvSpPr>
        <p:spPr>
          <a:xfrm>
            <a:off x="2967551" y="3102962"/>
            <a:ext cx="1318437" cy="2424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B94D13-7132-76C7-3382-5D74D1D45756}"/>
              </a:ext>
            </a:extLst>
          </p:cNvPr>
          <p:cNvSpPr/>
          <p:nvPr/>
        </p:nvSpPr>
        <p:spPr>
          <a:xfrm>
            <a:off x="2964604" y="1104635"/>
            <a:ext cx="1318437" cy="569569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0127-058F-0C64-88CD-DB5EAEB3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Function Pointer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3D399-39F7-6489-0B5B-2C8A6E3C4B12}"/>
              </a:ext>
            </a:extLst>
          </p:cNvPr>
          <p:cNvSpPr txBox="1"/>
          <p:nvPr/>
        </p:nvSpPr>
        <p:spPr>
          <a:xfrm>
            <a:off x="7643479" y="5231562"/>
            <a:ext cx="3965929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rand() %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f_arr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[])(</a:t>
            </a:r>
            <a:r>
              <a:rPr lang="en-US" sz="15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5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{add, subs,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divi};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f_arr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](x, y);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C4162-F0AF-D800-3345-00A891B5A01E}"/>
              </a:ext>
            </a:extLst>
          </p:cNvPr>
          <p:cNvSpPr txBox="1"/>
          <p:nvPr/>
        </p:nvSpPr>
        <p:spPr>
          <a:xfrm>
            <a:off x="1103911" y="2080402"/>
            <a:ext cx="4570482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add 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y,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x+y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subs(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y, x-y);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y, x*y);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divi(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/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y, x/y);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D36DD-E682-F25B-703F-5E7A6591BB36}"/>
              </a:ext>
            </a:extLst>
          </p:cNvPr>
          <p:cNvSpPr txBox="1"/>
          <p:nvPr/>
        </p:nvSpPr>
        <p:spPr>
          <a:xfrm>
            <a:off x="161215" y="1467411"/>
            <a:ext cx="6760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Randomly select a function and apply it on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2400" dirty="0"/>
              <a:t> and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</a:t>
            </a:r>
            <a:r>
              <a:rPr lang="en-US" sz="2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9799B-B1C5-3A50-100F-57038CB5CDFD}"/>
              </a:ext>
            </a:extLst>
          </p:cNvPr>
          <p:cNvSpPr txBox="1"/>
          <p:nvPr/>
        </p:nvSpPr>
        <p:spPr>
          <a:xfrm>
            <a:off x="7434336" y="4433747"/>
            <a:ext cx="43842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2: With function pointers</a:t>
            </a:r>
          </a:p>
          <a:p>
            <a:pPr algn="ctr"/>
            <a:r>
              <a:rPr lang="en-US" sz="2400" i="1" dirty="0"/>
              <a:t>Code is cleaner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D0512-0EB9-401E-10EF-D2B0BFDF43F6}"/>
              </a:ext>
            </a:extLst>
          </p:cNvPr>
          <p:cNvSpPr txBox="1"/>
          <p:nvPr/>
        </p:nvSpPr>
        <p:spPr>
          <a:xfrm>
            <a:off x="7643480" y="876767"/>
            <a:ext cx="3965928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rand() %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50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sz="1500" dirty="0">
                <a:solidFill>
                  <a:schemeClr val="accent1"/>
                </a:solidFill>
                <a:latin typeface="Menlo" panose="020B0609030804020204" pitchFamily="49" charset="0"/>
              </a:rPr>
              <a:t>random in [0,1,2,3]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switch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add(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subs(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divi(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EBA07-5873-AC4B-43B7-EF0BAB1C8613}"/>
              </a:ext>
            </a:extLst>
          </p:cNvPr>
          <p:cNvSpPr txBox="1"/>
          <p:nvPr/>
        </p:nvSpPr>
        <p:spPr>
          <a:xfrm>
            <a:off x="7221137" y="398060"/>
            <a:ext cx="4810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1: Without function pointers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22DD7D-837E-C279-101E-D8FD4EABF674}"/>
              </a:ext>
            </a:extLst>
          </p:cNvPr>
          <p:cNvSpPr/>
          <p:nvPr/>
        </p:nvSpPr>
        <p:spPr>
          <a:xfrm>
            <a:off x="7862574" y="5737769"/>
            <a:ext cx="3631087" cy="82507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7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10" grpId="0" animBg="1"/>
      <p:bldP spid="11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0022-51F7-8330-BCF5-E5CB3A95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Function Pointer as An Argument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5611B-E3DC-E3C0-05F4-285BFF62DA0B}"/>
              </a:ext>
            </a:extLst>
          </p:cNvPr>
          <p:cNvSpPr txBox="1"/>
          <p:nvPr/>
        </p:nvSpPr>
        <p:spPr>
          <a:xfrm>
            <a:off x="522865" y="1909717"/>
            <a:ext cx="746710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map(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(*fun)(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fun(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half(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x/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map(half,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sz="160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pass function "half" as an argument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sz="1600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sz="160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becomes </a:t>
            </a:r>
            <a:r>
              <a:rPr lang="en-US" sz="160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0, 1, 1,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2, 2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r>
              <a:rPr lang="en-US" sz="1600" dirty="0">
                <a:solidFill>
                  <a:srgbClr val="4A00FF"/>
                </a:solidFill>
                <a:effectLst/>
                <a:latin typeface="Menlo" panose="020B0609030804020204" pitchFamily="49" charset="0"/>
              </a:rPr>
              <a:t> 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70FC902C-F74A-3856-E939-5C8F67C59F81}"/>
              </a:ext>
            </a:extLst>
          </p:cNvPr>
          <p:cNvSpPr/>
          <p:nvPr/>
        </p:nvSpPr>
        <p:spPr>
          <a:xfrm>
            <a:off x="5618581" y="4019308"/>
            <a:ext cx="3457823" cy="863840"/>
          </a:xfrm>
          <a:prstGeom prst="wedgeRoundRectCallout">
            <a:avLst>
              <a:gd name="adj1" fmla="val -124498"/>
              <a:gd name="adj2" fmla="val 58354"/>
              <a:gd name="adj3" fmla="val 16667"/>
            </a:avLst>
          </a:prstGeom>
          <a:solidFill>
            <a:srgbClr val="F5D1CF"/>
          </a:solidFill>
          <a:ln w="9525" cap="flat" cmpd="sng" algn="ctr">
            <a:solidFill>
              <a:srgbClr val="C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en-US" sz="20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like </a:t>
            </a:r>
            <a:r>
              <a:rPr lang="en-US" kern="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map(</a:t>
            </a:r>
            <a:r>
              <a:rPr lang="en-US" kern="0" dirty="0" err="1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func,list</a:t>
            </a:r>
            <a:r>
              <a:rPr lang="en-US" kern="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sz="20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python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22FB69-E0CA-A095-6BC0-65CBF31ECE8C}"/>
              </a:ext>
            </a:extLst>
          </p:cNvPr>
          <p:cNvSpPr/>
          <p:nvPr/>
        </p:nvSpPr>
        <p:spPr>
          <a:xfrm>
            <a:off x="790443" y="4883148"/>
            <a:ext cx="2299998" cy="26758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88545604-F340-29A7-47CF-202E1AB64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982947"/>
              </p:ext>
            </p:extLst>
          </p:nvPr>
        </p:nvGraphicFramePr>
        <p:xfrm>
          <a:off x="8553690" y="1711597"/>
          <a:ext cx="328464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28">
                  <a:extLst>
                    <a:ext uri="{9D8B030D-6E8A-4147-A177-3AD203B41FA5}">
                      <a16:colId xmlns:a16="http://schemas.microsoft.com/office/drawing/2014/main" val="2548152941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1741661345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2037963644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3380709965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2626913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61227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5F38BB1-09FD-B2B5-1DC5-0598C61BF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898638"/>
              </p:ext>
            </p:extLst>
          </p:nvPr>
        </p:nvGraphicFramePr>
        <p:xfrm>
          <a:off x="8553690" y="3169663"/>
          <a:ext cx="328464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28">
                  <a:extLst>
                    <a:ext uri="{9D8B030D-6E8A-4147-A177-3AD203B41FA5}">
                      <a16:colId xmlns:a16="http://schemas.microsoft.com/office/drawing/2014/main" val="2548152941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1741661345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2037963644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3380709965"/>
                    </a:ext>
                  </a:extLst>
                </a:gridCol>
                <a:gridCol w="656928">
                  <a:extLst>
                    <a:ext uri="{9D8B030D-6E8A-4147-A177-3AD203B41FA5}">
                      <a16:colId xmlns:a16="http://schemas.microsoft.com/office/drawing/2014/main" val="2626913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612277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ABF961-53CE-53B9-F5E6-67E998B89D86}"/>
              </a:ext>
            </a:extLst>
          </p:cNvPr>
          <p:cNvCxnSpPr>
            <a:cxnSpLocks/>
          </p:cNvCxnSpPr>
          <p:nvPr/>
        </p:nvCxnSpPr>
        <p:spPr>
          <a:xfrm>
            <a:off x="8889357" y="2107837"/>
            <a:ext cx="0" cy="1061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C4EC8FE-5DD7-609E-E964-4CAEACD5A272}"/>
              </a:ext>
            </a:extLst>
          </p:cNvPr>
          <p:cNvSpPr txBox="1"/>
          <p:nvPr/>
        </p:nvSpPr>
        <p:spPr>
          <a:xfrm>
            <a:off x="8623098" y="2445779"/>
            <a:ext cx="532518" cy="400110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fun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E6E18B-188D-47FB-6F03-21A51B09838D}"/>
              </a:ext>
            </a:extLst>
          </p:cNvPr>
          <p:cNvCxnSpPr>
            <a:cxnSpLocks/>
          </p:cNvCxnSpPr>
          <p:nvPr/>
        </p:nvCxnSpPr>
        <p:spPr>
          <a:xfrm>
            <a:off x="9522481" y="2108535"/>
            <a:ext cx="0" cy="1061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E884D9D-6B72-E665-2467-6BF2F16D162C}"/>
              </a:ext>
            </a:extLst>
          </p:cNvPr>
          <p:cNvSpPr txBox="1"/>
          <p:nvPr/>
        </p:nvSpPr>
        <p:spPr>
          <a:xfrm>
            <a:off x="9256222" y="2446477"/>
            <a:ext cx="532518" cy="400110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fun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BE70A6-3AA3-5600-0F6A-B5EC3CC9EA3B}"/>
              </a:ext>
            </a:extLst>
          </p:cNvPr>
          <p:cNvCxnSpPr>
            <a:cxnSpLocks/>
          </p:cNvCxnSpPr>
          <p:nvPr/>
        </p:nvCxnSpPr>
        <p:spPr>
          <a:xfrm>
            <a:off x="10182774" y="2107139"/>
            <a:ext cx="0" cy="1061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28D4ADF-D2E3-251C-98CD-D98EA213BAA0}"/>
              </a:ext>
            </a:extLst>
          </p:cNvPr>
          <p:cNvSpPr txBox="1"/>
          <p:nvPr/>
        </p:nvSpPr>
        <p:spPr>
          <a:xfrm>
            <a:off x="9916515" y="2445081"/>
            <a:ext cx="532518" cy="400110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fun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5800BD-59B8-C07A-0A24-B3B25A537F34}"/>
              </a:ext>
            </a:extLst>
          </p:cNvPr>
          <p:cNvCxnSpPr>
            <a:cxnSpLocks/>
          </p:cNvCxnSpPr>
          <p:nvPr/>
        </p:nvCxnSpPr>
        <p:spPr>
          <a:xfrm>
            <a:off x="10815898" y="2107837"/>
            <a:ext cx="0" cy="1061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7FF5006-9CCE-2822-14F9-75AE3FD56193}"/>
              </a:ext>
            </a:extLst>
          </p:cNvPr>
          <p:cNvSpPr txBox="1"/>
          <p:nvPr/>
        </p:nvSpPr>
        <p:spPr>
          <a:xfrm>
            <a:off x="10549639" y="2445779"/>
            <a:ext cx="532518" cy="400110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fun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358D57-04DB-9273-18E6-A4F0EAF80698}"/>
              </a:ext>
            </a:extLst>
          </p:cNvPr>
          <p:cNvCxnSpPr>
            <a:cxnSpLocks/>
          </p:cNvCxnSpPr>
          <p:nvPr/>
        </p:nvCxnSpPr>
        <p:spPr>
          <a:xfrm>
            <a:off x="11477771" y="2100753"/>
            <a:ext cx="0" cy="1061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169641-C02B-0009-70CA-B8DD8C9E6100}"/>
              </a:ext>
            </a:extLst>
          </p:cNvPr>
          <p:cNvSpPr txBox="1"/>
          <p:nvPr/>
        </p:nvSpPr>
        <p:spPr>
          <a:xfrm>
            <a:off x="11211512" y="2438695"/>
            <a:ext cx="532518" cy="400110"/>
          </a:xfrm>
          <a:prstGeom prst="rect">
            <a:avLst/>
          </a:prstGeom>
          <a:solidFill>
            <a:schemeClr val="bg1">
              <a:alpha val="63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fun</a:t>
            </a:r>
          </a:p>
        </p:txBody>
      </p:sp>
    </p:spTree>
    <p:extLst>
      <p:ext uri="{BB962C8B-B14F-4D97-AF65-F5344CB8AC3E}">
        <p14:creationId xmlns:p14="http://schemas.microsoft.com/office/powerpoint/2010/main" val="335112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Function Pointers</a:t>
            </a:r>
          </a:p>
          <a:p>
            <a:r>
              <a:rPr lang="en-US" b="1" dirty="0"/>
              <a:t>Thread API: Creation and Waiting</a:t>
            </a:r>
          </a:p>
          <a:p>
            <a:r>
              <a:rPr lang="en-US" dirty="0"/>
              <a:t>Example of Speedup</a:t>
            </a:r>
          </a:p>
        </p:txBody>
      </p:sp>
    </p:spTree>
    <p:extLst>
      <p:ext uri="{BB962C8B-B14F-4D97-AF65-F5344CB8AC3E}">
        <p14:creationId xmlns:p14="http://schemas.microsoft.com/office/powerpoint/2010/main" val="155662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6ADF-30BC-8D58-FA45-69F48BC4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Thread: </a:t>
            </a:r>
            <a:r>
              <a:rPr lang="en-US" dirty="0" err="1"/>
              <a:t>pthread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93C12-EEE1-5EFC-D993-58D5D112AA7B}"/>
              </a:ext>
            </a:extLst>
          </p:cNvPr>
          <p:cNvSpPr txBox="1"/>
          <p:nvPr/>
        </p:nvSpPr>
        <p:spPr>
          <a:xfrm>
            <a:off x="601269" y="1465545"/>
            <a:ext cx="7715574" cy="48013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("done");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E219DB-D1E0-22AE-410E-9D25A4037F56}"/>
              </a:ext>
            </a:extLst>
          </p:cNvPr>
          <p:cNvCxnSpPr>
            <a:cxnSpLocks/>
            <a:stCxn id="7" idx="1"/>
            <a:endCxn id="45" idx="3"/>
          </p:cNvCxnSpPr>
          <p:nvPr/>
        </p:nvCxnSpPr>
        <p:spPr>
          <a:xfrm flipH="1">
            <a:off x="5359079" y="2659785"/>
            <a:ext cx="529635" cy="3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A1ED7B4-8BF7-AAD8-76FC-DE59A72F130E}"/>
              </a:ext>
            </a:extLst>
          </p:cNvPr>
          <p:cNvSpPr/>
          <p:nvPr/>
        </p:nvSpPr>
        <p:spPr>
          <a:xfrm>
            <a:off x="5888714" y="2264538"/>
            <a:ext cx="2097941" cy="79049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Function to be run by a thread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EB20AAB-72F3-5FC0-592D-2FD2786CE6F0}"/>
              </a:ext>
            </a:extLst>
          </p:cNvPr>
          <p:cNvSpPr/>
          <p:nvPr/>
        </p:nvSpPr>
        <p:spPr>
          <a:xfrm>
            <a:off x="601269" y="2278844"/>
            <a:ext cx="4757810" cy="155237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C2DC08-1E3A-70D0-FA96-86759BF2A9E0}"/>
              </a:ext>
            </a:extLst>
          </p:cNvPr>
          <p:cNvCxnSpPr>
            <a:cxnSpLocks/>
            <a:stCxn id="54" idx="1"/>
          </p:cNvCxnSpPr>
          <p:nvPr/>
        </p:nvCxnSpPr>
        <p:spPr>
          <a:xfrm flipH="1">
            <a:off x="5888714" y="4076062"/>
            <a:ext cx="1739127" cy="5934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ular Callout 53">
            <a:extLst>
              <a:ext uri="{FF2B5EF4-FFF2-40B4-BE49-F238E27FC236}">
                <a16:creationId xmlns:a16="http://schemas.microsoft.com/office/drawing/2014/main" id="{148F0504-8674-BCF7-9291-90AA2A24E4E1}"/>
              </a:ext>
            </a:extLst>
          </p:cNvPr>
          <p:cNvSpPr/>
          <p:nvPr/>
        </p:nvSpPr>
        <p:spPr>
          <a:xfrm>
            <a:off x="7627841" y="3680815"/>
            <a:ext cx="3206064" cy="79049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Launches a new thread to run </a:t>
            </a:r>
            <a:r>
              <a:rPr lang="en-US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print_message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3F2B62E-B706-56C4-0CDB-E5A92610F1BE}"/>
              </a:ext>
            </a:extLst>
          </p:cNvPr>
          <p:cNvSpPr/>
          <p:nvPr/>
        </p:nvSpPr>
        <p:spPr>
          <a:xfrm>
            <a:off x="892564" y="4774551"/>
            <a:ext cx="7227509" cy="3200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BB32CEC-4896-2A19-3CC6-B39C2480849D}"/>
              </a:ext>
            </a:extLst>
          </p:cNvPr>
          <p:cNvCxnSpPr>
            <a:cxnSpLocks/>
            <a:stCxn id="79" idx="1"/>
            <a:endCxn id="80" idx="3"/>
          </p:cNvCxnSpPr>
          <p:nvPr/>
        </p:nvCxnSpPr>
        <p:spPr>
          <a:xfrm flipH="1" flipV="1">
            <a:off x="4398381" y="5483427"/>
            <a:ext cx="960698" cy="30431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ular Callout 78">
            <a:extLst>
              <a:ext uri="{FF2B5EF4-FFF2-40B4-BE49-F238E27FC236}">
                <a16:creationId xmlns:a16="http://schemas.microsoft.com/office/drawing/2014/main" id="{F08EFF56-1CC5-F82B-BF84-892B499130F3}"/>
              </a:ext>
            </a:extLst>
          </p:cNvPr>
          <p:cNvSpPr/>
          <p:nvPr/>
        </p:nvSpPr>
        <p:spPr>
          <a:xfrm>
            <a:off x="5359079" y="5428955"/>
            <a:ext cx="2616904" cy="717573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Waiting for the thread to terminate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B1DB8E91-E175-3839-9689-B1D39BFD808B}"/>
              </a:ext>
            </a:extLst>
          </p:cNvPr>
          <p:cNvSpPr/>
          <p:nvPr/>
        </p:nvSpPr>
        <p:spPr>
          <a:xfrm>
            <a:off x="889889" y="5323407"/>
            <a:ext cx="3508492" cy="3200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5" grpId="0" animBg="1"/>
      <p:bldP spid="54" grpId="0" animBg="1"/>
      <p:bldP spid="55" grpId="0" animBg="1"/>
      <p:bldP spid="79" grpId="0" animBg="1"/>
      <p:bldP spid="8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E678-EEE6-883D-456E-906A7845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Thread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327C0-045E-3C3A-6268-D5847672D66A}"/>
              </a:ext>
            </a:extLst>
          </p:cNvPr>
          <p:cNvSpPr txBox="1"/>
          <p:nvPr/>
        </p:nvSpPr>
        <p:spPr>
          <a:xfrm>
            <a:off x="1142486" y="2649692"/>
            <a:ext cx="72337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           const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pthread_attr_t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attr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         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*(*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start_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routine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*),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         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DDA777D-EA5B-AE79-B6E2-51D72F905A73}"/>
              </a:ext>
            </a:extLst>
          </p:cNvPr>
          <p:cNvSpPr/>
          <p:nvPr/>
        </p:nvSpPr>
        <p:spPr>
          <a:xfrm>
            <a:off x="5534373" y="1778525"/>
            <a:ext cx="4288826" cy="968394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Once created, each thread is assigned a thread ID by OS.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OS saves this value in </a:t>
            </a:r>
            <a:r>
              <a:rPr lang="en-US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20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tid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0D2146-E3DF-066F-B98A-7D5D30933ECA}"/>
              </a:ext>
            </a:extLst>
          </p:cNvPr>
          <p:cNvCxnSpPr>
            <a:cxnSpLocks/>
          </p:cNvCxnSpPr>
          <p:nvPr/>
        </p:nvCxnSpPr>
        <p:spPr>
          <a:xfrm flipH="1">
            <a:off x="5822067" y="2762040"/>
            <a:ext cx="819643" cy="4684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32026278-4267-3C93-F4F6-10B86006C3B7}"/>
              </a:ext>
            </a:extLst>
          </p:cNvPr>
          <p:cNvSpPr/>
          <p:nvPr/>
        </p:nvSpPr>
        <p:spPr>
          <a:xfrm>
            <a:off x="8094374" y="3130952"/>
            <a:ext cx="3175755" cy="697775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Thread attribute. Just set to NULL in this class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BF0F8A-CAEB-0464-4202-9AABE933734E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477247" y="3479840"/>
            <a:ext cx="617127" cy="1043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E4BC9E75-FA23-134F-037B-2050A68F7CAA}"/>
              </a:ext>
            </a:extLst>
          </p:cNvPr>
          <p:cNvSpPr/>
          <p:nvPr/>
        </p:nvSpPr>
        <p:spPr>
          <a:xfrm>
            <a:off x="7399890" y="4276572"/>
            <a:ext cx="4026225" cy="1698521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Function pointer: the function run by the thread.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The function takes a generic pointer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2000" dirty="0">
                <a:solidFill>
                  <a:schemeClr val="tx1"/>
                </a:solidFill>
              </a:rPr>
              <a:t>) as argument and returns a generic pointer 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0E96AA8-5743-8B0F-1152-48A817320F87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292395" y="4190547"/>
            <a:ext cx="1107495" cy="9352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93E2D462-98CD-9A3F-1E42-B46A2C33185D}"/>
              </a:ext>
            </a:extLst>
          </p:cNvPr>
          <p:cNvSpPr/>
          <p:nvPr/>
        </p:nvSpPr>
        <p:spPr>
          <a:xfrm>
            <a:off x="1385421" y="4857170"/>
            <a:ext cx="4026225" cy="1076587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Input argument: a generic pointer.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Can be casted to other types within </a:t>
            </a:r>
            <a:r>
              <a:rPr lang="en-US" sz="2000" dirty="0" err="1">
                <a:solidFill>
                  <a:schemeClr val="tx1"/>
                </a:solidFill>
              </a:rPr>
              <a:t>start_routine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669024-9889-0178-28ED-30A62664EF8B}"/>
              </a:ext>
            </a:extLst>
          </p:cNvPr>
          <p:cNvCxnSpPr>
            <a:cxnSpLocks/>
          </p:cNvCxnSpPr>
          <p:nvPr/>
        </p:nvCxnSpPr>
        <p:spPr>
          <a:xfrm flipV="1">
            <a:off x="3912230" y="4352223"/>
            <a:ext cx="781210" cy="480814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ular Callout 37">
            <a:extLst>
              <a:ext uri="{FF2B5EF4-FFF2-40B4-BE49-F238E27FC236}">
                <a16:creationId xmlns:a16="http://schemas.microsoft.com/office/drawing/2014/main" id="{D75F9F17-64E4-3AF5-CB0A-3110D8CD4538}"/>
              </a:ext>
            </a:extLst>
          </p:cNvPr>
          <p:cNvSpPr/>
          <p:nvPr/>
        </p:nvSpPr>
        <p:spPr>
          <a:xfrm>
            <a:off x="209268" y="1440193"/>
            <a:ext cx="4628951" cy="1076587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pthread_create</a:t>
            </a:r>
            <a:r>
              <a:rPr lang="en-US" sz="2000" dirty="0">
                <a:solidFill>
                  <a:schemeClr val="tx1"/>
                </a:solidFill>
              </a:rPr>
              <a:t> creates a new thread and makes it executable.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(no need to explicitly start a thread.)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C27E9A7-E583-68C7-5FA7-2DD49E6E1317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2523744" y="2516780"/>
            <a:ext cx="369928" cy="75885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57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1" grpId="0" animBg="1"/>
      <p:bldP spid="25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6ADF-30BC-8D58-FA45-69F48BC4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/>
              <a:t>a Thread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93C12-EEE1-5EFC-D993-58D5D112AA7B}"/>
              </a:ext>
            </a:extLst>
          </p:cNvPr>
          <p:cNvSpPr txBox="1"/>
          <p:nvPr/>
        </p:nvSpPr>
        <p:spPr>
          <a:xfrm>
            <a:off x="693863" y="1199327"/>
            <a:ext cx="6849952" cy="4524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// cast generic pointer (void*) to a string (char*)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("done");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E219DB-D1E0-22AE-410E-9D25A4037F56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808067" y="2387763"/>
            <a:ext cx="2573276" cy="816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A1ED7B4-8BF7-AAD8-76FC-DE59A72F130E}"/>
              </a:ext>
            </a:extLst>
          </p:cNvPr>
          <p:cNvSpPr/>
          <p:nvPr/>
        </p:nvSpPr>
        <p:spPr>
          <a:xfrm>
            <a:off x="6381343" y="2808801"/>
            <a:ext cx="1492410" cy="79049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Input argument.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C2DC08-1E3A-70D0-FA96-86759BF2A9E0}"/>
              </a:ext>
            </a:extLst>
          </p:cNvPr>
          <p:cNvCxnSpPr>
            <a:cxnSpLocks/>
          </p:cNvCxnSpPr>
          <p:nvPr/>
        </p:nvCxnSpPr>
        <p:spPr>
          <a:xfrm flipH="1" flipV="1">
            <a:off x="5378811" y="4762108"/>
            <a:ext cx="1185888" cy="535927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ular Callout 53">
            <a:extLst>
              <a:ext uri="{FF2B5EF4-FFF2-40B4-BE49-F238E27FC236}">
                <a16:creationId xmlns:a16="http://schemas.microsoft.com/office/drawing/2014/main" id="{148F0504-8674-BCF7-9291-90AA2A24E4E1}"/>
              </a:ext>
            </a:extLst>
          </p:cNvPr>
          <p:cNvSpPr/>
          <p:nvPr/>
        </p:nvSpPr>
        <p:spPr>
          <a:xfrm>
            <a:off x="6567295" y="5056119"/>
            <a:ext cx="3099300" cy="982957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launch a peer thread to run </a:t>
            </a:r>
            <a:r>
              <a:rPr lang="en-US" b="1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print_message</a:t>
            </a:r>
            <a:r>
              <a:rPr lang="en-US" sz="1900" dirty="0">
                <a:solidFill>
                  <a:schemeClr val="tx1"/>
                </a:solidFill>
              </a:rPr>
              <a:t> and pass argument </a:t>
            </a:r>
            <a:r>
              <a: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"hello!"</a:t>
            </a:r>
            <a:r>
              <a:rPr lang="en-US" sz="19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to it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3F2B62E-B706-56C4-0CDB-E5A92610F1BE}"/>
              </a:ext>
            </a:extLst>
          </p:cNvPr>
          <p:cNvSpPr/>
          <p:nvPr/>
        </p:nvSpPr>
        <p:spPr>
          <a:xfrm>
            <a:off x="901326" y="4366861"/>
            <a:ext cx="6529617" cy="3200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255436-725B-1BF8-C2CB-3FAA0621243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667136" y="3599295"/>
            <a:ext cx="460412" cy="8520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FD6E4-AF3A-52A8-68FF-86993BAD2B50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166883" y="2222032"/>
            <a:ext cx="2214460" cy="98201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3">
            <a:extLst>
              <a:ext uri="{FF2B5EF4-FFF2-40B4-BE49-F238E27FC236}">
                <a16:creationId xmlns:a16="http://schemas.microsoft.com/office/drawing/2014/main" id="{09CD83DC-43DF-AA29-3FF5-D82960BC1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1754" y="690872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549EA755-96A9-F074-C54C-EF7067A3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2803" y="1082986"/>
            <a:ext cx="0" cy="382343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8">
            <a:extLst>
              <a:ext uri="{FF2B5EF4-FFF2-40B4-BE49-F238E27FC236}">
                <a16:creationId xmlns:a16="http://schemas.microsoft.com/office/drawing/2014/main" id="{B02E2370-11EC-0E72-5679-F7BF3B13B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0713" y="1787053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294895F1-9206-A958-A3F8-89D47F4EA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1978" y="1412626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</a:t>
            </a:r>
          </a:p>
        </p:txBody>
      </p:sp>
      <p:sp>
        <p:nvSpPr>
          <p:cNvPr id="36" name="Line 6">
            <a:extLst>
              <a:ext uri="{FF2B5EF4-FFF2-40B4-BE49-F238E27FC236}">
                <a16:creationId xmlns:a16="http://schemas.microsoft.com/office/drawing/2014/main" id="{74F5B64A-62D5-2493-E52A-E8160CF22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38574" y="2222032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34471D-F0D9-E1B1-7E20-120FFF7D06BA}"/>
              </a:ext>
            </a:extLst>
          </p:cNvPr>
          <p:cNvCxnSpPr>
            <a:cxnSpLocks/>
          </p:cNvCxnSpPr>
          <p:nvPr/>
        </p:nvCxnSpPr>
        <p:spPr>
          <a:xfrm flipV="1">
            <a:off x="1394857" y="5126237"/>
            <a:ext cx="369569" cy="55264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C0D8CE8B-F117-8701-3741-4BF0FA591B00}"/>
              </a:ext>
            </a:extLst>
          </p:cNvPr>
          <p:cNvSpPr/>
          <p:nvPr/>
        </p:nvSpPr>
        <p:spPr>
          <a:xfrm>
            <a:off x="3841558" y="5476397"/>
            <a:ext cx="2506294" cy="765615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Return code of peer thread. (Usually NULL)</a:t>
            </a:r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40302FB3-496D-D5F5-772F-70E59DBFC091}"/>
              </a:ext>
            </a:extLst>
          </p:cNvPr>
          <p:cNvSpPr/>
          <p:nvPr/>
        </p:nvSpPr>
        <p:spPr>
          <a:xfrm>
            <a:off x="225141" y="5736367"/>
            <a:ext cx="3506696" cy="1015781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The </a:t>
            </a:r>
            <a:r>
              <a:rPr lang="en-US" sz="1900" dirty="0" err="1">
                <a:solidFill>
                  <a:schemeClr val="tx1"/>
                </a:solidFill>
              </a:rPr>
              <a:t>pthread_join</a:t>
            </a:r>
            <a:r>
              <a:rPr lang="en-US" sz="1900" dirty="0">
                <a:solidFill>
                  <a:schemeClr val="tx1"/>
                </a:solidFill>
              </a:rPr>
              <a:t>() blocks the calling thread until the specified thread ID </a:t>
            </a:r>
            <a:r>
              <a:rPr lang="en-US" sz="19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tid</a:t>
            </a:r>
            <a:r>
              <a:rPr lang="en-US" sz="1900" dirty="0">
                <a:solidFill>
                  <a:schemeClr val="tx1"/>
                </a:solidFill>
              </a:rPr>
              <a:t> terminates.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9404FA-5D24-606A-A33E-2BC97A029E68}"/>
              </a:ext>
            </a:extLst>
          </p:cNvPr>
          <p:cNvCxnSpPr>
            <a:cxnSpLocks/>
          </p:cNvCxnSpPr>
          <p:nvPr/>
        </p:nvCxnSpPr>
        <p:spPr>
          <a:xfrm flipH="1" flipV="1">
            <a:off x="3576575" y="5126237"/>
            <a:ext cx="589559" cy="3501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8">
            <a:extLst>
              <a:ext uri="{FF2B5EF4-FFF2-40B4-BE49-F238E27FC236}">
                <a16:creationId xmlns:a16="http://schemas.microsoft.com/office/drawing/2014/main" id="{5FE77401-A881-51A4-68EE-D4F2651322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88623" y="3789875"/>
            <a:ext cx="1149951" cy="3489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A2F9FD-6956-82EB-0F49-56C333A2B2F0}"/>
              </a:ext>
            </a:extLst>
          </p:cNvPr>
          <p:cNvSpPr txBox="1"/>
          <p:nvPr/>
        </p:nvSpPr>
        <p:spPr>
          <a:xfrm>
            <a:off x="8121003" y="4310659"/>
            <a:ext cx="1744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("done");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111B2-DA6B-7891-7D88-FF8AD1C16988}"/>
              </a:ext>
            </a:extLst>
          </p:cNvPr>
          <p:cNvSpPr txBox="1"/>
          <p:nvPr/>
        </p:nvSpPr>
        <p:spPr>
          <a:xfrm>
            <a:off x="7935940" y="3919221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E8E70B2-018B-772D-FFCE-882A849E2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003" y="1650976"/>
            <a:ext cx="177439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82F8AC0B-AF60-C699-2693-ACCF7998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633" y="2838525"/>
            <a:ext cx="153676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F628E8-4972-C25C-E759-B0EAFD6F3593}"/>
              </a:ext>
            </a:extLst>
          </p:cNvPr>
          <p:cNvSpPr txBox="1"/>
          <p:nvPr/>
        </p:nvSpPr>
        <p:spPr>
          <a:xfrm>
            <a:off x="10282629" y="2793766"/>
            <a:ext cx="1902918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("hello!\n");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0A4101B-9652-8A2A-E2BE-C389D1712CAA}"/>
              </a:ext>
            </a:extLst>
          </p:cNvPr>
          <p:cNvSpPr/>
          <p:nvPr/>
        </p:nvSpPr>
        <p:spPr>
          <a:xfrm>
            <a:off x="901326" y="4866111"/>
            <a:ext cx="3115089" cy="3200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4" grpId="0" animBg="1"/>
      <p:bldP spid="55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15" grpId="0" animBg="1"/>
      <p:bldP spid="19" grpId="0" animBg="1"/>
      <p:bldP spid="24" grpId="0" animBg="1"/>
      <p:bldP spid="27" grpId="0"/>
      <p:bldP spid="28" grpId="0"/>
      <p:bldP spid="29" grpId="0"/>
      <p:bldP spid="30" grpId="0"/>
      <p:bldP spid="37" grpId="0" animBg="1"/>
      <p:bldP spid="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Function Pointers</a:t>
            </a:r>
          </a:p>
          <a:p>
            <a:r>
              <a:rPr lang="en-US" dirty="0"/>
              <a:t>Thread API: Creation and Waiting</a:t>
            </a:r>
          </a:p>
          <a:p>
            <a:r>
              <a:rPr lang="en-US" b="1" dirty="0"/>
              <a:t>Example of Speedup</a:t>
            </a:r>
          </a:p>
        </p:txBody>
      </p:sp>
    </p:spTree>
    <p:extLst>
      <p:ext uri="{BB962C8B-B14F-4D97-AF65-F5344CB8AC3E}">
        <p14:creationId xmlns:p14="http://schemas.microsoft.com/office/powerpoint/2010/main" val="2269275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EB5A-30F6-C611-007D-3E2E0E85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Faster Speed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7D53D-13B0-3CF4-7F14-E731A0A49DC7}"/>
              </a:ext>
            </a:extLst>
          </p:cNvPr>
          <p:cNvSpPr txBox="1"/>
          <p:nvPr/>
        </p:nvSpPr>
        <p:spPr>
          <a:xfrm>
            <a:off x="7062023" y="999063"/>
            <a:ext cx="4830168" cy="54938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NUM_THREADS = </a:t>
            </a:r>
            <a:r>
              <a:rPr lang="en-US" sz="1300" dirty="0">
                <a:solidFill>
                  <a:srgbClr val="B42419"/>
                </a:solidFill>
                <a:latin typeface="Menlo" panose="020B060903080402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sums[</a:t>
            </a:r>
            <a:r>
              <a:rPr lang="en-US" sz="1300" dirty="0">
                <a:solidFill>
                  <a:srgbClr val="B42419"/>
                </a:solidFill>
                <a:latin typeface="Menlo" panose="020B060903080402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subtotal =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SUB_N = N/NUM_THREADS;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SUB_N *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end = n + SUB_N;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subtotal +=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(n++ &lt; end);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sums[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subtotal;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tid0, tid1, tid2, tid3;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(&amp;tid0,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(&amp;tid3,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(tid0,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(tid3,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endParaRPr lang="en-US" sz="13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0BDC5-2CDC-584E-74C2-D2EB05EF0DF0}"/>
              </a:ext>
            </a:extLst>
          </p:cNvPr>
          <p:cNvSpPr txBox="1"/>
          <p:nvPr/>
        </p:nvSpPr>
        <p:spPr>
          <a:xfrm>
            <a:off x="971958" y="2524340"/>
            <a:ext cx="3688016" cy="22313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5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end = N;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total +=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(n); 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 1 if prime, else 0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(n++ &lt; end);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D23D3-5D44-D6AC-435B-F7BB91D6291A}"/>
              </a:ext>
            </a:extLst>
          </p:cNvPr>
          <p:cNvSpPr txBox="1"/>
          <p:nvPr/>
        </p:nvSpPr>
        <p:spPr>
          <a:xfrm>
            <a:off x="7571777" y="541968"/>
            <a:ext cx="381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0.439 seconds (~3x faster)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48FF7-C9E6-DEF0-B313-44884C37EF9A}"/>
              </a:ext>
            </a:extLst>
          </p:cNvPr>
          <p:cNvSpPr txBox="1"/>
          <p:nvPr/>
        </p:nvSpPr>
        <p:spPr>
          <a:xfrm>
            <a:off x="1690990" y="2149222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1.372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 seconds</a:t>
            </a:r>
            <a:endParaRPr lang="en-US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23BB7-8C0B-6041-2D75-852802EBDB98}"/>
              </a:ext>
            </a:extLst>
          </p:cNvPr>
          <p:cNvSpPr txBox="1"/>
          <p:nvPr/>
        </p:nvSpPr>
        <p:spPr>
          <a:xfrm>
            <a:off x="774461" y="1250066"/>
            <a:ext cx="5171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 the # of prime numbers before 10 Million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9D94B27-CA94-CF37-8378-E9D703F7E67D}"/>
              </a:ext>
            </a:extLst>
          </p:cNvPr>
          <p:cNvSpPr/>
          <p:nvPr/>
        </p:nvSpPr>
        <p:spPr>
          <a:xfrm>
            <a:off x="5440102" y="2584048"/>
            <a:ext cx="1130432" cy="16899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3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D286-B8E6-BE66-C710-7655085C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Timelines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9A462-B5A2-67AD-EEF2-6165D12B555F}"/>
              </a:ext>
            </a:extLst>
          </p:cNvPr>
          <p:cNvSpPr txBox="1"/>
          <p:nvPr/>
        </p:nvSpPr>
        <p:spPr>
          <a:xfrm>
            <a:off x="7062023" y="999063"/>
            <a:ext cx="4830168" cy="54938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NUM_THREADS = </a:t>
            </a:r>
            <a:r>
              <a:rPr lang="en-US" sz="1300" dirty="0">
                <a:solidFill>
                  <a:srgbClr val="B42419"/>
                </a:solidFill>
                <a:latin typeface="Menlo" panose="020B060903080402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sums[</a:t>
            </a:r>
            <a:r>
              <a:rPr lang="en-US" sz="1300" dirty="0">
                <a:solidFill>
                  <a:srgbClr val="B42419"/>
                </a:solidFill>
                <a:latin typeface="Menlo" panose="020B060903080402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subtotal =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SUB_N = N/NUM_THREADS;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SUB_N *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end = n + SUB_N;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subtotal +=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(n++ &lt; end);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sums[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subtotal;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tid0, tid1, tid2, tid3;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(&amp;tid0,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(&amp;tid3,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(tid0,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(tid3,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endParaRPr lang="en-US" sz="13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BB7D0-8E01-0612-4F03-D964D26038F2}"/>
              </a:ext>
            </a:extLst>
          </p:cNvPr>
          <p:cNvSpPr txBox="1"/>
          <p:nvPr/>
        </p:nvSpPr>
        <p:spPr>
          <a:xfrm>
            <a:off x="7571777" y="541968"/>
            <a:ext cx="381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0.439 seconds (~3x faster)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51BEBC5D-21D3-5090-7DC0-522724594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5814" y="1362204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AF4B0BE0-484B-227E-F00E-99D5CFF925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2986" y="1754317"/>
            <a:ext cx="13877" cy="449601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EC441657-7E04-FD54-C8DA-5F03A43C6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4773" y="2458385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EC8C2B53-3938-54FA-FCA0-8C7311053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544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3</a:t>
            </a: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D885E7D2-01A9-B3D5-A7E2-66509CA28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2634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D4B287E4-3D0E-B5B1-1C28-EB37DCE090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3475" y="4461207"/>
            <a:ext cx="1119158" cy="58431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54409F-75A3-A69C-F570-E01117F947E3}"/>
              </a:ext>
            </a:extLst>
          </p:cNvPr>
          <p:cNvSpPr txBox="1"/>
          <p:nvPr/>
        </p:nvSpPr>
        <p:spPr>
          <a:xfrm>
            <a:off x="30350" y="5045521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7F7D3714-BD67-B596-BDBC-14FD65DA6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65" y="2322308"/>
            <a:ext cx="1774395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algn="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 4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6CB9967E-54D1-BD7E-5230-AF2F7BEBE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155" y="3837994"/>
            <a:ext cx="1536831" cy="9233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algn="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 4</a:t>
            </a:r>
          </a:p>
          <a:p>
            <a:pPr algn="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178E53-3717-47B2-022A-EABAF41901A7}"/>
              </a:ext>
            </a:extLst>
          </p:cNvPr>
          <p:cNvSpPr txBox="1"/>
          <p:nvPr/>
        </p:nvSpPr>
        <p:spPr>
          <a:xfrm>
            <a:off x="2458975" y="3437078"/>
            <a:ext cx="63412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72D4D-5439-502C-F471-104D33EDF21C}"/>
              </a:ext>
            </a:extLst>
          </p:cNvPr>
          <p:cNvSpPr txBox="1"/>
          <p:nvPr/>
        </p:nvSpPr>
        <p:spPr>
          <a:xfrm>
            <a:off x="824969" y="5561023"/>
            <a:ext cx="109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= …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6A82AA16-7051-8D60-A4CE-942A36E1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18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2</a:t>
            </a:r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016DBD3F-3D3E-43E1-3692-C44FD8209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5808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AE8315-84B6-12A2-7BF1-A7154765E5F3}"/>
              </a:ext>
            </a:extLst>
          </p:cNvPr>
          <p:cNvSpPr txBox="1"/>
          <p:nvPr/>
        </p:nvSpPr>
        <p:spPr>
          <a:xfrm>
            <a:off x="3602149" y="3437078"/>
            <a:ext cx="63412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F914DF2D-B59C-B07E-AE1E-F9CBDF9EF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892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1</a:t>
            </a:r>
          </a:p>
        </p:txBody>
      </p:sp>
      <p:sp>
        <p:nvSpPr>
          <p:cNvPr id="22" name="Line 6">
            <a:extLst>
              <a:ext uri="{FF2B5EF4-FFF2-40B4-BE49-F238E27FC236}">
                <a16:creationId xmlns:a16="http://schemas.microsoft.com/office/drawing/2014/main" id="{371BEF9D-F4CB-BDA5-041E-C4AEFCA1A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8982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CD7474-2396-021A-4233-2C921312EF55}"/>
              </a:ext>
            </a:extLst>
          </p:cNvPr>
          <p:cNvSpPr txBox="1"/>
          <p:nvPr/>
        </p:nvSpPr>
        <p:spPr>
          <a:xfrm>
            <a:off x="4745323" y="3437078"/>
            <a:ext cx="63412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860DB817-B3EB-9F2D-204F-99DB4230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295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0</a:t>
            </a:r>
          </a:p>
        </p:txBody>
      </p:sp>
      <p:sp>
        <p:nvSpPr>
          <p:cNvPr id="25" name="Line 6">
            <a:extLst>
              <a:ext uri="{FF2B5EF4-FFF2-40B4-BE49-F238E27FC236}">
                <a16:creationId xmlns:a16="http://schemas.microsoft.com/office/drawing/2014/main" id="{684CC05D-592D-E47B-5009-6785C07E9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0385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BEB698-0D4E-041D-BBE8-44140CFF5BD7}"/>
              </a:ext>
            </a:extLst>
          </p:cNvPr>
          <p:cNvSpPr txBox="1"/>
          <p:nvPr/>
        </p:nvSpPr>
        <p:spPr>
          <a:xfrm>
            <a:off x="5916726" y="3437078"/>
            <a:ext cx="63412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Line 8">
            <a:extLst>
              <a:ext uri="{FF2B5EF4-FFF2-40B4-BE49-F238E27FC236}">
                <a16:creationId xmlns:a16="http://schemas.microsoft.com/office/drawing/2014/main" id="{72E57BA2-9BFF-1C3F-906F-E1E11F011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7891" y="2396793"/>
            <a:ext cx="2336620" cy="55378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87EA02EB-50DC-2161-F34D-18F2295DF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3474" y="2322309"/>
            <a:ext cx="3405507" cy="55299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8">
            <a:extLst>
              <a:ext uri="{FF2B5EF4-FFF2-40B4-BE49-F238E27FC236}">
                <a16:creationId xmlns:a16="http://schemas.microsoft.com/office/drawing/2014/main" id="{DBA377F4-3A61-4437-EE8F-E2F3EF8BD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3474" y="2240817"/>
            <a:ext cx="4567378" cy="67060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">
            <a:extLst>
              <a:ext uri="{FF2B5EF4-FFF2-40B4-BE49-F238E27FC236}">
                <a16:creationId xmlns:a16="http://schemas.microsoft.com/office/drawing/2014/main" id="{3AE568BC-22D1-555F-AB74-B1113240DB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3474" y="4461206"/>
            <a:ext cx="4567378" cy="7936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8">
            <a:extLst>
              <a:ext uri="{FF2B5EF4-FFF2-40B4-BE49-F238E27FC236}">
                <a16:creationId xmlns:a16="http://schemas.microsoft.com/office/drawing/2014/main" id="{FA507D59-73D2-0A70-498B-00938A223E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69599" y="4461206"/>
            <a:ext cx="3419382" cy="736716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8">
            <a:extLst>
              <a:ext uri="{FF2B5EF4-FFF2-40B4-BE49-F238E27FC236}">
                <a16:creationId xmlns:a16="http://schemas.microsoft.com/office/drawing/2014/main" id="{2DD9499C-B46C-E307-7637-016ADEA8D8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733" y="4461205"/>
            <a:ext cx="2249983" cy="6547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16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C909-FB99-A329-5B7C-0CD4FA58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919"/>
            <a:ext cx="10515600" cy="697156"/>
          </a:xfrm>
        </p:spPr>
        <p:txBody>
          <a:bodyPr>
            <a:normAutofit/>
          </a:bodyPr>
          <a:lstStyle/>
          <a:p>
            <a:r>
              <a:rPr lang="en-US" dirty="0"/>
              <a:t>Array of Threads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B9F9C-49C3-7AC5-BCFD-CF5300028462}"/>
              </a:ext>
            </a:extLst>
          </p:cNvPr>
          <p:cNvSpPr txBox="1"/>
          <p:nvPr/>
        </p:nvSpPr>
        <p:spPr>
          <a:xfrm>
            <a:off x="665077" y="994856"/>
            <a:ext cx="4801314" cy="58631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NUM_THREADS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5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sums[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b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250" dirty="0">
                <a:solidFill>
                  <a:srgbClr val="400BD9"/>
                </a:solidFill>
                <a:latin typeface="Menlo" panose="020B0609030804020204" pitchFamily="49" charset="0"/>
              </a:rPr>
              <a:t>  </a:t>
            </a:r>
            <a:r>
              <a:rPr lang="en-US" sz="125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ignored. see last slide</a:t>
            </a:r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tid0, tid1, tid2, tid3, </a:t>
            </a:r>
          </a:p>
          <a:p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           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tid4, tid5, tid6, tid7;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(&amp;tid0,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(&amp;tid3,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(&amp;tid4,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(&amp;tid5,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5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(&amp;tid6,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6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(&amp;tid7,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7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(tid0,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(tid3,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(tid4,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(tid5,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(tid6,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(tid7,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sums[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 sums[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 sums[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</a:t>
            </a:r>
          </a:p>
          <a:p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             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sums[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4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 sums[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5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6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 sums[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endParaRPr lang="en-US" sz="12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177F9-E75B-C31C-22BF-2C79D78CC9BA}"/>
              </a:ext>
            </a:extLst>
          </p:cNvPr>
          <p:cNvSpPr txBox="1"/>
          <p:nvPr/>
        </p:nvSpPr>
        <p:spPr>
          <a:xfrm>
            <a:off x="6753690" y="994031"/>
            <a:ext cx="4416594" cy="3554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#define NUM_THREADS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8</a:t>
            </a:r>
            <a:endParaRPr lang="en-US" sz="125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5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sums[NUM_THREADS];</a:t>
            </a:r>
            <a:b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250" dirty="0">
                <a:solidFill>
                  <a:srgbClr val="400BD9"/>
                </a:solidFill>
                <a:latin typeface="Menlo" panose="020B0609030804020204" pitchFamily="49" charset="0"/>
              </a:rPr>
              <a:t>  </a:t>
            </a:r>
            <a:r>
              <a:rPr lang="en-US" sz="125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ignored. see last slide</a:t>
            </a:r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[NUM_THREADS];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total += sums[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2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62D6359-DFA0-7AFE-6C93-44E67892E24B}"/>
              </a:ext>
            </a:extLst>
          </p:cNvPr>
          <p:cNvSpPr/>
          <p:nvPr/>
        </p:nvSpPr>
        <p:spPr>
          <a:xfrm>
            <a:off x="5771880" y="2584048"/>
            <a:ext cx="798653" cy="16899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9A872E-45A9-ED89-3976-C60E407862E5}"/>
              </a:ext>
            </a:extLst>
          </p:cNvPr>
          <p:cNvSpPr/>
          <p:nvPr/>
        </p:nvSpPr>
        <p:spPr>
          <a:xfrm>
            <a:off x="6989609" y="3108960"/>
            <a:ext cx="4087363" cy="116499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63C07E-C33C-446E-F0C9-795479A9A215}"/>
              </a:ext>
            </a:extLst>
          </p:cNvPr>
          <p:cNvSpPr txBox="1"/>
          <p:nvPr/>
        </p:nvSpPr>
        <p:spPr>
          <a:xfrm>
            <a:off x="6839117" y="4774648"/>
            <a:ext cx="4502021" cy="1166277"/>
          </a:xfrm>
          <a:prstGeom prst="wedgeRoundRectCallout">
            <a:avLst>
              <a:gd name="adj1" fmla="val -24947"/>
              <a:gd name="adj2" fmla="val -99268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total += sums[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2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AAA03-BDCF-02B4-4751-0409827D863C}"/>
              </a:ext>
            </a:extLst>
          </p:cNvPr>
          <p:cNvSpPr txBox="1"/>
          <p:nvPr/>
        </p:nvSpPr>
        <p:spPr>
          <a:xfrm>
            <a:off x="7306118" y="6086850"/>
            <a:ext cx="362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if we merge the two for loops?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1D786E-19BB-51BC-8AEC-B5E18C123871}"/>
              </a:ext>
            </a:extLst>
          </p:cNvPr>
          <p:cNvSpPr txBox="1"/>
          <p:nvPr/>
        </p:nvSpPr>
        <p:spPr>
          <a:xfrm>
            <a:off x="7895350" y="6456182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will kill the parallelism</a:t>
            </a:r>
          </a:p>
        </p:txBody>
      </p:sp>
    </p:spTree>
    <p:extLst>
      <p:ext uri="{BB962C8B-B14F-4D97-AF65-F5344CB8AC3E}">
        <p14:creationId xmlns:p14="http://schemas.microsoft.com/office/powerpoint/2010/main" val="7651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BEF1-DD35-66D0-0F32-3530DCDA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3542-A009-9E93-FF0F-296650169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Threads can implement parallelism</a:t>
            </a:r>
          </a:p>
          <a:p>
            <a:endParaRPr lang="en-US" dirty="0"/>
          </a:p>
          <a:p>
            <a:r>
              <a:rPr lang="en-US" dirty="0"/>
              <a:t>Function pointers allow passing function to a thread</a:t>
            </a:r>
          </a:p>
          <a:p>
            <a:endParaRPr lang="en-US" dirty="0"/>
          </a:p>
          <a:p>
            <a:r>
              <a:rPr lang="en-US" dirty="0"/>
              <a:t>How to create a new thread? How to wait for its completion?</a:t>
            </a:r>
          </a:p>
        </p:txBody>
      </p:sp>
    </p:spTree>
    <p:extLst>
      <p:ext uri="{BB962C8B-B14F-4D97-AF65-F5344CB8AC3E}">
        <p14:creationId xmlns:p14="http://schemas.microsoft.com/office/powerpoint/2010/main" val="3378135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90BE-7897-E9D7-9CA6-ABA0F0B0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25B29-75BA-3155-6A56-127FCE3BB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77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90B8A-9E3F-4920-12BD-A2E4BCDA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223A8-D506-FD92-879E-9975B9B7D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5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2EF3-DE3C-0C3B-D4C5-F8401B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D98A-35EB-420A-82FE-9D9F7E34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Thread 1</a:t>
            </a:r>
          </a:p>
          <a:p>
            <a:pPr lvl="1"/>
            <a:r>
              <a:rPr lang="en-US" dirty="0"/>
              <a:t>Analogy of parallelism</a:t>
            </a:r>
          </a:p>
          <a:p>
            <a:pPr lvl="1"/>
            <a:r>
              <a:rPr lang="en-US" dirty="0"/>
              <a:t>Define parallelism</a:t>
            </a:r>
          </a:p>
          <a:p>
            <a:pPr lvl="2"/>
            <a:r>
              <a:rPr lang="en-US" dirty="0"/>
              <a:t>Ex1: adding a number to each element of a long array</a:t>
            </a:r>
          </a:p>
          <a:p>
            <a:pPr lvl="2"/>
            <a:r>
              <a:rPr lang="en-US" dirty="0"/>
              <a:t>Ex2: avoid I/O blocking (?)</a:t>
            </a:r>
          </a:p>
          <a:p>
            <a:pPr lvl="1"/>
            <a:r>
              <a:rPr lang="en-US" dirty="0"/>
              <a:t>Basic API</a:t>
            </a:r>
          </a:p>
          <a:p>
            <a:pPr lvl="1"/>
            <a:r>
              <a:rPr lang="en-US" dirty="0"/>
              <a:t>Function as argument</a:t>
            </a:r>
          </a:p>
          <a:p>
            <a:pPr lvl="1"/>
            <a:r>
              <a:rPr lang="en-US" dirty="0"/>
              <a:t>Simple thread creation example</a:t>
            </a:r>
          </a:p>
          <a:p>
            <a:endParaRPr lang="en-US" dirty="0"/>
          </a:p>
          <a:p>
            <a:r>
              <a:rPr lang="en-US" dirty="0"/>
              <a:t>Thread 2</a:t>
            </a:r>
          </a:p>
          <a:p>
            <a:pPr lvl="1"/>
            <a:r>
              <a:rPr lang="en-US" dirty="0"/>
              <a:t>Non-determinism</a:t>
            </a:r>
          </a:p>
          <a:p>
            <a:pPr lvl="1"/>
            <a:r>
              <a:rPr lang="en-US" dirty="0"/>
              <a:t>Embarrassingly parallel example</a:t>
            </a:r>
          </a:p>
          <a:p>
            <a:endParaRPr lang="en-US" dirty="0"/>
          </a:p>
          <a:p>
            <a:r>
              <a:rPr lang="en-US" dirty="0"/>
              <a:t>Thread 3</a:t>
            </a:r>
          </a:p>
          <a:p>
            <a:pPr lvl="1"/>
            <a:r>
              <a:rPr lang="en-US" dirty="0"/>
              <a:t>How things look like on stack</a:t>
            </a:r>
          </a:p>
          <a:p>
            <a:pPr lvl="1"/>
            <a:r>
              <a:rPr lang="en-US" dirty="0"/>
              <a:t>Shared memory space</a:t>
            </a:r>
          </a:p>
          <a:p>
            <a:pPr lvl="1"/>
            <a:r>
              <a:rPr lang="en-US" dirty="0"/>
              <a:t>Example of thread-based sorting</a:t>
            </a:r>
          </a:p>
        </p:txBody>
      </p:sp>
    </p:spTree>
    <p:extLst>
      <p:ext uri="{BB962C8B-B14F-4D97-AF65-F5344CB8AC3E}">
        <p14:creationId xmlns:p14="http://schemas.microsoft.com/office/powerpoint/2010/main" val="1283107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3871-0FDD-F9D5-673E-8BF246AA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of Threads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905AA-2DF4-A49D-C089-52BDF170E2E3}"/>
              </a:ext>
            </a:extLst>
          </p:cNvPr>
          <p:cNvSpPr txBox="1"/>
          <p:nvPr/>
        </p:nvSpPr>
        <p:spPr>
          <a:xfrm>
            <a:off x="914400" y="1903956"/>
            <a:ext cx="1476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ID</a:t>
            </a:r>
          </a:p>
          <a:p>
            <a:endParaRPr lang="en-US" dirty="0"/>
          </a:p>
          <a:p>
            <a:r>
              <a:rPr lang="en-US" dirty="0"/>
              <a:t>Main vs Peers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0913A-EF14-3D3B-FDB5-2CD3213E91DC}"/>
              </a:ext>
            </a:extLst>
          </p:cNvPr>
          <p:cNvSpPr txBox="1"/>
          <p:nvPr/>
        </p:nvSpPr>
        <p:spPr>
          <a:xfrm>
            <a:off x="1240077" y="3344449"/>
            <a:ext cx="4378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 memory space (main stack and heap). </a:t>
            </a:r>
          </a:p>
          <a:p>
            <a:endParaRPr lang="en-US" dirty="0"/>
          </a:p>
          <a:p>
            <a:r>
              <a:rPr lang="en-US" dirty="0"/>
              <a:t>Main stack is accessible to all threads</a:t>
            </a:r>
          </a:p>
        </p:txBody>
      </p:sp>
    </p:spTree>
    <p:extLst>
      <p:ext uri="{BB962C8B-B14F-4D97-AF65-F5344CB8AC3E}">
        <p14:creationId xmlns:p14="http://schemas.microsoft.com/office/powerpoint/2010/main" val="4171030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5D07-E177-DAB7-7530-24263AAB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Example: Web Service</a:t>
            </a:r>
          </a:p>
        </p:txBody>
      </p:sp>
    </p:spTree>
    <p:extLst>
      <p:ext uri="{BB962C8B-B14F-4D97-AF65-F5344CB8AC3E}">
        <p14:creationId xmlns:p14="http://schemas.microsoft.com/office/powerpoint/2010/main" val="1766031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6ADF-30BC-8D58-FA45-69F48BC4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Thread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93C12-EEE1-5EFC-D993-58D5D112AA7B}"/>
              </a:ext>
            </a:extLst>
          </p:cNvPr>
          <p:cNvSpPr txBox="1"/>
          <p:nvPr/>
        </p:nvSpPr>
        <p:spPr>
          <a:xfrm>
            <a:off x="1203152" y="1465545"/>
            <a:ext cx="7715574" cy="3970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E219DB-D1E0-22AE-410E-9D25A4037F5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097164" y="5074326"/>
            <a:ext cx="543465" cy="6280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A1ED7B4-8BF7-AAD8-76FC-DE59A72F130E}"/>
              </a:ext>
            </a:extLst>
          </p:cNvPr>
          <p:cNvSpPr/>
          <p:nvPr/>
        </p:nvSpPr>
        <p:spPr>
          <a:xfrm>
            <a:off x="830454" y="5702381"/>
            <a:ext cx="2533419" cy="79049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wait until </a:t>
            </a:r>
            <a:r>
              <a:rPr lang="en-US" sz="2000" dirty="0" err="1">
                <a:solidFill>
                  <a:schemeClr val="tx1"/>
                </a:solidFill>
              </a:rPr>
              <a:t>tid</a:t>
            </a:r>
            <a:r>
              <a:rPr lang="en-US" sz="2000" dirty="0">
                <a:solidFill>
                  <a:schemeClr val="tx1"/>
                </a:solidFill>
              </a:rPr>
              <a:t> is done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4ECE8F2-2884-27A7-14B7-820A3CF8D4D4}"/>
              </a:ext>
            </a:extLst>
          </p:cNvPr>
          <p:cNvSpPr/>
          <p:nvPr/>
        </p:nvSpPr>
        <p:spPr>
          <a:xfrm>
            <a:off x="8033355" y="1759278"/>
            <a:ext cx="2237698" cy="959336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Thread arguments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(void *</a:t>
            </a:r>
            <a:r>
              <a:rPr lang="en-US" sz="2000" dirty="0" err="1">
                <a:solidFill>
                  <a:schemeClr val="tx1"/>
                </a:solidFill>
              </a:rPr>
              <a:t>arg</a:t>
            </a:r>
            <a:r>
              <a:rPr lang="en-US" sz="2000" dirty="0">
                <a:solidFill>
                  <a:schemeClr val="tx1"/>
                </a:solidFill>
              </a:rPr>
              <a:t>)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749764-8698-5C6C-D906-100FB6CBF23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436782" y="2238946"/>
            <a:ext cx="2596573" cy="2181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1815A3-9A71-2529-0882-8F3B5D355CEA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8196382" y="2718614"/>
            <a:ext cx="955822" cy="17934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BBE0CDEA-76C7-3F30-9C89-24662A61D038}"/>
              </a:ext>
            </a:extLst>
          </p:cNvPr>
          <p:cNvSpPr/>
          <p:nvPr/>
        </p:nvSpPr>
        <p:spPr>
          <a:xfrm>
            <a:off x="3282872" y="3181318"/>
            <a:ext cx="2153910" cy="959336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OS will return the thread id "</a:t>
            </a:r>
            <a:r>
              <a:rPr lang="en-US" sz="2000" dirty="0" err="1">
                <a:solidFill>
                  <a:schemeClr val="tx1"/>
                </a:solidFill>
              </a:rPr>
              <a:t>tid</a:t>
            </a:r>
            <a:r>
              <a:rPr lang="en-US" sz="2000" dirty="0">
                <a:solidFill>
                  <a:schemeClr val="tx1"/>
                </a:solidFill>
              </a:rPr>
              <a:t>"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079E9F-95DE-C65E-5EDF-64EF369CC19E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061638" y="4140654"/>
            <a:ext cx="298189" cy="3714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ular Callout 27">
            <a:extLst>
              <a:ext uri="{FF2B5EF4-FFF2-40B4-BE49-F238E27FC236}">
                <a16:creationId xmlns:a16="http://schemas.microsoft.com/office/drawing/2014/main" id="{EF4D3760-68BA-88C8-B501-4436C51E8386}"/>
              </a:ext>
            </a:extLst>
          </p:cNvPr>
          <p:cNvSpPr/>
          <p:nvPr/>
        </p:nvSpPr>
        <p:spPr>
          <a:xfrm>
            <a:off x="5197213" y="5177595"/>
            <a:ext cx="2153910" cy="959336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Thread attributes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(usually NULL)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4CF167-3190-D370-FB2E-B9680231452D}"/>
              </a:ext>
            </a:extLst>
          </p:cNvPr>
          <p:cNvCxnSpPr>
            <a:cxnSpLocks/>
          </p:cNvCxnSpPr>
          <p:nvPr/>
        </p:nvCxnSpPr>
        <p:spPr>
          <a:xfrm flipH="1" flipV="1">
            <a:off x="5021222" y="4815316"/>
            <a:ext cx="709727" cy="3622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ular Callout 35">
            <a:extLst>
              <a:ext uri="{FF2B5EF4-FFF2-40B4-BE49-F238E27FC236}">
                <a16:creationId xmlns:a16="http://schemas.microsoft.com/office/drawing/2014/main" id="{0E72BD4F-110A-6AB9-025B-8FE8FBFAC3A7}"/>
              </a:ext>
            </a:extLst>
          </p:cNvPr>
          <p:cNvSpPr/>
          <p:nvPr/>
        </p:nvSpPr>
        <p:spPr>
          <a:xfrm>
            <a:off x="5762258" y="3158574"/>
            <a:ext cx="2489436" cy="959336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Thread start routine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function pointer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1EC627-9038-AD10-B1F7-3A9C4CCEC980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6379535" y="4117910"/>
            <a:ext cx="627441" cy="3941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10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E678-EEE6-883D-456E-906A7845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Thread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327C0-045E-3C3A-6268-D5847672D66A}"/>
              </a:ext>
            </a:extLst>
          </p:cNvPr>
          <p:cNvSpPr txBox="1"/>
          <p:nvPr/>
        </p:nvSpPr>
        <p:spPr>
          <a:xfrm>
            <a:off x="945715" y="1258300"/>
            <a:ext cx="72337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           const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pthread_attr_t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attr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         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*(*subroutine)(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*),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             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CAC7C-2C44-5BBE-C90F-AC7770CCD5F0}"/>
              </a:ext>
            </a:extLst>
          </p:cNvPr>
          <p:cNvSpPr txBox="1"/>
          <p:nvPr/>
        </p:nvSpPr>
        <p:spPr>
          <a:xfrm>
            <a:off x="945715" y="3859785"/>
            <a:ext cx="92296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routine creates a new thread and makes it executable.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There's no separate </a:t>
            </a:r>
            <a:r>
              <a:rPr lang="en-US" sz="2000" dirty="0" err="1">
                <a:sym typeface="Wingdings" pitchFamily="2" charset="2"/>
              </a:rPr>
              <a:t>run_thread</a:t>
            </a:r>
            <a:r>
              <a:rPr lang="en-US" sz="2000" dirty="0">
                <a:sym typeface="Wingdings" pitchFamily="2" charset="2"/>
              </a:rPr>
              <a:t> subroutine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Once created, threads are peers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sz="2000" dirty="0"/>
              <a:t> subroutine returns the new thread ID via the thread argument.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 err="1"/>
              <a:t>attr</a:t>
            </a:r>
            <a:r>
              <a:rPr lang="en-US" sz="2000" dirty="0"/>
              <a:t> parameter is used to set thread attributes.  Can be an object, or NULL for the default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start_routine</a:t>
            </a:r>
            <a:r>
              <a:rPr lang="en-US" sz="2000" dirty="0"/>
              <a:t> is the C routine that the thread will  execute once it is created.  A single argument may be passed to </a:t>
            </a:r>
            <a:r>
              <a:rPr lang="en-US" sz="2000" dirty="0" err="1"/>
              <a:t>start_routine</a:t>
            </a:r>
            <a:r>
              <a:rPr lang="en-US" sz="2000" dirty="0"/>
              <a:t> via </a:t>
            </a:r>
            <a:r>
              <a:rPr lang="en-US" sz="2000" dirty="0" err="1"/>
              <a:t>arg</a:t>
            </a:r>
            <a:r>
              <a:rPr lang="en-US" sz="2000" dirty="0"/>
              <a:t> as a void pointer. 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DDA777D-EA5B-AE79-B6E2-51D72F905A73}"/>
              </a:ext>
            </a:extLst>
          </p:cNvPr>
          <p:cNvSpPr/>
          <p:nvPr/>
        </p:nvSpPr>
        <p:spPr>
          <a:xfrm>
            <a:off x="6444939" y="513962"/>
            <a:ext cx="4302358" cy="697775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When created, each thread is assigned a thread ID by OS. It's saved in </a:t>
            </a:r>
            <a:r>
              <a:rPr lang="en-US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20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tid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0D2146-E3DF-066F-B98A-7D5D30933ECA}"/>
              </a:ext>
            </a:extLst>
          </p:cNvPr>
          <p:cNvCxnSpPr>
            <a:cxnSpLocks/>
          </p:cNvCxnSpPr>
          <p:nvPr/>
        </p:nvCxnSpPr>
        <p:spPr>
          <a:xfrm flipH="1">
            <a:off x="5658730" y="1162303"/>
            <a:ext cx="786209" cy="3257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32026278-4267-3C93-F4F6-10B86006C3B7}"/>
              </a:ext>
            </a:extLst>
          </p:cNvPr>
          <p:cNvSpPr/>
          <p:nvPr/>
        </p:nvSpPr>
        <p:spPr>
          <a:xfrm>
            <a:off x="7897603" y="1427043"/>
            <a:ext cx="3175755" cy="697775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Thread attribute. Just set to NULL in this class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BF0F8A-CAEB-0464-4202-9AABE933734E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280476" y="1775931"/>
            <a:ext cx="617127" cy="1043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E4BC9E75-FA23-134F-037B-2050A68F7CAA}"/>
              </a:ext>
            </a:extLst>
          </p:cNvPr>
          <p:cNvSpPr/>
          <p:nvPr/>
        </p:nvSpPr>
        <p:spPr>
          <a:xfrm>
            <a:off x="8165774" y="2341043"/>
            <a:ext cx="4026225" cy="1698521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Function pointer: the function run by the thread.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Subroutine is a function that takes a generic pointer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2000" dirty="0">
                <a:solidFill>
                  <a:schemeClr val="tx1"/>
                </a:solidFill>
              </a:rPr>
              <a:t>) as argument and returns no value.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0E96AA8-5743-8B0F-1152-48A817320F87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993064" y="2440044"/>
            <a:ext cx="1172710" cy="7502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93E2D462-98CD-9A3F-1E42-B46A2C33185D}"/>
              </a:ext>
            </a:extLst>
          </p:cNvPr>
          <p:cNvSpPr/>
          <p:nvPr/>
        </p:nvSpPr>
        <p:spPr>
          <a:xfrm>
            <a:off x="5035179" y="3032671"/>
            <a:ext cx="2418918" cy="697775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Input argument: a generic pointer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669024-9889-0178-28ED-30A62664EF8B}"/>
              </a:ext>
            </a:extLst>
          </p:cNvPr>
          <p:cNvCxnSpPr>
            <a:cxnSpLocks/>
          </p:cNvCxnSpPr>
          <p:nvPr/>
        </p:nvCxnSpPr>
        <p:spPr>
          <a:xfrm flipH="1" flipV="1">
            <a:off x="5198937" y="2592444"/>
            <a:ext cx="897063" cy="405771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825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6ADF-30BC-8D58-FA45-69F48BC4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Thread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93C12-EEE1-5EFC-D993-58D5D112AA7B}"/>
              </a:ext>
            </a:extLst>
          </p:cNvPr>
          <p:cNvSpPr txBox="1"/>
          <p:nvPr/>
        </p:nvSpPr>
        <p:spPr>
          <a:xfrm>
            <a:off x="601269" y="1465545"/>
            <a:ext cx="6849952" cy="43704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// cast generic pointer (void*) to a string (char*)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E219DB-D1E0-22AE-410E-9D25A4037F56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715473" y="2653981"/>
            <a:ext cx="2573276" cy="816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A1ED7B4-8BF7-AAD8-76FC-DE59A72F130E}"/>
              </a:ext>
            </a:extLst>
          </p:cNvPr>
          <p:cNvSpPr/>
          <p:nvPr/>
        </p:nvSpPr>
        <p:spPr>
          <a:xfrm>
            <a:off x="6288749" y="3075019"/>
            <a:ext cx="1492410" cy="79049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Input argument.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C2DC08-1E3A-70D0-FA96-86759BF2A9E0}"/>
              </a:ext>
            </a:extLst>
          </p:cNvPr>
          <p:cNvCxnSpPr>
            <a:cxnSpLocks/>
          </p:cNvCxnSpPr>
          <p:nvPr/>
        </p:nvCxnSpPr>
        <p:spPr>
          <a:xfrm flipH="1" flipV="1">
            <a:off x="4930815" y="5035147"/>
            <a:ext cx="949246" cy="4452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ular Callout 53">
            <a:extLst>
              <a:ext uri="{FF2B5EF4-FFF2-40B4-BE49-F238E27FC236}">
                <a16:creationId xmlns:a16="http://schemas.microsoft.com/office/drawing/2014/main" id="{148F0504-8674-BCF7-9291-90AA2A24E4E1}"/>
              </a:ext>
            </a:extLst>
          </p:cNvPr>
          <p:cNvSpPr/>
          <p:nvPr/>
        </p:nvSpPr>
        <p:spPr>
          <a:xfrm>
            <a:off x="5880061" y="5152305"/>
            <a:ext cx="5024027" cy="901749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launch a peer thread to run </a:t>
            </a:r>
            <a:r>
              <a:rPr lang="en-US" b="1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print_message</a:t>
            </a:r>
            <a:r>
              <a:rPr lang="en-US" sz="2000" dirty="0">
                <a:solidFill>
                  <a:schemeClr val="tx1"/>
                </a:solidFill>
              </a:rPr>
              <a:t> and pass argument </a:t>
            </a:r>
            <a:r>
              <a: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"hello!"</a:t>
            </a:r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to it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3F2B62E-B706-56C4-0CDB-E5A92610F1BE}"/>
              </a:ext>
            </a:extLst>
          </p:cNvPr>
          <p:cNvSpPr/>
          <p:nvPr/>
        </p:nvSpPr>
        <p:spPr>
          <a:xfrm>
            <a:off x="808732" y="4633079"/>
            <a:ext cx="6529617" cy="3200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255436-725B-1BF8-C2CB-3FAA0621243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74542" y="3865513"/>
            <a:ext cx="460412" cy="8520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FD6E4-AF3A-52A8-68FF-86993BAD2B50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074289" y="2488250"/>
            <a:ext cx="2214460" cy="98201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3">
            <a:extLst>
              <a:ext uri="{FF2B5EF4-FFF2-40B4-BE49-F238E27FC236}">
                <a16:creationId xmlns:a16="http://schemas.microsoft.com/office/drawing/2014/main" id="{09CD83DC-43DF-AA29-3FF5-D82960BC1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454" y="957090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549EA755-96A9-F074-C54C-EF7067A321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44414" y="1349204"/>
            <a:ext cx="2090" cy="279213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8">
            <a:extLst>
              <a:ext uri="{FF2B5EF4-FFF2-40B4-BE49-F238E27FC236}">
                <a16:creationId xmlns:a16="http://schemas.microsoft.com/office/drawing/2014/main" id="{B02E2370-11EC-0E72-5679-F7BF3B13B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4413" y="2053271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294895F1-9206-A958-A3F8-89D47F4EA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5678" y="1678844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</a:t>
            </a:r>
          </a:p>
        </p:txBody>
      </p:sp>
      <p:sp>
        <p:nvSpPr>
          <p:cNvPr id="36" name="Line 6">
            <a:extLst>
              <a:ext uri="{FF2B5EF4-FFF2-40B4-BE49-F238E27FC236}">
                <a16:creationId xmlns:a16="http://schemas.microsoft.com/office/drawing/2014/main" id="{74F5B64A-62D5-2493-E52A-E8160CF22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92274" y="2488250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86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E678-EEE6-883D-456E-906A7845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Waiting for a Thread to Complete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327C0-045E-3C3A-6268-D5847672D66A}"/>
              </a:ext>
            </a:extLst>
          </p:cNvPr>
          <p:cNvSpPr txBox="1"/>
          <p:nvPr/>
        </p:nvSpPr>
        <p:spPr>
          <a:xfrm>
            <a:off x="2161640" y="3582365"/>
            <a:ext cx="5292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    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retval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4CC90EC7-5124-714D-C9EC-10961A5C212B}"/>
              </a:ext>
            </a:extLst>
          </p:cNvPr>
          <p:cNvSpPr/>
          <p:nvPr/>
        </p:nvSpPr>
        <p:spPr>
          <a:xfrm>
            <a:off x="838200" y="1967696"/>
            <a:ext cx="4995441" cy="919474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dirty="0" err="1">
                <a:solidFill>
                  <a:schemeClr val="tx1"/>
                </a:solidFill>
              </a:rPr>
              <a:t>pthread_join</a:t>
            </a:r>
            <a:r>
              <a:rPr lang="en-US" sz="2000" dirty="0">
                <a:solidFill>
                  <a:schemeClr val="tx1"/>
                </a:solidFill>
              </a:rPr>
              <a:t>() blocks the calling thread until the specified thread ID </a:t>
            </a:r>
            <a:r>
              <a:rPr lang="en-US" sz="20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tid</a:t>
            </a:r>
            <a:r>
              <a:rPr lang="en-US" sz="2000" dirty="0">
                <a:solidFill>
                  <a:schemeClr val="tx1"/>
                </a:solidFill>
              </a:rPr>
              <a:t> terminates.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CABB57-5E02-0654-58E0-C5CF391DF93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335921" y="2887170"/>
            <a:ext cx="186683" cy="75885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B222121B-CC8E-A0D5-A51B-A32FD27EDE97}"/>
              </a:ext>
            </a:extLst>
          </p:cNvPr>
          <p:cNvSpPr/>
          <p:nvPr/>
        </p:nvSpPr>
        <p:spPr>
          <a:xfrm>
            <a:off x="7064974" y="2466394"/>
            <a:ext cx="3259644" cy="962606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ID of the thread being waited by the calling thread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9204C5-F844-EC5A-521D-1CC8CF7C0EFE}"/>
              </a:ext>
            </a:extLst>
          </p:cNvPr>
          <p:cNvCxnSpPr>
            <a:cxnSpLocks/>
          </p:cNvCxnSpPr>
          <p:nvPr/>
        </p:nvCxnSpPr>
        <p:spPr>
          <a:xfrm flipH="1">
            <a:off x="6226167" y="3151561"/>
            <a:ext cx="819643" cy="4684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CB8A24-495E-6C6A-F2FB-B8F8F9805A9E}"/>
              </a:ext>
            </a:extLst>
          </p:cNvPr>
          <p:cNvSpPr txBox="1"/>
          <p:nvPr/>
        </p:nvSpPr>
        <p:spPr>
          <a:xfrm>
            <a:off x="-335183" y="4341221"/>
            <a:ext cx="7715574" cy="48013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// cast generic pointer (void*) to a string (char*)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8061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E678-EEE6-883D-456E-906A7845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55934-9CAE-4A47-BF56-51643605C66A}"/>
              </a:ext>
            </a:extLst>
          </p:cNvPr>
          <p:cNvSpPr txBox="1"/>
          <p:nvPr/>
        </p:nvSpPr>
        <p:spPr>
          <a:xfrm>
            <a:off x="88712" y="1701170"/>
            <a:ext cx="6007288" cy="31085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04F2BC3-4F86-DB48-5435-35735FF5E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671" y="1536288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AF06D3E-6D0D-502A-0C84-94F758F0A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6167" y="2754693"/>
            <a:ext cx="14541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peer thread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C24325D4-0C0C-0CF5-01CF-B1EB21915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096" y="2234788"/>
            <a:ext cx="19050" cy="3413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4F6000E-B9A2-D3BD-782A-7FC0166CD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52633" y="3438113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005822C1-765E-394A-FC66-92DD85B0A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833" y="3742705"/>
            <a:ext cx="1046581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return;</a:t>
            </a:r>
            <a:endParaRPr lang="en-US" sz="1600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21B7F6C-03C9-83E9-450C-A92BA98BC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096" y="2615788"/>
            <a:ext cx="1721581" cy="8223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D808856F-7D4B-AF43-6EB8-3D9AC2115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019" y="4130411"/>
            <a:ext cx="84730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/>
            <a:r>
              <a:rPr lang="en-US" sz="1600" b="0" i="1" dirty="0">
                <a:latin typeface="Gill Sans"/>
                <a:cs typeface="Gill Sans"/>
              </a:rPr>
              <a:t>Wait …</a:t>
            </a: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357F9EEC-2228-34F4-7B1F-56EA9F41C4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9146" y="4047713"/>
            <a:ext cx="1683487" cy="762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291EC9D9-FAE3-BBEC-2BBB-BB8ED1969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401" y="2387188"/>
            <a:ext cx="1908495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pthread_create</a:t>
            </a:r>
            <a:r>
              <a:rPr lang="en-US" sz="1400" dirty="0">
                <a:latin typeface="Courier New"/>
                <a:cs typeface="Courier New"/>
              </a:rPr>
              <a:t>()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855C6901-562B-975F-E405-F009BD014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879" y="3574737"/>
            <a:ext cx="1693017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pthread_join</a:t>
            </a:r>
            <a:r>
              <a:rPr lang="en-US" sz="1400" dirty="0">
                <a:latin typeface="Courier New"/>
                <a:cs typeface="Courier New"/>
              </a:rPr>
              <a:t>()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568A7E95-7044-F47A-4BC5-C128FC2D2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046" y="4596988"/>
            <a:ext cx="2514600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1600" b="0" dirty="0">
                <a:latin typeface="Gill Sans"/>
                <a:cs typeface="Gill Sans"/>
              </a:rPr>
              <a:t>Returns (from join())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221B0939-1D26-AC22-2886-F2E958BD6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782" y="3391867"/>
            <a:ext cx="221598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(“hello!”)</a:t>
            </a:r>
            <a:endParaRPr lang="en-US" sz="1600" dirty="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AC41000F-2609-98B8-6B21-4B11F13B7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833" y="4163382"/>
            <a:ext cx="1885950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b="0" dirty="0">
                <a:latin typeface="Gill Sans"/>
                <a:cs typeface="Gill Sans"/>
              </a:rPr>
              <a:t>(peer thread</a:t>
            </a:r>
          </a:p>
          <a:p>
            <a:r>
              <a:rPr lang="en-US" sz="1800" b="0" dirty="0">
                <a:latin typeface="Gill Sans"/>
                <a:cs typeface="Gill Sans"/>
              </a:rPr>
              <a:t>terminates)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75819CBB-7B1A-55FE-3DC4-4427DBE09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440" y="2657653"/>
            <a:ext cx="717664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b="0" dirty="0">
                <a:latin typeface="Gill Sans"/>
                <a:cs typeface="Gill Sans"/>
              </a:rPr>
              <a:t>returns</a:t>
            </a: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762E16DF-309D-685D-F2AA-0BFD405B1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401" y="3133742"/>
            <a:ext cx="1908495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printf</a:t>
            </a:r>
            <a:r>
              <a:rPr lang="en-US" sz="1400" dirty="0">
                <a:latin typeface="Courier New"/>
                <a:cs typeface="Courier New"/>
              </a:rPr>
              <a:t>(“MAIN-T”)</a:t>
            </a:r>
          </a:p>
        </p:txBody>
      </p:sp>
    </p:spTree>
    <p:extLst>
      <p:ext uri="{BB962C8B-B14F-4D97-AF65-F5344CB8AC3E}">
        <p14:creationId xmlns:p14="http://schemas.microsoft.com/office/powerpoint/2010/main" val="242560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EB5A-30F6-C611-007D-3E2E0E85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Faster Speed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7D53D-13B0-3CF4-7F14-E731A0A49DC7}"/>
              </a:ext>
            </a:extLst>
          </p:cNvPr>
          <p:cNvSpPr txBox="1"/>
          <p:nvPr/>
        </p:nvSpPr>
        <p:spPr>
          <a:xfrm>
            <a:off x="6584546" y="216501"/>
            <a:ext cx="4769254" cy="61401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5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5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NUM_THREADS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5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subtotals[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b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subtotal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SUB_N = N/NUM_THREADS;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SUB_N *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end = n + SUB_N;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subtotal +=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(n++ &lt; end);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subtotals[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subtotal;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5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[NUM_THREADS];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total += subtotals[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"total = </a:t>
            </a:r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total);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0BDC5-2CDC-584E-74C2-D2EB05EF0DF0}"/>
              </a:ext>
            </a:extLst>
          </p:cNvPr>
          <p:cNvSpPr txBox="1"/>
          <p:nvPr/>
        </p:nvSpPr>
        <p:spPr>
          <a:xfrm>
            <a:off x="976581" y="1865673"/>
            <a:ext cx="3935693" cy="1962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10000000000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5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start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end = N;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                 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total++;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(start++ &lt; end);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D23D3-5D44-D6AC-435B-F7BB91D6291A}"/>
              </a:ext>
            </a:extLst>
          </p:cNvPr>
          <p:cNvSpPr txBox="1"/>
          <p:nvPr/>
        </p:nvSpPr>
        <p:spPr>
          <a:xfrm>
            <a:off x="7113181" y="6446138"/>
            <a:ext cx="33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712%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0.125 seconds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48FF7-C9E6-DEF0-B313-44884C37EF9A}"/>
              </a:ext>
            </a:extLst>
          </p:cNvPr>
          <p:cNvSpPr txBox="1"/>
          <p:nvPr/>
        </p:nvSpPr>
        <p:spPr>
          <a:xfrm>
            <a:off x="1117676" y="3979487"/>
            <a:ext cx="325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84%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0.954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seconds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470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EB5A-30F6-C611-007D-3E2E0E85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Faster Speed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7D53D-13B0-3CF4-7F14-E731A0A49DC7}"/>
              </a:ext>
            </a:extLst>
          </p:cNvPr>
          <p:cNvSpPr txBox="1"/>
          <p:nvPr/>
        </p:nvSpPr>
        <p:spPr>
          <a:xfrm>
            <a:off x="7240107" y="237767"/>
            <a:ext cx="4769254" cy="61170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5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5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#define NUM_THREADS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endParaRPr lang="en-US" sz="135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10000000000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5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subtotals[NUM_THREADS];</a:t>
            </a:r>
            <a:b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5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subtotal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start = N/NUM_THREADS *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end = start + N/NUM_THREADS;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                 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subtotal ++;;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(start++ &lt; end);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subtotals[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subtotal;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5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[NUM_THREADS];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total += subtotals[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D23D3-5D44-D6AC-435B-F7BB91D6291A}"/>
              </a:ext>
            </a:extLst>
          </p:cNvPr>
          <p:cNvSpPr txBox="1"/>
          <p:nvPr/>
        </p:nvSpPr>
        <p:spPr>
          <a:xfrm>
            <a:off x="7961525" y="6435567"/>
            <a:ext cx="33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712%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cpu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0.125 seconds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46D347A-57CA-5610-C629-7E03160DE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601" y="1239607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DE275FA-627E-C9B7-94D7-5C5F826F1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354" y="2587424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7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B2240EEE-BE89-AA03-7C14-FDD6B61AB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6650" y="1631721"/>
            <a:ext cx="1425" cy="400708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AFE44905-77D1-16C8-4BA7-95E9D7E79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563" y="34290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F6AB6B8B-E2ED-AF37-9317-C1FD15730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4560" y="2335788"/>
            <a:ext cx="4023071" cy="108999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87066EB7-D306-2E4F-54F0-0C58B0C35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949" y="5110127"/>
            <a:ext cx="84730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/>
            <a:r>
              <a:rPr lang="en-US" sz="1600" b="0" i="1" dirty="0">
                <a:latin typeface="Gill Sans"/>
                <a:cs typeface="Gill Sans"/>
              </a:rPr>
              <a:t>Wait …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DE954F23-993A-C034-7805-3DA5EF22F8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8076" y="4038600"/>
            <a:ext cx="1683487" cy="762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A72954FC-72D7-9E1D-64E6-1332F4480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10" y="2071282"/>
            <a:ext cx="2010487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pthread_create</a:t>
            </a:r>
            <a:r>
              <a:rPr lang="en-US" sz="1400" dirty="0">
                <a:latin typeface="Courier New"/>
                <a:cs typeface="Courier New"/>
              </a:rPr>
              <a:t>(0)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2FBE4DA1-7662-522F-5C7F-229ABEA55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42" y="3565624"/>
            <a:ext cx="1795684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pthread_join</a:t>
            </a:r>
            <a:r>
              <a:rPr lang="en-US" sz="1400" dirty="0">
                <a:latin typeface="Courier New"/>
                <a:cs typeface="Courier New"/>
              </a:rPr>
              <a:t>(0)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8C8902CA-1F32-8B28-0C00-CB17D579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0024" y="5576704"/>
            <a:ext cx="2514600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1600" b="0" dirty="0">
                <a:latin typeface="Gill Sans"/>
                <a:cs typeface="Gill Sans"/>
              </a:rPr>
              <a:t>Returns (from join())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988523E1-5AA3-7F39-25E7-0633232F6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991" y="4151047"/>
            <a:ext cx="1406903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latin typeface="Gill Sans"/>
                <a:cs typeface="Gill Sans"/>
              </a:rPr>
              <a:t>(thread 7</a:t>
            </a:r>
          </a:p>
          <a:p>
            <a:pPr algn="ctr"/>
            <a:r>
              <a:rPr lang="en-US" sz="1800" b="0" dirty="0">
                <a:latin typeface="Gill Sans"/>
                <a:cs typeface="Gill Sans"/>
              </a:rPr>
              <a:t>terminates)</a:t>
            </a: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A64F2215-8660-BF91-FA4B-C77B67FE4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21" y="3813521"/>
            <a:ext cx="1795684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pthread_join</a:t>
            </a:r>
            <a:r>
              <a:rPr lang="en-US" sz="1400" dirty="0">
                <a:latin typeface="Courier New"/>
                <a:cs typeface="Courier New"/>
              </a:rPr>
              <a:t>(1)</a:t>
            </a:r>
          </a:p>
        </p:txBody>
      </p:sp>
      <p:sp>
        <p:nvSpPr>
          <p:cNvPr id="23" name="Text Box 13">
            <a:extLst>
              <a:ext uri="{FF2B5EF4-FFF2-40B4-BE49-F238E27FC236}">
                <a16:creationId xmlns:a16="http://schemas.microsoft.com/office/drawing/2014/main" id="{A4A399E3-3126-8AC0-1A1F-E9A50EC6E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242" y="4489601"/>
            <a:ext cx="1795684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pthread_join</a:t>
            </a:r>
            <a:r>
              <a:rPr lang="en-US" sz="1400" dirty="0">
                <a:latin typeface="Courier New"/>
                <a:cs typeface="Courier New"/>
              </a:rPr>
              <a:t>(7)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1BC0F7-749B-B7A7-A7AB-72A2FF7A94F3}"/>
              </a:ext>
            </a:extLst>
          </p:cNvPr>
          <p:cNvSpPr txBox="1"/>
          <p:nvPr/>
        </p:nvSpPr>
        <p:spPr>
          <a:xfrm>
            <a:off x="1403498" y="406163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DBAEDC93-EC63-5B01-CFC9-D1F33AE1D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2642" y="2587424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1</a:t>
            </a: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B63F5011-1853-4E2F-2599-A25485D4A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2660" y="34290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602915ED-56CB-A724-E927-E9A76F5DC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262" y="4151046"/>
            <a:ext cx="1308176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latin typeface="Gill Sans"/>
                <a:cs typeface="Gill Sans"/>
              </a:rPr>
              <a:t>(thread 1</a:t>
            </a:r>
          </a:p>
          <a:p>
            <a:pPr algn="ctr"/>
            <a:r>
              <a:rPr lang="en-US" sz="1800" b="0" dirty="0">
                <a:latin typeface="Gill Sans"/>
                <a:cs typeface="Gill Sans"/>
              </a:rPr>
              <a:t>terminates)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8FCB34-3574-914B-70FA-6F7EB93625DB}"/>
              </a:ext>
            </a:extLst>
          </p:cNvPr>
          <p:cNvSpPr txBox="1"/>
          <p:nvPr/>
        </p:nvSpPr>
        <p:spPr>
          <a:xfrm>
            <a:off x="4378713" y="347870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9" name="Text Box 4">
            <a:extLst>
              <a:ext uri="{FF2B5EF4-FFF2-40B4-BE49-F238E27FC236}">
                <a16:creationId xmlns:a16="http://schemas.microsoft.com/office/drawing/2014/main" id="{3E018B92-8FE5-D3B3-336E-4BF651595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589" y="2587424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0</a:t>
            </a:r>
          </a:p>
        </p:txBody>
      </p:sp>
      <p:sp>
        <p:nvSpPr>
          <p:cNvPr id="30" name="Line 6">
            <a:extLst>
              <a:ext uri="{FF2B5EF4-FFF2-40B4-BE49-F238E27FC236}">
                <a16:creationId xmlns:a16="http://schemas.microsoft.com/office/drawing/2014/main" id="{C2FFA96F-C459-831E-FD23-21DFC214A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607" y="34290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16">
            <a:extLst>
              <a:ext uri="{FF2B5EF4-FFF2-40B4-BE49-F238E27FC236}">
                <a16:creationId xmlns:a16="http://schemas.microsoft.com/office/drawing/2014/main" id="{A56A545D-7386-6E84-3547-86534041B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512" y="4151046"/>
            <a:ext cx="1308176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latin typeface="Gill Sans"/>
                <a:cs typeface="Gill Sans"/>
              </a:rPr>
              <a:t>(thread 0</a:t>
            </a:r>
          </a:p>
          <a:p>
            <a:pPr algn="ctr"/>
            <a:r>
              <a:rPr lang="en-US" sz="1800" b="0" dirty="0">
                <a:latin typeface="Gill Sans"/>
                <a:cs typeface="Gill Sans"/>
              </a:rPr>
              <a:t>terminates)</a:t>
            </a:r>
          </a:p>
        </p:txBody>
      </p:sp>
      <p:sp>
        <p:nvSpPr>
          <p:cNvPr id="33" name="Line 8">
            <a:extLst>
              <a:ext uri="{FF2B5EF4-FFF2-40B4-BE49-F238E27FC236}">
                <a16:creationId xmlns:a16="http://schemas.microsoft.com/office/drawing/2014/main" id="{5EB7D454-F0FC-D56E-0F77-926207FF5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4824" y="2564389"/>
            <a:ext cx="2798860" cy="867833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12">
            <a:extLst>
              <a:ext uri="{FF2B5EF4-FFF2-40B4-BE49-F238E27FC236}">
                <a16:creationId xmlns:a16="http://schemas.microsoft.com/office/drawing/2014/main" id="{735467A7-2592-DDF6-A731-8756550FA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70" y="2306014"/>
            <a:ext cx="2010487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pthread_create</a:t>
            </a:r>
            <a:r>
              <a:rPr lang="en-US" sz="1400" dirty="0">
                <a:latin typeface="Courier New"/>
                <a:cs typeface="Courier New"/>
              </a:rPr>
              <a:t>(1)</a:t>
            </a:r>
          </a:p>
        </p:txBody>
      </p:sp>
      <p:sp>
        <p:nvSpPr>
          <p:cNvPr id="35" name="Text Box 13">
            <a:extLst>
              <a:ext uri="{FF2B5EF4-FFF2-40B4-BE49-F238E27FC236}">
                <a16:creationId xmlns:a16="http://schemas.microsoft.com/office/drawing/2014/main" id="{29F9FBAE-BC24-A383-70BC-9AA40A7E5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20" y="2654687"/>
            <a:ext cx="2010487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400" dirty="0" err="1">
                <a:latin typeface="Courier New"/>
                <a:cs typeface="Courier New"/>
              </a:rPr>
              <a:t>pthread_create</a:t>
            </a:r>
            <a:r>
              <a:rPr lang="en-US" sz="1400" dirty="0">
                <a:latin typeface="Courier New"/>
                <a:cs typeface="Courier New"/>
              </a:rPr>
              <a:t>(7)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39A170-1A88-F6EE-069C-6F2E00A1A213}"/>
              </a:ext>
            </a:extLst>
          </p:cNvPr>
          <p:cNvSpPr txBox="1"/>
          <p:nvPr/>
        </p:nvSpPr>
        <p:spPr>
          <a:xfrm>
            <a:off x="1216082" y="241952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7" name="Line 8">
            <a:extLst>
              <a:ext uri="{FF2B5EF4-FFF2-40B4-BE49-F238E27FC236}">
                <a16:creationId xmlns:a16="http://schemas.microsoft.com/office/drawing/2014/main" id="{FB078500-C272-282F-E1A3-510617FD2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6830" y="2842338"/>
            <a:ext cx="1654333" cy="6096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8">
            <a:extLst>
              <a:ext uri="{FF2B5EF4-FFF2-40B4-BE49-F238E27FC236}">
                <a16:creationId xmlns:a16="http://schemas.microsoft.com/office/drawing/2014/main" id="{01E4FA94-F5D2-64B4-0E53-04255EE3E3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9670" y="4012439"/>
            <a:ext cx="2711161" cy="655253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8">
            <a:extLst>
              <a:ext uri="{FF2B5EF4-FFF2-40B4-BE49-F238E27FC236}">
                <a16:creationId xmlns:a16="http://schemas.microsoft.com/office/drawing/2014/main" id="{DA11A13D-4E7D-350F-4AC0-68C83EDD48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4560" y="4061635"/>
            <a:ext cx="3963071" cy="964343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4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29359</TotalTime>
  <Words>4125</Words>
  <Application>Microsoft Macintosh PowerPoint</Application>
  <PresentationFormat>Widescreen</PresentationFormat>
  <Paragraphs>674</Paragraphs>
  <Slides>36</Slides>
  <Notes>11</Notes>
  <HiddenSlides>10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Gill Sans</vt:lpstr>
      <vt:lpstr>Menlo</vt:lpstr>
      <vt:lpstr>Wingdings</vt:lpstr>
      <vt:lpstr>Office Theme</vt:lpstr>
      <vt:lpstr>Thread I  CMSC 14300: System Programming I 17th Lecture</vt:lpstr>
      <vt:lpstr>Motivating Example: Highway</vt:lpstr>
      <vt:lpstr>Motivating Example: Video Encoding</vt:lpstr>
      <vt:lpstr>Parallelism</vt:lpstr>
      <vt:lpstr>Simple Example of Parallelism</vt:lpstr>
      <vt:lpstr>Leveraging multiple CPUs</vt:lpstr>
      <vt:lpstr>Threads are everywhere</vt:lpstr>
      <vt:lpstr>A Basic Question in Thread</vt:lpstr>
      <vt:lpstr>Outline</vt:lpstr>
      <vt:lpstr>Function Pointer vs. Data Pointer</vt:lpstr>
      <vt:lpstr>Code Segment</vt:lpstr>
      <vt:lpstr>Code Segment and Function Pointer</vt:lpstr>
      <vt:lpstr>Passing Arguments Through Function Pointer</vt:lpstr>
      <vt:lpstr>Uses of Function Pointer</vt:lpstr>
      <vt:lpstr>Passing Function Pointer as An Argument</vt:lpstr>
      <vt:lpstr>Outline</vt:lpstr>
      <vt:lpstr>An Example of Thread: pthread</vt:lpstr>
      <vt:lpstr>Creating a Thread</vt:lpstr>
      <vt:lpstr>Creating a Thread</vt:lpstr>
      <vt:lpstr>Outline</vt:lpstr>
      <vt:lpstr>Example: Faster Speed</vt:lpstr>
      <vt:lpstr>Thread Timelines</vt:lpstr>
      <vt:lpstr>Array of Threads</vt:lpstr>
      <vt:lpstr>Conclusion</vt:lpstr>
      <vt:lpstr>PowerPoint Presentation</vt:lpstr>
      <vt:lpstr>PowerPoint Presentation</vt:lpstr>
      <vt:lpstr>PowerPoint Presentation</vt:lpstr>
      <vt:lpstr>Hierarchy of Threads</vt:lpstr>
      <vt:lpstr>Motivating Example: Web Service</vt:lpstr>
      <vt:lpstr>An Example of Thread</vt:lpstr>
      <vt:lpstr>Creating a Thread</vt:lpstr>
      <vt:lpstr>Creating a Thread</vt:lpstr>
      <vt:lpstr>Waiting for a Thread to Complete</vt:lpstr>
      <vt:lpstr>Timeline of Execution</vt:lpstr>
      <vt:lpstr>Example: Faster Speed</vt:lpstr>
      <vt:lpstr>Example: Faster Speed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1153</cp:revision>
  <dcterms:created xsi:type="dcterms:W3CDTF">2023-03-12T16:00:37Z</dcterms:created>
  <dcterms:modified xsi:type="dcterms:W3CDTF">2023-04-28T20:28:03Z</dcterms:modified>
</cp:coreProperties>
</file>