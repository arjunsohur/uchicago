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318" r:id="rId4"/>
    <p:sldId id="319" r:id="rId5"/>
    <p:sldId id="320" r:id="rId6"/>
    <p:sldId id="321" r:id="rId7"/>
    <p:sldId id="322" r:id="rId8"/>
    <p:sldId id="323" r:id="rId9"/>
    <p:sldId id="325" r:id="rId10"/>
    <p:sldId id="328" r:id="rId11"/>
    <p:sldId id="345" r:id="rId12"/>
    <p:sldId id="327" r:id="rId13"/>
    <p:sldId id="337" r:id="rId14"/>
    <p:sldId id="340" r:id="rId15"/>
    <p:sldId id="341" r:id="rId16"/>
    <p:sldId id="348" r:id="rId17"/>
    <p:sldId id="342" r:id="rId18"/>
    <p:sldId id="338" r:id="rId19"/>
    <p:sldId id="339" r:id="rId20"/>
    <p:sldId id="329" r:id="rId21"/>
    <p:sldId id="331" r:id="rId22"/>
    <p:sldId id="335" r:id="rId23"/>
    <p:sldId id="336" r:id="rId24"/>
    <p:sldId id="334" r:id="rId25"/>
    <p:sldId id="333" r:id="rId26"/>
    <p:sldId id="324" r:id="rId27"/>
    <p:sldId id="343" r:id="rId28"/>
    <p:sldId id="326" r:id="rId29"/>
    <p:sldId id="344" r:id="rId30"/>
    <p:sldId id="346" r:id="rId31"/>
    <p:sldId id="34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1CF"/>
    <a:srgbClr val="0432F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43"/>
    <p:restoredTop sz="80944"/>
  </p:normalViewPr>
  <p:slideViewPr>
    <p:cSldViewPr snapToGrid="0">
      <p:cViewPr>
        <p:scale>
          <a:sx n="105" d="100"/>
          <a:sy n="105" d="100"/>
        </p:scale>
        <p:origin x="2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4/18/23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linked list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13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A573-5386-378C-3D99-A2745515C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struct &amp; union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D1AF8-980B-D06B-C7F5-1CA23180B285}"/>
              </a:ext>
            </a:extLst>
          </p:cNvPr>
          <p:cNvSpPr txBox="1"/>
          <p:nvPr/>
        </p:nvSpPr>
        <p:spPr>
          <a:xfrm>
            <a:off x="613772" y="1198149"/>
            <a:ext cx="4504759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y;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point;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point center;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radius;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 circle;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square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point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topleft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side;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square square;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rectangle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point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topleft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width, height;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rectangle rectangle;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89FA6-0293-71A5-6A03-DE9966E76983}"/>
              </a:ext>
            </a:extLst>
          </p:cNvPr>
          <p:cNvSpPr txBox="1"/>
          <p:nvPr/>
        </p:nvSpPr>
        <p:spPr>
          <a:xfrm>
            <a:off x="5604351" y="1198149"/>
            <a:ext cx="5368449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CIRCLE, SQUARE, RECTANGLE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circle c;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square 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rectangle r;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shape_tag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tag;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shape shape;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4EB5C-CD09-78C6-6E66-B8437F6904A5}"/>
              </a:ext>
            </a:extLst>
          </p:cNvPr>
          <p:cNvSpPr txBox="1"/>
          <p:nvPr/>
        </p:nvSpPr>
        <p:spPr>
          <a:xfrm>
            <a:off x="5604351" y="4676024"/>
            <a:ext cx="3810659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tagged_shape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s.shape.c.center.x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s.shape.c.center.y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s.shape.c.radius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s.tag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CIRCLE;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shape_perimeter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shape_area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(s);</a:t>
            </a:r>
          </a:p>
        </p:txBody>
      </p:sp>
    </p:spTree>
    <p:extLst>
      <p:ext uri="{BB962C8B-B14F-4D97-AF65-F5344CB8AC3E}">
        <p14:creationId xmlns:p14="http://schemas.microsoft.com/office/powerpoint/2010/main" val="3820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B2D7-E40B-6329-DD10-FC00782F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in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63948-DE8C-29F4-247F-1148F00A37C0}"/>
              </a:ext>
            </a:extLst>
          </p:cNvPr>
          <p:cNvSpPr txBox="1"/>
          <p:nvPr/>
        </p:nvSpPr>
        <p:spPr>
          <a:xfrm>
            <a:off x="4754339" y="1372649"/>
            <a:ext cx="35317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arr.append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4636D-A21B-1BB2-45A4-84324C3FFD82}"/>
              </a:ext>
            </a:extLst>
          </p:cNvPr>
          <p:cNvSpPr txBox="1"/>
          <p:nvPr/>
        </p:nvSpPr>
        <p:spPr>
          <a:xfrm>
            <a:off x="783588" y="1662545"/>
            <a:ext cx="3639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to represent lists in Python?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DDB3C-7CC3-CE34-8C25-D973F24CE333}"/>
              </a:ext>
            </a:extLst>
          </p:cNvPr>
          <p:cNvSpPr txBox="1"/>
          <p:nvPr/>
        </p:nvSpPr>
        <p:spPr>
          <a:xfrm>
            <a:off x="801660" y="2948686"/>
            <a:ext cx="32233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Two ways to present lists in 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Linked lists (Today)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Arrays (2 weeks ago)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8B313-A4DA-67EC-AD34-576CDAAEC523}"/>
              </a:ext>
            </a:extLst>
          </p:cNvPr>
          <p:cNvSpPr txBox="1"/>
          <p:nvPr/>
        </p:nvSpPr>
        <p:spPr>
          <a:xfrm>
            <a:off x="799414" y="4469688"/>
            <a:ext cx="10367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Tradeoffs: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Linked lists can </a:t>
            </a:r>
            <a:r>
              <a:rPr lang="en-US" sz="2000" i="1" dirty="0"/>
              <a:t>grow and shrink</a:t>
            </a:r>
            <a:r>
              <a:rPr lang="en-US" sz="2000" dirty="0"/>
              <a:t>, but takes </a:t>
            </a:r>
            <a:r>
              <a:rPr lang="en-US" sz="2000" i="1" dirty="0"/>
              <a:t>n</a:t>
            </a:r>
            <a:r>
              <a:rPr lang="en-US" sz="2000" dirty="0"/>
              <a:t> iterations to get to the </a:t>
            </a:r>
            <a:r>
              <a:rPr lang="en-US" sz="2000" i="1" dirty="0"/>
              <a:t>n</a:t>
            </a:r>
            <a:r>
              <a:rPr lang="en-US" sz="2000" baseline="30000" dirty="0"/>
              <a:t>th</a:t>
            </a:r>
            <a:r>
              <a:rPr lang="en-US" sz="2000" dirty="0"/>
              <a:t> element of a linked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Arrays have a </a:t>
            </a:r>
            <a:r>
              <a:rPr lang="en-US" sz="2000" i="1" dirty="0"/>
              <a:t>fixed</a:t>
            </a:r>
            <a:r>
              <a:rPr lang="en-US" sz="2000" dirty="0"/>
              <a:t> length, but any index within an array can be accessed for the </a:t>
            </a:r>
            <a:r>
              <a:rPr lang="en-US" sz="2000" i="1" dirty="0"/>
              <a:t>same</a:t>
            </a:r>
            <a:r>
              <a:rPr lang="en-US" sz="2000" dirty="0"/>
              <a:t> low cost</a:t>
            </a:r>
          </a:p>
        </p:txBody>
      </p:sp>
    </p:spTree>
    <p:extLst>
      <p:ext uri="{BB962C8B-B14F-4D97-AF65-F5344CB8AC3E}">
        <p14:creationId xmlns:p14="http://schemas.microsoft.com/office/powerpoint/2010/main" val="128762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7096-7422-6C9D-4E9E-1C25280D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Memory Layout of Array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FC7ED8-55AD-499D-3B78-F75AB247F1B2}"/>
                  </a:ext>
                </a:extLst>
              </p:cNvPr>
              <p:cNvSpPr txBox="1"/>
              <p:nvPr/>
            </p:nvSpPr>
            <p:spPr>
              <a:xfrm>
                <a:off x="383299" y="1404609"/>
                <a:ext cx="896541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An array is </a:t>
                </a:r>
                <a:r>
                  <a:rPr lang="en-US" sz="2000" i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homogeneous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(all elements are of the </a:t>
                </a:r>
                <a:r>
                  <a:rPr lang="en-US" sz="2000" i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same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type) and of </a:t>
                </a:r>
                <a:r>
                  <a:rPr lang="en-US" sz="2000" i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fixed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length.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Arrays are allocated </a:t>
                </a:r>
                <a:r>
                  <a:rPr lang="en-US" sz="2000" i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contiguously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in memory: an array is stored in a region of memory that has all the elements together with no gaps.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Arrays are allocated </a:t>
                </a:r>
                <a:r>
                  <a:rPr lang="en-US" sz="2000" i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sequentially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in memory: element 0 has the lowest address, element 1 has the next-lowest address, etc.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Element 1 is immediately after element 0 in memory. Element 2 is immediately after element 1 in memory. </a:t>
                </a:r>
              </a:p>
              <a:p>
                <a:pPr lvl="1"/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ith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element starts at address 200+</a:t>
                </a:r>
                <a:r>
                  <a:rPr lang="en-US" dirty="0">
                    <a:solidFill>
                      <a:srgbClr val="C1651C"/>
                    </a:solidFill>
                    <a:latin typeface="Menlo" panose="020B0609030804020204" pitchFamily="49" charset="0"/>
                  </a:rPr>
                  <a:t>sizeof</a:t>
                </a:r>
                <a:r>
                  <a:rPr lang="en-US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(</a:t>
                </a:r>
                <a:r>
                  <a:rPr lang="en-US" dirty="0">
                    <a:solidFill>
                      <a:srgbClr val="2FB41D"/>
                    </a:solidFill>
                    <a:latin typeface="Menlo" panose="020B0609030804020204" pitchFamily="49" charset="0"/>
                  </a:rPr>
                  <a:t>double</a:t>
                </a:r>
                <a:r>
                  <a:rPr lang="en-US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∙</m:t>
                    </m:r>
                  </m:oMath>
                </a14:m>
                <a:r>
                  <a:rPr lang="en-US" sz="2000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uses </a:t>
                </a:r>
                <a:r>
                  <a:rPr lang="en-US" dirty="0" err="1">
                    <a:solidFill>
                      <a:srgbClr val="C1651C"/>
                    </a:solidFill>
                    <a:latin typeface="Menlo" panose="020B0609030804020204" pitchFamily="49" charset="0"/>
                  </a:rPr>
                  <a:t>sizeof</a:t>
                </a:r>
                <a:r>
                  <a:rPr lang="en-US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(</a:t>
                </a:r>
                <a:r>
                  <a:rPr lang="en-US" dirty="0">
                    <a:solidFill>
                      <a:srgbClr val="2FB41D"/>
                    </a:solidFill>
                    <a:latin typeface="Menlo" panose="020B0609030804020204" pitchFamily="49" charset="0"/>
                  </a:rPr>
                  <a:t>double</a:t>
                </a:r>
                <a:r>
                  <a:rPr lang="en-US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bytes. </a:t>
                </a:r>
                <a:endParaRPr lang="en-US" sz="20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FC7ED8-55AD-499D-3B78-F75AB247F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99" y="1404609"/>
                <a:ext cx="8965417" cy="4832092"/>
              </a:xfrm>
              <a:prstGeom prst="rect">
                <a:avLst/>
              </a:prstGeom>
              <a:blipFill>
                <a:blip r:embed="rId2"/>
                <a:stretch>
                  <a:fillRect l="-707"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C4612D0-0354-DE34-E05C-C50802BF0806}"/>
              </a:ext>
            </a:extLst>
          </p:cNvPr>
          <p:cNvSpPr/>
          <p:nvPr/>
        </p:nvSpPr>
        <p:spPr>
          <a:xfrm>
            <a:off x="10595406" y="1959362"/>
            <a:ext cx="1488006" cy="35151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D9EF6-5452-B288-2372-77520F8268F9}"/>
              </a:ext>
            </a:extLst>
          </p:cNvPr>
          <p:cNvSpPr txBox="1"/>
          <p:nvPr/>
        </p:nvSpPr>
        <p:spPr>
          <a:xfrm rot="5400000">
            <a:off x="11140477" y="4679130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379C8E-5955-D2A4-C965-179028F7485F}"/>
              </a:ext>
            </a:extLst>
          </p:cNvPr>
          <p:cNvSpPr txBox="1"/>
          <p:nvPr/>
        </p:nvSpPr>
        <p:spPr>
          <a:xfrm rot="5400000">
            <a:off x="11145842" y="2172392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21304A-0B2C-F7EF-4A83-67F3DE83B6F4}"/>
              </a:ext>
            </a:extLst>
          </p:cNvPr>
          <p:cNvSpPr/>
          <p:nvPr/>
        </p:nvSpPr>
        <p:spPr>
          <a:xfrm>
            <a:off x="10595408" y="2838544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036BAE-84C5-FDE3-FDDA-14D1C6570178}"/>
              </a:ext>
            </a:extLst>
          </p:cNvPr>
          <p:cNvSpPr/>
          <p:nvPr/>
        </p:nvSpPr>
        <p:spPr>
          <a:xfrm>
            <a:off x="10595408" y="325816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46EA5D-7379-496F-67D9-C25F66F5CA53}"/>
              </a:ext>
            </a:extLst>
          </p:cNvPr>
          <p:cNvSpPr/>
          <p:nvPr/>
        </p:nvSpPr>
        <p:spPr>
          <a:xfrm>
            <a:off x="10595408" y="3687786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D77507-6235-FE3C-4C41-BE6D8347BFB4}"/>
              </a:ext>
            </a:extLst>
          </p:cNvPr>
          <p:cNvSpPr txBox="1"/>
          <p:nvPr/>
        </p:nvSpPr>
        <p:spPr>
          <a:xfrm>
            <a:off x="10799998" y="127628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D21CFE-3167-6DA1-D11C-F6EFAB2B60D7}"/>
              </a:ext>
            </a:extLst>
          </p:cNvPr>
          <p:cNvSpPr/>
          <p:nvPr/>
        </p:nvSpPr>
        <p:spPr>
          <a:xfrm>
            <a:off x="10595408" y="411649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D7AD33-6C24-45C0-DCED-BDE701519362}"/>
              </a:ext>
            </a:extLst>
          </p:cNvPr>
          <p:cNvSpPr txBox="1"/>
          <p:nvPr/>
        </p:nvSpPr>
        <p:spPr>
          <a:xfrm>
            <a:off x="9159722" y="4341697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200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93E28E-18EA-44C2-315B-4CF6893A7B36}"/>
              </a:ext>
            </a:extLst>
          </p:cNvPr>
          <p:cNvCxnSpPr/>
          <p:nvPr/>
        </p:nvCxnSpPr>
        <p:spPr>
          <a:xfrm>
            <a:off x="10233598" y="4545204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5E40066-2DEF-2F83-05C9-96E739D9A3AC}"/>
              </a:ext>
            </a:extLst>
          </p:cNvPr>
          <p:cNvSpPr txBox="1"/>
          <p:nvPr/>
        </p:nvSpPr>
        <p:spPr>
          <a:xfrm>
            <a:off x="9159722" y="3912988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208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206D87-0FFE-9EDB-BBF3-52981E5D3BA3}"/>
              </a:ext>
            </a:extLst>
          </p:cNvPr>
          <p:cNvCxnSpPr/>
          <p:nvPr/>
        </p:nvCxnSpPr>
        <p:spPr>
          <a:xfrm>
            <a:off x="10233598" y="4116495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05E00A6-B454-1A5F-75B0-E2E9BACB5E58}"/>
              </a:ext>
            </a:extLst>
          </p:cNvPr>
          <p:cNvSpPr txBox="1"/>
          <p:nvPr/>
        </p:nvSpPr>
        <p:spPr>
          <a:xfrm>
            <a:off x="9159593" y="3487841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216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8EC42A-D71B-4FEA-F5D4-0B561DBB433C}"/>
              </a:ext>
            </a:extLst>
          </p:cNvPr>
          <p:cNvCxnSpPr/>
          <p:nvPr/>
        </p:nvCxnSpPr>
        <p:spPr>
          <a:xfrm>
            <a:off x="10233469" y="3691348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37EAA9F-322B-ED02-8E84-20CBF9CEF999}"/>
              </a:ext>
            </a:extLst>
          </p:cNvPr>
          <p:cNvSpPr txBox="1"/>
          <p:nvPr/>
        </p:nvSpPr>
        <p:spPr>
          <a:xfrm>
            <a:off x="9159593" y="3059132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224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56A0B61-F288-91B3-BE06-4915FE5B5531}"/>
              </a:ext>
            </a:extLst>
          </p:cNvPr>
          <p:cNvCxnSpPr/>
          <p:nvPr/>
        </p:nvCxnSpPr>
        <p:spPr>
          <a:xfrm>
            <a:off x="10233469" y="3262639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05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A37F2-1E32-1355-2766-2B09B4E57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access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098CF-5CE5-FE17-5B34-8CB27577D7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1690"/>
                <a:ext cx="8360391" cy="4835273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Element 1 is immediately after element 0 in memory. Element 2 is immediately after element 1 in memory. </a:t>
                </a:r>
              </a:p>
              <a:p>
                <a:pPr lvl="1"/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ith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element starts at address 200+</a:t>
                </a:r>
                <a:r>
                  <a:rPr lang="en-US" sz="1800" dirty="0">
                    <a:solidFill>
                      <a:srgbClr val="C1651C"/>
                    </a:solidFill>
                    <a:latin typeface="Menlo" panose="020B0609030804020204" pitchFamily="49" charset="0"/>
                  </a:rPr>
                  <a:t>sizeof</a:t>
                </a:r>
                <a:r>
                  <a:rPr lang="en-US" sz="1800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(</a:t>
                </a:r>
                <a:r>
                  <a:rPr lang="en-US" sz="1800" dirty="0">
                    <a:solidFill>
                      <a:srgbClr val="2FB41D"/>
                    </a:solidFill>
                    <a:latin typeface="Menlo" panose="020B0609030804020204" pitchFamily="49" charset="0"/>
                  </a:rPr>
                  <a:t>double</a:t>
                </a:r>
                <a:r>
                  <a:rPr lang="en-US" sz="1800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∙</m:t>
                    </m:r>
                  </m:oMath>
                </a14:m>
                <a:r>
                  <a:rPr lang="en-US" sz="2000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uses </a:t>
                </a:r>
                <a:r>
                  <a:rPr lang="en-US" sz="1800" dirty="0" err="1">
                    <a:solidFill>
                      <a:srgbClr val="C1651C"/>
                    </a:solidFill>
                    <a:latin typeface="Menlo" panose="020B0609030804020204" pitchFamily="49" charset="0"/>
                  </a:rPr>
                  <a:t>sizeof</a:t>
                </a:r>
                <a:r>
                  <a:rPr lang="en-US" sz="1800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(</a:t>
                </a:r>
                <a:r>
                  <a:rPr lang="en-US" sz="1800" dirty="0">
                    <a:solidFill>
                      <a:srgbClr val="2FB41D"/>
                    </a:solidFill>
                    <a:latin typeface="Menlo" panose="020B0609030804020204" pitchFamily="49" charset="0"/>
                  </a:rPr>
                  <a:t>double</a:t>
                </a:r>
                <a:r>
                  <a:rPr lang="en-US" sz="1800" dirty="0">
                    <a:solidFill>
                      <a:srgbClr val="000000"/>
                    </a:solidFill>
                    <a:latin typeface="Menlo" panose="020B0609030804020204" pitchFamily="49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bytes. </a:t>
                </a:r>
                <a:endParaRPr lang="en-US" sz="20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It is because of this expression that array indexing is a very </a:t>
                </a:r>
                <a:r>
                  <a:rPr lang="en-US" sz="2000" i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fast</a:t>
                </a: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operation </a:t>
                </a:r>
              </a:p>
              <a:p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This property is possible only because arrays are sequential and contiguous (there are no gaps to have to take into account)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098CF-5CE5-FE17-5B34-8CB27577D7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1690"/>
                <a:ext cx="8360391" cy="4835273"/>
              </a:xfrm>
              <a:blipFill>
                <a:blip r:embed="rId2"/>
                <a:stretch>
                  <a:fillRect l="-759" t="-1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E81C72B-3648-8794-90E8-986251A459B6}"/>
              </a:ext>
            </a:extLst>
          </p:cNvPr>
          <p:cNvSpPr/>
          <p:nvPr/>
        </p:nvSpPr>
        <p:spPr>
          <a:xfrm>
            <a:off x="10595406" y="1959362"/>
            <a:ext cx="1488006" cy="35151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65DFF-0CE7-6D06-28A6-958E4AAF8757}"/>
              </a:ext>
            </a:extLst>
          </p:cNvPr>
          <p:cNvSpPr txBox="1"/>
          <p:nvPr/>
        </p:nvSpPr>
        <p:spPr>
          <a:xfrm rot="5400000">
            <a:off x="11140477" y="4679130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A19A7-B94B-11EF-246F-587EA725D1B2}"/>
              </a:ext>
            </a:extLst>
          </p:cNvPr>
          <p:cNvSpPr txBox="1"/>
          <p:nvPr/>
        </p:nvSpPr>
        <p:spPr>
          <a:xfrm rot="5400000">
            <a:off x="11145842" y="2172392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F03149-44AB-AFA6-53C3-BD9F3E8C6D76}"/>
              </a:ext>
            </a:extLst>
          </p:cNvPr>
          <p:cNvSpPr/>
          <p:nvPr/>
        </p:nvSpPr>
        <p:spPr>
          <a:xfrm>
            <a:off x="10595408" y="2838544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345CE-FD89-7720-0E2E-0D1E121524F1}"/>
              </a:ext>
            </a:extLst>
          </p:cNvPr>
          <p:cNvSpPr/>
          <p:nvPr/>
        </p:nvSpPr>
        <p:spPr>
          <a:xfrm>
            <a:off x="10595408" y="325816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A60C20-5290-BBEB-4765-BC1339739449}"/>
              </a:ext>
            </a:extLst>
          </p:cNvPr>
          <p:cNvSpPr/>
          <p:nvPr/>
        </p:nvSpPr>
        <p:spPr>
          <a:xfrm>
            <a:off x="10595408" y="3687786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E4BA39-2AE9-5FFB-0D7F-186B2EF67DCA}"/>
              </a:ext>
            </a:extLst>
          </p:cNvPr>
          <p:cNvSpPr txBox="1"/>
          <p:nvPr/>
        </p:nvSpPr>
        <p:spPr>
          <a:xfrm>
            <a:off x="10799998" y="127628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A3D86-A37D-2FE3-DBD5-60287818B344}"/>
              </a:ext>
            </a:extLst>
          </p:cNvPr>
          <p:cNvSpPr/>
          <p:nvPr/>
        </p:nvSpPr>
        <p:spPr>
          <a:xfrm>
            <a:off x="10595408" y="411649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321110-944F-1A0E-1E14-7898344908B9}"/>
              </a:ext>
            </a:extLst>
          </p:cNvPr>
          <p:cNvSpPr txBox="1"/>
          <p:nvPr/>
        </p:nvSpPr>
        <p:spPr>
          <a:xfrm>
            <a:off x="9159722" y="4341697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200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9B3DCF-3062-65BF-C2F7-DDCA7F538FC2}"/>
              </a:ext>
            </a:extLst>
          </p:cNvPr>
          <p:cNvCxnSpPr/>
          <p:nvPr/>
        </p:nvCxnSpPr>
        <p:spPr>
          <a:xfrm>
            <a:off x="10233598" y="4545204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C509C07-534D-064F-31B6-420D24CD645B}"/>
              </a:ext>
            </a:extLst>
          </p:cNvPr>
          <p:cNvSpPr txBox="1"/>
          <p:nvPr/>
        </p:nvSpPr>
        <p:spPr>
          <a:xfrm>
            <a:off x="9159722" y="3912988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208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866763-17B3-138C-E17A-A9C1A7083A71}"/>
              </a:ext>
            </a:extLst>
          </p:cNvPr>
          <p:cNvCxnSpPr/>
          <p:nvPr/>
        </p:nvCxnSpPr>
        <p:spPr>
          <a:xfrm>
            <a:off x="10233598" y="4116495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AF52003-2E2D-DA6F-2288-23005469C72C}"/>
              </a:ext>
            </a:extLst>
          </p:cNvPr>
          <p:cNvSpPr txBox="1"/>
          <p:nvPr/>
        </p:nvSpPr>
        <p:spPr>
          <a:xfrm>
            <a:off x="9159593" y="3487841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216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255400B-DD63-9CCA-2D51-338FD9CC25E9}"/>
              </a:ext>
            </a:extLst>
          </p:cNvPr>
          <p:cNvCxnSpPr/>
          <p:nvPr/>
        </p:nvCxnSpPr>
        <p:spPr>
          <a:xfrm>
            <a:off x="10233469" y="3691348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D52C931-6558-E06C-8C13-0FE9259ADD1A}"/>
              </a:ext>
            </a:extLst>
          </p:cNvPr>
          <p:cNvSpPr txBox="1"/>
          <p:nvPr/>
        </p:nvSpPr>
        <p:spPr>
          <a:xfrm>
            <a:off x="9159593" y="3059132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= 224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D6D350-B587-02BB-50E8-9CDD3334B8B6}"/>
              </a:ext>
            </a:extLst>
          </p:cNvPr>
          <p:cNvCxnSpPr/>
          <p:nvPr/>
        </p:nvCxnSpPr>
        <p:spPr>
          <a:xfrm>
            <a:off x="10233469" y="3262639"/>
            <a:ext cx="361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55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F21E-DA82-72BB-B584-8946FA18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Array: Growing and Shrinking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2018B-BEAF-2EDD-391D-2BCC751DA7DA}"/>
              </a:ext>
            </a:extLst>
          </p:cNvPr>
          <p:cNvSpPr txBox="1"/>
          <p:nvPr/>
        </p:nvSpPr>
        <p:spPr>
          <a:xfrm>
            <a:off x="616392" y="1688872"/>
            <a:ext cx="96455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Sequentiality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contiguity is easy when a fixed length array is allocated up-front.</a:t>
            </a: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Simply allocate a contiguous region of the requisite size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Easy to shrink the array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 deallocate the latter part of the allocation and reuse that space for something else </a:t>
            </a:r>
          </a:p>
          <a:p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 so easy to grow the array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Memory immediately after the array could be in use by another, unrelated allocation 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Can’t just move things around in memory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(would need to find all pointers to that block of memory and update them to the new location)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(moving large allocations takes time)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3D5777-C35F-0658-42BB-836F92EA8009}"/>
              </a:ext>
            </a:extLst>
          </p:cNvPr>
          <p:cNvSpPr/>
          <p:nvPr/>
        </p:nvSpPr>
        <p:spPr>
          <a:xfrm>
            <a:off x="10595406" y="1959362"/>
            <a:ext cx="1488006" cy="35151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557285-2E33-EDD4-C5CA-EC55B8D1DB37}"/>
              </a:ext>
            </a:extLst>
          </p:cNvPr>
          <p:cNvSpPr txBox="1"/>
          <p:nvPr/>
        </p:nvSpPr>
        <p:spPr>
          <a:xfrm rot="5400000">
            <a:off x="11140477" y="4679130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461937-7546-DEEF-AB3B-54CCD15B5307}"/>
              </a:ext>
            </a:extLst>
          </p:cNvPr>
          <p:cNvSpPr txBox="1"/>
          <p:nvPr/>
        </p:nvSpPr>
        <p:spPr>
          <a:xfrm rot="5400000">
            <a:off x="11145842" y="2172392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96DFB-9DD2-64DD-DE6E-6C4ECBEE756E}"/>
              </a:ext>
            </a:extLst>
          </p:cNvPr>
          <p:cNvSpPr/>
          <p:nvPr/>
        </p:nvSpPr>
        <p:spPr>
          <a:xfrm>
            <a:off x="10595408" y="2838544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E03C1A-04AD-C6FC-7BE7-31EC38751370}"/>
              </a:ext>
            </a:extLst>
          </p:cNvPr>
          <p:cNvSpPr/>
          <p:nvPr/>
        </p:nvSpPr>
        <p:spPr>
          <a:xfrm>
            <a:off x="10595408" y="325816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E2AA04-D5E5-E172-BDE4-449A8C699199}"/>
              </a:ext>
            </a:extLst>
          </p:cNvPr>
          <p:cNvSpPr/>
          <p:nvPr/>
        </p:nvSpPr>
        <p:spPr>
          <a:xfrm>
            <a:off x="10595408" y="3687786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8934C6-1C8B-F166-2D98-997106514E0C}"/>
              </a:ext>
            </a:extLst>
          </p:cNvPr>
          <p:cNvSpPr txBox="1"/>
          <p:nvPr/>
        </p:nvSpPr>
        <p:spPr>
          <a:xfrm>
            <a:off x="10799998" y="127628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BFA77-DC8D-E10B-838A-A233D52EB599}"/>
              </a:ext>
            </a:extLst>
          </p:cNvPr>
          <p:cNvSpPr/>
          <p:nvPr/>
        </p:nvSpPr>
        <p:spPr>
          <a:xfrm>
            <a:off x="10595408" y="411649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FD8339-513E-D3A9-B263-1994127EC732}"/>
              </a:ext>
            </a:extLst>
          </p:cNvPr>
          <p:cNvSpPr/>
          <p:nvPr/>
        </p:nvSpPr>
        <p:spPr>
          <a:xfrm>
            <a:off x="10595408" y="2418378"/>
            <a:ext cx="1488004" cy="428709"/>
          </a:xfrm>
          <a:prstGeom prst="rect">
            <a:avLst/>
          </a:prstGeom>
          <a:pattFill prst="dashUpDiag">
            <a:fgClr>
              <a:srgbClr val="C00000"/>
            </a:fgClr>
            <a:bgClr>
              <a:schemeClr val="bg1"/>
            </a:bgClr>
          </a:pattFill>
          <a:ln w="28575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4</a:t>
            </a:r>
          </a:p>
        </p:txBody>
      </p:sp>
    </p:spTree>
    <p:extLst>
      <p:ext uri="{BB962C8B-B14F-4D97-AF65-F5344CB8AC3E}">
        <p14:creationId xmlns:p14="http://schemas.microsoft.com/office/powerpoint/2010/main" val="321021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1306-3297-0834-70B4-868C64F06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Solution: Array of pointers?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48851-25C4-C7E9-76B8-54A9AB3B939A}"/>
              </a:ext>
            </a:extLst>
          </p:cNvPr>
          <p:cNvSpPr txBox="1"/>
          <p:nvPr/>
        </p:nvSpPr>
        <p:spPr>
          <a:xfrm>
            <a:off x="772160" y="1402080"/>
            <a:ext cx="9053504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Instead of allocating a whole list at once, allocate one element at a time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Relax the requirement that adjacent elements (by index) be adjacent in memory </a:t>
            </a: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to track the locations of each element? Make an </a:t>
            </a:r>
            <a:r>
              <a:rPr lang="en-US" sz="2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array of pointers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 a pointer to store where a given element is in memory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Benefits: Makes it easy to grow the list </a:t>
            </a:r>
          </a:p>
          <a:p>
            <a:pPr lvl="1"/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 always find space to allocate one element’s worth of memory somewhere </a:t>
            </a:r>
          </a:p>
          <a:p>
            <a:pPr lvl="1"/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Drawbacks: Doesn't help to grow the length of this array when needed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Have just moved the same problem somewhere else</a:t>
            </a:r>
          </a:p>
          <a:p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D3D4AB-A5CD-92FB-C449-F5CCFF6B631D}"/>
              </a:ext>
            </a:extLst>
          </p:cNvPr>
          <p:cNvSpPr/>
          <p:nvPr/>
        </p:nvSpPr>
        <p:spPr>
          <a:xfrm>
            <a:off x="10409666" y="1959362"/>
            <a:ext cx="1488006" cy="35151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DE9CD-C1E5-92D0-100E-DA8238F700A4}"/>
              </a:ext>
            </a:extLst>
          </p:cNvPr>
          <p:cNvSpPr txBox="1"/>
          <p:nvPr/>
        </p:nvSpPr>
        <p:spPr>
          <a:xfrm rot="5400000">
            <a:off x="10954737" y="5007746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5A24B-2EC5-B566-F6B8-C025006AF817}"/>
              </a:ext>
            </a:extLst>
          </p:cNvPr>
          <p:cNvSpPr txBox="1"/>
          <p:nvPr/>
        </p:nvSpPr>
        <p:spPr>
          <a:xfrm rot="5400000">
            <a:off x="10960102" y="1986652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6F32E2-DAE6-F8CB-03CB-342374782850}"/>
              </a:ext>
            </a:extLst>
          </p:cNvPr>
          <p:cNvSpPr/>
          <p:nvPr/>
        </p:nvSpPr>
        <p:spPr>
          <a:xfrm>
            <a:off x="10409664" y="2357577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18C771-5E63-8D3B-78F1-2A79C1FBB545}"/>
              </a:ext>
            </a:extLst>
          </p:cNvPr>
          <p:cNvSpPr/>
          <p:nvPr/>
        </p:nvSpPr>
        <p:spPr>
          <a:xfrm>
            <a:off x="10409668" y="4130702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60D1DB-48F9-1F73-2439-9E9C61DD72BC}"/>
              </a:ext>
            </a:extLst>
          </p:cNvPr>
          <p:cNvSpPr txBox="1"/>
          <p:nvPr/>
        </p:nvSpPr>
        <p:spPr>
          <a:xfrm>
            <a:off x="10614258" y="127628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5A7A7-AF51-1FF7-752C-C77013F0D4E5}"/>
              </a:ext>
            </a:extLst>
          </p:cNvPr>
          <p:cNvSpPr/>
          <p:nvPr/>
        </p:nvSpPr>
        <p:spPr>
          <a:xfrm>
            <a:off x="10409668" y="4630851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0B1D0E-62AD-4BE0-EA31-48F72B242EE9}"/>
              </a:ext>
            </a:extLst>
          </p:cNvPr>
          <p:cNvSpPr/>
          <p:nvPr/>
        </p:nvSpPr>
        <p:spPr>
          <a:xfrm>
            <a:off x="10409666" y="3025528"/>
            <a:ext cx="1488004" cy="235902"/>
          </a:xfrm>
          <a:prstGeom prst="rect">
            <a:avLst/>
          </a:prstGeom>
          <a:solidFill>
            <a:srgbClr val="F5D1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pointer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ECF0C1-0C1B-7DF7-AC52-978DD1484543}"/>
              </a:ext>
            </a:extLst>
          </p:cNvPr>
          <p:cNvSpPr/>
          <p:nvPr/>
        </p:nvSpPr>
        <p:spPr>
          <a:xfrm>
            <a:off x="10409664" y="3249749"/>
            <a:ext cx="1488004" cy="235902"/>
          </a:xfrm>
          <a:prstGeom prst="rect">
            <a:avLst/>
          </a:prstGeom>
          <a:solidFill>
            <a:srgbClr val="F5D1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pointer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FF712D-6125-E6FE-CB58-F035341A1F29}"/>
              </a:ext>
            </a:extLst>
          </p:cNvPr>
          <p:cNvSpPr/>
          <p:nvPr/>
        </p:nvSpPr>
        <p:spPr>
          <a:xfrm>
            <a:off x="10409664" y="3488146"/>
            <a:ext cx="1488004" cy="235902"/>
          </a:xfrm>
          <a:prstGeom prst="rect">
            <a:avLst/>
          </a:prstGeom>
          <a:solidFill>
            <a:srgbClr val="F5D1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pointer 0</a:t>
            </a:r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F52D530B-9123-B16C-15FC-D298C8BEBC46}"/>
              </a:ext>
            </a:extLst>
          </p:cNvPr>
          <p:cNvCxnSpPr>
            <a:cxnSpLocks/>
            <a:stCxn id="15" idx="1"/>
            <a:endCxn id="12" idx="1"/>
          </p:cNvCxnSpPr>
          <p:nvPr/>
        </p:nvCxnSpPr>
        <p:spPr>
          <a:xfrm rot="10800000" flipH="1" flipV="1">
            <a:off x="10409666" y="3143479"/>
            <a:ext cx="2" cy="1201578"/>
          </a:xfrm>
          <a:prstGeom prst="curvedConnector3">
            <a:avLst>
              <a:gd name="adj1" fmla="val -114300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11BAD773-CA5B-83F9-CADB-06BE98DEE435}"/>
              </a:ext>
            </a:extLst>
          </p:cNvPr>
          <p:cNvCxnSpPr>
            <a:cxnSpLocks/>
            <a:stCxn id="17" idx="3"/>
            <a:endCxn id="11" idx="3"/>
          </p:cNvCxnSpPr>
          <p:nvPr/>
        </p:nvCxnSpPr>
        <p:spPr>
          <a:xfrm flipV="1">
            <a:off x="11897668" y="2571932"/>
            <a:ext cx="12700" cy="1034165"/>
          </a:xfrm>
          <a:prstGeom prst="curvedConnector3">
            <a:avLst>
              <a:gd name="adj1" fmla="val 18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422C063-8021-E0E8-41DC-22CCDF1929A4}"/>
              </a:ext>
            </a:extLst>
          </p:cNvPr>
          <p:cNvCxnSpPr>
            <a:cxnSpLocks/>
            <a:stCxn id="16" idx="3"/>
            <a:endCxn id="14" idx="3"/>
          </p:cNvCxnSpPr>
          <p:nvPr/>
        </p:nvCxnSpPr>
        <p:spPr>
          <a:xfrm>
            <a:off x="11897668" y="3367700"/>
            <a:ext cx="4" cy="1477506"/>
          </a:xfrm>
          <a:prstGeom prst="curvedConnector3">
            <a:avLst>
              <a:gd name="adj1" fmla="val 57151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101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83EF-6061-148C-E606-71F12282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Better Idea: Linked List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E193C1-5A58-DDF6-1548-77E61137FC6F}"/>
              </a:ext>
            </a:extLst>
          </p:cNvPr>
          <p:cNvSpPr/>
          <p:nvPr/>
        </p:nvSpPr>
        <p:spPr>
          <a:xfrm>
            <a:off x="10409666" y="1959362"/>
            <a:ext cx="1488006" cy="35151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07150-3DC3-F24D-CC92-C312C097593D}"/>
              </a:ext>
            </a:extLst>
          </p:cNvPr>
          <p:cNvSpPr txBox="1"/>
          <p:nvPr/>
        </p:nvSpPr>
        <p:spPr>
          <a:xfrm rot="5400000">
            <a:off x="10954737" y="5093472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2F7AB-EF49-5E6E-B32C-10B48236CE02}"/>
              </a:ext>
            </a:extLst>
          </p:cNvPr>
          <p:cNvSpPr txBox="1"/>
          <p:nvPr/>
        </p:nvSpPr>
        <p:spPr>
          <a:xfrm rot="5400000">
            <a:off x="10960102" y="1986652"/>
            <a:ext cx="397866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A6208F-D90E-963B-EA26-9168959AC77C}"/>
              </a:ext>
            </a:extLst>
          </p:cNvPr>
          <p:cNvSpPr/>
          <p:nvPr/>
        </p:nvSpPr>
        <p:spPr>
          <a:xfrm>
            <a:off x="10409672" y="3583685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28A057-02CF-71CC-933B-3B1041AADD95}"/>
              </a:ext>
            </a:extLst>
          </p:cNvPr>
          <p:cNvSpPr/>
          <p:nvPr/>
        </p:nvSpPr>
        <p:spPr>
          <a:xfrm>
            <a:off x="10409668" y="2381049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42066-D2AF-59DC-BFA7-AE7D5190DAD0}"/>
              </a:ext>
            </a:extLst>
          </p:cNvPr>
          <p:cNvSpPr txBox="1"/>
          <p:nvPr/>
        </p:nvSpPr>
        <p:spPr>
          <a:xfrm>
            <a:off x="10614258" y="1276285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43A5B4-8963-AEF0-9039-1B921FDAC6BB}"/>
              </a:ext>
            </a:extLst>
          </p:cNvPr>
          <p:cNvSpPr/>
          <p:nvPr/>
        </p:nvSpPr>
        <p:spPr>
          <a:xfrm>
            <a:off x="10409668" y="4518234"/>
            <a:ext cx="148800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99738B-9AD3-27DA-7D82-7309894FCB4E}"/>
              </a:ext>
            </a:extLst>
          </p:cNvPr>
          <p:cNvSpPr/>
          <p:nvPr/>
        </p:nvSpPr>
        <p:spPr>
          <a:xfrm>
            <a:off x="10409668" y="4282332"/>
            <a:ext cx="1488004" cy="235902"/>
          </a:xfrm>
          <a:prstGeom prst="rect">
            <a:avLst/>
          </a:prstGeom>
          <a:solidFill>
            <a:srgbClr val="F5D1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pointer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9D4D2B-07E9-7D62-60E9-08AF32B34ADC}"/>
              </a:ext>
            </a:extLst>
          </p:cNvPr>
          <p:cNvSpPr/>
          <p:nvPr/>
        </p:nvSpPr>
        <p:spPr>
          <a:xfrm>
            <a:off x="10409668" y="3347783"/>
            <a:ext cx="1488004" cy="235902"/>
          </a:xfrm>
          <a:prstGeom prst="rect">
            <a:avLst/>
          </a:prstGeom>
          <a:solidFill>
            <a:srgbClr val="F5D1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pointer 1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DE6775A2-519B-A6B6-E9CE-0530DC477FFF}"/>
              </a:ext>
            </a:extLst>
          </p:cNvPr>
          <p:cNvCxnSpPr>
            <a:cxnSpLocks/>
            <a:stCxn id="11" idx="1"/>
            <a:endCxn id="8" idx="1"/>
          </p:cNvCxnSpPr>
          <p:nvPr/>
        </p:nvCxnSpPr>
        <p:spPr>
          <a:xfrm rot="10800000">
            <a:off x="10409668" y="2595405"/>
            <a:ext cx="12700" cy="1804879"/>
          </a:xfrm>
          <a:prstGeom prst="curvedConnector3">
            <a:avLst>
              <a:gd name="adj1" fmla="val 18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629A1CE5-7CD8-F3B8-9488-A4A8BC5F3ABF}"/>
              </a:ext>
            </a:extLst>
          </p:cNvPr>
          <p:cNvCxnSpPr>
            <a:cxnSpLocks/>
            <a:stCxn id="12" idx="3"/>
            <a:endCxn id="10" idx="3"/>
          </p:cNvCxnSpPr>
          <p:nvPr/>
        </p:nvCxnSpPr>
        <p:spPr>
          <a:xfrm>
            <a:off x="11897672" y="3465734"/>
            <a:ext cx="12700" cy="1266855"/>
          </a:xfrm>
          <a:prstGeom prst="curvedConnector3">
            <a:avLst>
              <a:gd name="adj1" fmla="val 18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DB04812-DCC1-1A74-6C89-98F2E6EEBC99}"/>
              </a:ext>
            </a:extLst>
          </p:cNvPr>
          <p:cNvSpPr txBox="1"/>
          <p:nvPr/>
        </p:nvSpPr>
        <p:spPr>
          <a:xfrm>
            <a:off x="772160" y="1402080"/>
            <a:ext cx="855670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Combine Elements and Pointers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Each element is stored along with a pointer to the next element</a:t>
            </a:r>
            <a:b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Allocate these together</a:t>
            </a:r>
            <a:b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 find the </a:t>
            </a:r>
            <a:r>
              <a:rPr lang="en-US" sz="20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baseline="30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element by starting at the first and following pointers repeatedly </a:t>
            </a:r>
            <a:endParaRPr lang="en-US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425A00-D950-46C1-52DA-A99671F0FFEB}"/>
              </a:ext>
            </a:extLst>
          </p:cNvPr>
          <p:cNvSpPr/>
          <p:nvPr/>
        </p:nvSpPr>
        <p:spPr>
          <a:xfrm>
            <a:off x="3614738" y="4519762"/>
            <a:ext cx="514350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BE4853-A3DD-B620-D7C9-9E625E498188}"/>
              </a:ext>
            </a:extLst>
          </p:cNvPr>
          <p:cNvSpPr/>
          <p:nvPr/>
        </p:nvSpPr>
        <p:spPr>
          <a:xfrm>
            <a:off x="2653211" y="4519762"/>
            <a:ext cx="961527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</a:t>
            </a:r>
            <a:r>
              <a:rPr lang="en-US" i="1" dirty="0" err="1"/>
              <a:t>i</a:t>
            </a:r>
            <a:endParaRPr lang="en-US" i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96A611A-9FA6-5B59-3F4D-13406C0E480E}"/>
              </a:ext>
            </a:extLst>
          </p:cNvPr>
          <p:cNvSpPr/>
          <p:nvPr/>
        </p:nvSpPr>
        <p:spPr>
          <a:xfrm>
            <a:off x="3780473" y="477764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B073FEB-A8D0-1734-92ED-2040461392C3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1705922" y="4867150"/>
            <a:ext cx="947289" cy="1936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7BF71-09B2-407D-6E3B-27BB1E888F84}"/>
              </a:ext>
            </a:extLst>
          </p:cNvPr>
          <p:cNvSpPr/>
          <p:nvPr/>
        </p:nvSpPr>
        <p:spPr>
          <a:xfrm>
            <a:off x="5801317" y="4519762"/>
            <a:ext cx="514350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25C3A4-8FF8-95AD-C0ED-3A3B4BA2FC86}"/>
              </a:ext>
            </a:extLst>
          </p:cNvPr>
          <p:cNvSpPr/>
          <p:nvPr/>
        </p:nvSpPr>
        <p:spPr>
          <a:xfrm>
            <a:off x="4839790" y="4519762"/>
            <a:ext cx="961527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Element </a:t>
            </a:r>
            <a:r>
              <a:rPr lang="en-US" i="1" dirty="0"/>
              <a:t>i</a:t>
            </a:r>
            <a:r>
              <a:rPr lang="en-US" dirty="0"/>
              <a:t>+1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4275CD7-840F-2F64-1FE0-5FC482315877}"/>
              </a:ext>
            </a:extLst>
          </p:cNvPr>
          <p:cNvSpPr/>
          <p:nvPr/>
        </p:nvSpPr>
        <p:spPr>
          <a:xfrm>
            <a:off x="5967052" y="477764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F5621DB-F463-2B76-7A2B-663383E6A863}"/>
              </a:ext>
            </a:extLst>
          </p:cNvPr>
          <p:cNvCxnSpPr>
            <a:cxnSpLocks/>
            <a:stCxn id="30" idx="6"/>
            <a:endCxn id="35" idx="1"/>
          </p:cNvCxnSpPr>
          <p:nvPr/>
        </p:nvCxnSpPr>
        <p:spPr>
          <a:xfrm>
            <a:off x="3963353" y="4869085"/>
            <a:ext cx="87643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1B0D6E8-4F6E-3BF6-FAAC-6DD8F9C16D1F}"/>
              </a:ext>
            </a:extLst>
          </p:cNvPr>
          <p:cNvSpPr txBox="1"/>
          <p:nvPr/>
        </p:nvSpPr>
        <p:spPr>
          <a:xfrm>
            <a:off x="1229619" y="4634723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8DC6E8-AFDA-A411-77B8-557BD37B077B}"/>
              </a:ext>
            </a:extLst>
          </p:cNvPr>
          <p:cNvSpPr txBox="1"/>
          <p:nvPr/>
        </p:nvSpPr>
        <p:spPr>
          <a:xfrm>
            <a:off x="7192104" y="4480834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EBEC277-E722-380E-B0C4-3D1493AAE230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6149932" y="4869085"/>
            <a:ext cx="78744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6FDD3DC-E4E5-8C4F-0035-C1435AF88A28}"/>
              </a:ext>
            </a:extLst>
          </p:cNvPr>
          <p:cNvSpPr txBox="1"/>
          <p:nvPr/>
        </p:nvSpPr>
        <p:spPr>
          <a:xfrm>
            <a:off x="2902360" y="5858489"/>
            <a:ext cx="3413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Logical View of Linked List</a:t>
            </a:r>
          </a:p>
        </p:txBody>
      </p:sp>
    </p:spTree>
    <p:extLst>
      <p:ext uri="{BB962C8B-B14F-4D97-AF65-F5344CB8AC3E}">
        <p14:creationId xmlns:p14="http://schemas.microsoft.com/office/powerpoint/2010/main" val="320487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1CA8-3173-8643-FD9A-56ED19FE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Data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96B52-C780-5858-91A4-566AC4DA0068}"/>
              </a:ext>
            </a:extLst>
          </p:cNvPr>
          <p:cNvSpPr txBox="1"/>
          <p:nvPr/>
        </p:nvSpPr>
        <p:spPr>
          <a:xfrm>
            <a:off x="1309687" y="1871849"/>
            <a:ext cx="7380547" cy="19697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sz="1400" i="1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Forward declaration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of data type gets around circular dependency</a:t>
            </a:r>
            <a:endParaRPr lang="en-US" sz="1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B518DD01-C7C3-BC00-9E2E-41F238530C8F}"/>
              </a:ext>
            </a:extLst>
          </p:cNvPr>
          <p:cNvSpPr/>
          <p:nvPr/>
        </p:nvSpPr>
        <p:spPr>
          <a:xfrm>
            <a:off x="4386262" y="2590447"/>
            <a:ext cx="2857500" cy="609950"/>
          </a:xfrm>
          <a:prstGeom prst="wedgeRoundRectCallout">
            <a:avLst>
              <a:gd name="adj1" fmla="val -89685"/>
              <a:gd name="adj2" fmla="val 32049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holds one element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DB7D8322-2D25-E192-1471-54EE8850ED22}"/>
              </a:ext>
            </a:extLst>
          </p:cNvPr>
          <p:cNvSpPr/>
          <p:nvPr/>
        </p:nvSpPr>
        <p:spPr>
          <a:xfrm>
            <a:off x="4386261" y="3492273"/>
            <a:ext cx="4057651" cy="769207"/>
          </a:xfrm>
          <a:prstGeom prst="wedgeRoundRectCallout">
            <a:avLst>
              <a:gd name="adj1" fmla="val -64572"/>
              <a:gd name="adj2" fmla="val -39760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holds pointer to next element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is NULL for the last element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F4431052-E436-A546-B78C-6F8351251907}"/>
              </a:ext>
            </a:extLst>
          </p:cNvPr>
          <p:cNvSpPr/>
          <p:nvPr/>
        </p:nvSpPr>
        <p:spPr>
          <a:xfrm>
            <a:off x="6661409" y="1408812"/>
            <a:ext cx="4057650" cy="690465"/>
          </a:xfrm>
          <a:prstGeom prst="wedgeRoundRectCallout">
            <a:avLst>
              <a:gd name="adj1" fmla="val -74544"/>
              <a:gd name="adj2" fmla="val 40326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Would need to declare separate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 for other types of lists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B74404-F158-5DFF-4B13-92AE7D0E080D}"/>
              </a:ext>
            </a:extLst>
          </p:cNvPr>
          <p:cNvSpPr txBox="1"/>
          <p:nvPr/>
        </p:nvSpPr>
        <p:spPr>
          <a:xfrm>
            <a:off x="2667265" y="5425084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8B68E-AD88-664F-6863-EC616E03A00A}"/>
              </a:ext>
            </a:extLst>
          </p:cNvPr>
          <p:cNvSpPr txBox="1"/>
          <p:nvPr/>
        </p:nvSpPr>
        <p:spPr>
          <a:xfrm>
            <a:off x="3382511" y="5434775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72DC56B9-4EDA-4A9B-95E7-8CB4F5F87080}"/>
              </a:ext>
            </a:extLst>
          </p:cNvPr>
          <p:cNvSpPr/>
          <p:nvPr/>
        </p:nvSpPr>
        <p:spPr>
          <a:xfrm rot="16200000">
            <a:off x="2963435" y="4947227"/>
            <a:ext cx="214768" cy="74094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1934C17C-AEB7-AD11-9B73-9D5998470783}"/>
              </a:ext>
            </a:extLst>
          </p:cNvPr>
          <p:cNvSpPr/>
          <p:nvPr/>
        </p:nvSpPr>
        <p:spPr>
          <a:xfrm rot="16200000">
            <a:off x="3614091" y="5054109"/>
            <a:ext cx="232877" cy="509072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17EF15-1DBE-84AD-76D7-31AF80B74456}"/>
              </a:ext>
            </a:extLst>
          </p:cNvPr>
          <p:cNvSpPr txBox="1"/>
          <p:nvPr/>
        </p:nvSpPr>
        <p:spPr>
          <a:xfrm>
            <a:off x="2902360" y="5858489"/>
            <a:ext cx="3413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Logical View of Linked List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56A30B-D789-572D-2D00-0362A218DFB1}"/>
              </a:ext>
            </a:extLst>
          </p:cNvPr>
          <p:cNvSpPr/>
          <p:nvPr/>
        </p:nvSpPr>
        <p:spPr>
          <a:xfrm>
            <a:off x="3394154" y="4557693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1F048F-7D47-7572-79A3-FA281F21689F}"/>
              </a:ext>
            </a:extLst>
          </p:cNvPr>
          <p:cNvSpPr/>
          <p:nvPr/>
        </p:nvSpPr>
        <p:spPr>
          <a:xfrm>
            <a:off x="2736870" y="4557693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B2F94A-D576-3EF4-44AD-676A2B1960FF}"/>
              </a:ext>
            </a:extLst>
          </p:cNvPr>
          <p:cNvSpPr/>
          <p:nvPr/>
        </p:nvSpPr>
        <p:spPr>
          <a:xfrm>
            <a:off x="3642186" y="4758613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78D98C1-73F4-89A9-EF10-96F78CCAED3B}"/>
              </a:ext>
            </a:extLst>
          </p:cNvPr>
          <p:cNvCxnSpPr>
            <a:cxnSpLocks/>
            <a:stCxn id="40" idx="6"/>
            <a:endCxn id="44" idx="1"/>
          </p:cNvCxnSpPr>
          <p:nvPr/>
        </p:nvCxnSpPr>
        <p:spPr>
          <a:xfrm>
            <a:off x="3825066" y="4850053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A0A21F5-E43A-3219-9521-9A08DF4EF0BF}"/>
              </a:ext>
            </a:extLst>
          </p:cNvPr>
          <p:cNvCxnSpPr>
            <a:cxnSpLocks/>
            <a:stCxn id="49" idx="3"/>
            <a:endCxn id="39" idx="1"/>
          </p:cNvCxnSpPr>
          <p:nvPr/>
        </p:nvCxnSpPr>
        <p:spPr>
          <a:xfrm>
            <a:off x="1630048" y="4850053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62BA16F-56DD-11B9-B695-D36971029E91}"/>
              </a:ext>
            </a:extLst>
          </p:cNvPr>
          <p:cNvSpPr/>
          <p:nvPr/>
        </p:nvSpPr>
        <p:spPr>
          <a:xfrm>
            <a:off x="5598007" y="4557693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48E35C-FFA0-CB93-9282-8F1D25386824}"/>
              </a:ext>
            </a:extLst>
          </p:cNvPr>
          <p:cNvSpPr/>
          <p:nvPr/>
        </p:nvSpPr>
        <p:spPr>
          <a:xfrm>
            <a:off x="4940723" y="4557693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DC2D22B-679A-611A-5AB6-F4D73AAEEF60}"/>
              </a:ext>
            </a:extLst>
          </p:cNvPr>
          <p:cNvSpPr/>
          <p:nvPr/>
        </p:nvSpPr>
        <p:spPr>
          <a:xfrm>
            <a:off x="5846039" y="4758614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A7B9394-522D-9C91-6EFC-A17FEE9CCA22}"/>
              </a:ext>
            </a:extLst>
          </p:cNvPr>
          <p:cNvCxnSpPr>
            <a:cxnSpLocks/>
            <a:stCxn id="45" idx="6"/>
            <a:endCxn id="48" idx="1"/>
          </p:cNvCxnSpPr>
          <p:nvPr/>
        </p:nvCxnSpPr>
        <p:spPr>
          <a:xfrm>
            <a:off x="6028919" y="4850054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E786AB1C-E962-9F6D-BFDB-C94A675E08BB}"/>
              </a:ext>
            </a:extLst>
          </p:cNvPr>
          <p:cNvSpPr/>
          <p:nvPr/>
        </p:nvSpPr>
        <p:spPr>
          <a:xfrm>
            <a:off x="7728708" y="4557693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4DFF2EE-D1A5-1760-62D8-E84900428FA8}"/>
              </a:ext>
            </a:extLst>
          </p:cNvPr>
          <p:cNvSpPr/>
          <p:nvPr/>
        </p:nvSpPr>
        <p:spPr>
          <a:xfrm>
            <a:off x="7071424" y="4557693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EFCCD1-8C15-AA19-005B-0B3B28434C2A}"/>
              </a:ext>
            </a:extLst>
          </p:cNvPr>
          <p:cNvSpPr txBox="1"/>
          <p:nvPr/>
        </p:nvSpPr>
        <p:spPr>
          <a:xfrm>
            <a:off x="1056157" y="4649998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732096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Helpers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101ABC-EEB5-635F-56E0-0CF886C9FE10}"/>
              </a:ext>
            </a:extLst>
          </p:cNvPr>
          <p:cNvSpPr/>
          <p:nvPr/>
        </p:nvSpPr>
        <p:spPr>
          <a:xfrm>
            <a:off x="3239778" y="1407883"/>
            <a:ext cx="657284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278029-4DED-319E-7D51-F5F6B7FB396C}"/>
              </a:ext>
            </a:extLst>
          </p:cNvPr>
          <p:cNvSpPr/>
          <p:nvPr/>
        </p:nvSpPr>
        <p:spPr>
          <a:xfrm>
            <a:off x="2278251" y="1407883"/>
            <a:ext cx="961527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0165977-0C3A-C0E0-48BA-4B4102B7DE64}"/>
              </a:ext>
            </a:extLst>
          </p:cNvPr>
          <p:cNvSpPr/>
          <p:nvPr/>
        </p:nvSpPr>
        <p:spPr>
          <a:xfrm>
            <a:off x="3476980" y="156557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8AF3EE-B795-D308-2E71-EBA463E92CB5}"/>
              </a:ext>
            </a:extLst>
          </p:cNvPr>
          <p:cNvCxnSpPr>
            <a:cxnSpLocks/>
            <a:stCxn id="8" idx="6"/>
            <a:endCxn id="22" idx="1"/>
          </p:cNvCxnSpPr>
          <p:nvPr/>
        </p:nvCxnSpPr>
        <p:spPr>
          <a:xfrm>
            <a:off x="3659860" y="1657019"/>
            <a:ext cx="633358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FD47D93-B2FF-7008-B320-729D001C0F53}"/>
              </a:ext>
            </a:extLst>
          </p:cNvPr>
          <p:cNvSpPr txBox="1"/>
          <p:nvPr/>
        </p:nvSpPr>
        <p:spPr>
          <a:xfrm>
            <a:off x="2435848" y="2089581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623E0-9B9D-3545-CCE5-A5C3FAA3F890}"/>
              </a:ext>
            </a:extLst>
          </p:cNvPr>
          <p:cNvSpPr txBox="1"/>
          <p:nvPr/>
        </p:nvSpPr>
        <p:spPr>
          <a:xfrm>
            <a:off x="3206910" y="2089581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3C869857-5EC0-A1EC-58F7-E5741CC9DA2A}"/>
              </a:ext>
            </a:extLst>
          </p:cNvPr>
          <p:cNvSpPr/>
          <p:nvPr/>
        </p:nvSpPr>
        <p:spPr>
          <a:xfrm rot="16200000">
            <a:off x="2635457" y="1517588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FF88A7FA-9575-5221-4CF7-D89BD600FFAC}"/>
              </a:ext>
            </a:extLst>
          </p:cNvPr>
          <p:cNvSpPr/>
          <p:nvPr/>
        </p:nvSpPr>
        <p:spPr>
          <a:xfrm rot="16200000">
            <a:off x="3454622" y="1662717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14EE25-ED2E-BE94-650F-B9AAE84F3B2C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>
            <a:off x="1797487" y="1647867"/>
            <a:ext cx="480764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F047B6F-3F35-93F2-07AB-EAE0DD41B82B}"/>
              </a:ext>
            </a:extLst>
          </p:cNvPr>
          <p:cNvSpPr txBox="1"/>
          <p:nvPr/>
        </p:nvSpPr>
        <p:spPr>
          <a:xfrm>
            <a:off x="1151156" y="1447812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290B82-F6BA-49E8-7580-9BA739045FB2}"/>
              </a:ext>
            </a:extLst>
          </p:cNvPr>
          <p:cNvSpPr txBox="1"/>
          <p:nvPr/>
        </p:nvSpPr>
        <p:spPr>
          <a:xfrm>
            <a:off x="6320421" y="1170506"/>
            <a:ext cx="5492209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"first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5749D7-6CC0-282F-CE01-F81DA3BFCA4D}"/>
              </a:ext>
            </a:extLst>
          </p:cNvPr>
          <p:cNvSpPr txBox="1"/>
          <p:nvPr/>
        </p:nvSpPr>
        <p:spPr>
          <a:xfrm>
            <a:off x="4293218" y="1426186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61644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48DCA-3D81-BFA6-1DAC-E2028BD4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Helpers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933CE-8C72-B49F-E659-C552350E3FAB}"/>
              </a:ext>
            </a:extLst>
          </p:cNvPr>
          <p:cNvSpPr txBox="1"/>
          <p:nvPr/>
        </p:nvSpPr>
        <p:spPr>
          <a:xfrm>
            <a:off x="5100696" y="2448182"/>
            <a:ext cx="6479659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creating a new struct and make it the first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cons(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 =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(res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"cons: allocation failed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first;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res-&gt;next = rest;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BFEBA0-A03A-E010-FEBA-788AE3897587}"/>
              </a:ext>
            </a:extLst>
          </p:cNvPr>
          <p:cNvSpPr txBox="1"/>
          <p:nvPr/>
        </p:nvSpPr>
        <p:spPr>
          <a:xfrm>
            <a:off x="5100695" y="980312"/>
            <a:ext cx="6479657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9D41D5-1CAD-4F9D-065D-30AF765C1DFC}"/>
              </a:ext>
            </a:extLst>
          </p:cNvPr>
          <p:cNvSpPr/>
          <p:nvPr/>
        </p:nvSpPr>
        <p:spPr>
          <a:xfrm>
            <a:off x="2310217" y="2638515"/>
            <a:ext cx="657284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100155-D1CF-BFA1-0A11-CC43BBA0C785}"/>
              </a:ext>
            </a:extLst>
          </p:cNvPr>
          <p:cNvSpPr/>
          <p:nvPr/>
        </p:nvSpPr>
        <p:spPr>
          <a:xfrm>
            <a:off x="1348690" y="2638515"/>
            <a:ext cx="961527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first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AF91FA-F2B9-C06D-FF7F-596A1D116AE5}"/>
              </a:ext>
            </a:extLst>
          </p:cNvPr>
          <p:cNvSpPr/>
          <p:nvPr/>
        </p:nvSpPr>
        <p:spPr>
          <a:xfrm>
            <a:off x="2561679" y="3010701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05D685-7A4C-8E8F-D7B9-FBFE2D342990}"/>
              </a:ext>
            </a:extLst>
          </p:cNvPr>
          <p:cNvCxnSpPr>
            <a:cxnSpLocks/>
            <a:stCxn id="24" idx="6"/>
          </p:cNvCxnSpPr>
          <p:nvPr/>
        </p:nvCxnSpPr>
        <p:spPr>
          <a:xfrm>
            <a:off x="2744559" y="3102141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D174028-1686-386A-4986-033433C16280}"/>
              </a:ext>
            </a:extLst>
          </p:cNvPr>
          <p:cNvSpPr txBox="1"/>
          <p:nvPr/>
        </p:nvSpPr>
        <p:spPr>
          <a:xfrm>
            <a:off x="1506287" y="3543855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058AAF-381C-2997-B408-BD758FEEC4DA}"/>
              </a:ext>
            </a:extLst>
          </p:cNvPr>
          <p:cNvSpPr txBox="1"/>
          <p:nvPr/>
        </p:nvSpPr>
        <p:spPr>
          <a:xfrm>
            <a:off x="2277349" y="3543855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984F96DA-0B35-9684-5B67-D2E03DC3DF37}"/>
              </a:ext>
            </a:extLst>
          </p:cNvPr>
          <p:cNvSpPr/>
          <p:nvPr/>
        </p:nvSpPr>
        <p:spPr>
          <a:xfrm rot="16200000">
            <a:off x="1705896" y="2971862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1DF99A8D-CC94-FA27-1DD2-1759D384C479}"/>
              </a:ext>
            </a:extLst>
          </p:cNvPr>
          <p:cNvSpPr/>
          <p:nvPr/>
        </p:nvSpPr>
        <p:spPr>
          <a:xfrm rot="16200000">
            <a:off x="2525061" y="3116991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3DF4C3-4F3D-4FCB-15E0-C7A716011293}"/>
              </a:ext>
            </a:extLst>
          </p:cNvPr>
          <p:cNvSpPr txBox="1"/>
          <p:nvPr/>
        </p:nvSpPr>
        <p:spPr>
          <a:xfrm>
            <a:off x="2244434" y="2644911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0AD9B1-F9D1-F196-69EE-13B43D17A959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98741" y="3040537"/>
            <a:ext cx="441195" cy="442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38F5C8A-0662-0B85-78B7-01061C1C10C5}"/>
              </a:ext>
            </a:extLst>
          </p:cNvPr>
          <p:cNvSpPr txBox="1"/>
          <p:nvPr/>
        </p:nvSpPr>
        <p:spPr>
          <a:xfrm>
            <a:off x="252410" y="2840482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161231-CC42-0167-33A7-FCAC0D1921C6}"/>
              </a:ext>
            </a:extLst>
          </p:cNvPr>
          <p:cNvSpPr txBox="1"/>
          <p:nvPr/>
        </p:nvSpPr>
        <p:spPr>
          <a:xfrm>
            <a:off x="3315715" y="2638515"/>
            <a:ext cx="1546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(current list)</a:t>
            </a:r>
            <a:endParaRPr lang="en-US" dirty="0"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6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D19AC-907D-B391-8D3E-0AF721FC1D27}"/>
              </a:ext>
            </a:extLst>
          </p:cNvPr>
          <p:cNvSpPr txBox="1"/>
          <p:nvPr/>
        </p:nvSpPr>
        <p:spPr>
          <a:xfrm>
            <a:off x="838200" y="3941372"/>
            <a:ext cx="65998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 = cons(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D1684A-49E9-D85A-94A5-421E9C4C5EFF}"/>
              </a:ext>
            </a:extLst>
          </p:cNvPr>
          <p:cNvSpPr/>
          <p:nvPr/>
        </p:nvSpPr>
        <p:spPr>
          <a:xfrm>
            <a:off x="3041151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4BE61C-03B5-AD47-DDBD-576F322A94A1}"/>
              </a:ext>
            </a:extLst>
          </p:cNvPr>
          <p:cNvSpPr/>
          <p:nvPr/>
        </p:nvSpPr>
        <p:spPr>
          <a:xfrm>
            <a:off x="2383867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475600-0239-508D-4B97-23205F96B7BE}"/>
              </a:ext>
            </a:extLst>
          </p:cNvPr>
          <p:cNvSpPr/>
          <p:nvPr/>
        </p:nvSpPr>
        <p:spPr>
          <a:xfrm>
            <a:off x="3289183" y="483481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E82CB1-2E57-6607-6D29-6B58204A98AB}"/>
              </a:ext>
            </a:extLst>
          </p:cNvPr>
          <p:cNvCxnSpPr>
            <a:cxnSpLocks/>
            <a:stCxn id="10" idx="6"/>
            <a:endCxn id="25" idx="1"/>
          </p:cNvCxnSpPr>
          <p:nvPr/>
        </p:nvCxnSpPr>
        <p:spPr>
          <a:xfrm>
            <a:off x="3472063" y="4926256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ED634B-ED96-F81E-5926-0B005C6C79FF}"/>
              </a:ext>
            </a:extLst>
          </p:cNvPr>
          <p:cNvCxnSpPr>
            <a:cxnSpLocks/>
            <a:stCxn id="37" idx="3"/>
            <a:endCxn id="9" idx="1"/>
          </p:cNvCxnSpPr>
          <p:nvPr/>
        </p:nvCxnSpPr>
        <p:spPr>
          <a:xfrm>
            <a:off x="1277045" y="4926256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8100F8C-03D1-394B-7D0E-1AFEA89EFFB4}"/>
              </a:ext>
            </a:extLst>
          </p:cNvPr>
          <p:cNvSpPr/>
          <p:nvPr/>
        </p:nvSpPr>
        <p:spPr>
          <a:xfrm>
            <a:off x="5245004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15A25E-6A18-EDB8-4E07-B9F574D71F8A}"/>
              </a:ext>
            </a:extLst>
          </p:cNvPr>
          <p:cNvSpPr/>
          <p:nvPr/>
        </p:nvSpPr>
        <p:spPr>
          <a:xfrm>
            <a:off x="4587720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567749B-3E52-CB27-92C6-75681970E479}"/>
              </a:ext>
            </a:extLst>
          </p:cNvPr>
          <p:cNvSpPr/>
          <p:nvPr/>
        </p:nvSpPr>
        <p:spPr>
          <a:xfrm>
            <a:off x="5493036" y="483481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0B9A2BC-EDB4-CD4B-7DB8-06B152F2D1F7}"/>
              </a:ext>
            </a:extLst>
          </p:cNvPr>
          <p:cNvCxnSpPr>
            <a:cxnSpLocks/>
            <a:stCxn id="26" idx="6"/>
            <a:endCxn id="29" idx="1"/>
          </p:cNvCxnSpPr>
          <p:nvPr/>
        </p:nvCxnSpPr>
        <p:spPr>
          <a:xfrm>
            <a:off x="5675916" y="4926257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E94CDFF6-B419-B68E-8424-03A4D89AC691}"/>
              </a:ext>
            </a:extLst>
          </p:cNvPr>
          <p:cNvSpPr/>
          <p:nvPr/>
        </p:nvSpPr>
        <p:spPr>
          <a:xfrm>
            <a:off x="7375705" y="4633896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7E523C-BDF1-E5FE-B3C4-B424D0A39A2C}"/>
              </a:ext>
            </a:extLst>
          </p:cNvPr>
          <p:cNvSpPr/>
          <p:nvPr/>
        </p:nvSpPr>
        <p:spPr>
          <a:xfrm>
            <a:off x="6718421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870B07-5B9C-5C32-3AD0-416B07059EC1}"/>
              </a:ext>
            </a:extLst>
          </p:cNvPr>
          <p:cNvSpPr txBox="1"/>
          <p:nvPr/>
        </p:nvSpPr>
        <p:spPr>
          <a:xfrm>
            <a:off x="703154" y="4726201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3ABE99-0ABD-AADA-9F61-2C33C874B8F5}"/>
              </a:ext>
            </a:extLst>
          </p:cNvPr>
          <p:cNvSpPr txBox="1"/>
          <p:nvPr/>
        </p:nvSpPr>
        <p:spPr>
          <a:xfrm>
            <a:off x="1048512" y="5303520"/>
            <a:ext cx="925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points to a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that contains the element 8 and a pointer to the second element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924659-71E4-E402-689B-7830C354CD33}"/>
              </a:ext>
            </a:extLst>
          </p:cNvPr>
          <p:cNvSpPr txBox="1"/>
          <p:nvPr/>
        </p:nvSpPr>
        <p:spPr>
          <a:xfrm>
            <a:off x="1048512" y="5712184"/>
            <a:ext cx="10164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l-&gt;next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points to a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that contains the element 9 and a pointer to the third element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5B8CEB-E817-7440-D1DE-321994285824}"/>
              </a:ext>
            </a:extLst>
          </p:cNvPr>
          <p:cNvSpPr txBox="1"/>
          <p:nvPr/>
        </p:nvSpPr>
        <p:spPr>
          <a:xfrm>
            <a:off x="1048512" y="6213607"/>
            <a:ext cx="9522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l-&gt;next-&gt;next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points to a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that contains the element 10 and a </a:t>
            </a:r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47038C-C32F-F39F-63E2-D555A5DC5EA3}"/>
              </a:ext>
            </a:extLst>
          </p:cNvPr>
          <p:cNvSpPr txBox="1"/>
          <p:nvPr/>
        </p:nvSpPr>
        <p:spPr>
          <a:xfrm>
            <a:off x="5245004" y="1021745"/>
            <a:ext cx="6479659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creating a new struct and make it the first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cons(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 =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(res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"cons: allocation failed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first;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res-&gt;next = rest;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3A57D3-F122-F7FA-0042-EFE6C969C597}"/>
              </a:ext>
            </a:extLst>
          </p:cNvPr>
          <p:cNvSpPr/>
          <p:nvPr/>
        </p:nvSpPr>
        <p:spPr>
          <a:xfrm>
            <a:off x="2454525" y="1212078"/>
            <a:ext cx="657284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09B39D3-CF2A-230E-8FBB-2A0C6FB24B68}"/>
              </a:ext>
            </a:extLst>
          </p:cNvPr>
          <p:cNvSpPr/>
          <p:nvPr/>
        </p:nvSpPr>
        <p:spPr>
          <a:xfrm>
            <a:off x="1492998" y="1212078"/>
            <a:ext cx="961527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first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23EF571-A582-873A-DFCD-118CDA56513A}"/>
              </a:ext>
            </a:extLst>
          </p:cNvPr>
          <p:cNvSpPr/>
          <p:nvPr/>
        </p:nvSpPr>
        <p:spPr>
          <a:xfrm>
            <a:off x="2705987" y="1584264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999E6A3-93CA-BF59-6618-D5D7C6ADCCCE}"/>
              </a:ext>
            </a:extLst>
          </p:cNvPr>
          <p:cNvCxnSpPr>
            <a:cxnSpLocks/>
            <a:stCxn id="58" idx="6"/>
          </p:cNvCxnSpPr>
          <p:nvPr/>
        </p:nvCxnSpPr>
        <p:spPr>
          <a:xfrm>
            <a:off x="2888867" y="1675704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9C31707-14B0-9561-CB30-F45E65543855}"/>
              </a:ext>
            </a:extLst>
          </p:cNvPr>
          <p:cNvSpPr txBox="1"/>
          <p:nvPr/>
        </p:nvSpPr>
        <p:spPr>
          <a:xfrm>
            <a:off x="1650595" y="2117418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9C4139-19E8-ADB2-FCAB-97F21F2E6C30}"/>
              </a:ext>
            </a:extLst>
          </p:cNvPr>
          <p:cNvSpPr txBox="1"/>
          <p:nvPr/>
        </p:nvSpPr>
        <p:spPr>
          <a:xfrm>
            <a:off x="2421657" y="2117418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62" name="Left Brace 61">
            <a:extLst>
              <a:ext uri="{FF2B5EF4-FFF2-40B4-BE49-F238E27FC236}">
                <a16:creationId xmlns:a16="http://schemas.microsoft.com/office/drawing/2014/main" id="{83AC2118-526F-1F96-3520-4D7A62B87458}"/>
              </a:ext>
            </a:extLst>
          </p:cNvPr>
          <p:cNvSpPr/>
          <p:nvPr/>
        </p:nvSpPr>
        <p:spPr>
          <a:xfrm rot="16200000">
            <a:off x="1850204" y="1545425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287AA5C5-59CF-5BBE-33AB-D97D7BFEB8CC}"/>
              </a:ext>
            </a:extLst>
          </p:cNvPr>
          <p:cNvSpPr/>
          <p:nvPr/>
        </p:nvSpPr>
        <p:spPr>
          <a:xfrm rot="16200000">
            <a:off x="2669369" y="1690554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E6AA88-7E86-1103-FC31-855BBBD7E679}"/>
              </a:ext>
            </a:extLst>
          </p:cNvPr>
          <p:cNvSpPr txBox="1"/>
          <p:nvPr/>
        </p:nvSpPr>
        <p:spPr>
          <a:xfrm>
            <a:off x="2388742" y="1218474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rest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127FCFA-072A-612C-AE0F-A08712FFF4E2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1043049" y="1614100"/>
            <a:ext cx="441195" cy="442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5DFC2FA-E7DB-7D8F-EC98-0C0DAD5FC5F8}"/>
              </a:ext>
            </a:extLst>
          </p:cNvPr>
          <p:cNvSpPr txBox="1"/>
          <p:nvPr/>
        </p:nvSpPr>
        <p:spPr>
          <a:xfrm>
            <a:off x="396718" y="1414045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93AB74-FE8A-3995-D176-E96CEA07BE36}"/>
              </a:ext>
            </a:extLst>
          </p:cNvPr>
          <p:cNvSpPr txBox="1"/>
          <p:nvPr/>
        </p:nvSpPr>
        <p:spPr>
          <a:xfrm>
            <a:off x="3460023" y="1212078"/>
            <a:ext cx="1546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(current list)</a:t>
            </a:r>
            <a:endParaRPr lang="en-US" dirty="0"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346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a Linked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3BE74-8C16-951C-AFDF-BA400A42324B}"/>
              </a:ext>
            </a:extLst>
          </p:cNvPr>
          <p:cNvSpPr txBox="1"/>
          <p:nvPr/>
        </p:nvSpPr>
        <p:spPr>
          <a:xfrm>
            <a:off x="924706" y="2763734"/>
            <a:ext cx="5205271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summing a linked list 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recursion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(l))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first(l) + sum(rest(l));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91384D-F853-547A-7413-F2C61EEC03B2}"/>
              </a:ext>
            </a:extLst>
          </p:cNvPr>
          <p:cNvSpPr txBox="1"/>
          <p:nvPr/>
        </p:nvSpPr>
        <p:spPr>
          <a:xfrm>
            <a:off x="6553981" y="2763734"/>
            <a:ext cx="5205271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summing a linked list 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iteration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res += l-&gt;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 = l-&gt;next;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A4B848-F9D2-1404-E8E8-A6754F37E494}"/>
              </a:ext>
            </a:extLst>
          </p:cNvPr>
          <p:cNvSpPr txBox="1"/>
          <p:nvPr/>
        </p:nvSpPr>
        <p:spPr>
          <a:xfrm>
            <a:off x="1652587" y="1162303"/>
            <a:ext cx="65998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 = cons(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)));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F13044-0508-E5AE-0053-4500FC004DE8}"/>
              </a:ext>
            </a:extLst>
          </p:cNvPr>
          <p:cNvSpPr/>
          <p:nvPr/>
        </p:nvSpPr>
        <p:spPr>
          <a:xfrm>
            <a:off x="3855538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1225933-D291-B9B6-B522-93CD2AB0FA3F}"/>
              </a:ext>
            </a:extLst>
          </p:cNvPr>
          <p:cNvSpPr/>
          <p:nvPr/>
        </p:nvSpPr>
        <p:spPr>
          <a:xfrm>
            <a:off x="3198254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A30BE4E-FA06-7A69-88CE-80E3D22241A6}"/>
              </a:ext>
            </a:extLst>
          </p:cNvPr>
          <p:cNvSpPr/>
          <p:nvPr/>
        </p:nvSpPr>
        <p:spPr>
          <a:xfrm>
            <a:off x="4103570" y="205574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6BBC8AB-2223-3A23-4D63-F2CCCC114D80}"/>
              </a:ext>
            </a:extLst>
          </p:cNvPr>
          <p:cNvCxnSpPr>
            <a:cxnSpLocks/>
            <a:stCxn id="58" idx="6"/>
            <a:endCxn id="62" idx="1"/>
          </p:cNvCxnSpPr>
          <p:nvPr/>
        </p:nvCxnSpPr>
        <p:spPr>
          <a:xfrm>
            <a:off x="4286450" y="2147187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0F768D-CFFB-733C-7066-8193F0D65E6B}"/>
              </a:ext>
            </a:extLst>
          </p:cNvPr>
          <p:cNvCxnSpPr>
            <a:cxnSpLocks/>
            <a:stCxn id="67" idx="3"/>
            <a:endCxn id="57" idx="1"/>
          </p:cNvCxnSpPr>
          <p:nvPr/>
        </p:nvCxnSpPr>
        <p:spPr>
          <a:xfrm>
            <a:off x="2091432" y="2147187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08B2206E-6FA5-451D-3E54-E34FDFBCE3EE}"/>
              </a:ext>
            </a:extLst>
          </p:cNvPr>
          <p:cNvSpPr/>
          <p:nvPr/>
        </p:nvSpPr>
        <p:spPr>
          <a:xfrm>
            <a:off x="6059391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8B6DB62-DB70-0D1E-F430-E0DA34C5DEB4}"/>
              </a:ext>
            </a:extLst>
          </p:cNvPr>
          <p:cNvSpPr/>
          <p:nvPr/>
        </p:nvSpPr>
        <p:spPr>
          <a:xfrm>
            <a:off x="5402107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CD0C068-0CC1-DD9A-6BB2-BA7B1595843A}"/>
              </a:ext>
            </a:extLst>
          </p:cNvPr>
          <p:cNvSpPr/>
          <p:nvPr/>
        </p:nvSpPr>
        <p:spPr>
          <a:xfrm>
            <a:off x="6307423" y="205574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0D93C57-D29D-6074-B31F-2F14AB1831D6}"/>
              </a:ext>
            </a:extLst>
          </p:cNvPr>
          <p:cNvCxnSpPr>
            <a:cxnSpLocks/>
            <a:stCxn id="63" idx="6"/>
            <a:endCxn id="66" idx="1"/>
          </p:cNvCxnSpPr>
          <p:nvPr/>
        </p:nvCxnSpPr>
        <p:spPr>
          <a:xfrm>
            <a:off x="6490303" y="2147188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E6F6DC60-7418-F614-31CD-D9F9C30894A5}"/>
              </a:ext>
            </a:extLst>
          </p:cNvPr>
          <p:cNvSpPr/>
          <p:nvPr/>
        </p:nvSpPr>
        <p:spPr>
          <a:xfrm>
            <a:off x="8190092" y="1854827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EA86CB6-4518-61B5-9CA4-4FA1EE7AF959}"/>
              </a:ext>
            </a:extLst>
          </p:cNvPr>
          <p:cNvSpPr/>
          <p:nvPr/>
        </p:nvSpPr>
        <p:spPr>
          <a:xfrm>
            <a:off x="7532808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A76853-84E0-E19C-99F5-618DB494A80B}"/>
              </a:ext>
            </a:extLst>
          </p:cNvPr>
          <p:cNvSpPr txBox="1"/>
          <p:nvPr/>
        </p:nvSpPr>
        <p:spPr>
          <a:xfrm>
            <a:off x="1517541" y="1947132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476297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Freeing a Linked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3BE74-8C16-951C-AFDF-BA400A42324B}"/>
              </a:ext>
            </a:extLst>
          </p:cNvPr>
          <p:cNvSpPr txBox="1"/>
          <p:nvPr/>
        </p:nvSpPr>
        <p:spPr>
          <a:xfrm>
            <a:off x="924706" y="2763734"/>
            <a:ext cx="5205271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freeing a linked list 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recursion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list_free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(l))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list_free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(rest(l));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free(l);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BCCCFB-3E92-8F48-59AB-ABDA1AD21F38}"/>
              </a:ext>
            </a:extLst>
          </p:cNvPr>
          <p:cNvSpPr txBox="1"/>
          <p:nvPr/>
        </p:nvSpPr>
        <p:spPr>
          <a:xfrm>
            <a:off x="6553981" y="2763734"/>
            <a:ext cx="5205271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freeing a linked list 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iteration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list_free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   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next;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next = l-&gt;next;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free(l);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 = 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9787F25-4767-5A4C-D95E-2EA5BC1A9572}"/>
              </a:ext>
            </a:extLst>
          </p:cNvPr>
          <p:cNvSpPr/>
          <p:nvPr/>
        </p:nvSpPr>
        <p:spPr>
          <a:xfrm>
            <a:off x="1238098" y="4439375"/>
            <a:ext cx="2779748" cy="58324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ular Callout 39">
            <a:extLst>
              <a:ext uri="{FF2B5EF4-FFF2-40B4-BE49-F238E27FC236}">
                <a16:creationId xmlns:a16="http://schemas.microsoft.com/office/drawing/2014/main" id="{3E43BF6D-A69A-332F-4A4E-325309E82F8C}"/>
              </a:ext>
            </a:extLst>
          </p:cNvPr>
          <p:cNvSpPr/>
          <p:nvPr/>
        </p:nvSpPr>
        <p:spPr>
          <a:xfrm>
            <a:off x="3969716" y="4807313"/>
            <a:ext cx="2273624" cy="784634"/>
          </a:xfrm>
          <a:prstGeom prst="wedgeRoundRectCallout">
            <a:avLst>
              <a:gd name="adj1" fmla="val -74641"/>
              <a:gd name="adj2" fmla="val -56148"/>
              <a:gd name="adj3" fmla="val 16667"/>
            </a:avLst>
          </a:prstGeom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What if these two lines are swapped?</a:t>
            </a:r>
            <a:endParaRPr lang="en-US" sz="2000" dirty="0">
              <a:effectLst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17D8CA3-4E53-7CE7-A6CD-DCBA57944E9F}"/>
              </a:ext>
            </a:extLst>
          </p:cNvPr>
          <p:cNvSpPr/>
          <p:nvPr/>
        </p:nvSpPr>
        <p:spPr>
          <a:xfrm>
            <a:off x="7119045" y="4138143"/>
            <a:ext cx="2779748" cy="58324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ular Callout 41">
            <a:extLst>
              <a:ext uri="{FF2B5EF4-FFF2-40B4-BE49-F238E27FC236}">
                <a16:creationId xmlns:a16="http://schemas.microsoft.com/office/drawing/2014/main" id="{73261312-9493-2999-2884-748EDBF1D3E0}"/>
              </a:ext>
            </a:extLst>
          </p:cNvPr>
          <p:cNvSpPr/>
          <p:nvPr/>
        </p:nvSpPr>
        <p:spPr>
          <a:xfrm>
            <a:off x="9850663" y="4506081"/>
            <a:ext cx="2273624" cy="784634"/>
          </a:xfrm>
          <a:prstGeom prst="wedgeRoundRectCallout">
            <a:avLst>
              <a:gd name="adj1" fmla="val -74641"/>
              <a:gd name="adj2" fmla="val -56148"/>
              <a:gd name="adj3" fmla="val 16667"/>
            </a:avLst>
          </a:prstGeom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What if these two lines are swapped?</a:t>
            </a:r>
            <a:endParaRPr lang="en-US" sz="2000" dirty="0">
              <a:effectLst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D7DE699-C0F1-3588-EC7C-A95B98A0F227}"/>
              </a:ext>
            </a:extLst>
          </p:cNvPr>
          <p:cNvSpPr/>
          <p:nvPr/>
        </p:nvSpPr>
        <p:spPr>
          <a:xfrm>
            <a:off x="7119045" y="4439375"/>
            <a:ext cx="2779748" cy="58324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ular Callout 43">
            <a:extLst>
              <a:ext uri="{FF2B5EF4-FFF2-40B4-BE49-F238E27FC236}">
                <a16:creationId xmlns:a16="http://schemas.microsoft.com/office/drawing/2014/main" id="{9E9ECA0F-3A45-AA5B-5B1C-BD680EBA271C}"/>
              </a:ext>
            </a:extLst>
          </p:cNvPr>
          <p:cNvSpPr/>
          <p:nvPr/>
        </p:nvSpPr>
        <p:spPr>
          <a:xfrm>
            <a:off x="9027007" y="5071010"/>
            <a:ext cx="2273624" cy="784634"/>
          </a:xfrm>
          <a:prstGeom prst="wedgeRoundRectCallout">
            <a:avLst>
              <a:gd name="adj1" fmla="val -57046"/>
              <a:gd name="adj2" fmla="val -77999"/>
              <a:gd name="adj3" fmla="val 16667"/>
            </a:avLst>
          </a:prstGeom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What if these two lines are swapped?</a:t>
            </a:r>
            <a:endParaRPr lang="en-US" sz="2000" dirty="0">
              <a:effectLst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5B356F-E1C5-FF61-68D5-03C46AC8E38A}"/>
              </a:ext>
            </a:extLst>
          </p:cNvPr>
          <p:cNvSpPr txBox="1"/>
          <p:nvPr/>
        </p:nvSpPr>
        <p:spPr>
          <a:xfrm>
            <a:off x="1652587" y="1162303"/>
            <a:ext cx="65998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 = cons(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)));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A580C7-9A03-3793-DAF4-4621FCEAC0B2}"/>
              </a:ext>
            </a:extLst>
          </p:cNvPr>
          <p:cNvSpPr/>
          <p:nvPr/>
        </p:nvSpPr>
        <p:spPr>
          <a:xfrm>
            <a:off x="3855538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6621EC-3D3F-C6EC-D57C-07FF837AB4B4}"/>
              </a:ext>
            </a:extLst>
          </p:cNvPr>
          <p:cNvSpPr/>
          <p:nvPr/>
        </p:nvSpPr>
        <p:spPr>
          <a:xfrm>
            <a:off x="3198254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07ED2D2-24FC-C1B7-D55C-DBF00128AE91}"/>
              </a:ext>
            </a:extLst>
          </p:cNvPr>
          <p:cNvSpPr/>
          <p:nvPr/>
        </p:nvSpPr>
        <p:spPr>
          <a:xfrm>
            <a:off x="4103570" y="205574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650FC81-D662-F13B-EFEC-08E928E47002}"/>
              </a:ext>
            </a:extLst>
          </p:cNvPr>
          <p:cNvCxnSpPr>
            <a:cxnSpLocks/>
            <a:stCxn id="48" idx="6"/>
            <a:endCxn id="52" idx="1"/>
          </p:cNvCxnSpPr>
          <p:nvPr/>
        </p:nvCxnSpPr>
        <p:spPr>
          <a:xfrm>
            <a:off x="4286450" y="2147187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79CB10D-ACA4-57BA-E919-B4DDD918F70C}"/>
              </a:ext>
            </a:extLst>
          </p:cNvPr>
          <p:cNvCxnSpPr>
            <a:cxnSpLocks/>
            <a:stCxn id="57" idx="3"/>
            <a:endCxn id="47" idx="1"/>
          </p:cNvCxnSpPr>
          <p:nvPr/>
        </p:nvCxnSpPr>
        <p:spPr>
          <a:xfrm>
            <a:off x="2091432" y="2147187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570D641-E988-E71D-CBF5-CAAE89BEF3D2}"/>
              </a:ext>
            </a:extLst>
          </p:cNvPr>
          <p:cNvSpPr/>
          <p:nvPr/>
        </p:nvSpPr>
        <p:spPr>
          <a:xfrm>
            <a:off x="6059391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1A5D6C0-7EE9-978D-0948-A19B666A6F23}"/>
              </a:ext>
            </a:extLst>
          </p:cNvPr>
          <p:cNvSpPr/>
          <p:nvPr/>
        </p:nvSpPr>
        <p:spPr>
          <a:xfrm>
            <a:off x="5402107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0A32D4D-21F0-3F7F-B767-2765E38B5002}"/>
              </a:ext>
            </a:extLst>
          </p:cNvPr>
          <p:cNvSpPr/>
          <p:nvPr/>
        </p:nvSpPr>
        <p:spPr>
          <a:xfrm>
            <a:off x="6307423" y="205574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D4B6A70-0B14-6A37-C4B6-91B88DE9A317}"/>
              </a:ext>
            </a:extLst>
          </p:cNvPr>
          <p:cNvCxnSpPr>
            <a:cxnSpLocks/>
            <a:stCxn id="53" idx="6"/>
            <a:endCxn id="56" idx="1"/>
          </p:cNvCxnSpPr>
          <p:nvPr/>
        </p:nvCxnSpPr>
        <p:spPr>
          <a:xfrm>
            <a:off x="6490303" y="2147188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2925370-3A24-6721-A77D-80A0AF16CDC6}"/>
              </a:ext>
            </a:extLst>
          </p:cNvPr>
          <p:cNvSpPr/>
          <p:nvPr/>
        </p:nvSpPr>
        <p:spPr>
          <a:xfrm>
            <a:off x="8190092" y="1854827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15014FC-B6E8-A47B-1FEB-994E0C1183BD}"/>
              </a:ext>
            </a:extLst>
          </p:cNvPr>
          <p:cNvSpPr/>
          <p:nvPr/>
        </p:nvSpPr>
        <p:spPr>
          <a:xfrm>
            <a:off x="7532808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133D64-7003-0773-F01B-7BEF8602026F}"/>
              </a:ext>
            </a:extLst>
          </p:cNvPr>
          <p:cNvSpPr txBox="1"/>
          <p:nvPr/>
        </p:nvSpPr>
        <p:spPr>
          <a:xfrm>
            <a:off x="1517541" y="1947132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79213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190E-B47D-46BB-196B-98E9CDBD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a List "Destructively" (in-place)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570E8-5310-13A1-35AD-95A64F91E5D1}"/>
              </a:ext>
            </a:extLst>
          </p:cNvPr>
          <p:cNvSpPr txBox="1"/>
          <p:nvPr/>
        </p:nvSpPr>
        <p:spPr>
          <a:xfrm>
            <a:off x="924706" y="2763734"/>
            <a:ext cx="4647426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squaring elements (recursion)</a:t>
            </a:r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squares_change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l){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(l)) {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*= l-&gt;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squares_change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(l-&gt;next);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67904F-8F5E-D407-3B13-8BEED7185A6D}"/>
              </a:ext>
            </a:extLst>
          </p:cNvPr>
          <p:cNvSpPr txBox="1"/>
          <p:nvPr/>
        </p:nvSpPr>
        <p:spPr>
          <a:xfrm>
            <a:off x="6553981" y="2763734"/>
            <a:ext cx="4786888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squaring elements (iteration)</a:t>
            </a: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squares_change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(l) { 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*= l-&gt;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 = l-&gt;next;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FB17FD-3AA9-BAEA-298B-84954A8A87A2}"/>
              </a:ext>
            </a:extLst>
          </p:cNvPr>
          <p:cNvSpPr txBox="1"/>
          <p:nvPr/>
        </p:nvSpPr>
        <p:spPr>
          <a:xfrm>
            <a:off x="1652587" y="1162303"/>
            <a:ext cx="65998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 = cons(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)));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99EBC1-40A4-B1D2-025D-C06639AFEFC9}"/>
              </a:ext>
            </a:extLst>
          </p:cNvPr>
          <p:cNvSpPr/>
          <p:nvPr/>
        </p:nvSpPr>
        <p:spPr>
          <a:xfrm>
            <a:off x="3855538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944330F-2964-6BC5-A9EF-52B4DF4C7040}"/>
              </a:ext>
            </a:extLst>
          </p:cNvPr>
          <p:cNvSpPr/>
          <p:nvPr/>
        </p:nvSpPr>
        <p:spPr>
          <a:xfrm>
            <a:off x="3198254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E2E1805-27AB-E8B4-099B-A926C4BD19DB}"/>
              </a:ext>
            </a:extLst>
          </p:cNvPr>
          <p:cNvSpPr/>
          <p:nvPr/>
        </p:nvSpPr>
        <p:spPr>
          <a:xfrm>
            <a:off x="4103570" y="205574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3D3A3FA-1430-B902-C920-DE2B3C626F37}"/>
              </a:ext>
            </a:extLst>
          </p:cNvPr>
          <p:cNvCxnSpPr>
            <a:cxnSpLocks/>
            <a:stCxn id="46" idx="6"/>
            <a:endCxn id="50" idx="1"/>
          </p:cNvCxnSpPr>
          <p:nvPr/>
        </p:nvCxnSpPr>
        <p:spPr>
          <a:xfrm>
            <a:off x="4286450" y="2147187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DC71F5-48F5-09E9-2621-DAA5024EF314}"/>
              </a:ext>
            </a:extLst>
          </p:cNvPr>
          <p:cNvCxnSpPr>
            <a:cxnSpLocks/>
            <a:stCxn id="55" idx="3"/>
            <a:endCxn id="45" idx="1"/>
          </p:cNvCxnSpPr>
          <p:nvPr/>
        </p:nvCxnSpPr>
        <p:spPr>
          <a:xfrm>
            <a:off x="2091432" y="2147187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111AA62C-EB9E-3783-5AF7-FB6E09C2EFA5}"/>
              </a:ext>
            </a:extLst>
          </p:cNvPr>
          <p:cNvSpPr/>
          <p:nvPr/>
        </p:nvSpPr>
        <p:spPr>
          <a:xfrm>
            <a:off x="6059391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E019AE-A870-0C3A-6B48-672076E52C6D}"/>
              </a:ext>
            </a:extLst>
          </p:cNvPr>
          <p:cNvSpPr/>
          <p:nvPr/>
        </p:nvSpPr>
        <p:spPr>
          <a:xfrm>
            <a:off x="5402107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FE7D9FC-C86C-A767-D491-D34932AF35AC}"/>
              </a:ext>
            </a:extLst>
          </p:cNvPr>
          <p:cNvSpPr/>
          <p:nvPr/>
        </p:nvSpPr>
        <p:spPr>
          <a:xfrm>
            <a:off x="6307423" y="205574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68E1309-A702-4EA2-2924-164BC798D743}"/>
              </a:ext>
            </a:extLst>
          </p:cNvPr>
          <p:cNvCxnSpPr>
            <a:cxnSpLocks/>
            <a:stCxn id="51" idx="6"/>
            <a:endCxn id="54" idx="1"/>
          </p:cNvCxnSpPr>
          <p:nvPr/>
        </p:nvCxnSpPr>
        <p:spPr>
          <a:xfrm>
            <a:off x="6490303" y="2147188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6C68F290-9DC1-7C63-E08B-F61FE820E02E}"/>
              </a:ext>
            </a:extLst>
          </p:cNvPr>
          <p:cNvSpPr/>
          <p:nvPr/>
        </p:nvSpPr>
        <p:spPr>
          <a:xfrm>
            <a:off x="8190092" y="1854827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9DED6F0-2B42-0E4A-5574-D585663461B4}"/>
              </a:ext>
            </a:extLst>
          </p:cNvPr>
          <p:cNvSpPr/>
          <p:nvPr/>
        </p:nvSpPr>
        <p:spPr>
          <a:xfrm>
            <a:off x="7532808" y="185482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5889F6-8EF7-6141-B092-9474F480D19C}"/>
              </a:ext>
            </a:extLst>
          </p:cNvPr>
          <p:cNvSpPr txBox="1"/>
          <p:nvPr/>
        </p:nvSpPr>
        <p:spPr>
          <a:xfrm>
            <a:off x="1517541" y="1947132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494061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190E-B47D-46BB-196B-98E9CDBD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Squares to a New List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570E8-5310-13A1-35AD-95A64F91E5D1}"/>
              </a:ext>
            </a:extLst>
          </p:cNvPr>
          <p:cNvSpPr txBox="1"/>
          <p:nvPr/>
        </p:nvSpPr>
        <p:spPr>
          <a:xfrm>
            <a:off x="361972" y="2926120"/>
            <a:ext cx="4504759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(recursion)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(in))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cons((in-&gt;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(in-&gt;next));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67904F-8F5E-D407-3B13-8BEED7185A6D}"/>
              </a:ext>
            </a:extLst>
          </p:cNvPr>
          <p:cNvSpPr txBox="1"/>
          <p:nvPr/>
        </p:nvSpPr>
        <p:spPr>
          <a:xfrm>
            <a:off x="6307423" y="2743240"/>
            <a:ext cx="5492209" cy="4031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(iteration)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item = cons((in-&gt;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element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C279B-7CC9-6EA2-ADFE-04E9F516ED5F}"/>
              </a:ext>
            </a:extLst>
          </p:cNvPr>
          <p:cNvSpPr/>
          <p:nvPr/>
        </p:nvSpPr>
        <p:spPr>
          <a:xfrm>
            <a:off x="3245939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D9E15E-4EB8-391B-AB78-D6DC7DC65B1B}"/>
              </a:ext>
            </a:extLst>
          </p:cNvPr>
          <p:cNvSpPr/>
          <p:nvPr/>
        </p:nvSpPr>
        <p:spPr>
          <a:xfrm>
            <a:off x="2588655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3FD119-54B8-4DE7-A0F7-E34E8114A82B}"/>
              </a:ext>
            </a:extLst>
          </p:cNvPr>
          <p:cNvSpPr/>
          <p:nvPr/>
        </p:nvSpPr>
        <p:spPr>
          <a:xfrm>
            <a:off x="3493971" y="149852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EAFE5E-0A05-7C3E-BBB0-EB7B1A6011EB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3676851" y="1589969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281B05-D52A-9383-96B9-3EF0CC9B149F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1481833" y="1589969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63869E3-259D-F29F-6FA2-1CA082D1F3E1}"/>
              </a:ext>
            </a:extLst>
          </p:cNvPr>
          <p:cNvSpPr/>
          <p:nvPr/>
        </p:nvSpPr>
        <p:spPr>
          <a:xfrm>
            <a:off x="5449792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084C1D-029B-5D01-B721-E38676358605}"/>
              </a:ext>
            </a:extLst>
          </p:cNvPr>
          <p:cNvSpPr/>
          <p:nvPr/>
        </p:nvSpPr>
        <p:spPr>
          <a:xfrm>
            <a:off x="4792508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8EE330-0D30-B71E-AB63-055E16D0678F}"/>
              </a:ext>
            </a:extLst>
          </p:cNvPr>
          <p:cNvSpPr/>
          <p:nvPr/>
        </p:nvSpPr>
        <p:spPr>
          <a:xfrm>
            <a:off x="5697824" y="149853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2B9EE8-D670-E39F-6250-7801656B71AE}"/>
              </a:ext>
            </a:extLst>
          </p:cNvPr>
          <p:cNvCxnSpPr>
            <a:cxnSpLocks/>
            <a:stCxn id="11" idx="6"/>
            <a:endCxn id="14" idx="1"/>
          </p:cNvCxnSpPr>
          <p:nvPr/>
        </p:nvCxnSpPr>
        <p:spPr>
          <a:xfrm>
            <a:off x="5880704" y="1589970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BC11028-456F-ED09-A452-ECCA69CDFBD8}"/>
              </a:ext>
            </a:extLst>
          </p:cNvPr>
          <p:cNvSpPr/>
          <p:nvPr/>
        </p:nvSpPr>
        <p:spPr>
          <a:xfrm>
            <a:off x="7580493" y="1297609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493F23-650E-7CB7-F991-92DC15E21250}"/>
              </a:ext>
            </a:extLst>
          </p:cNvPr>
          <p:cNvSpPr/>
          <p:nvPr/>
        </p:nvSpPr>
        <p:spPr>
          <a:xfrm>
            <a:off x="6923209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DE9F48-E0F4-AE9B-EC98-E312BCCEA12F}"/>
              </a:ext>
            </a:extLst>
          </p:cNvPr>
          <p:cNvSpPr txBox="1"/>
          <p:nvPr/>
        </p:nvSpPr>
        <p:spPr>
          <a:xfrm>
            <a:off x="907942" y="1389914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DA38B7-E51D-714A-BC3D-B77DBDEE1CBB}"/>
              </a:ext>
            </a:extLst>
          </p:cNvPr>
          <p:cNvSpPr/>
          <p:nvPr/>
        </p:nvSpPr>
        <p:spPr>
          <a:xfrm>
            <a:off x="3245939" y="2067324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171C3A-7C5B-D7E8-B0A2-0102E3F412FE}"/>
              </a:ext>
            </a:extLst>
          </p:cNvPr>
          <p:cNvSpPr/>
          <p:nvPr/>
        </p:nvSpPr>
        <p:spPr>
          <a:xfrm>
            <a:off x="2588655" y="2067324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64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8405FD0-DD00-B8FA-D5D8-8033408EFA01}"/>
              </a:ext>
            </a:extLst>
          </p:cNvPr>
          <p:cNvSpPr/>
          <p:nvPr/>
        </p:nvSpPr>
        <p:spPr>
          <a:xfrm>
            <a:off x="3493971" y="2268244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E3EF2D-AE1C-61E1-B115-AE05DD9DF65C}"/>
              </a:ext>
            </a:extLst>
          </p:cNvPr>
          <p:cNvCxnSpPr>
            <a:cxnSpLocks/>
            <a:stCxn id="20" idx="6"/>
            <a:endCxn id="24" idx="1"/>
          </p:cNvCxnSpPr>
          <p:nvPr/>
        </p:nvCxnSpPr>
        <p:spPr>
          <a:xfrm>
            <a:off x="3676851" y="2359684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6CDF731-C6C3-6AA9-E26F-037F4E3B8F00}"/>
              </a:ext>
            </a:extLst>
          </p:cNvPr>
          <p:cNvCxnSpPr>
            <a:cxnSpLocks/>
            <a:stCxn id="30" idx="3"/>
            <a:endCxn id="19" idx="1"/>
          </p:cNvCxnSpPr>
          <p:nvPr/>
        </p:nvCxnSpPr>
        <p:spPr>
          <a:xfrm>
            <a:off x="1481833" y="2359684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0B40574-60E5-FD99-FB95-5B81012366B7}"/>
              </a:ext>
            </a:extLst>
          </p:cNvPr>
          <p:cNvSpPr/>
          <p:nvPr/>
        </p:nvSpPr>
        <p:spPr>
          <a:xfrm>
            <a:off x="5449792" y="2067324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4FBDF9-E593-C0E9-2938-CDE5300407FA}"/>
              </a:ext>
            </a:extLst>
          </p:cNvPr>
          <p:cNvSpPr/>
          <p:nvPr/>
        </p:nvSpPr>
        <p:spPr>
          <a:xfrm>
            <a:off x="4792508" y="2067324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81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85F4C73-1E04-EF20-4FFB-91BB8F9D13DF}"/>
              </a:ext>
            </a:extLst>
          </p:cNvPr>
          <p:cNvSpPr/>
          <p:nvPr/>
        </p:nvSpPr>
        <p:spPr>
          <a:xfrm>
            <a:off x="5697824" y="226824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5A64F7-416E-A2C7-3393-0D9115F78AE8}"/>
              </a:ext>
            </a:extLst>
          </p:cNvPr>
          <p:cNvCxnSpPr>
            <a:cxnSpLocks/>
            <a:stCxn id="25" idx="6"/>
            <a:endCxn id="28" idx="1"/>
          </p:cNvCxnSpPr>
          <p:nvPr/>
        </p:nvCxnSpPr>
        <p:spPr>
          <a:xfrm>
            <a:off x="5880704" y="2359685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8C030E6-9345-889F-A119-510F189C3B84}"/>
              </a:ext>
            </a:extLst>
          </p:cNvPr>
          <p:cNvSpPr/>
          <p:nvPr/>
        </p:nvSpPr>
        <p:spPr>
          <a:xfrm>
            <a:off x="7580493" y="2067324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1CEC33-A0D9-EF97-F7E6-8023B8C22F3B}"/>
              </a:ext>
            </a:extLst>
          </p:cNvPr>
          <p:cNvSpPr/>
          <p:nvPr/>
        </p:nvSpPr>
        <p:spPr>
          <a:xfrm>
            <a:off x="6923209" y="2067324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C0A6F8-C288-CB55-C418-70FAEC95297A}"/>
              </a:ext>
            </a:extLst>
          </p:cNvPr>
          <p:cNvSpPr txBox="1"/>
          <p:nvPr/>
        </p:nvSpPr>
        <p:spPr>
          <a:xfrm>
            <a:off x="745068" y="2159629"/>
            <a:ext cx="736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</p:spTree>
    <p:extLst>
      <p:ext uri="{BB962C8B-B14F-4D97-AF65-F5344CB8AC3E}">
        <p14:creationId xmlns:p14="http://schemas.microsoft.com/office/powerpoint/2010/main" val="111112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190E-B47D-46BB-196B-98E9CDBD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Even Elements to a New List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570E8-5310-13A1-35AD-95A64F91E5D1}"/>
              </a:ext>
            </a:extLst>
          </p:cNvPr>
          <p:cNvSpPr txBox="1"/>
          <p:nvPr/>
        </p:nvSpPr>
        <p:spPr>
          <a:xfrm>
            <a:off x="361972" y="2773721"/>
            <a:ext cx="5615640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finding even elements (recursion)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evens(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(in))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(first(in) %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cons(first(in), evens(rest(in)));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evens(rest(in));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67904F-8F5E-D407-3B13-8BEED7185A6D}"/>
              </a:ext>
            </a:extLst>
          </p:cNvPr>
          <p:cNvSpPr txBox="1"/>
          <p:nvPr/>
        </p:nvSpPr>
        <p:spPr>
          <a:xfrm>
            <a:off x="6653707" y="2239492"/>
            <a:ext cx="5368777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finding even elements (iteration)</a:t>
            </a: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evens(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 {  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  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%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item = cons(in-&gt;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even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tail-&gt;next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even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out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  in = in-&gt;next;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C279B-7CC9-6EA2-ADFE-04E9F516ED5F}"/>
              </a:ext>
            </a:extLst>
          </p:cNvPr>
          <p:cNvSpPr/>
          <p:nvPr/>
        </p:nvSpPr>
        <p:spPr>
          <a:xfrm>
            <a:off x="3076605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D9E15E-4EB8-391B-AB78-D6DC7DC65B1B}"/>
              </a:ext>
            </a:extLst>
          </p:cNvPr>
          <p:cNvSpPr/>
          <p:nvPr/>
        </p:nvSpPr>
        <p:spPr>
          <a:xfrm>
            <a:off x="2419321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3FD119-54B8-4DE7-A0F7-E34E8114A82B}"/>
              </a:ext>
            </a:extLst>
          </p:cNvPr>
          <p:cNvSpPr/>
          <p:nvPr/>
        </p:nvSpPr>
        <p:spPr>
          <a:xfrm>
            <a:off x="3324637" y="149852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EAFE5E-0A05-7C3E-BBB0-EB7B1A6011EB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3507517" y="1589969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281B05-D52A-9383-96B9-3EF0CC9B149F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1312499" y="1589969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63869E3-259D-F29F-6FA2-1CA082D1F3E1}"/>
              </a:ext>
            </a:extLst>
          </p:cNvPr>
          <p:cNvSpPr/>
          <p:nvPr/>
        </p:nvSpPr>
        <p:spPr>
          <a:xfrm>
            <a:off x="5280458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084C1D-029B-5D01-B721-E38676358605}"/>
              </a:ext>
            </a:extLst>
          </p:cNvPr>
          <p:cNvSpPr/>
          <p:nvPr/>
        </p:nvSpPr>
        <p:spPr>
          <a:xfrm>
            <a:off x="4623174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8EE330-0D30-B71E-AB63-055E16D0678F}"/>
              </a:ext>
            </a:extLst>
          </p:cNvPr>
          <p:cNvSpPr/>
          <p:nvPr/>
        </p:nvSpPr>
        <p:spPr>
          <a:xfrm>
            <a:off x="5528490" y="149853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2B9EE8-D670-E39F-6250-7801656B71AE}"/>
              </a:ext>
            </a:extLst>
          </p:cNvPr>
          <p:cNvCxnSpPr>
            <a:cxnSpLocks/>
            <a:stCxn id="11" idx="6"/>
            <a:endCxn id="14" idx="1"/>
          </p:cNvCxnSpPr>
          <p:nvPr/>
        </p:nvCxnSpPr>
        <p:spPr>
          <a:xfrm>
            <a:off x="5711370" y="1589970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BC11028-456F-ED09-A452-ECCA69CDFBD8}"/>
              </a:ext>
            </a:extLst>
          </p:cNvPr>
          <p:cNvSpPr/>
          <p:nvPr/>
        </p:nvSpPr>
        <p:spPr>
          <a:xfrm>
            <a:off x="7411159" y="1297609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493F23-650E-7CB7-F991-92DC15E21250}"/>
              </a:ext>
            </a:extLst>
          </p:cNvPr>
          <p:cNvSpPr/>
          <p:nvPr/>
        </p:nvSpPr>
        <p:spPr>
          <a:xfrm>
            <a:off x="6753875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DE9F48-E0F4-AE9B-EC98-E312BCCEA12F}"/>
              </a:ext>
            </a:extLst>
          </p:cNvPr>
          <p:cNvSpPr txBox="1"/>
          <p:nvPr/>
        </p:nvSpPr>
        <p:spPr>
          <a:xfrm>
            <a:off x="738608" y="1389914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</a:t>
            </a:r>
          </a:p>
        </p:txBody>
      </p:sp>
      <p:sp>
        <p:nvSpPr>
          <p:cNvPr id="18" name="Rounded Rectangular Callout 17">
            <a:extLst>
              <a:ext uri="{FF2B5EF4-FFF2-40B4-BE49-F238E27FC236}">
                <a16:creationId xmlns:a16="http://schemas.microsoft.com/office/drawing/2014/main" id="{4A624181-1CE4-7491-C4A6-5DA1E6BD888C}"/>
              </a:ext>
            </a:extLst>
          </p:cNvPr>
          <p:cNvSpPr/>
          <p:nvPr/>
        </p:nvSpPr>
        <p:spPr>
          <a:xfrm>
            <a:off x="2149293" y="5928374"/>
            <a:ext cx="4353107" cy="784634"/>
          </a:xfrm>
          <a:prstGeom prst="wedgeRoundRectCallout">
            <a:avLst>
              <a:gd name="adj1" fmla="val -37402"/>
              <a:gd name="adj2" fmla="val -12986"/>
              <a:gd name="adj3" fmla="val 16667"/>
            </a:avLst>
          </a:prstGeom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/>
              <a:t>Why does iteration code look much longer than the recursion code?</a:t>
            </a:r>
            <a:endParaRPr lang="en-US" sz="2200" dirty="0"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781F48-88DE-B818-6285-26C3DA922C83}"/>
              </a:ext>
            </a:extLst>
          </p:cNvPr>
          <p:cNvSpPr/>
          <p:nvPr/>
        </p:nvSpPr>
        <p:spPr>
          <a:xfrm>
            <a:off x="3076605" y="203857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AD7D2B-CCD5-A089-4D0F-9A891F64352F}"/>
              </a:ext>
            </a:extLst>
          </p:cNvPr>
          <p:cNvSpPr/>
          <p:nvPr/>
        </p:nvSpPr>
        <p:spPr>
          <a:xfrm>
            <a:off x="2419321" y="203857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AD80B6E-5998-AAAE-4B36-386D3BDA2E30}"/>
              </a:ext>
            </a:extLst>
          </p:cNvPr>
          <p:cNvSpPr/>
          <p:nvPr/>
        </p:nvSpPr>
        <p:spPr>
          <a:xfrm>
            <a:off x="3324637" y="2239492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4BAD0D-66FD-12F8-CE88-FC8B8E24C145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3507517" y="2330932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2B756D4-4C0B-5B17-BB81-2C95CEE0E4D5}"/>
              </a:ext>
            </a:extLst>
          </p:cNvPr>
          <p:cNvCxnSpPr>
            <a:cxnSpLocks/>
            <a:stCxn id="44" idx="3"/>
            <a:endCxn id="20" idx="1"/>
          </p:cNvCxnSpPr>
          <p:nvPr/>
        </p:nvCxnSpPr>
        <p:spPr>
          <a:xfrm>
            <a:off x="1312500" y="2330932"/>
            <a:ext cx="1106821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7BECFE6-5F90-2692-66A2-575CBF71AF56}"/>
              </a:ext>
            </a:extLst>
          </p:cNvPr>
          <p:cNvSpPr/>
          <p:nvPr/>
        </p:nvSpPr>
        <p:spPr>
          <a:xfrm>
            <a:off x="5277560" y="2038572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133162-4CF5-F02D-6F28-35C71BA46383}"/>
              </a:ext>
            </a:extLst>
          </p:cNvPr>
          <p:cNvSpPr/>
          <p:nvPr/>
        </p:nvSpPr>
        <p:spPr>
          <a:xfrm>
            <a:off x="4620276" y="203857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0FA92B-D01D-6C0D-726F-8CEE7C0D82A2}"/>
              </a:ext>
            </a:extLst>
          </p:cNvPr>
          <p:cNvSpPr txBox="1"/>
          <p:nvPr/>
        </p:nvSpPr>
        <p:spPr>
          <a:xfrm>
            <a:off x="655216" y="2130877"/>
            <a:ext cx="657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</p:spTree>
    <p:extLst>
      <p:ext uri="{BB962C8B-B14F-4D97-AF65-F5344CB8AC3E}">
        <p14:creationId xmlns:p14="http://schemas.microsoft.com/office/powerpoint/2010/main" val="348064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E7CD-1E98-E2A3-F072-25006F7A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25E7D-D255-53EE-5BDD-A91A452B9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Array: Contiguous, sequential memory layout</a:t>
            </a:r>
          </a:p>
          <a:p>
            <a:pPr lvl="1"/>
            <a:r>
              <a:rPr lang="en-US" dirty="0"/>
              <a:t>Fast access to any element</a:t>
            </a:r>
          </a:p>
          <a:p>
            <a:pPr lvl="1"/>
            <a:r>
              <a:rPr lang="en-US" dirty="0"/>
              <a:t>Cannot grow</a:t>
            </a:r>
          </a:p>
          <a:p>
            <a:endParaRPr lang="en-US" dirty="0"/>
          </a:p>
          <a:p>
            <a:r>
              <a:rPr lang="en-US" dirty="0"/>
              <a:t>Linked list: </a:t>
            </a:r>
          </a:p>
          <a:p>
            <a:pPr lvl="1"/>
            <a:r>
              <a:rPr lang="en-US" dirty="0"/>
              <a:t>Slower access to elements</a:t>
            </a:r>
          </a:p>
          <a:p>
            <a:pPr lvl="1"/>
            <a:r>
              <a:rPr lang="en-US" dirty="0"/>
              <a:t>Can grow dynamically</a:t>
            </a:r>
          </a:p>
          <a:p>
            <a:pPr lvl="1"/>
            <a:r>
              <a:rPr lang="en-US" dirty="0"/>
              <a:t>More operations next time</a:t>
            </a:r>
          </a:p>
        </p:txBody>
      </p:sp>
    </p:spTree>
    <p:extLst>
      <p:ext uri="{BB962C8B-B14F-4D97-AF65-F5344CB8AC3E}">
        <p14:creationId xmlns:p14="http://schemas.microsoft.com/office/powerpoint/2010/main" val="3295895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E7340-2740-48DD-98D4-98EE5BC5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06E39-514A-3AD8-8AE6-CBDB8B19D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12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a Linked List (recursion)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CBEA5-FF8A-A77E-C544-5B1872EB3DBB}"/>
              </a:ext>
            </a:extLst>
          </p:cNvPr>
          <p:cNvSpPr txBox="1"/>
          <p:nvPr/>
        </p:nvSpPr>
        <p:spPr>
          <a:xfrm>
            <a:off x="6292281" y="1455833"/>
            <a:ext cx="5492209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"first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3BE74-8C16-951C-AFDF-BA400A42324B}"/>
              </a:ext>
            </a:extLst>
          </p:cNvPr>
          <p:cNvSpPr txBox="1"/>
          <p:nvPr/>
        </p:nvSpPr>
        <p:spPr>
          <a:xfrm>
            <a:off x="924706" y="2763734"/>
            <a:ext cx="5205271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summing a linked list 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recursion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(l))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first(l) + sum(rest(l));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4F74DD-1124-CD18-77B1-A73BB9185D64}"/>
              </a:ext>
            </a:extLst>
          </p:cNvPr>
          <p:cNvSpPr/>
          <p:nvPr/>
        </p:nvSpPr>
        <p:spPr>
          <a:xfrm>
            <a:off x="3311215" y="1501603"/>
            <a:ext cx="657284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C3CAA-B37A-E148-8463-6E9061C278F4}"/>
              </a:ext>
            </a:extLst>
          </p:cNvPr>
          <p:cNvSpPr/>
          <p:nvPr/>
        </p:nvSpPr>
        <p:spPr>
          <a:xfrm>
            <a:off x="2349688" y="1501603"/>
            <a:ext cx="961527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3AA36F0-D2DF-26B5-80BA-15EC775FFEFC}"/>
              </a:ext>
            </a:extLst>
          </p:cNvPr>
          <p:cNvSpPr/>
          <p:nvPr/>
        </p:nvSpPr>
        <p:spPr>
          <a:xfrm>
            <a:off x="3562677" y="166443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532EF8-F152-E191-8B1E-E971D623B7AB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3745557" y="1755876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8E4819-37B8-F393-0A9F-FCC05BEB7DCB}"/>
              </a:ext>
            </a:extLst>
          </p:cNvPr>
          <p:cNvSpPr txBox="1"/>
          <p:nvPr/>
        </p:nvSpPr>
        <p:spPr>
          <a:xfrm>
            <a:off x="2507285" y="2183301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3E6BEF-C0E5-2575-7350-3448836B0DED}"/>
              </a:ext>
            </a:extLst>
          </p:cNvPr>
          <p:cNvSpPr txBox="1"/>
          <p:nvPr/>
        </p:nvSpPr>
        <p:spPr>
          <a:xfrm>
            <a:off x="3278347" y="2183301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086BD8FC-979A-91CD-4369-A85D2622D740}"/>
              </a:ext>
            </a:extLst>
          </p:cNvPr>
          <p:cNvSpPr/>
          <p:nvPr/>
        </p:nvSpPr>
        <p:spPr>
          <a:xfrm rot="16200000">
            <a:off x="2706894" y="1611308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BE7F8482-FC9C-D205-E842-F0DC2AF220F8}"/>
              </a:ext>
            </a:extLst>
          </p:cNvPr>
          <p:cNvSpPr/>
          <p:nvPr/>
        </p:nvSpPr>
        <p:spPr>
          <a:xfrm rot="16200000">
            <a:off x="3526059" y="1756437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C9D852-9702-F72C-409A-DBD269031089}"/>
              </a:ext>
            </a:extLst>
          </p:cNvPr>
          <p:cNvCxnSpPr>
            <a:cxnSpLocks/>
          </p:cNvCxnSpPr>
          <p:nvPr/>
        </p:nvCxnSpPr>
        <p:spPr>
          <a:xfrm>
            <a:off x="1728022" y="1798709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1588F4-6B62-D74E-5D75-835903906AE7}"/>
              </a:ext>
            </a:extLst>
          </p:cNvPr>
          <p:cNvSpPr txBox="1"/>
          <p:nvPr/>
        </p:nvSpPr>
        <p:spPr>
          <a:xfrm>
            <a:off x="1153394" y="1594230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912727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a Linked List (Iteration)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CBEA5-FF8A-A77E-C544-5B1872EB3DBB}"/>
              </a:ext>
            </a:extLst>
          </p:cNvPr>
          <p:cNvSpPr txBox="1"/>
          <p:nvPr/>
        </p:nvSpPr>
        <p:spPr>
          <a:xfrm>
            <a:off x="6292281" y="1455833"/>
            <a:ext cx="5492209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"first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4F74DD-1124-CD18-77B1-A73BB9185D64}"/>
              </a:ext>
            </a:extLst>
          </p:cNvPr>
          <p:cNvSpPr/>
          <p:nvPr/>
        </p:nvSpPr>
        <p:spPr>
          <a:xfrm>
            <a:off x="3311215" y="1501603"/>
            <a:ext cx="657284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C3CAA-B37A-E148-8463-6E9061C278F4}"/>
              </a:ext>
            </a:extLst>
          </p:cNvPr>
          <p:cNvSpPr/>
          <p:nvPr/>
        </p:nvSpPr>
        <p:spPr>
          <a:xfrm>
            <a:off x="2349688" y="1501603"/>
            <a:ext cx="961527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3AA36F0-D2DF-26B5-80BA-15EC775FFEFC}"/>
              </a:ext>
            </a:extLst>
          </p:cNvPr>
          <p:cNvSpPr/>
          <p:nvPr/>
        </p:nvSpPr>
        <p:spPr>
          <a:xfrm>
            <a:off x="3562677" y="166443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532EF8-F152-E191-8B1E-E971D623B7AB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3745557" y="1755876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8E4819-37B8-F393-0A9F-FCC05BEB7DCB}"/>
              </a:ext>
            </a:extLst>
          </p:cNvPr>
          <p:cNvSpPr txBox="1"/>
          <p:nvPr/>
        </p:nvSpPr>
        <p:spPr>
          <a:xfrm>
            <a:off x="2507285" y="2183301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3E6BEF-C0E5-2575-7350-3448836B0DED}"/>
              </a:ext>
            </a:extLst>
          </p:cNvPr>
          <p:cNvSpPr txBox="1"/>
          <p:nvPr/>
        </p:nvSpPr>
        <p:spPr>
          <a:xfrm>
            <a:off x="3278347" y="2183301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086BD8FC-979A-91CD-4369-A85D2622D740}"/>
              </a:ext>
            </a:extLst>
          </p:cNvPr>
          <p:cNvSpPr/>
          <p:nvPr/>
        </p:nvSpPr>
        <p:spPr>
          <a:xfrm rot="16200000">
            <a:off x="2706894" y="1611308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BE7F8482-FC9C-D205-E842-F0DC2AF220F8}"/>
              </a:ext>
            </a:extLst>
          </p:cNvPr>
          <p:cNvSpPr/>
          <p:nvPr/>
        </p:nvSpPr>
        <p:spPr>
          <a:xfrm rot="16200000">
            <a:off x="3526059" y="1756437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C9D852-9702-F72C-409A-DBD269031089}"/>
              </a:ext>
            </a:extLst>
          </p:cNvPr>
          <p:cNvCxnSpPr>
            <a:cxnSpLocks/>
          </p:cNvCxnSpPr>
          <p:nvPr/>
        </p:nvCxnSpPr>
        <p:spPr>
          <a:xfrm>
            <a:off x="1728022" y="1798709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1588F4-6B62-D74E-5D75-835903906AE7}"/>
              </a:ext>
            </a:extLst>
          </p:cNvPr>
          <p:cNvSpPr txBox="1"/>
          <p:nvPr/>
        </p:nvSpPr>
        <p:spPr>
          <a:xfrm>
            <a:off x="1153394" y="1594230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FFF9F-8E55-37CD-997B-3C22210A7526}"/>
              </a:ext>
            </a:extLst>
          </p:cNvPr>
          <p:cNvSpPr txBox="1"/>
          <p:nvPr/>
        </p:nvSpPr>
        <p:spPr>
          <a:xfrm>
            <a:off x="924706" y="2761221"/>
            <a:ext cx="5205271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summing a linked list 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iteration</a:t>
            </a:r>
            <a:r>
              <a:rPr lang="en-US" dirty="0">
                <a:solidFill>
                  <a:srgbClr val="0000A3"/>
                </a:solidFill>
                <a:effectLst/>
                <a:latin typeface="Menlo" panose="020B0609030804020204" pitchFamily="49" charset="0"/>
              </a:rPr>
              <a:t>)</a:t>
            </a:r>
            <a:endParaRPr lang="en-US" dirty="0">
              <a:solidFill>
                <a:srgbClr val="400BD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res += l-&gt;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 = l-&gt;next;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9526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Freeing a List (Recursion)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CBEA5-FF8A-A77E-C544-5B1872EB3DBB}"/>
              </a:ext>
            </a:extLst>
          </p:cNvPr>
          <p:cNvSpPr txBox="1"/>
          <p:nvPr/>
        </p:nvSpPr>
        <p:spPr>
          <a:xfrm>
            <a:off x="6292281" y="1455833"/>
            <a:ext cx="5492209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"first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3BE74-8C16-951C-AFDF-BA400A42324B}"/>
              </a:ext>
            </a:extLst>
          </p:cNvPr>
          <p:cNvSpPr txBox="1"/>
          <p:nvPr/>
        </p:nvSpPr>
        <p:spPr>
          <a:xfrm>
            <a:off x="924706" y="2763734"/>
            <a:ext cx="4089581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list_free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(l))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list_free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(rest(l));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free(l);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4F74DD-1124-CD18-77B1-A73BB9185D64}"/>
              </a:ext>
            </a:extLst>
          </p:cNvPr>
          <p:cNvSpPr/>
          <p:nvPr/>
        </p:nvSpPr>
        <p:spPr>
          <a:xfrm>
            <a:off x="3311215" y="1501603"/>
            <a:ext cx="657284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C3CAA-B37A-E148-8463-6E9061C278F4}"/>
              </a:ext>
            </a:extLst>
          </p:cNvPr>
          <p:cNvSpPr/>
          <p:nvPr/>
        </p:nvSpPr>
        <p:spPr>
          <a:xfrm>
            <a:off x="2349688" y="1501603"/>
            <a:ext cx="961527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3AA36F0-D2DF-26B5-80BA-15EC775FFEFC}"/>
              </a:ext>
            </a:extLst>
          </p:cNvPr>
          <p:cNvSpPr/>
          <p:nvPr/>
        </p:nvSpPr>
        <p:spPr>
          <a:xfrm>
            <a:off x="3562677" y="166443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532EF8-F152-E191-8B1E-E971D623B7AB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3745557" y="1755876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8E4819-37B8-F393-0A9F-FCC05BEB7DCB}"/>
              </a:ext>
            </a:extLst>
          </p:cNvPr>
          <p:cNvSpPr txBox="1"/>
          <p:nvPr/>
        </p:nvSpPr>
        <p:spPr>
          <a:xfrm>
            <a:off x="2507285" y="2183301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3E6BEF-C0E5-2575-7350-3448836B0DED}"/>
              </a:ext>
            </a:extLst>
          </p:cNvPr>
          <p:cNvSpPr txBox="1"/>
          <p:nvPr/>
        </p:nvSpPr>
        <p:spPr>
          <a:xfrm>
            <a:off x="3278347" y="2183301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086BD8FC-979A-91CD-4369-A85D2622D740}"/>
              </a:ext>
            </a:extLst>
          </p:cNvPr>
          <p:cNvSpPr/>
          <p:nvPr/>
        </p:nvSpPr>
        <p:spPr>
          <a:xfrm rot="16200000">
            <a:off x="2706894" y="1611308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BE7F8482-FC9C-D205-E842-F0DC2AF220F8}"/>
              </a:ext>
            </a:extLst>
          </p:cNvPr>
          <p:cNvSpPr/>
          <p:nvPr/>
        </p:nvSpPr>
        <p:spPr>
          <a:xfrm rot="16200000">
            <a:off x="3526059" y="1756437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C9D852-9702-F72C-409A-DBD269031089}"/>
              </a:ext>
            </a:extLst>
          </p:cNvPr>
          <p:cNvCxnSpPr>
            <a:cxnSpLocks/>
          </p:cNvCxnSpPr>
          <p:nvPr/>
        </p:nvCxnSpPr>
        <p:spPr>
          <a:xfrm>
            <a:off x="1728022" y="1798709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1588F4-6B62-D74E-5D75-835903906AE7}"/>
              </a:ext>
            </a:extLst>
          </p:cNvPr>
          <p:cNvSpPr txBox="1"/>
          <p:nvPr/>
        </p:nvSpPr>
        <p:spPr>
          <a:xfrm>
            <a:off x="1153394" y="1594230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500746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Freeing a List (Iteration)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CBEA5-FF8A-A77E-C544-5B1872EB3DBB}"/>
              </a:ext>
            </a:extLst>
          </p:cNvPr>
          <p:cNvSpPr txBox="1"/>
          <p:nvPr/>
        </p:nvSpPr>
        <p:spPr>
          <a:xfrm>
            <a:off x="6292281" y="1455833"/>
            <a:ext cx="5492209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"first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4F74DD-1124-CD18-77B1-A73BB9185D64}"/>
              </a:ext>
            </a:extLst>
          </p:cNvPr>
          <p:cNvSpPr/>
          <p:nvPr/>
        </p:nvSpPr>
        <p:spPr>
          <a:xfrm>
            <a:off x="3311215" y="1501603"/>
            <a:ext cx="657284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C3CAA-B37A-E148-8463-6E9061C278F4}"/>
              </a:ext>
            </a:extLst>
          </p:cNvPr>
          <p:cNvSpPr/>
          <p:nvPr/>
        </p:nvSpPr>
        <p:spPr>
          <a:xfrm>
            <a:off x="2349688" y="1501603"/>
            <a:ext cx="961527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3AA36F0-D2DF-26B5-80BA-15EC775FFEFC}"/>
              </a:ext>
            </a:extLst>
          </p:cNvPr>
          <p:cNvSpPr/>
          <p:nvPr/>
        </p:nvSpPr>
        <p:spPr>
          <a:xfrm>
            <a:off x="3562677" y="166443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532EF8-F152-E191-8B1E-E971D623B7AB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3745557" y="1755876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8E4819-37B8-F393-0A9F-FCC05BEB7DCB}"/>
              </a:ext>
            </a:extLst>
          </p:cNvPr>
          <p:cNvSpPr txBox="1"/>
          <p:nvPr/>
        </p:nvSpPr>
        <p:spPr>
          <a:xfrm>
            <a:off x="2507285" y="2183301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3E6BEF-C0E5-2575-7350-3448836B0DED}"/>
              </a:ext>
            </a:extLst>
          </p:cNvPr>
          <p:cNvSpPr txBox="1"/>
          <p:nvPr/>
        </p:nvSpPr>
        <p:spPr>
          <a:xfrm>
            <a:off x="3278347" y="2183301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086BD8FC-979A-91CD-4369-A85D2622D740}"/>
              </a:ext>
            </a:extLst>
          </p:cNvPr>
          <p:cNvSpPr/>
          <p:nvPr/>
        </p:nvSpPr>
        <p:spPr>
          <a:xfrm rot="16200000">
            <a:off x="2706894" y="1611308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BE7F8482-FC9C-D205-E842-F0DC2AF220F8}"/>
              </a:ext>
            </a:extLst>
          </p:cNvPr>
          <p:cNvSpPr/>
          <p:nvPr/>
        </p:nvSpPr>
        <p:spPr>
          <a:xfrm rot="16200000">
            <a:off x="3526059" y="1756437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C9D852-9702-F72C-409A-DBD269031089}"/>
              </a:ext>
            </a:extLst>
          </p:cNvPr>
          <p:cNvCxnSpPr>
            <a:cxnSpLocks/>
          </p:cNvCxnSpPr>
          <p:nvPr/>
        </p:nvCxnSpPr>
        <p:spPr>
          <a:xfrm>
            <a:off x="1728022" y="1798709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1588F4-6B62-D74E-5D75-835903906AE7}"/>
              </a:ext>
            </a:extLst>
          </p:cNvPr>
          <p:cNvSpPr txBox="1"/>
          <p:nvPr/>
        </p:nvSpPr>
        <p:spPr>
          <a:xfrm>
            <a:off x="1153394" y="1594230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FFF9F-8E55-37CD-997B-3C22210A7526}"/>
              </a:ext>
            </a:extLst>
          </p:cNvPr>
          <p:cNvSpPr txBox="1"/>
          <p:nvPr/>
        </p:nvSpPr>
        <p:spPr>
          <a:xfrm>
            <a:off x="924706" y="2761221"/>
            <a:ext cx="4647426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list_free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   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next; 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next = l-&gt;next;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free(l);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 = 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4926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Even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CBEA5-FF8A-A77E-C544-5B1872EB3DBB}"/>
              </a:ext>
            </a:extLst>
          </p:cNvPr>
          <p:cNvSpPr txBox="1"/>
          <p:nvPr/>
        </p:nvSpPr>
        <p:spPr>
          <a:xfrm>
            <a:off x="6603214" y="1488740"/>
            <a:ext cx="5492209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"first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4F74DD-1124-CD18-77B1-A73BB9185D64}"/>
              </a:ext>
            </a:extLst>
          </p:cNvPr>
          <p:cNvSpPr/>
          <p:nvPr/>
        </p:nvSpPr>
        <p:spPr>
          <a:xfrm>
            <a:off x="3311215" y="1501603"/>
            <a:ext cx="657284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C3CAA-B37A-E148-8463-6E9061C278F4}"/>
              </a:ext>
            </a:extLst>
          </p:cNvPr>
          <p:cNvSpPr/>
          <p:nvPr/>
        </p:nvSpPr>
        <p:spPr>
          <a:xfrm>
            <a:off x="2349688" y="1501603"/>
            <a:ext cx="961527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3AA36F0-D2DF-26B5-80BA-15EC775FFEFC}"/>
              </a:ext>
            </a:extLst>
          </p:cNvPr>
          <p:cNvSpPr/>
          <p:nvPr/>
        </p:nvSpPr>
        <p:spPr>
          <a:xfrm>
            <a:off x="3562677" y="166443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532EF8-F152-E191-8B1E-E971D623B7AB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3745557" y="1755876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8E4819-37B8-F393-0A9F-FCC05BEB7DCB}"/>
              </a:ext>
            </a:extLst>
          </p:cNvPr>
          <p:cNvSpPr txBox="1"/>
          <p:nvPr/>
        </p:nvSpPr>
        <p:spPr>
          <a:xfrm>
            <a:off x="2507285" y="2183301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3E6BEF-C0E5-2575-7350-3448836B0DED}"/>
              </a:ext>
            </a:extLst>
          </p:cNvPr>
          <p:cNvSpPr txBox="1"/>
          <p:nvPr/>
        </p:nvSpPr>
        <p:spPr>
          <a:xfrm>
            <a:off x="3278347" y="2183301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086BD8FC-979A-91CD-4369-A85D2622D740}"/>
              </a:ext>
            </a:extLst>
          </p:cNvPr>
          <p:cNvSpPr/>
          <p:nvPr/>
        </p:nvSpPr>
        <p:spPr>
          <a:xfrm rot="16200000">
            <a:off x="2706894" y="1611308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BE7F8482-FC9C-D205-E842-F0DC2AF220F8}"/>
              </a:ext>
            </a:extLst>
          </p:cNvPr>
          <p:cNvSpPr/>
          <p:nvPr/>
        </p:nvSpPr>
        <p:spPr>
          <a:xfrm rot="16200000">
            <a:off x="3526059" y="1756437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C9D852-9702-F72C-409A-DBD269031089}"/>
              </a:ext>
            </a:extLst>
          </p:cNvPr>
          <p:cNvCxnSpPr>
            <a:cxnSpLocks/>
          </p:cNvCxnSpPr>
          <p:nvPr/>
        </p:nvCxnSpPr>
        <p:spPr>
          <a:xfrm>
            <a:off x="1728022" y="1798709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1588F4-6B62-D74E-5D75-835903906AE7}"/>
              </a:ext>
            </a:extLst>
          </p:cNvPr>
          <p:cNvSpPr txBox="1"/>
          <p:nvPr/>
        </p:nvSpPr>
        <p:spPr>
          <a:xfrm>
            <a:off x="1153394" y="1594230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FFF9F-8E55-37CD-997B-3C22210A7526}"/>
              </a:ext>
            </a:extLst>
          </p:cNvPr>
          <p:cNvSpPr txBox="1"/>
          <p:nvPr/>
        </p:nvSpPr>
        <p:spPr>
          <a:xfrm>
            <a:off x="361684" y="2981928"/>
            <a:ext cx="6042039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evens(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(l)) {     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(first(l) %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     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cons(first(l), evens(rest(l)));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evens(rest(l));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8151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a List "Destructively" (in-place)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CBEA5-FF8A-A77E-C544-5B1872EB3DBB}"/>
              </a:ext>
            </a:extLst>
          </p:cNvPr>
          <p:cNvSpPr txBox="1"/>
          <p:nvPr/>
        </p:nvSpPr>
        <p:spPr>
          <a:xfrm>
            <a:off x="6292281" y="1455833"/>
            <a:ext cx="5492209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"first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4F74DD-1124-CD18-77B1-A73BB9185D64}"/>
              </a:ext>
            </a:extLst>
          </p:cNvPr>
          <p:cNvSpPr/>
          <p:nvPr/>
        </p:nvSpPr>
        <p:spPr>
          <a:xfrm>
            <a:off x="3311215" y="1501603"/>
            <a:ext cx="657284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C3CAA-B37A-E148-8463-6E9061C278F4}"/>
              </a:ext>
            </a:extLst>
          </p:cNvPr>
          <p:cNvSpPr/>
          <p:nvPr/>
        </p:nvSpPr>
        <p:spPr>
          <a:xfrm>
            <a:off x="2349688" y="1501603"/>
            <a:ext cx="961527" cy="47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3AA36F0-D2DF-26B5-80BA-15EC775FFEFC}"/>
              </a:ext>
            </a:extLst>
          </p:cNvPr>
          <p:cNvSpPr/>
          <p:nvPr/>
        </p:nvSpPr>
        <p:spPr>
          <a:xfrm>
            <a:off x="3562677" y="166443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532EF8-F152-E191-8B1E-E971D623B7AB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3745557" y="1755876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8E4819-37B8-F393-0A9F-FCC05BEB7DCB}"/>
              </a:ext>
            </a:extLst>
          </p:cNvPr>
          <p:cNvSpPr txBox="1"/>
          <p:nvPr/>
        </p:nvSpPr>
        <p:spPr>
          <a:xfrm>
            <a:off x="2507285" y="2183301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3E6BEF-C0E5-2575-7350-3448836B0DED}"/>
              </a:ext>
            </a:extLst>
          </p:cNvPr>
          <p:cNvSpPr txBox="1"/>
          <p:nvPr/>
        </p:nvSpPr>
        <p:spPr>
          <a:xfrm>
            <a:off x="3278347" y="2183301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086BD8FC-979A-91CD-4369-A85D2622D740}"/>
              </a:ext>
            </a:extLst>
          </p:cNvPr>
          <p:cNvSpPr/>
          <p:nvPr/>
        </p:nvSpPr>
        <p:spPr>
          <a:xfrm rot="16200000">
            <a:off x="2706894" y="1611308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BE7F8482-FC9C-D205-E842-F0DC2AF220F8}"/>
              </a:ext>
            </a:extLst>
          </p:cNvPr>
          <p:cNvSpPr/>
          <p:nvPr/>
        </p:nvSpPr>
        <p:spPr>
          <a:xfrm rot="16200000">
            <a:off x="3526059" y="1756437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C9D852-9702-F72C-409A-DBD269031089}"/>
              </a:ext>
            </a:extLst>
          </p:cNvPr>
          <p:cNvCxnSpPr>
            <a:cxnSpLocks/>
          </p:cNvCxnSpPr>
          <p:nvPr/>
        </p:nvCxnSpPr>
        <p:spPr>
          <a:xfrm>
            <a:off x="1728022" y="1798709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1588F4-6B62-D74E-5D75-835903906AE7}"/>
              </a:ext>
            </a:extLst>
          </p:cNvPr>
          <p:cNvSpPr txBox="1"/>
          <p:nvPr/>
        </p:nvSpPr>
        <p:spPr>
          <a:xfrm>
            <a:off x="1153394" y="1594230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FFF9F-8E55-37CD-997B-3C22210A7526}"/>
              </a:ext>
            </a:extLst>
          </p:cNvPr>
          <p:cNvSpPr txBox="1"/>
          <p:nvPr/>
        </p:nvSpPr>
        <p:spPr>
          <a:xfrm>
            <a:off x="924706" y="2761221"/>
            <a:ext cx="4786888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squares_change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(l) {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*= l-&gt;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 = l-&gt;next;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6186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6DCC-09B9-0FE2-C3F7-A959F1A7E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69CF9-756F-3831-3DC9-0C5CD2B4B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Python is slow</a:t>
            </a:r>
          </a:p>
        </p:txBody>
      </p:sp>
    </p:spTree>
    <p:extLst>
      <p:ext uri="{BB962C8B-B14F-4D97-AF65-F5344CB8AC3E}">
        <p14:creationId xmlns:p14="http://schemas.microsoft.com/office/powerpoint/2010/main" val="3458424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D19AC-907D-B391-8D3E-0AF721FC1D27}"/>
              </a:ext>
            </a:extLst>
          </p:cNvPr>
          <p:cNvSpPr txBox="1"/>
          <p:nvPr/>
        </p:nvSpPr>
        <p:spPr>
          <a:xfrm>
            <a:off x="838200" y="3941372"/>
            <a:ext cx="701826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 =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91119-EE8C-3731-C843-2932B33C8200}"/>
              </a:ext>
            </a:extLst>
          </p:cNvPr>
          <p:cNvSpPr txBox="1"/>
          <p:nvPr/>
        </p:nvSpPr>
        <p:spPr>
          <a:xfrm>
            <a:off x="5185531" y="1162303"/>
            <a:ext cx="6479659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cons(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 =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(res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"cons: allocation failed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first;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res-&gt;next = rest;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4DD77-23A3-D1A3-ACDE-8C2D9130BFAE}"/>
              </a:ext>
            </a:extLst>
          </p:cNvPr>
          <p:cNvSpPr txBox="1"/>
          <p:nvPr/>
        </p:nvSpPr>
        <p:spPr>
          <a:xfrm>
            <a:off x="838200" y="1162303"/>
            <a:ext cx="401103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D1684A-49E9-D85A-94A5-421E9C4C5EFF}"/>
              </a:ext>
            </a:extLst>
          </p:cNvPr>
          <p:cNvSpPr/>
          <p:nvPr/>
        </p:nvSpPr>
        <p:spPr>
          <a:xfrm>
            <a:off x="3041151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4BE61C-03B5-AD47-DDBD-576F322A94A1}"/>
              </a:ext>
            </a:extLst>
          </p:cNvPr>
          <p:cNvSpPr/>
          <p:nvPr/>
        </p:nvSpPr>
        <p:spPr>
          <a:xfrm>
            <a:off x="2383867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475600-0239-508D-4B97-23205F96B7BE}"/>
              </a:ext>
            </a:extLst>
          </p:cNvPr>
          <p:cNvSpPr/>
          <p:nvPr/>
        </p:nvSpPr>
        <p:spPr>
          <a:xfrm>
            <a:off x="3289183" y="483481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E82CB1-2E57-6607-6D29-6B58204A98AB}"/>
              </a:ext>
            </a:extLst>
          </p:cNvPr>
          <p:cNvCxnSpPr>
            <a:cxnSpLocks/>
            <a:stCxn id="10" idx="6"/>
            <a:endCxn id="25" idx="1"/>
          </p:cNvCxnSpPr>
          <p:nvPr/>
        </p:nvCxnSpPr>
        <p:spPr>
          <a:xfrm>
            <a:off x="3472063" y="4926256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ED634B-ED96-F81E-5926-0B005C6C79FF}"/>
              </a:ext>
            </a:extLst>
          </p:cNvPr>
          <p:cNvCxnSpPr>
            <a:cxnSpLocks/>
            <a:stCxn id="37" idx="3"/>
            <a:endCxn id="9" idx="1"/>
          </p:cNvCxnSpPr>
          <p:nvPr/>
        </p:nvCxnSpPr>
        <p:spPr>
          <a:xfrm>
            <a:off x="1277045" y="4926256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8100F8C-03D1-394B-7D0E-1AFEA89EFFB4}"/>
              </a:ext>
            </a:extLst>
          </p:cNvPr>
          <p:cNvSpPr/>
          <p:nvPr/>
        </p:nvSpPr>
        <p:spPr>
          <a:xfrm>
            <a:off x="5245004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15A25E-6A18-EDB8-4E07-B9F574D71F8A}"/>
              </a:ext>
            </a:extLst>
          </p:cNvPr>
          <p:cNvSpPr/>
          <p:nvPr/>
        </p:nvSpPr>
        <p:spPr>
          <a:xfrm>
            <a:off x="4587720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567749B-3E52-CB27-92C6-75681970E479}"/>
              </a:ext>
            </a:extLst>
          </p:cNvPr>
          <p:cNvSpPr/>
          <p:nvPr/>
        </p:nvSpPr>
        <p:spPr>
          <a:xfrm>
            <a:off x="5493036" y="483481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0B9A2BC-EDB4-CD4B-7DB8-06B152F2D1F7}"/>
              </a:ext>
            </a:extLst>
          </p:cNvPr>
          <p:cNvCxnSpPr>
            <a:cxnSpLocks/>
            <a:stCxn id="26" idx="6"/>
            <a:endCxn id="29" idx="1"/>
          </p:cNvCxnSpPr>
          <p:nvPr/>
        </p:nvCxnSpPr>
        <p:spPr>
          <a:xfrm>
            <a:off x="5675916" y="4926257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E94CDFF6-B419-B68E-8424-03A4D89AC691}"/>
              </a:ext>
            </a:extLst>
          </p:cNvPr>
          <p:cNvSpPr/>
          <p:nvPr/>
        </p:nvSpPr>
        <p:spPr>
          <a:xfrm>
            <a:off x="7375705" y="4633896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7E523C-BDF1-E5FE-B3C4-B424D0A39A2C}"/>
              </a:ext>
            </a:extLst>
          </p:cNvPr>
          <p:cNvSpPr/>
          <p:nvPr/>
        </p:nvSpPr>
        <p:spPr>
          <a:xfrm>
            <a:off x="6718421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870B07-5B9C-5C32-3AD0-416B07059EC1}"/>
              </a:ext>
            </a:extLst>
          </p:cNvPr>
          <p:cNvSpPr txBox="1"/>
          <p:nvPr/>
        </p:nvSpPr>
        <p:spPr>
          <a:xfrm>
            <a:off x="703154" y="4726201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3ABE99-0ABD-AADA-9F61-2C33C874B8F5}"/>
              </a:ext>
            </a:extLst>
          </p:cNvPr>
          <p:cNvSpPr txBox="1"/>
          <p:nvPr/>
        </p:nvSpPr>
        <p:spPr>
          <a:xfrm>
            <a:off x="1048512" y="5303520"/>
            <a:ext cx="9624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points to a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that contains the element 10 and a pointer to the second element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924659-71E4-E402-689B-7830C354CD33}"/>
              </a:ext>
            </a:extLst>
          </p:cNvPr>
          <p:cNvSpPr txBox="1"/>
          <p:nvPr/>
        </p:nvSpPr>
        <p:spPr>
          <a:xfrm>
            <a:off x="1048512" y="5712184"/>
            <a:ext cx="10164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l-&gt;next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points to a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that contains the element 20 and a pointer to the third element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5B8CEB-E817-7440-D1DE-321994285824}"/>
              </a:ext>
            </a:extLst>
          </p:cNvPr>
          <p:cNvSpPr txBox="1"/>
          <p:nvPr/>
        </p:nvSpPr>
        <p:spPr>
          <a:xfrm>
            <a:off x="1048512" y="6213607"/>
            <a:ext cx="9522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l-&gt;next-&gt;next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points to a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that contains the element 30 and a </a:t>
            </a:r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pointer</a:t>
            </a:r>
          </a:p>
        </p:txBody>
      </p:sp>
    </p:spTree>
    <p:extLst>
      <p:ext uri="{BB962C8B-B14F-4D97-AF65-F5344CB8AC3E}">
        <p14:creationId xmlns:p14="http://schemas.microsoft.com/office/powerpoint/2010/main" val="1745544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48DCA-3D81-BFA6-1DAC-E2028BD4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Helpers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933CE-8C72-B49F-E659-C552350E3FAB}"/>
              </a:ext>
            </a:extLst>
          </p:cNvPr>
          <p:cNvSpPr txBox="1"/>
          <p:nvPr/>
        </p:nvSpPr>
        <p:spPr>
          <a:xfrm>
            <a:off x="5100696" y="2448182"/>
            <a:ext cx="6479659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creating a new struct and make it the first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cons(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 =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(res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"cons: allocation failed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first;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res-&gt;next = rest;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BFEBA0-A03A-E010-FEBA-788AE3897587}"/>
              </a:ext>
            </a:extLst>
          </p:cNvPr>
          <p:cNvSpPr txBox="1"/>
          <p:nvPr/>
        </p:nvSpPr>
        <p:spPr>
          <a:xfrm>
            <a:off x="5100695" y="980312"/>
            <a:ext cx="6479657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9D41D5-1CAD-4F9D-065D-30AF765C1DFC}"/>
              </a:ext>
            </a:extLst>
          </p:cNvPr>
          <p:cNvSpPr/>
          <p:nvPr/>
        </p:nvSpPr>
        <p:spPr>
          <a:xfrm>
            <a:off x="2310217" y="2638515"/>
            <a:ext cx="657284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100155-D1CF-BFA1-0A11-CC43BBA0C785}"/>
              </a:ext>
            </a:extLst>
          </p:cNvPr>
          <p:cNvSpPr/>
          <p:nvPr/>
        </p:nvSpPr>
        <p:spPr>
          <a:xfrm>
            <a:off x="1348690" y="2638515"/>
            <a:ext cx="961527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first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AF91FA-F2B9-C06D-FF7F-596A1D116AE5}"/>
              </a:ext>
            </a:extLst>
          </p:cNvPr>
          <p:cNvSpPr/>
          <p:nvPr/>
        </p:nvSpPr>
        <p:spPr>
          <a:xfrm>
            <a:off x="2561679" y="3010701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05D685-7A4C-8E8F-D7B9-FBFE2D342990}"/>
              </a:ext>
            </a:extLst>
          </p:cNvPr>
          <p:cNvCxnSpPr>
            <a:cxnSpLocks/>
            <a:stCxn id="24" idx="6"/>
          </p:cNvCxnSpPr>
          <p:nvPr/>
        </p:nvCxnSpPr>
        <p:spPr>
          <a:xfrm>
            <a:off x="2744559" y="3102141"/>
            <a:ext cx="612912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D174028-1686-386A-4986-033433C16280}"/>
              </a:ext>
            </a:extLst>
          </p:cNvPr>
          <p:cNvSpPr txBox="1"/>
          <p:nvPr/>
        </p:nvSpPr>
        <p:spPr>
          <a:xfrm>
            <a:off x="1506287" y="3543855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058AAF-381C-2997-B408-BD758FEEC4DA}"/>
              </a:ext>
            </a:extLst>
          </p:cNvPr>
          <p:cNvSpPr txBox="1"/>
          <p:nvPr/>
        </p:nvSpPr>
        <p:spPr>
          <a:xfrm>
            <a:off x="2277349" y="3543855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984F96DA-0B35-9684-5B67-D2E03DC3DF37}"/>
              </a:ext>
            </a:extLst>
          </p:cNvPr>
          <p:cNvSpPr/>
          <p:nvPr/>
        </p:nvSpPr>
        <p:spPr>
          <a:xfrm rot="16200000">
            <a:off x="1705896" y="2971862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1DF99A8D-CC94-FA27-1DD2-1759D384C479}"/>
              </a:ext>
            </a:extLst>
          </p:cNvPr>
          <p:cNvSpPr/>
          <p:nvPr/>
        </p:nvSpPr>
        <p:spPr>
          <a:xfrm rot="16200000">
            <a:off x="2525061" y="3116991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3DF4C3-4F3D-4FCB-15E0-C7A716011293}"/>
              </a:ext>
            </a:extLst>
          </p:cNvPr>
          <p:cNvSpPr txBox="1"/>
          <p:nvPr/>
        </p:nvSpPr>
        <p:spPr>
          <a:xfrm>
            <a:off x="2244434" y="2644911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0AD9B1-F9D1-F196-69EE-13B43D17A959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98741" y="3040537"/>
            <a:ext cx="441195" cy="442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38F5C8A-0662-0B85-78B7-01061C1C10C5}"/>
              </a:ext>
            </a:extLst>
          </p:cNvPr>
          <p:cNvSpPr txBox="1"/>
          <p:nvPr/>
        </p:nvSpPr>
        <p:spPr>
          <a:xfrm>
            <a:off x="252410" y="2840482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25A344-0CB8-3ABC-1742-37E5DA03073A}"/>
              </a:ext>
            </a:extLst>
          </p:cNvPr>
          <p:cNvSpPr txBox="1"/>
          <p:nvPr/>
        </p:nvSpPr>
        <p:spPr>
          <a:xfrm>
            <a:off x="5100696" y="5391603"/>
            <a:ext cx="6479658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appending a new struct at the end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append(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last,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cons(last,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tail = out;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161231-CC42-0167-33A7-FCAC0D1921C6}"/>
              </a:ext>
            </a:extLst>
          </p:cNvPr>
          <p:cNvSpPr txBox="1"/>
          <p:nvPr/>
        </p:nvSpPr>
        <p:spPr>
          <a:xfrm>
            <a:off x="3315715" y="2638515"/>
            <a:ext cx="1546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(current list)</a:t>
            </a:r>
            <a:endParaRPr lang="en-US" dirty="0"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18BBA6-3D35-C93D-AF61-BAD487BE7011}"/>
              </a:ext>
            </a:extLst>
          </p:cNvPr>
          <p:cNvSpPr/>
          <p:nvPr/>
        </p:nvSpPr>
        <p:spPr>
          <a:xfrm>
            <a:off x="4125389" y="5503927"/>
            <a:ext cx="657284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296D35-F0A7-3C88-3BD0-205D6B720C8E}"/>
              </a:ext>
            </a:extLst>
          </p:cNvPr>
          <p:cNvSpPr/>
          <p:nvPr/>
        </p:nvSpPr>
        <p:spPr>
          <a:xfrm>
            <a:off x="3163862" y="5503927"/>
            <a:ext cx="961527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last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9AD364-03C6-2ED6-1A5C-E0E4D52BCDD4}"/>
              </a:ext>
            </a:extLst>
          </p:cNvPr>
          <p:cNvSpPr txBox="1"/>
          <p:nvPr/>
        </p:nvSpPr>
        <p:spPr>
          <a:xfrm>
            <a:off x="3321459" y="6409267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AEFB99-2BB0-E5DD-B2D3-B86D00BC2CE2}"/>
              </a:ext>
            </a:extLst>
          </p:cNvPr>
          <p:cNvSpPr txBox="1"/>
          <p:nvPr/>
        </p:nvSpPr>
        <p:spPr>
          <a:xfrm>
            <a:off x="4092521" y="6409267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8751AD3A-8D3F-22B4-2243-60C432078E92}"/>
              </a:ext>
            </a:extLst>
          </p:cNvPr>
          <p:cNvSpPr/>
          <p:nvPr/>
        </p:nvSpPr>
        <p:spPr>
          <a:xfrm rot="16200000">
            <a:off x="3521068" y="5837274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Left Brace 44">
            <a:extLst>
              <a:ext uri="{FF2B5EF4-FFF2-40B4-BE49-F238E27FC236}">
                <a16:creationId xmlns:a16="http://schemas.microsoft.com/office/drawing/2014/main" id="{26660699-C2FA-8C07-E4F3-EE3B73D48325}"/>
              </a:ext>
            </a:extLst>
          </p:cNvPr>
          <p:cNvSpPr/>
          <p:nvPr/>
        </p:nvSpPr>
        <p:spPr>
          <a:xfrm rot="16200000">
            <a:off x="4340233" y="5982403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3A7981-14B9-D7ED-07C8-F8EE261F9026}"/>
              </a:ext>
            </a:extLst>
          </p:cNvPr>
          <p:cNvSpPr txBox="1"/>
          <p:nvPr/>
        </p:nvSpPr>
        <p:spPr>
          <a:xfrm>
            <a:off x="4059606" y="5681776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30D43CC-179C-3650-0309-F3C37CE5B4BF}"/>
              </a:ext>
            </a:extLst>
          </p:cNvPr>
          <p:cNvCxnSpPr>
            <a:cxnSpLocks/>
          </p:cNvCxnSpPr>
          <p:nvPr/>
        </p:nvCxnSpPr>
        <p:spPr>
          <a:xfrm>
            <a:off x="2713913" y="5905949"/>
            <a:ext cx="441195" cy="442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DBAFB4A-44EF-61DA-BCB5-9D347372E788}"/>
              </a:ext>
            </a:extLst>
          </p:cNvPr>
          <p:cNvSpPr txBox="1"/>
          <p:nvPr/>
        </p:nvSpPr>
        <p:spPr>
          <a:xfrm>
            <a:off x="838200" y="5538964"/>
            <a:ext cx="1546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(current list)</a:t>
            </a:r>
            <a:endParaRPr lang="en-US" dirty="0"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724DFD7-A40F-5D3C-B4E0-5721DDA05506}"/>
              </a:ext>
            </a:extLst>
          </p:cNvPr>
          <p:cNvSpPr/>
          <p:nvPr/>
        </p:nvSpPr>
        <p:spPr>
          <a:xfrm>
            <a:off x="2527885" y="5823484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171C8C-6027-E32E-B37C-461AA085F9CE}"/>
              </a:ext>
            </a:extLst>
          </p:cNvPr>
          <p:cNvSpPr txBox="1"/>
          <p:nvPr/>
        </p:nvSpPr>
        <p:spPr>
          <a:xfrm>
            <a:off x="2210640" y="5457694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</p:spTree>
    <p:extLst>
      <p:ext uri="{BB962C8B-B14F-4D97-AF65-F5344CB8AC3E}">
        <p14:creationId xmlns:p14="http://schemas.microsoft.com/office/powerpoint/2010/main" val="3274712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7E6C-202D-4270-2FD0-AD063D27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D19AC-907D-B391-8D3E-0AF721FC1D27}"/>
              </a:ext>
            </a:extLst>
          </p:cNvPr>
          <p:cNvSpPr txBox="1"/>
          <p:nvPr/>
        </p:nvSpPr>
        <p:spPr>
          <a:xfrm>
            <a:off x="870625" y="3187772"/>
            <a:ext cx="408958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 = cons(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append(20, l-&gt;next);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append(30, l-&gt;next);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D1684A-49E9-D85A-94A5-421E9C4C5EFF}"/>
              </a:ext>
            </a:extLst>
          </p:cNvPr>
          <p:cNvSpPr/>
          <p:nvPr/>
        </p:nvSpPr>
        <p:spPr>
          <a:xfrm>
            <a:off x="3041151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4BE61C-03B5-AD47-DDBD-576F322A94A1}"/>
              </a:ext>
            </a:extLst>
          </p:cNvPr>
          <p:cNvSpPr/>
          <p:nvPr/>
        </p:nvSpPr>
        <p:spPr>
          <a:xfrm>
            <a:off x="2383867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475600-0239-508D-4B97-23205F96B7BE}"/>
              </a:ext>
            </a:extLst>
          </p:cNvPr>
          <p:cNvSpPr/>
          <p:nvPr/>
        </p:nvSpPr>
        <p:spPr>
          <a:xfrm>
            <a:off x="3289183" y="483481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E82CB1-2E57-6607-6D29-6B58204A98AB}"/>
              </a:ext>
            </a:extLst>
          </p:cNvPr>
          <p:cNvCxnSpPr>
            <a:cxnSpLocks/>
            <a:stCxn id="10" idx="6"/>
            <a:endCxn id="25" idx="1"/>
          </p:cNvCxnSpPr>
          <p:nvPr/>
        </p:nvCxnSpPr>
        <p:spPr>
          <a:xfrm>
            <a:off x="3472063" y="4926256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ED634B-ED96-F81E-5926-0B005C6C79FF}"/>
              </a:ext>
            </a:extLst>
          </p:cNvPr>
          <p:cNvCxnSpPr>
            <a:cxnSpLocks/>
            <a:stCxn id="37" idx="3"/>
            <a:endCxn id="9" idx="1"/>
          </p:cNvCxnSpPr>
          <p:nvPr/>
        </p:nvCxnSpPr>
        <p:spPr>
          <a:xfrm>
            <a:off x="1277045" y="4926256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8100F8C-03D1-394B-7D0E-1AFEA89EFFB4}"/>
              </a:ext>
            </a:extLst>
          </p:cNvPr>
          <p:cNvSpPr/>
          <p:nvPr/>
        </p:nvSpPr>
        <p:spPr>
          <a:xfrm>
            <a:off x="5245004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15A25E-6A18-EDB8-4E07-B9F574D71F8A}"/>
              </a:ext>
            </a:extLst>
          </p:cNvPr>
          <p:cNvSpPr/>
          <p:nvPr/>
        </p:nvSpPr>
        <p:spPr>
          <a:xfrm>
            <a:off x="4587720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567749B-3E52-CB27-92C6-75681970E479}"/>
              </a:ext>
            </a:extLst>
          </p:cNvPr>
          <p:cNvSpPr/>
          <p:nvPr/>
        </p:nvSpPr>
        <p:spPr>
          <a:xfrm>
            <a:off x="5493036" y="483481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0B9A2BC-EDB4-CD4B-7DB8-06B152F2D1F7}"/>
              </a:ext>
            </a:extLst>
          </p:cNvPr>
          <p:cNvCxnSpPr>
            <a:cxnSpLocks/>
            <a:stCxn id="26" idx="6"/>
            <a:endCxn id="29" idx="1"/>
          </p:cNvCxnSpPr>
          <p:nvPr/>
        </p:nvCxnSpPr>
        <p:spPr>
          <a:xfrm>
            <a:off x="5675916" y="4926257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E94CDFF6-B419-B68E-8424-03A4D89AC691}"/>
              </a:ext>
            </a:extLst>
          </p:cNvPr>
          <p:cNvSpPr/>
          <p:nvPr/>
        </p:nvSpPr>
        <p:spPr>
          <a:xfrm>
            <a:off x="7375705" y="4633896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7E523C-BDF1-E5FE-B3C4-B424D0A39A2C}"/>
              </a:ext>
            </a:extLst>
          </p:cNvPr>
          <p:cNvSpPr/>
          <p:nvPr/>
        </p:nvSpPr>
        <p:spPr>
          <a:xfrm>
            <a:off x="6718421" y="46338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870B07-5B9C-5C32-3AD0-416B07059EC1}"/>
              </a:ext>
            </a:extLst>
          </p:cNvPr>
          <p:cNvSpPr txBox="1"/>
          <p:nvPr/>
        </p:nvSpPr>
        <p:spPr>
          <a:xfrm>
            <a:off x="703154" y="4726201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3ABE99-0ABD-AADA-9F61-2C33C874B8F5}"/>
              </a:ext>
            </a:extLst>
          </p:cNvPr>
          <p:cNvSpPr txBox="1"/>
          <p:nvPr/>
        </p:nvSpPr>
        <p:spPr>
          <a:xfrm>
            <a:off x="1048512" y="5303520"/>
            <a:ext cx="9624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points to a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that contains the element 10 and a pointer to the second element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924659-71E4-E402-689B-7830C354CD33}"/>
              </a:ext>
            </a:extLst>
          </p:cNvPr>
          <p:cNvSpPr txBox="1"/>
          <p:nvPr/>
        </p:nvSpPr>
        <p:spPr>
          <a:xfrm>
            <a:off x="1048512" y="5712184"/>
            <a:ext cx="10164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l-&gt;next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points to a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that contains the element 20 and a pointer to the third element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5B8CEB-E817-7440-D1DE-321994285824}"/>
              </a:ext>
            </a:extLst>
          </p:cNvPr>
          <p:cNvSpPr txBox="1"/>
          <p:nvPr/>
        </p:nvSpPr>
        <p:spPr>
          <a:xfrm>
            <a:off x="1048512" y="6213607"/>
            <a:ext cx="9522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l-&gt;next-&gt;next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points to a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that contains the element 30 and a </a:t>
            </a:r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85BE2-64D9-F898-37F4-07403A379856}"/>
              </a:ext>
            </a:extLst>
          </p:cNvPr>
          <p:cNvSpPr txBox="1"/>
          <p:nvPr/>
        </p:nvSpPr>
        <p:spPr>
          <a:xfrm>
            <a:off x="4965650" y="1247205"/>
            <a:ext cx="6479658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appending a new struct at the end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append(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last,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cons(last,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tail = out;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692850-A24C-C52C-6625-5ED113DDDE13}"/>
              </a:ext>
            </a:extLst>
          </p:cNvPr>
          <p:cNvSpPr/>
          <p:nvPr/>
        </p:nvSpPr>
        <p:spPr>
          <a:xfrm>
            <a:off x="3990343" y="1359529"/>
            <a:ext cx="657284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5A181B-CED5-69AF-FA39-B24C9B3523F8}"/>
              </a:ext>
            </a:extLst>
          </p:cNvPr>
          <p:cNvSpPr/>
          <p:nvPr/>
        </p:nvSpPr>
        <p:spPr>
          <a:xfrm>
            <a:off x="3028816" y="1359529"/>
            <a:ext cx="961527" cy="698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last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338E07-BEC1-365B-4D74-66937E6A4912}"/>
              </a:ext>
            </a:extLst>
          </p:cNvPr>
          <p:cNvSpPr txBox="1"/>
          <p:nvPr/>
        </p:nvSpPr>
        <p:spPr>
          <a:xfrm>
            <a:off x="3186413" y="2264869"/>
            <a:ext cx="646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718AA-DCBF-0A44-61A1-2537ABA35BA9}"/>
              </a:ext>
            </a:extLst>
          </p:cNvPr>
          <p:cNvSpPr txBox="1"/>
          <p:nvPr/>
        </p:nvSpPr>
        <p:spPr>
          <a:xfrm>
            <a:off x="3957475" y="2264869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B78DF77B-5E8E-6CDE-0368-4958127E42F5}"/>
              </a:ext>
            </a:extLst>
          </p:cNvPr>
          <p:cNvSpPr/>
          <p:nvPr/>
        </p:nvSpPr>
        <p:spPr>
          <a:xfrm rot="16200000">
            <a:off x="3386022" y="1692876"/>
            <a:ext cx="232876" cy="94728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82356F9D-2786-1D2D-7F68-C8CD04D5E669}"/>
              </a:ext>
            </a:extLst>
          </p:cNvPr>
          <p:cNvSpPr/>
          <p:nvPr/>
        </p:nvSpPr>
        <p:spPr>
          <a:xfrm rot="16200000">
            <a:off x="4205187" y="1838005"/>
            <a:ext cx="232877" cy="65200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34C090-7C12-304F-00F6-6D0D0CBDDF98}"/>
              </a:ext>
            </a:extLst>
          </p:cNvPr>
          <p:cNvSpPr txBox="1"/>
          <p:nvPr/>
        </p:nvSpPr>
        <p:spPr>
          <a:xfrm>
            <a:off x="3924560" y="1537378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1BB421-E372-E3DB-5C1A-8DB69F7E52C8}"/>
              </a:ext>
            </a:extLst>
          </p:cNvPr>
          <p:cNvCxnSpPr>
            <a:cxnSpLocks/>
          </p:cNvCxnSpPr>
          <p:nvPr/>
        </p:nvCxnSpPr>
        <p:spPr>
          <a:xfrm>
            <a:off x="2578867" y="1761551"/>
            <a:ext cx="441195" cy="4424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17CBB8-4289-B92D-14EE-A8E3C2D4D47D}"/>
              </a:ext>
            </a:extLst>
          </p:cNvPr>
          <p:cNvSpPr txBox="1"/>
          <p:nvPr/>
        </p:nvSpPr>
        <p:spPr>
          <a:xfrm>
            <a:off x="703154" y="1394566"/>
            <a:ext cx="1546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(current list)</a:t>
            </a:r>
            <a:endParaRPr lang="en-US" dirty="0"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600A9AD-5F9C-FF93-5432-C7C92C0718A6}"/>
              </a:ext>
            </a:extLst>
          </p:cNvPr>
          <p:cNvSpPr/>
          <p:nvPr/>
        </p:nvSpPr>
        <p:spPr>
          <a:xfrm>
            <a:off x="2392839" y="167908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4FF236-31CC-D1C9-4A6D-B9A6D7B02FC9}"/>
              </a:ext>
            </a:extLst>
          </p:cNvPr>
          <p:cNvSpPr txBox="1"/>
          <p:nvPr/>
        </p:nvSpPr>
        <p:spPr>
          <a:xfrm>
            <a:off x="2075594" y="1313296"/>
            <a:ext cx="800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</p:spTree>
    <p:extLst>
      <p:ext uri="{BB962C8B-B14F-4D97-AF65-F5344CB8AC3E}">
        <p14:creationId xmlns:p14="http://schemas.microsoft.com/office/powerpoint/2010/main" val="787926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1F45-C658-07D4-C209-485D1E68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Locating the End of a Linked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E7FF1-0785-AB9B-1D84-562D2FDAEE84}"/>
              </a:ext>
            </a:extLst>
          </p:cNvPr>
          <p:cNvSpPr txBox="1"/>
          <p:nvPr/>
        </p:nvSpPr>
        <p:spPr>
          <a:xfrm>
            <a:off x="6620602" y="2147187"/>
            <a:ext cx="5368777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evens(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 {  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  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%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item = cons(in-&gt;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even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tail-&gt;next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even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out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  in = in-&gt;next;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580C48-BF82-F836-94C7-9EFEF90EBA54}"/>
              </a:ext>
            </a:extLst>
          </p:cNvPr>
          <p:cNvCxnSpPr>
            <a:cxnSpLocks/>
          </p:cNvCxnSpPr>
          <p:nvPr/>
        </p:nvCxnSpPr>
        <p:spPr>
          <a:xfrm flipH="1" flipV="1">
            <a:off x="8305798" y="4094310"/>
            <a:ext cx="1524001" cy="739277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6BF9B1-CB20-10A0-D39C-E7F154315AE2}"/>
              </a:ext>
            </a:extLst>
          </p:cNvPr>
          <p:cNvCxnSpPr>
            <a:cxnSpLocks/>
          </p:cNvCxnSpPr>
          <p:nvPr/>
        </p:nvCxnSpPr>
        <p:spPr>
          <a:xfrm flipH="1" flipV="1">
            <a:off x="8944783" y="5042048"/>
            <a:ext cx="885016" cy="258551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9169F5-A8E9-B107-2676-5575F2435253}"/>
              </a:ext>
            </a:extLst>
          </p:cNvPr>
          <p:cNvCxnSpPr>
            <a:cxnSpLocks/>
          </p:cNvCxnSpPr>
          <p:nvPr/>
        </p:nvCxnSpPr>
        <p:spPr>
          <a:xfrm flipH="1" flipV="1">
            <a:off x="8585200" y="2912533"/>
            <a:ext cx="1468966" cy="19210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D814F44-BD29-04C3-193A-9F7F98944366}"/>
              </a:ext>
            </a:extLst>
          </p:cNvPr>
          <p:cNvSpPr txBox="1"/>
          <p:nvPr/>
        </p:nvSpPr>
        <p:spPr>
          <a:xfrm>
            <a:off x="398430" y="3063872"/>
            <a:ext cx="5739072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evens_iter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((l-&gt;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%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(res)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last(res)-&gt;next = cons(l-&gt;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res = cons(l-&gt;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 = l-&gt;next;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7D59CB-5238-16BF-CE0A-9D2465085438}"/>
              </a:ext>
            </a:extLst>
          </p:cNvPr>
          <p:cNvSpPr txBox="1"/>
          <p:nvPr/>
        </p:nvSpPr>
        <p:spPr>
          <a:xfrm>
            <a:off x="415284" y="958926"/>
            <a:ext cx="5739072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last(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(l-&gt;next) 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l = l-&gt;next;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"last on 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C8C361FB-9949-3276-15C9-2BF9F73B2B00}"/>
              </a:ext>
            </a:extLst>
          </p:cNvPr>
          <p:cNvSpPr/>
          <p:nvPr/>
        </p:nvSpPr>
        <p:spPr>
          <a:xfrm>
            <a:off x="9829799" y="4678073"/>
            <a:ext cx="1524001" cy="784634"/>
          </a:xfrm>
          <a:prstGeom prst="wedgeRoundRectCallout">
            <a:avLst>
              <a:gd name="adj1" fmla="val 26369"/>
              <a:gd name="adj2" fmla="val -4623"/>
              <a:gd name="adj3" fmla="val 16667"/>
            </a:avLst>
          </a:prstGeom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Tracking the tail of a list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9180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190E-B47D-46BB-196B-98E9CDBD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a New List of Squares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570E8-5310-13A1-35AD-95A64F91E5D1}"/>
              </a:ext>
            </a:extLst>
          </p:cNvPr>
          <p:cNvSpPr txBox="1"/>
          <p:nvPr/>
        </p:nvSpPr>
        <p:spPr>
          <a:xfrm>
            <a:off x="361972" y="2147187"/>
            <a:ext cx="5368777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finding even elements (recursion)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evens(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(l))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(first(l) %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cons(first(l), evens(rest(l)));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evens(rest(l));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67904F-8F5E-D407-3B13-8BEED7185A6D}"/>
              </a:ext>
            </a:extLst>
          </p:cNvPr>
          <p:cNvSpPr txBox="1"/>
          <p:nvPr/>
        </p:nvSpPr>
        <p:spPr>
          <a:xfrm>
            <a:off x="6620602" y="2147187"/>
            <a:ext cx="5368777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finding even elements (iteration)</a:t>
            </a: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evens(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 {  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  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%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item = cons(in-&gt;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even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tail-&gt;next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even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out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  in = in-&gt;next;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C279B-7CC9-6EA2-ADFE-04E9F516ED5F}"/>
              </a:ext>
            </a:extLst>
          </p:cNvPr>
          <p:cNvSpPr/>
          <p:nvPr/>
        </p:nvSpPr>
        <p:spPr>
          <a:xfrm>
            <a:off x="3855538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D9E15E-4EB8-391B-AB78-D6DC7DC65B1B}"/>
              </a:ext>
            </a:extLst>
          </p:cNvPr>
          <p:cNvSpPr/>
          <p:nvPr/>
        </p:nvSpPr>
        <p:spPr>
          <a:xfrm>
            <a:off x="3198254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3FD119-54B8-4DE7-A0F7-E34E8114A82B}"/>
              </a:ext>
            </a:extLst>
          </p:cNvPr>
          <p:cNvSpPr/>
          <p:nvPr/>
        </p:nvSpPr>
        <p:spPr>
          <a:xfrm>
            <a:off x="4103570" y="149852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EAFE5E-0A05-7C3E-BBB0-EB7B1A6011EB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4286450" y="1589969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281B05-D52A-9383-96B9-3EF0CC9B149F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2091432" y="1589969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63869E3-259D-F29F-6FA2-1CA082D1F3E1}"/>
              </a:ext>
            </a:extLst>
          </p:cNvPr>
          <p:cNvSpPr/>
          <p:nvPr/>
        </p:nvSpPr>
        <p:spPr>
          <a:xfrm>
            <a:off x="6059391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084C1D-029B-5D01-B721-E38676358605}"/>
              </a:ext>
            </a:extLst>
          </p:cNvPr>
          <p:cNvSpPr/>
          <p:nvPr/>
        </p:nvSpPr>
        <p:spPr>
          <a:xfrm>
            <a:off x="5402107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8EE330-0D30-B71E-AB63-055E16D0678F}"/>
              </a:ext>
            </a:extLst>
          </p:cNvPr>
          <p:cNvSpPr/>
          <p:nvPr/>
        </p:nvSpPr>
        <p:spPr>
          <a:xfrm>
            <a:off x="6307423" y="149853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2B9EE8-D670-E39F-6250-7801656B71AE}"/>
              </a:ext>
            </a:extLst>
          </p:cNvPr>
          <p:cNvCxnSpPr>
            <a:cxnSpLocks/>
            <a:stCxn id="11" idx="6"/>
            <a:endCxn id="14" idx="1"/>
          </p:cNvCxnSpPr>
          <p:nvPr/>
        </p:nvCxnSpPr>
        <p:spPr>
          <a:xfrm>
            <a:off x="6490303" y="1589970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BC11028-456F-ED09-A452-ECCA69CDFBD8}"/>
              </a:ext>
            </a:extLst>
          </p:cNvPr>
          <p:cNvSpPr/>
          <p:nvPr/>
        </p:nvSpPr>
        <p:spPr>
          <a:xfrm>
            <a:off x="8190092" y="1297609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493F23-650E-7CB7-F991-92DC15E21250}"/>
              </a:ext>
            </a:extLst>
          </p:cNvPr>
          <p:cNvSpPr/>
          <p:nvPr/>
        </p:nvSpPr>
        <p:spPr>
          <a:xfrm>
            <a:off x="7532808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DE9F48-E0F4-AE9B-EC98-E312BCCEA12F}"/>
              </a:ext>
            </a:extLst>
          </p:cNvPr>
          <p:cNvSpPr txBox="1"/>
          <p:nvPr/>
        </p:nvSpPr>
        <p:spPr>
          <a:xfrm>
            <a:off x="1517541" y="1389914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E09F3095-D19C-ADC4-8A4F-15A6CF2FF464}"/>
              </a:ext>
            </a:extLst>
          </p:cNvPr>
          <p:cNvSpPr/>
          <p:nvPr/>
        </p:nvSpPr>
        <p:spPr>
          <a:xfrm>
            <a:off x="9151618" y="5044380"/>
            <a:ext cx="2678410" cy="784634"/>
          </a:xfrm>
          <a:prstGeom prst="wedgeRoundRectCallout">
            <a:avLst>
              <a:gd name="adj1" fmla="val -37402"/>
              <a:gd name="adj2" fmla="val -12986"/>
              <a:gd name="adj3" fmla="val 16667"/>
            </a:avLst>
          </a:prstGeom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/>
              <a:t>Why does this code look so complicated?</a:t>
            </a:r>
            <a:endParaRPr lang="en-US" sz="2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1982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21180</TotalTime>
  <Words>4031</Words>
  <Application>Microsoft Macintosh PowerPoint</Application>
  <PresentationFormat>Widescreen</PresentationFormat>
  <Paragraphs>773</Paragraphs>
  <Slides>31</Slides>
  <Notes>0</Notes>
  <HiddenSlides>12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Calibri</vt:lpstr>
      <vt:lpstr>Arial</vt:lpstr>
      <vt:lpstr>Calibri Light</vt:lpstr>
      <vt:lpstr>Cambria Math</vt:lpstr>
      <vt:lpstr>Menlo</vt:lpstr>
      <vt:lpstr>Wingdings</vt:lpstr>
      <vt:lpstr>Office Theme</vt:lpstr>
      <vt:lpstr>linked list  CMSC 14300: System Programming I 13th Lecture</vt:lpstr>
      <vt:lpstr>Recap: struct &amp; union</vt:lpstr>
      <vt:lpstr>Lists in C</vt:lpstr>
      <vt:lpstr>Recap: Memory Layout of Array</vt:lpstr>
      <vt:lpstr>Array access</vt:lpstr>
      <vt:lpstr>Array: Growing and Shrinking</vt:lpstr>
      <vt:lpstr>Solution: Array of pointers?</vt:lpstr>
      <vt:lpstr>A Better Idea: Linked List</vt:lpstr>
      <vt:lpstr>Linked List Data Structure</vt:lpstr>
      <vt:lpstr>Linked List Helpers</vt:lpstr>
      <vt:lpstr>Linked List Helpers</vt:lpstr>
      <vt:lpstr>Making a List</vt:lpstr>
      <vt:lpstr>Summing a Linked List</vt:lpstr>
      <vt:lpstr>Freeing a Linked List</vt:lpstr>
      <vt:lpstr>Squaring a List "Destructively" (in-place)</vt:lpstr>
      <vt:lpstr>Copying Squares to a New List</vt:lpstr>
      <vt:lpstr>Copying Even Elements to a New List</vt:lpstr>
      <vt:lpstr>Conclusion</vt:lpstr>
      <vt:lpstr>PowerPoint Presentation</vt:lpstr>
      <vt:lpstr>Summing a Linked List (recursion)</vt:lpstr>
      <vt:lpstr>Summing a Linked List (Iteration)</vt:lpstr>
      <vt:lpstr>Freeing a List (Recursion)</vt:lpstr>
      <vt:lpstr>Freeing a List (Iteration)</vt:lpstr>
      <vt:lpstr>Finding Even Elements</vt:lpstr>
      <vt:lpstr>Squaring a List "Destructively" (in-place)</vt:lpstr>
      <vt:lpstr>PowerPoint Presentation</vt:lpstr>
      <vt:lpstr>Making a List</vt:lpstr>
      <vt:lpstr>Linked List Helpers</vt:lpstr>
      <vt:lpstr>Making a List</vt:lpstr>
      <vt:lpstr>Locating the End of a Linked List</vt:lpstr>
      <vt:lpstr>Generating a New List of Squares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1107</cp:revision>
  <dcterms:created xsi:type="dcterms:W3CDTF">2023-03-12T16:00:37Z</dcterms:created>
  <dcterms:modified xsi:type="dcterms:W3CDTF">2023-04-19T19:27:16Z</dcterms:modified>
</cp:coreProperties>
</file>