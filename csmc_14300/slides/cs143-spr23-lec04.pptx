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317" r:id="rId3"/>
    <p:sldId id="286" r:id="rId4"/>
    <p:sldId id="263" r:id="rId5"/>
    <p:sldId id="287" r:id="rId6"/>
    <p:sldId id="288" r:id="rId7"/>
    <p:sldId id="318" r:id="rId8"/>
    <p:sldId id="319" r:id="rId9"/>
    <p:sldId id="320" r:id="rId10"/>
    <p:sldId id="292" r:id="rId11"/>
    <p:sldId id="294" r:id="rId12"/>
    <p:sldId id="296" r:id="rId13"/>
    <p:sldId id="293" r:id="rId14"/>
    <p:sldId id="298" r:id="rId15"/>
    <p:sldId id="305" r:id="rId16"/>
    <p:sldId id="304" r:id="rId17"/>
    <p:sldId id="306" r:id="rId18"/>
    <p:sldId id="300" r:id="rId19"/>
    <p:sldId id="307" r:id="rId20"/>
    <p:sldId id="309" r:id="rId21"/>
    <p:sldId id="315" r:id="rId22"/>
    <p:sldId id="321" r:id="rId23"/>
    <p:sldId id="322" r:id="rId24"/>
    <p:sldId id="323" r:id="rId25"/>
    <p:sldId id="324" r:id="rId26"/>
    <p:sldId id="303" r:id="rId27"/>
    <p:sldId id="316" r:id="rId28"/>
    <p:sldId id="312" r:id="rId29"/>
    <p:sldId id="313" r:id="rId30"/>
    <p:sldId id="310" r:id="rId31"/>
    <p:sldId id="311" r:id="rId32"/>
    <p:sldId id="314" r:id="rId33"/>
    <p:sldId id="289" r:id="rId34"/>
    <p:sldId id="290" r:id="rId35"/>
    <p:sldId id="284" r:id="rId36"/>
    <p:sldId id="285" r:id="rId37"/>
    <p:sldId id="30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774"/>
  </p:normalViewPr>
  <p:slideViewPr>
    <p:cSldViewPr snapToGrid="0">
      <p:cViewPr varScale="1">
        <p:scale>
          <a:sx n="157" d="100"/>
          <a:sy n="157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2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Bits 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4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B5A2-893D-7C97-0EF5-FCA796F8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(base 10)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D46-1C0C-F3E5-2851-AE34265B1941}"/>
                  </a:ext>
                </a:extLst>
              </p:cNvPr>
              <p:cNvSpPr txBox="1"/>
              <p:nvPr/>
            </p:nvSpPr>
            <p:spPr>
              <a:xfrm>
                <a:off x="838200" y="1320827"/>
                <a:ext cx="74721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42 in base 10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(4)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(2)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 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(2)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D46-1C0C-F3E5-2851-AE34265B1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20827"/>
                <a:ext cx="7472174" cy="461665"/>
              </a:xfrm>
              <a:prstGeom prst="rect">
                <a:avLst/>
              </a:prstGeom>
              <a:blipFill>
                <a:blip r:embed="rId2"/>
                <a:stretch>
                  <a:fillRect l="-135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C8D09F9-8A0C-9C18-B4CB-F35C03680F66}"/>
              </a:ext>
            </a:extLst>
          </p:cNvPr>
          <p:cNvSpPr txBox="1"/>
          <p:nvPr/>
        </p:nvSpPr>
        <p:spPr>
          <a:xfrm>
            <a:off x="838200" y="2775005"/>
            <a:ext cx="4271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How do memory store integers?</a:t>
            </a:r>
          </a:p>
        </p:txBody>
      </p:sp>
    </p:spTree>
    <p:extLst>
      <p:ext uri="{BB962C8B-B14F-4D97-AF65-F5344CB8AC3E}">
        <p14:creationId xmlns:p14="http://schemas.microsoft.com/office/powerpoint/2010/main" val="179962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FFEC-C7CF-CCE4-5284-7B6B1EBF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(base 2)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D0E43F-854F-4895-5F42-3E2C8CA655A4}"/>
                  </a:ext>
                </a:extLst>
              </p:cNvPr>
              <p:cNvSpPr txBox="1"/>
              <p:nvPr/>
            </p:nvSpPr>
            <p:spPr>
              <a:xfrm>
                <a:off x="838200" y="2092091"/>
                <a:ext cx="10073720" cy="26818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unsigned char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x = 42;</a:t>
                </a:r>
              </a:p>
              <a:p>
                <a:r>
                  <a:rPr lang="en-US" sz="2400" dirty="0"/>
                  <a:t>42 in base 2 is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101010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8+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2+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accent5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unsigned char</a:t>
                </a:r>
                <a:r>
                  <a:rPr lang="en-US" sz="2400" dirty="0"/>
                  <a:t> uses </a:t>
                </a:r>
                <a:r>
                  <a:rPr lang="en-US" sz="2400" b="1" dirty="0"/>
                  <a:t>eight</a:t>
                </a:r>
                <a:r>
                  <a:rPr lang="en-US" sz="2400" dirty="0"/>
                  <a:t> </a:t>
                </a:r>
                <a:r>
                  <a:rPr lang="en-US" sz="2400" b="1" dirty="0"/>
                  <a:t>binary</a:t>
                </a:r>
                <a:r>
                  <a:rPr lang="en-US" sz="2400" dirty="0"/>
                  <a:t> digits (or </a:t>
                </a:r>
                <a:r>
                  <a:rPr lang="en-US" sz="2400" b="1" dirty="0"/>
                  <a:t>bits</a:t>
                </a:r>
                <a:r>
                  <a:rPr lang="en-US" sz="2400" dirty="0"/>
                  <a:t>), known as single </a:t>
                </a:r>
                <a:r>
                  <a:rPr lang="en-US" sz="2400" b="1" dirty="0"/>
                  <a:t>byte</a:t>
                </a:r>
              </a:p>
              <a:p>
                <a:r>
                  <a:rPr lang="en-US" sz="2400" dirty="0">
                    <a:solidFill>
                      <a:schemeClr val="accent5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unsigned char</a:t>
                </a:r>
                <a:r>
                  <a:rPr lang="en-US" sz="2400" dirty="0"/>
                  <a:t> has range [0, 255]</a:t>
                </a:r>
              </a:p>
              <a:p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</a:t>
                </a:r>
                <a:r>
                  <a:rPr lang="en-US" sz="2400" dirty="0"/>
                  <a:t> consumes a single byte of memory and is stored as the bit pattern 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00101010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D0E43F-854F-4895-5F42-3E2C8CA65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92091"/>
                <a:ext cx="10073720" cy="2681824"/>
              </a:xfrm>
              <a:prstGeom prst="rect">
                <a:avLst/>
              </a:prstGeom>
              <a:blipFill>
                <a:blip r:embed="rId2"/>
                <a:stretch>
                  <a:fillRect l="-1008" t="-1887" b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9D63960-1708-C9C2-C8D7-025B7DBCAB4E}"/>
              </a:ext>
            </a:extLst>
          </p:cNvPr>
          <p:cNvSpPr txBox="1"/>
          <p:nvPr/>
        </p:nvSpPr>
        <p:spPr>
          <a:xfrm>
            <a:off x="838200" y="5178483"/>
            <a:ext cx="9210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42;</a:t>
            </a:r>
          </a:p>
          <a:p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int</a:t>
            </a:r>
            <a:r>
              <a:rPr lang="en-US" sz="2400" dirty="0"/>
              <a:t> uses </a:t>
            </a:r>
            <a:r>
              <a:rPr lang="en-US" sz="2400" b="1" dirty="0"/>
              <a:t>4 bytes</a:t>
            </a:r>
            <a:r>
              <a:rPr lang="en-US" sz="2400" dirty="0"/>
              <a:t> (</a:t>
            </a:r>
            <a:r>
              <a:rPr lang="en-US" sz="2400" b="1" dirty="0"/>
              <a:t>32 </a:t>
            </a:r>
            <a:r>
              <a:rPr lang="en-US" sz="2400" dirty="0"/>
              <a:t>bits)</a:t>
            </a:r>
            <a:endParaRPr lang="en-US" sz="2400" b="1" dirty="0"/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/>
              <a:t> is stored as the bit pattern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00000000000000000000000000101010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EC6870-2919-AE01-2367-110BDBD1F0EE}"/>
                  </a:ext>
                </a:extLst>
              </p:cNvPr>
              <p:cNvSpPr txBox="1"/>
              <p:nvPr/>
            </p:nvSpPr>
            <p:spPr>
              <a:xfrm>
                <a:off x="838200" y="1320827"/>
                <a:ext cx="78120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42 in base 10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(4)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100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(2)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 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(2)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EC6870-2919-AE01-2367-110BDBD1F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20827"/>
                <a:ext cx="7812010" cy="461665"/>
              </a:xfrm>
              <a:prstGeom prst="rect">
                <a:avLst/>
              </a:prstGeom>
              <a:blipFill>
                <a:blip r:embed="rId3"/>
                <a:stretch>
                  <a:fillRect l="-129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02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D46B-DFAA-9E18-F3EC-8F1098FD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97D0-A3F3-3FC6-CD2B-ABA07912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  <a:p>
            <a:r>
              <a:rPr lang="en-US" dirty="0"/>
              <a:t>Integer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18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514A-B282-033E-6967-88785D8B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Binary, Octal, and Hexadecimal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1451F-8998-996A-BE03-43968DDFCB68}"/>
              </a:ext>
            </a:extLst>
          </p:cNvPr>
          <p:cNvSpPr txBox="1"/>
          <p:nvPr/>
        </p:nvSpPr>
        <p:spPr>
          <a:xfrm>
            <a:off x="955343" y="1392071"/>
            <a:ext cx="714900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Decimal: Base 10</a:t>
            </a:r>
          </a:p>
          <a:p>
            <a:pPr lvl="1"/>
            <a:r>
              <a:rPr lang="en-US" sz="2800" dirty="0"/>
              <a:t>digits: 0, 1, 2, 3, 4, 5, 6, 7, 8,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Binary: Base 2</a:t>
            </a:r>
          </a:p>
          <a:p>
            <a:pPr lvl="1"/>
            <a:r>
              <a:rPr lang="en-US" sz="2800" dirty="0"/>
              <a:t>digits: 0,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Octal: Base 8</a:t>
            </a:r>
          </a:p>
          <a:p>
            <a:pPr lvl="1"/>
            <a:r>
              <a:rPr lang="en-US" sz="2800" dirty="0"/>
              <a:t>digits: 0, 1, 2, 3, 4, 5, 6,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Hexadecimal: Base 16</a:t>
            </a:r>
          </a:p>
          <a:p>
            <a:pPr lvl="1"/>
            <a:r>
              <a:rPr lang="en-US" sz="2800" dirty="0"/>
              <a:t>digits: 0, 1, 2, 3, 4, 5, 6, 7, 8, 9, A, B, C, D, E, F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F556A5-05E4-5BEA-B2C9-33F16551675C}"/>
              </a:ext>
            </a:extLst>
          </p:cNvPr>
          <p:cNvGrpSpPr/>
          <p:nvPr/>
        </p:nvGrpSpPr>
        <p:grpSpPr>
          <a:xfrm>
            <a:off x="5454555" y="6100549"/>
            <a:ext cx="3173608" cy="732739"/>
            <a:chOff x="5454555" y="6100549"/>
            <a:chExt cx="3173608" cy="7327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7706DC-0F4C-EBA6-08C5-571EE47074BD}"/>
                </a:ext>
              </a:extLst>
            </p:cNvPr>
            <p:cNvSpPr txBox="1"/>
            <p:nvPr/>
          </p:nvSpPr>
          <p:spPr>
            <a:xfrm>
              <a:off x="5454555" y="6371623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5A4B4B-6C60-3ED0-78DF-80D36BCC7A7C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5702380" y="6100549"/>
              <a:ext cx="247824" cy="27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9234BC-A17B-ACCE-406E-CEBC4B9E73EE}"/>
                </a:ext>
              </a:extLst>
            </p:cNvPr>
            <p:cNvSpPr txBox="1"/>
            <p:nvPr/>
          </p:nvSpPr>
          <p:spPr>
            <a:xfrm>
              <a:off x="5993973" y="63597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763D8B-CD39-34A9-1FE8-16D5983345CA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6241798" y="6100549"/>
              <a:ext cx="151253" cy="2591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80EC01-1424-CA53-BFBD-E45CE0449903}"/>
                </a:ext>
              </a:extLst>
            </p:cNvPr>
            <p:cNvSpPr txBox="1"/>
            <p:nvPr/>
          </p:nvSpPr>
          <p:spPr>
            <a:xfrm>
              <a:off x="6601798" y="63597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03208AC-2898-08AD-8BD3-196A0CA31047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6849623" y="6100549"/>
              <a:ext cx="0" cy="2591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F10757-1A38-9140-B202-F445264ABA38}"/>
                </a:ext>
              </a:extLst>
            </p:cNvPr>
            <p:cNvSpPr txBox="1"/>
            <p:nvPr/>
          </p:nvSpPr>
          <p:spPr>
            <a:xfrm>
              <a:off x="7097447" y="6371623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584CC51-F88F-1E25-1BDB-DE6D711FFE92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H="1" flipV="1">
              <a:off x="7209623" y="6100549"/>
              <a:ext cx="135649" cy="27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7B630F-C129-6A67-9C0A-968F9A881B38}"/>
                </a:ext>
              </a:extLst>
            </p:cNvPr>
            <p:cNvSpPr txBox="1"/>
            <p:nvPr/>
          </p:nvSpPr>
          <p:spPr>
            <a:xfrm>
              <a:off x="7636865" y="63597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14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2FB8863-2CBC-8A64-8468-F039973DD64F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H="1" flipV="1">
              <a:off x="7593096" y="6100549"/>
              <a:ext cx="291594" cy="2591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A197B-519E-A896-F47A-E20D9E3C2863}"/>
                </a:ext>
              </a:extLst>
            </p:cNvPr>
            <p:cNvSpPr txBox="1"/>
            <p:nvPr/>
          </p:nvSpPr>
          <p:spPr>
            <a:xfrm>
              <a:off x="8132514" y="6371623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15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90753B-61A6-A2D1-7FD5-251972D0301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 flipV="1">
              <a:off x="7942881" y="6100549"/>
              <a:ext cx="437458" cy="27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825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2827-7A72-1CBA-7B53-56420115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Binary, Octal, and Hexadecimal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BDA5C2-7E80-AF79-28A3-BF263B73A6BF}"/>
                  </a:ext>
                </a:extLst>
              </p:cNvPr>
              <p:cNvSpPr txBox="1"/>
              <p:nvPr/>
            </p:nvSpPr>
            <p:spPr>
              <a:xfrm>
                <a:off x="880533" y="1473200"/>
                <a:ext cx="77554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Given base </a:t>
                </a:r>
                <a:r>
                  <a:rPr lang="en-US" sz="2400" i="1" dirty="0"/>
                  <a:t>m</a:t>
                </a:r>
                <a:r>
                  <a:rPr lang="en-US" sz="2400" dirty="0"/>
                  <a:t> and digits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1,…,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𝑤𝑥𝑦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BDA5C2-7E80-AF79-28A3-BF263B73A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33" y="1473200"/>
                <a:ext cx="7755467" cy="1569660"/>
              </a:xfrm>
              <a:prstGeom prst="rect">
                <a:avLst/>
              </a:prstGeom>
              <a:blipFill>
                <a:blip r:embed="rId2"/>
                <a:stretch>
                  <a:fillRect l="-1307" t="-2419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1B6EB-D4E6-E441-49A0-354BC24D96E0}"/>
                  </a:ext>
                </a:extLst>
              </p:cNvPr>
              <p:cNvSpPr txBox="1"/>
              <p:nvPr/>
            </p:nvSpPr>
            <p:spPr>
              <a:xfrm>
                <a:off x="880533" y="3429000"/>
                <a:ext cx="59716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aseline="30000" dirty="0"/>
                  <a:t>th</a:t>
                </a:r>
                <a:r>
                  <a:rPr lang="en-US" sz="2400" dirty="0"/>
                  <a:t> digit from the right is multiplied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1B6EB-D4E6-E441-49A0-354BC24D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33" y="3429000"/>
                <a:ext cx="5971699" cy="461665"/>
              </a:xfrm>
              <a:prstGeom prst="rect">
                <a:avLst/>
              </a:prstGeom>
              <a:blipFill>
                <a:blip r:embed="rId3"/>
                <a:stretch>
                  <a:fillRect l="-169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5D8D94E-ECC8-0AC2-CEB1-5285C7B20795}"/>
              </a:ext>
            </a:extLst>
          </p:cNvPr>
          <p:cNvSpPr txBox="1"/>
          <p:nvPr/>
        </p:nvSpPr>
        <p:spPr>
          <a:xfrm>
            <a:off x="880533" y="4461934"/>
            <a:ext cx="5698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 (octal or hexadecimal </a:t>
            </a:r>
            <a:r>
              <a:rPr lang="en-US" sz="2400" dirty="0">
                <a:sym typeface="Wingdings" pitchFamily="2" charset="2"/>
              </a:rPr>
              <a:t> decimal</a:t>
            </a:r>
            <a:r>
              <a:rPr lang="en-US" sz="2400" dirty="0"/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55923-DB6E-7E12-AEC8-642BD7B79C3A}"/>
                  </a:ext>
                </a:extLst>
              </p:cNvPr>
              <p:cNvSpPr txBox="1"/>
              <p:nvPr/>
            </p:nvSpPr>
            <p:spPr>
              <a:xfrm>
                <a:off x="2103244" y="4923599"/>
                <a:ext cx="50779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532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+3∙10+2=532</m:t>
                    </m:r>
                  </m:oMath>
                </a14:m>
                <a:endParaRPr lang="en-US" sz="2400" dirty="0"/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532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+2=346</m:t>
                    </m:r>
                  </m:oMath>
                </a14:m>
                <a:endParaRPr lang="en-US" sz="2400" dirty="0"/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532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6+2=1330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55923-DB6E-7E12-AEC8-642BD7B7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244" y="4923599"/>
                <a:ext cx="5077993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11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DFFF-52FE-2769-BBBE-D7D447BF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</a:t>
            </a:r>
            <a:r>
              <a:rPr lang="en-US" dirty="0">
                <a:sym typeface="Wingdings" pitchFamily="2" charset="2"/>
              </a:rPr>
              <a:t> Octal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E0CD7-A729-07BD-3CEF-FDA4B06A40B9}"/>
              </a:ext>
            </a:extLst>
          </p:cNvPr>
          <p:cNvSpPr txBox="1"/>
          <p:nvPr/>
        </p:nvSpPr>
        <p:spPr>
          <a:xfrm>
            <a:off x="5064981" y="226612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532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11242-87E4-C092-6AD0-E29D2C403BC4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flipH="1">
            <a:off x="4538543" y="2727787"/>
            <a:ext cx="852008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5DFC0E-B278-7B16-B60E-A9761EAF01FB}"/>
              </a:ext>
            </a:extLst>
          </p:cNvPr>
          <p:cNvSpPr txBox="1"/>
          <p:nvPr/>
        </p:nvSpPr>
        <p:spPr>
          <a:xfrm>
            <a:off x="4500500" y="273931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/8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1427B1-3B1E-6FE6-B71D-07977D9D9B1D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5390551" y="2727787"/>
            <a:ext cx="883028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9F4AF2-E39C-FEEA-DE19-C8FEFAA0BF1B}"/>
              </a:ext>
            </a:extLst>
          </p:cNvPr>
          <p:cNvSpPr txBox="1"/>
          <p:nvPr/>
        </p:nvSpPr>
        <p:spPr>
          <a:xfrm>
            <a:off x="5757965" y="2735249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0BFC9-ECEF-5705-69FE-DB8A758AC8B7}"/>
              </a:ext>
            </a:extLst>
          </p:cNvPr>
          <p:cNvSpPr txBox="1"/>
          <p:nvPr/>
        </p:nvSpPr>
        <p:spPr>
          <a:xfrm>
            <a:off x="4290718" y="3411110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BFE3B-4B62-CA5D-9483-D8F4BE800244}"/>
              </a:ext>
            </a:extLst>
          </p:cNvPr>
          <p:cNvSpPr txBox="1"/>
          <p:nvPr/>
        </p:nvSpPr>
        <p:spPr>
          <a:xfrm>
            <a:off x="6103500" y="3411110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A70C92-90B3-1CF3-0B99-CD225FD14FC0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flipH="1">
            <a:off x="3681127" y="3872775"/>
            <a:ext cx="857416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124919-290F-4F56-CC7E-9DE24DE65722}"/>
              </a:ext>
            </a:extLst>
          </p:cNvPr>
          <p:cNvSpPr txBox="1"/>
          <p:nvPr/>
        </p:nvSpPr>
        <p:spPr>
          <a:xfrm>
            <a:off x="3643084" y="3856138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CC90C4-0773-FFA8-DEDE-F19298C8B3B4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4538543" y="3872775"/>
            <a:ext cx="877620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C0742F-8790-44BC-74C3-A79667405352}"/>
              </a:ext>
            </a:extLst>
          </p:cNvPr>
          <p:cNvSpPr txBox="1"/>
          <p:nvPr/>
        </p:nvSpPr>
        <p:spPr>
          <a:xfrm>
            <a:off x="4900549" y="385207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E18713-C5D1-4A19-9E6D-E9A49444EEA5}"/>
              </a:ext>
            </a:extLst>
          </p:cNvPr>
          <p:cNvSpPr txBox="1"/>
          <p:nvPr/>
        </p:nvSpPr>
        <p:spPr>
          <a:xfrm>
            <a:off x="3511048" y="45279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95DDA-CAE6-327D-2EC1-E0A8AFBCBF17}"/>
              </a:ext>
            </a:extLst>
          </p:cNvPr>
          <p:cNvSpPr txBox="1"/>
          <p:nvPr/>
        </p:nvSpPr>
        <p:spPr>
          <a:xfrm>
            <a:off x="5246084" y="4527938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519D6C4-EB11-8D21-B930-5D5A04B96D25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2791411" y="4989603"/>
            <a:ext cx="889716" cy="67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BCB5583-87F9-130D-3794-6F75604FC397}"/>
              </a:ext>
            </a:extLst>
          </p:cNvPr>
          <p:cNvSpPr txBox="1"/>
          <p:nvPr/>
        </p:nvSpPr>
        <p:spPr>
          <a:xfrm>
            <a:off x="2753368" y="4993664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547956-9897-2542-F140-084106AF34D2}"/>
              </a:ext>
            </a:extLst>
          </p:cNvPr>
          <p:cNvCxnSpPr>
            <a:cxnSpLocks/>
            <a:stCxn id="22" idx="2"/>
            <a:endCxn id="31" idx="0"/>
          </p:cNvCxnSpPr>
          <p:nvPr/>
        </p:nvCxnSpPr>
        <p:spPr>
          <a:xfrm>
            <a:off x="3681127" y="4989603"/>
            <a:ext cx="845320" cy="67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16E34CD-A4CD-B5E4-3AA8-19E56320AEB9}"/>
              </a:ext>
            </a:extLst>
          </p:cNvPr>
          <p:cNvSpPr txBox="1"/>
          <p:nvPr/>
        </p:nvSpPr>
        <p:spPr>
          <a:xfrm>
            <a:off x="4010833" y="4989603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9E0879-EDB3-89C2-78EA-BAB938658BE8}"/>
              </a:ext>
            </a:extLst>
          </p:cNvPr>
          <p:cNvSpPr txBox="1"/>
          <p:nvPr/>
        </p:nvSpPr>
        <p:spPr>
          <a:xfrm>
            <a:off x="2621332" y="5665464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CC81F3-463B-ED8A-ACA3-B22442568B06}"/>
              </a:ext>
            </a:extLst>
          </p:cNvPr>
          <p:cNvSpPr txBox="1"/>
          <p:nvPr/>
        </p:nvSpPr>
        <p:spPr>
          <a:xfrm>
            <a:off x="4356368" y="5665464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56DF08-D0B9-275D-04C5-861C0C561B0B}"/>
              </a:ext>
            </a:extLst>
          </p:cNvPr>
          <p:cNvSpPr txBox="1"/>
          <p:nvPr/>
        </p:nvSpPr>
        <p:spPr>
          <a:xfrm>
            <a:off x="838200" y="1500347"/>
            <a:ext cx="4326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Convert 532 to octal (532</a:t>
            </a:r>
            <a:r>
              <a:rPr lang="en-US" sz="2400" baseline="-25000" dirty="0">
                <a:ea typeface="Cambria Math" panose="02040503050406030204" pitchFamily="18" charset="0"/>
              </a:rPr>
              <a:t>10</a:t>
            </a:r>
            <a:r>
              <a:rPr lang="en-US" sz="2400" dirty="0">
                <a:ea typeface="Cambria Math" panose="02040503050406030204" pitchFamily="18" charset="0"/>
              </a:rPr>
              <a:t>=???</a:t>
            </a:r>
            <a:r>
              <a:rPr lang="en-US" sz="2400" baseline="-25000" dirty="0">
                <a:ea typeface="Cambria Math" panose="02040503050406030204" pitchFamily="18" charset="0"/>
              </a:rPr>
              <a:t>8</a:t>
            </a:r>
            <a:r>
              <a:rPr lang="en-US" sz="2400" dirty="0"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42F700-97D4-645F-3669-B4EFDC435FE4}"/>
              </a:ext>
            </a:extLst>
          </p:cNvPr>
          <p:cNvSpPr txBox="1"/>
          <p:nvPr/>
        </p:nvSpPr>
        <p:spPr>
          <a:xfrm>
            <a:off x="1581177" y="2218669"/>
            <a:ext cx="2760626" cy="783193"/>
          </a:xfrm>
          <a:prstGeom prst="wedgeRoundRectCallout">
            <a:avLst>
              <a:gd name="adj1" fmla="val 61046"/>
              <a:gd name="adj2" fmla="val 4026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/ is truncated division </a:t>
            </a:r>
          </a:p>
          <a:p>
            <a:r>
              <a:rPr lang="en-US" sz="2000" dirty="0"/>
              <a:t>  (working with integers)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49515-5F4F-A6E2-96C6-65B8E99C2F55}"/>
              </a:ext>
            </a:extLst>
          </p:cNvPr>
          <p:cNvSpPr txBox="1"/>
          <p:nvPr/>
        </p:nvSpPr>
        <p:spPr>
          <a:xfrm>
            <a:off x="6706926" y="2217198"/>
            <a:ext cx="2359528" cy="783193"/>
          </a:xfrm>
          <a:prstGeom prst="wedgeRoundRectCallout">
            <a:avLst>
              <a:gd name="adj1" fmla="val -70428"/>
              <a:gd name="adj2" fmla="val 4137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% is remainder after</a:t>
            </a:r>
          </a:p>
          <a:p>
            <a:r>
              <a:rPr lang="en-US" sz="2000" dirty="0"/>
              <a:t>   integer division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C4F361-7225-3F99-0550-60446DCBB7BF}"/>
              </a:ext>
            </a:extLst>
          </p:cNvPr>
          <p:cNvSpPr txBox="1"/>
          <p:nvPr/>
        </p:nvSpPr>
        <p:spPr>
          <a:xfrm>
            <a:off x="5716121" y="1500347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1024</a:t>
            </a:r>
            <a:r>
              <a:rPr lang="en-US" sz="2400" b="1" baseline="-25000" dirty="0"/>
              <a:t>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289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6" grpId="0" animBg="1"/>
      <p:bldP spid="19" grpId="0"/>
      <p:bldP spid="21" grpId="0"/>
      <p:bldP spid="22" grpId="0"/>
      <p:bldP spid="23" grpId="0" animBg="1"/>
      <p:bldP spid="27" grpId="0"/>
      <p:bldP spid="29" grpId="0"/>
      <p:bldP spid="30" grpId="0" animBg="1"/>
      <p:bldP spid="31" grpId="0" animBg="1"/>
      <p:bldP spid="36" grpId="0" animBg="1"/>
      <p:bldP spid="37" grpId="0" animBg="1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DFFF-52FE-2769-BBBE-D7D447BF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</a:t>
            </a:r>
            <a:r>
              <a:rPr lang="en-US" dirty="0">
                <a:sym typeface="Wingdings" pitchFamily="2" charset="2"/>
              </a:rPr>
              <a:t> Hexadecimal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E0CD7-A729-07BD-3CEF-FDA4B06A40B9}"/>
              </a:ext>
            </a:extLst>
          </p:cNvPr>
          <p:cNvSpPr txBox="1"/>
          <p:nvPr/>
        </p:nvSpPr>
        <p:spPr>
          <a:xfrm>
            <a:off x="5064981" y="226612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532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11242-87E4-C092-6AD0-E29D2C403BC4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flipH="1">
            <a:off x="4538543" y="2727787"/>
            <a:ext cx="852008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5DFC0E-B278-7B16-B60E-A9761EAF01FB}"/>
              </a:ext>
            </a:extLst>
          </p:cNvPr>
          <p:cNvSpPr txBox="1"/>
          <p:nvPr/>
        </p:nvSpPr>
        <p:spPr>
          <a:xfrm>
            <a:off x="4422754" y="2739310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1427B1-3B1E-6FE6-B71D-07977D9D9B1D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5390551" y="2727787"/>
            <a:ext cx="883028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9F4AF2-E39C-FEEA-DE19-C8FEFAA0BF1B}"/>
              </a:ext>
            </a:extLst>
          </p:cNvPr>
          <p:cNvSpPr txBox="1"/>
          <p:nvPr/>
        </p:nvSpPr>
        <p:spPr>
          <a:xfrm>
            <a:off x="5680220" y="2735249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0BFC9-ECEF-5705-69FE-DB8A758AC8B7}"/>
              </a:ext>
            </a:extLst>
          </p:cNvPr>
          <p:cNvSpPr txBox="1"/>
          <p:nvPr/>
        </p:nvSpPr>
        <p:spPr>
          <a:xfrm>
            <a:off x="4290718" y="3411110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33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BFE3B-4B62-CA5D-9483-D8F4BE800244}"/>
              </a:ext>
            </a:extLst>
          </p:cNvPr>
          <p:cNvSpPr txBox="1"/>
          <p:nvPr/>
        </p:nvSpPr>
        <p:spPr>
          <a:xfrm>
            <a:off x="6103500" y="3411110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A70C92-90B3-1CF3-0B99-CD225FD14FC0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flipH="1">
            <a:off x="3681127" y="3872775"/>
            <a:ext cx="857416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124919-290F-4F56-CC7E-9DE24DE65722}"/>
              </a:ext>
            </a:extLst>
          </p:cNvPr>
          <p:cNvSpPr txBox="1"/>
          <p:nvPr/>
        </p:nvSpPr>
        <p:spPr>
          <a:xfrm>
            <a:off x="3565338" y="3856138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CC90C4-0773-FFA8-DEDE-F19298C8B3B4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4538543" y="3872775"/>
            <a:ext cx="877620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C0742F-8790-44BC-74C3-A79667405352}"/>
              </a:ext>
            </a:extLst>
          </p:cNvPr>
          <p:cNvSpPr txBox="1"/>
          <p:nvPr/>
        </p:nvSpPr>
        <p:spPr>
          <a:xfrm>
            <a:off x="4822804" y="3852077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E18713-C5D1-4A19-9E6D-E9A49444EEA5}"/>
              </a:ext>
            </a:extLst>
          </p:cNvPr>
          <p:cNvSpPr txBox="1"/>
          <p:nvPr/>
        </p:nvSpPr>
        <p:spPr>
          <a:xfrm>
            <a:off x="3511048" y="4527938"/>
            <a:ext cx="34015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95DDA-CAE6-327D-2EC1-E0A8AFBCBF17}"/>
              </a:ext>
            </a:extLst>
          </p:cNvPr>
          <p:cNvSpPr txBox="1"/>
          <p:nvPr/>
        </p:nvSpPr>
        <p:spPr>
          <a:xfrm>
            <a:off x="5246084" y="4527938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56DF08-D0B9-275D-04C5-861C0C561B0B}"/>
              </a:ext>
            </a:extLst>
          </p:cNvPr>
          <p:cNvSpPr txBox="1"/>
          <p:nvPr/>
        </p:nvSpPr>
        <p:spPr>
          <a:xfrm>
            <a:off x="838200" y="1500347"/>
            <a:ext cx="538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Convert 532 to hexadecimal (532</a:t>
            </a:r>
            <a:r>
              <a:rPr lang="en-US" sz="2400" baseline="-25000" dirty="0">
                <a:ea typeface="Cambria Math" panose="02040503050406030204" pitchFamily="18" charset="0"/>
              </a:rPr>
              <a:t>10</a:t>
            </a:r>
            <a:r>
              <a:rPr lang="en-US" sz="2400" dirty="0">
                <a:ea typeface="Cambria Math" panose="02040503050406030204" pitchFamily="18" charset="0"/>
              </a:rPr>
              <a:t>=???</a:t>
            </a:r>
            <a:r>
              <a:rPr lang="en-US" sz="2400" baseline="-25000" dirty="0">
                <a:ea typeface="Cambria Math" panose="02040503050406030204" pitchFamily="18" charset="0"/>
              </a:rPr>
              <a:t>16</a:t>
            </a:r>
            <a:r>
              <a:rPr lang="en-US" sz="2400" dirty="0"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FAA8A-BA0B-D59C-6EF9-DFC09D7F0C89}"/>
              </a:ext>
            </a:extLst>
          </p:cNvPr>
          <p:cNvSpPr txBox="1"/>
          <p:nvPr/>
        </p:nvSpPr>
        <p:spPr>
          <a:xfrm>
            <a:off x="6630521" y="1500347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214</a:t>
            </a:r>
            <a:r>
              <a:rPr lang="en-US" sz="2400" baseline="-25000" dirty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EF4C-CD64-0436-D4FC-752C5B3D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</a:t>
            </a:r>
            <a:r>
              <a:rPr lang="en-US" dirty="0">
                <a:sym typeface="Wingdings" pitchFamily="2" charset="2"/>
              </a:rPr>
              <a:t> Hexadecimal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6619F-CF2A-4A80-DF5D-157B9807335A}"/>
              </a:ext>
            </a:extLst>
          </p:cNvPr>
          <p:cNvSpPr txBox="1"/>
          <p:nvPr/>
        </p:nvSpPr>
        <p:spPr>
          <a:xfrm>
            <a:off x="4831744" y="1979875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0" i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675817</a:t>
            </a:r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74EDF6-9F93-BED3-2E95-5D38A5AB120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4538544" y="2441540"/>
            <a:ext cx="852007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CCB554-10FC-96A3-13A6-BB9883DB2BE4}"/>
              </a:ext>
            </a:extLst>
          </p:cNvPr>
          <p:cNvSpPr txBox="1"/>
          <p:nvPr/>
        </p:nvSpPr>
        <p:spPr>
          <a:xfrm>
            <a:off x="4422754" y="2453063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BC8A29-603C-E41A-CB61-A18592C36AAD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390551" y="2441540"/>
            <a:ext cx="883028" cy="68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314062-E5E1-4738-AE1C-885E7A760DEC}"/>
              </a:ext>
            </a:extLst>
          </p:cNvPr>
          <p:cNvSpPr txBox="1"/>
          <p:nvPr/>
        </p:nvSpPr>
        <p:spPr>
          <a:xfrm>
            <a:off x="5680220" y="2449002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84A7B-74D7-D1D8-2E39-9CDE915019EC}"/>
              </a:ext>
            </a:extLst>
          </p:cNvPr>
          <p:cNvSpPr txBox="1"/>
          <p:nvPr/>
        </p:nvSpPr>
        <p:spPr>
          <a:xfrm>
            <a:off x="4057482" y="3124863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42238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EFC6F-7118-AB93-AE2B-D00C6D97D874}"/>
              </a:ext>
            </a:extLst>
          </p:cNvPr>
          <p:cNvSpPr txBox="1"/>
          <p:nvPr/>
        </p:nvSpPr>
        <p:spPr>
          <a:xfrm>
            <a:off x="6103500" y="3124863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9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F0F048-9557-40BC-2B80-CD3FA6638387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flipH="1">
            <a:off x="3681127" y="3586528"/>
            <a:ext cx="857417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82053B-D3A3-921B-0053-450DA78C1776}"/>
              </a:ext>
            </a:extLst>
          </p:cNvPr>
          <p:cNvSpPr txBox="1"/>
          <p:nvPr/>
        </p:nvSpPr>
        <p:spPr>
          <a:xfrm>
            <a:off x="3565338" y="3569891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9A979C-F247-B91B-F741-CEC6D8914EB0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4538544" y="3586528"/>
            <a:ext cx="877621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5A4E15-76A2-8B37-B18A-347C99F4EFA4}"/>
              </a:ext>
            </a:extLst>
          </p:cNvPr>
          <p:cNvSpPr txBox="1"/>
          <p:nvPr/>
        </p:nvSpPr>
        <p:spPr>
          <a:xfrm>
            <a:off x="4822804" y="3565830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F33C7-F1E4-1EAD-9AEB-34346DB0812F}"/>
              </a:ext>
            </a:extLst>
          </p:cNvPr>
          <p:cNvSpPr txBox="1"/>
          <p:nvPr/>
        </p:nvSpPr>
        <p:spPr>
          <a:xfrm>
            <a:off x="3277811" y="4241691"/>
            <a:ext cx="806632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/>
              <a:t>2639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81F05-4383-6E9F-8F76-188BEA6AE55D}"/>
              </a:ext>
            </a:extLst>
          </p:cNvPr>
          <p:cNvSpPr txBox="1"/>
          <p:nvPr/>
        </p:nvSpPr>
        <p:spPr>
          <a:xfrm>
            <a:off x="5000025" y="4241691"/>
            <a:ext cx="8322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E(14)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A14145-1E6B-AD07-592E-25CE4FF1635E}"/>
                  </a:ext>
                </a:extLst>
              </p:cNvPr>
              <p:cNvSpPr txBox="1"/>
              <p:nvPr/>
            </p:nvSpPr>
            <p:spPr>
              <a:xfrm>
                <a:off x="838200" y="1500347"/>
                <a:ext cx="65608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Convert </a:t>
                </a:r>
                <a:r>
                  <a:rPr lang="en-US" sz="2400" b="0" i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675817</a:t>
                </a:r>
                <a:r>
                  <a:rPr lang="en-US" sz="2400" dirty="0">
                    <a:ea typeface="Cambria Math" panose="02040503050406030204" pitchFamily="18" charset="0"/>
                  </a:rPr>
                  <a:t> to hexadecimal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675817</m:t>
                    </m:r>
                  </m:oMath>
                </a14:m>
                <a:r>
                  <a:rPr lang="en-US" sz="2400" baseline="-25000" dirty="0">
                    <a:ea typeface="Cambria Math" panose="02040503050406030204" pitchFamily="18" charset="0"/>
                  </a:rPr>
                  <a:t>10</a:t>
                </a:r>
                <a:r>
                  <a:rPr lang="en-US" sz="2400" dirty="0">
                    <a:ea typeface="Cambria Math" panose="02040503050406030204" pitchFamily="18" charset="0"/>
                  </a:rPr>
                  <a:t>=???</a:t>
                </a:r>
                <a:r>
                  <a:rPr lang="en-US" sz="2400" baseline="-25000" dirty="0">
                    <a:ea typeface="Cambria Math" panose="02040503050406030204" pitchFamily="18" charset="0"/>
                  </a:rPr>
                  <a:t>16</a:t>
                </a:r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A14145-1E6B-AD07-592E-25CE4FF1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0347"/>
                <a:ext cx="6560835" cy="461665"/>
              </a:xfrm>
              <a:prstGeom prst="rect">
                <a:avLst/>
              </a:prstGeom>
              <a:blipFill>
                <a:blip r:embed="rId2"/>
                <a:stretch>
                  <a:fillRect l="-154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ADB899C-CF1C-54F0-5EE9-F38CF34AA7E2}"/>
              </a:ext>
            </a:extLst>
          </p:cNvPr>
          <p:cNvSpPr txBox="1"/>
          <p:nvPr/>
        </p:nvSpPr>
        <p:spPr>
          <a:xfrm>
            <a:off x="8188976" y="1500347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A4FE9</a:t>
            </a:r>
            <a:r>
              <a:rPr lang="en-US" sz="2400" baseline="-25000" dirty="0"/>
              <a:t>16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BD6E27-1F54-63BC-1935-67F23C35559C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803508" y="4712287"/>
            <a:ext cx="857417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E66719-AA1E-691B-3EE2-41BFC3390204}"/>
              </a:ext>
            </a:extLst>
          </p:cNvPr>
          <p:cNvSpPr txBox="1"/>
          <p:nvPr/>
        </p:nvSpPr>
        <p:spPr>
          <a:xfrm>
            <a:off x="2687719" y="4695650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0EA65E-E8ED-66F0-8892-7C71544D1E2A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660925" y="4712287"/>
            <a:ext cx="877620" cy="65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E1EFCA-597B-7EE1-096E-5A82A4C8D4EA}"/>
              </a:ext>
            </a:extLst>
          </p:cNvPr>
          <p:cNvSpPr txBox="1"/>
          <p:nvPr/>
        </p:nvSpPr>
        <p:spPr>
          <a:xfrm>
            <a:off x="3945185" y="4691589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022B5-51C2-450C-ABD7-810BB2315A68}"/>
              </a:ext>
            </a:extLst>
          </p:cNvPr>
          <p:cNvSpPr txBox="1"/>
          <p:nvPr/>
        </p:nvSpPr>
        <p:spPr>
          <a:xfrm>
            <a:off x="2477938" y="5367450"/>
            <a:ext cx="651140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164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0F5E12-E8C6-E98B-C72A-A26B4EA9918C}"/>
              </a:ext>
            </a:extLst>
          </p:cNvPr>
          <p:cNvSpPr txBox="1"/>
          <p:nvPr/>
        </p:nvSpPr>
        <p:spPr>
          <a:xfrm>
            <a:off x="4092749" y="5367450"/>
            <a:ext cx="8915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 (15)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F43B8F-FC55-0794-F30A-4F331A2C551B}"/>
              </a:ext>
            </a:extLst>
          </p:cNvPr>
          <p:cNvCxnSpPr>
            <a:cxnSpLocks/>
            <a:stCxn id="23" idx="2"/>
            <a:endCxn id="30" idx="0"/>
          </p:cNvCxnSpPr>
          <p:nvPr/>
        </p:nvCxnSpPr>
        <p:spPr>
          <a:xfrm flipH="1">
            <a:off x="1925890" y="5829115"/>
            <a:ext cx="877618" cy="528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05A2D69-9DEE-78DC-6940-0068DC130DB7}"/>
              </a:ext>
            </a:extLst>
          </p:cNvPr>
          <p:cNvSpPr txBox="1"/>
          <p:nvPr/>
        </p:nvSpPr>
        <p:spPr>
          <a:xfrm>
            <a:off x="1810100" y="5821075"/>
            <a:ext cx="61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/16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D0AB32-F338-0A2B-774E-41FA8A3E195A}"/>
              </a:ext>
            </a:extLst>
          </p:cNvPr>
          <p:cNvCxnSpPr>
            <a:cxnSpLocks/>
            <a:stCxn id="23" idx="2"/>
            <a:endCxn id="31" idx="0"/>
          </p:cNvCxnSpPr>
          <p:nvPr/>
        </p:nvCxnSpPr>
        <p:spPr>
          <a:xfrm>
            <a:off x="2803508" y="5829115"/>
            <a:ext cx="857417" cy="528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29830F6-540F-EB1F-BE9A-DB5DE2A48020}"/>
              </a:ext>
            </a:extLst>
          </p:cNvPr>
          <p:cNvSpPr txBox="1"/>
          <p:nvPr/>
        </p:nvSpPr>
        <p:spPr>
          <a:xfrm>
            <a:off x="3067566" y="5817014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%16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F68F36-C37D-834C-6C3C-E9C796C5C0B5}"/>
              </a:ext>
            </a:extLst>
          </p:cNvPr>
          <p:cNvSpPr txBox="1"/>
          <p:nvPr/>
        </p:nvSpPr>
        <p:spPr>
          <a:xfrm>
            <a:off x="1461660" y="6357703"/>
            <a:ext cx="92845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 (10)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F5EB28-B587-B8C5-0FF6-F94ED6A3E776}"/>
              </a:ext>
            </a:extLst>
          </p:cNvPr>
          <p:cNvSpPr txBox="1"/>
          <p:nvPr/>
        </p:nvSpPr>
        <p:spPr>
          <a:xfrm>
            <a:off x="3490846" y="6357703"/>
            <a:ext cx="3401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735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F625-C6EF-E799-54F2-31B4AD6D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</a:t>
            </a:r>
            <a:r>
              <a:rPr lang="en-US" dirty="0">
                <a:sym typeface="Wingdings" pitchFamily="2" charset="2"/>
              </a:rPr>
              <a:t> Binary?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1888F-19DA-ECDC-66C8-1ED7678C2283}"/>
              </a:ext>
            </a:extLst>
          </p:cNvPr>
          <p:cNvSpPr txBox="1"/>
          <p:nvPr/>
        </p:nvSpPr>
        <p:spPr>
          <a:xfrm>
            <a:off x="838200" y="1500347"/>
            <a:ext cx="211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681BF9-439F-28B1-C6E7-15BCC964F1CB}"/>
                  </a:ext>
                </a:extLst>
              </p:cNvPr>
              <p:cNvSpPr txBox="1"/>
              <p:nvPr/>
            </p:nvSpPr>
            <p:spPr>
              <a:xfrm>
                <a:off x="1049867" y="2300056"/>
                <a:ext cx="81787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𝐹𝐸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=675817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681BF9-439F-28B1-C6E7-15BCC964F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67" y="2300056"/>
                <a:ext cx="817879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B4D681-1F78-BAD5-2CD9-F636C58481D6}"/>
                  </a:ext>
                </a:extLst>
              </p:cNvPr>
              <p:cNvSpPr txBox="1"/>
              <p:nvPr/>
            </p:nvSpPr>
            <p:spPr>
              <a:xfrm>
                <a:off x="838200" y="3838429"/>
                <a:ext cx="107357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10100100111111101001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…+0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675817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B4D681-1F78-BAD5-2CD9-F636C5848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38429"/>
                <a:ext cx="10735735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F4F048-EAE2-4156-3438-833BB909DFD6}"/>
                  </a:ext>
                </a:extLst>
              </p:cNvPr>
              <p:cNvSpPr txBox="1"/>
              <p:nvPr/>
            </p:nvSpPr>
            <p:spPr>
              <a:xfrm>
                <a:off x="962159" y="5145969"/>
                <a:ext cx="10410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Is there a quicker way to recognize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𝐹𝐸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10100100111111101001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F4F048-EAE2-4156-3438-833BB909D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59" y="5145969"/>
                <a:ext cx="10410350" cy="461665"/>
              </a:xfrm>
              <a:prstGeom prst="rect">
                <a:avLst/>
              </a:prstGeom>
              <a:blipFill>
                <a:blip r:embed="rId4"/>
                <a:stretch>
                  <a:fillRect l="-85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66A9C-0D39-DB33-344A-547700732E00}"/>
                  </a:ext>
                </a:extLst>
              </p:cNvPr>
              <p:cNvSpPr txBox="1"/>
              <p:nvPr/>
            </p:nvSpPr>
            <p:spPr>
              <a:xfrm>
                <a:off x="1028602" y="5661878"/>
                <a:ext cx="94820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 single digit in base 8 corresponds to 3 digits in base 2, 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br>
                  <a:rPr lang="en-US" sz="2400" dirty="0"/>
                </a:br>
                <a:r>
                  <a:rPr lang="en-US" sz="2400" dirty="0"/>
                  <a:t>A single digit in base 16 corresponds to 4 digits in base 2, 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66A9C-0D39-DB33-344A-547700732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02" y="5661878"/>
                <a:ext cx="9482083" cy="830997"/>
              </a:xfrm>
              <a:prstGeom prst="rect">
                <a:avLst/>
              </a:prstGeom>
              <a:blipFill>
                <a:blip r:embed="rId5"/>
                <a:stretch>
                  <a:fillRect l="-1071" t="-2985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165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633F8AD-9E6B-B9EF-3B6C-E5A9A038B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40372"/>
              </p:ext>
            </p:extLst>
          </p:nvPr>
        </p:nvGraphicFramePr>
        <p:xfrm>
          <a:off x="7056692" y="907123"/>
          <a:ext cx="1738630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04">
                  <a:extLst>
                    <a:ext uri="{9D8B030D-6E8A-4147-A177-3AD203B41FA5}">
                      <a16:colId xmlns:a16="http://schemas.microsoft.com/office/drawing/2014/main" val="3596455889"/>
                    </a:ext>
                  </a:extLst>
                </a:gridCol>
                <a:gridCol w="931926">
                  <a:extLst>
                    <a:ext uri="{9D8B030D-6E8A-4147-A177-3AD203B41FA5}">
                      <a16:colId xmlns:a16="http://schemas.microsoft.com/office/drawing/2014/main" val="1517021604"/>
                    </a:ext>
                  </a:extLst>
                </a:gridCol>
              </a:tblGrid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Octal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Binary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9823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6015790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12220750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931036679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366915026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6969675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93346984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60964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7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111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0762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8836F-157A-D8F4-0004-74B753BB873E}"/>
                  </a:ext>
                </a:extLst>
              </p:cNvPr>
              <p:cNvSpPr txBox="1"/>
              <p:nvPr/>
            </p:nvSpPr>
            <p:spPr>
              <a:xfrm>
                <a:off x="552727" y="1282327"/>
                <a:ext cx="548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1100100111111101001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to octal?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8836F-157A-D8F4-0004-74B753BB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27" y="1282327"/>
                <a:ext cx="5483617" cy="461665"/>
              </a:xfrm>
              <a:prstGeom prst="rect">
                <a:avLst/>
              </a:prstGeom>
              <a:blipFill>
                <a:blip r:embed="rId2"/>
                <a:stretch>
                  <a:fillRect l="-1617" t="-7895" r="-69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28B506E-3D14-D9F7-F199-44D31CCA0D92}"/>
              </a:ext>
            </a:extLst>
          </p:cNvPr>
          <p:cNvSpPr txBox="1"/>
          <p:nvPr/>
        </p:nvSpPr>
        <p:spPr>
          <a:xfrm>
            <a:off x="660761" y="2460238"/>
            <a:ext cx="4121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1  100  100  111  111  101  001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682FD-8A9A-8C11-6F61-619FE11B77AE}"/>
              </a:ext>
            </a:extLst>
          </p:cNvPr>
          <p:cNvSpPr txBox="1"/>
          <p:nvPr/>
        </p:nvSpPr>
        <p:spPr>
          <a:xfrm>
            <a:off x="607325" y="2080624"/>
            <a:ext cx="3685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Group bits into sets of three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59CBB-0E9B-E7AE-589C-121A1534F887}"/>
              </a:ext>
            </a:extLst>
          </p:cNvPr>
          <p:cNvSpPr txBox="1"/>
          <p:nvPr/>
        </p:nvSpPr>
        <p:spPr>
          <a:xfrm>
            <a:off x="660761" y="3176484"/>
            <a:ext cx="2533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Pad leading zero(s)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45823-362B-686B-59FF-ECE3BE916DC2}"/>
              </a:ext>
            </a:extLst>
          </p:cNvPr>
          <p:cNvSpPr txBox="1"/>
          <p:nvPr/>
        </p:nvSpPr>
        <p:spPr>
          <a:xfrm>
            <a:off x="660761" y="3591290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001  100  100  111  111  101  001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F6A17-5C1E-7B86-5B86-4506B89408B8}"/>
              </a:ext>
            </a:extLst>
          </p:cNvPr>
          <p:cNvSpPr txBox="1"/>
          <p:nvPr/>
        </p:nvSpPr>
        <p:spPr>
          <a:xfrm>
            <a:off x="660761" y="4389587"/>
            <a:ext cx="5152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with corresponding octal digits: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43FB1-64C2-3FE6-F9EE-BF447A7D6583}"/>
              </a:ext>
            </a:extLst>
          </p:cNvPr>
          <p:cNvSpPr txBox="1"/>
          <p:nvPr/>
        </p:nvSpPr>
        <p:spPr>
          <a:xfrm>
            <a:off x="660761" y="4804393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1  4  4  7  7  5  1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560B-511E-CD9C-EE8A-79611E09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 dirty="0"/>
              <a:t>Octal </a:t>
            </a:r>
            <a:r>
              <a:rPr lang="en-US" dirty="0">
                <a:sym typeface="Wingdings" pitchFamily="2" charset="2"/>
              </a:rPr>
              <a:t>           Binary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5A3139-558B-ABCF-8094-50050DE229BD}"/>
              </a:ext>
            </a:extLst>
          </p:cNvPr>
          <p:cNvCxnSpPr/>
          <p:nvPr/>
        </p:nvCxnSpPr>
        <p:spPr>
          <a:xfrm>
            <a:off x="2222090" y="698090"/>
            <a:ext cx="1160207" cy="0"/>
          </a:xfrm>
          <a:prstGeom prst="straightConnector1">
            <a:avLst/>
          </a:prstGeom>
          <a:ln w="19050"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11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633F8AD-9E6B-B9EF-3B6C-E5A9A038B381}"/>
              </a:ext>
            </a:extLst>
          </p:cNvPr>
          <p:cNvGraphicFramePr>
            <a:graphicFrameLocks noGrp="1"/>
          </p:cNvGraphicFramePr>
          <p:nvPr/>
        </p:nvGraphicFramePr>
        <p:xfrm>
          <a:off x="7056692" y="907123"/>
          <a:ext cx="1738630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04">
                  <a:extLst>
                    <a:ext uri="{9D8B030D-6E8A-4147-A177-3AD203B41FA5}">
                      <a16:colId xmlns:a16="http://schemas.microsoft.com/office/drawing/2014/main" val="3596455889"/>
                    </a:ext>
                  </a:extLst>
                </a:gridCol>
                <a:gridCol w="931926">
                  <a:extLst>
                    <a:ext uri="{9D8B030D-6E8A-4147-A177-3AD203B41FA5}">
                      <a16:colId xmlns:a16="http://schemas.microsoft.com/office/drawing/2014/main" val="1517021604"/>
                    </a:ext>
                  </a:extLst>
                </a:gridCol>
              </a:tblGrid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Octal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Binary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9823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6015790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12220750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931036679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366915026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6969675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93346984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60964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7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111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0762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110139-2884-BB74-469B-42A7E0757F2E}"/>
              </a:ext>
            </a:extLst>
          </p:cNvPr>
          <p:cNvGraphicFramePr>
            <a:graphicFrameLocks noGrp="1"/>
          </p:cNvGraphicFramePr>
          <p:nvPr/>
        </p:nvGraphicFramePr>
        <p:xfrm>
          <a:off x="9080795" y="907123"/>
          <a:ext cx="2558478" cy="544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6552">
                  <a:extLst>
                    <a:ext uri="{9D8B030D-6E8A-4147-A177-3AD203B41FA5}">
                      <a16:colId xmlns:a16="http://schemas.microsoft.com/office/drawing/2014/main" val="3596455889"/>
                    </a:ext>
                  </a:extLst>
                </a:gridCol>
                <a:gridCol w="931926">
                  <a:extLst>
                    <a:ext uri="{9D8B030D-6E8A-4147-A177-3AD203B41FA5}">
                      <a16:colId xmlns:a16="http://schemas.microsoft.com/office/drawing/2014/main" val="1517021604"/>
                    </a:ext>
                  </a:extLst>
                </a:gridCol>
              </a:tblGrid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Hexadecimal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Binary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9823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0000</a:t>
                      </a: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6015790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12220750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931036679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366915026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0100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6969675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93346984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609647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7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0111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17734672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8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679400132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9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353865034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796524714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106844296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1100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92358826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1101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764450700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200645440"/>
                  </a:ext>
                </a:extLst>
              </a:tr>
              <a:tr h="25185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F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1111</a:t>
                      </a:r>
                    </a:p>
                  </a:txBody>
                  <a:tcPr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0762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8836F-157A-D8F4-0004-74B753BB873E}"/>
                  </a:ext>
                </a:extLst>
              </p:cNvPr>
              <p:cNvSpPr txBox="1"/>
              <p:nvPr/>
            </p:nvSpPr>
            <p:spPr>
              <a:xfrm>
                <a:off x="552727" y="1242998"/>
                <a:ext cx="64405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1100100111111101001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to hexadecimal?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8836F-157A-D8F4-0004-74B753BB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27" y="1242998"/>
                <a:ext cx="6440546" cy="461665"/>
              </a:xfrm>
              <a:prstGeom prst="rect">
                <a:avLst/>
              </a:prstGeom>
              <a:blipFill>
                <a:blip r:embed="rId2"/>
                <a:stretch>
                  <a:fillRect l="-1378" t="-5263" r="-59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28B506E-3D14-D9F7-F199-44D31CCA0D92}"/>
              </a:ext>
            </a:extLst>
          </p:cNvPr>
          <p:cNvSpPr txBox="1"/>
          <p:nvPr/>
        </p:nvSpPr>
        <p:spPr>
          <a:xfrm>
            <a:off x="660761" y="2194766"/>
            <a:ext cx="3690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110  0100  1111  1110  1001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682FD-8A9A-8C11-6F61-619FE11B77AE}"/>
              </a:ext>
            </a:extLst>
          </p:cNvPr>
          <p:cNvSpPr txBox="1"/>
          <p:nvPr/>
        </p:nvSpPr>
        <p:spPr>
          <a:xfrm>
            <a:off x="607325" y="1815152"/>
            <a:ext cx="352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Group bits into sets of four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59CBB-0E9B-E7AE-589C-121A1534F887}"/>
              </a:ext>
            </a:extLst>
          </p:cNvPr>
          <p:cNvSpPr txBox="1"/>
          <p:nvPr/>
        </p:nvSpPr>
        <p:spPr>
          <a:xfrm>
            <a:off x="660761" y="2911012"/>
            <a:ext cx="2533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Pad leading zero(s)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45823-362B-686B-59FF-ECE3BE916DC2}"/>
              </a:ext>
            </a:extLst>
          </p:cNvPr>
          <p:cNvSpPr txBox="1"/>
          <p:nvPr/>
        </p:nvSpPr>
        <p:spPr>
          <a:xfrm>
            <a:off x="660761" y="3325818"/>
            <a:ext cx="3845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0110  0100  1111  1110  1001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F6A17-5C1E-7B86-5B86-4506B89408B8}"/>
              </a:ext>
            </a:extLst>
          </p:cNvPr>
          <p:cNvSpPr txBox="1"/>
          <p:nvPr/>
        </p:nvSpPr>
        <p:spPr>
          <a:xfrm>
            <a:off x="660761" y="4124115"/>
            <a:ext cx="5152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with corresponding octal digits: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43FB1-64C2-3FE6-F9EE-BF447A7D6583}"/>
              </a:ext>
            </a:extLst>
          </p:cNvPr>
          <p:cNvSpPr txBox="1"/>
          <p:nvPr/>
        </p:nvSpPr>
        <p:spPr>
          <a:xfrm>
            <a:off x="660761" y="4538921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  4  F  E 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AAA71-8917-326B-87CB-478BE8C14F74}"/>
              </a:ext>
            </a:extLst>
          </p:cNvPr>
          <p:cNvSpPr txBox="1"/>
          <p:nvPr/>
        </p:nvSpPr>
        <p:spPr>
          <a:xfrm>
            <a:off x="607325" y="5377677"/>
            <a:ext cx="7274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hexadecimal (or octal) to binary conversion, simply reverse these processes, replacing each hexadecimal (or octal) digit with 4 (or 3) binary digits.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8A4335-BB9D-547B-6403-BFEC2A79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 dirty="0"/>
              <a:t>Hexadecimal </a:t>
            </a:r>
            <a:r>
              <a:rPr lang="en-US" dirty="0">
                <a:sym typeface="Wingdings" pitchFamily="2" charset="2"/>
              </a:rPr>
              <a:t>           Binary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2280C5-B0C2-A4F8-B7AE-7AA5680E4CBB}"/>
              </a:ext>
            </a:extLst>
          </p:cNvPr>
          <p:cNvCxnSpPr/>
          <p:nvPr/>
        </p:nvCxnSpPr>
        <p:spPr>
          <a:xfrm>
            <a:off x="3926582" y="727587"/>
            <a:ext cx="1160207" cy="0"/>
          </a:xfrm>
          <a:prstGeom prst="straightConnector1">
            <a:avLst/>
          </a:prstGeom>
          <a:ln w="19050"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2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DC81-57AF-B48F-963B-49541C6BC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Octal and Hexadecimal Values in C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2FE6C-ECDA-1CA4-65FE-CA63E52B0473}"/>
              </a:ext>
            </a:extLst>
          </p:cNvPr>
          <p:cNvSpPr txBox="1"/>
          <p:nvPr/>
        </p:nvSpPr>
        <p:spPr>
          <a:xfrm>
            <a:off x="887104" y="1405719"/>
            <a:ext cx="6973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use octal and hexadecimal in C code: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Leading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denotes an octal integer constant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Leading </a:t>
            </a:r>
            <a:r>
              <a:rPr lang="en-US" sz="2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denotes a hexadecimal integer constant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F3C17-B0E3-8711-0DE8-5AE71B13FE9B}"/>
              </a:ext>
            </a:extLst>
          </p:cNvPr>
          <p:cNvSpPr txBox="1"/>
          <p:nvPr/>
        </p:nvSpPr>
        <p:spPr>
          <a:xfrm>
            <a:off x="777922" y="3152633"/>
            <a:ext cx="98074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736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octal value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0x5E2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hexadecimal value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0x12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hexadecimal value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q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0xa8b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A,B,C,D,E,F can be uppercase or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lowercas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"Octal: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%o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Hex: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%x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Decimal: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a, a, a);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"Octal: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%o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  Hex: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%x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  Decimal: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q, q, q);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4298B-FE94-C77C-8FDE-35669160E969}"/>
              </a:ext>
            </a:extLst>
          </p:cNvPr>
          <p:cNvSpPr txBox="1"/>
          <p:nvPr/>
        </p:nvSpPr>
        <p:spPr>
          <a:xfrm>
            <a:off x="1023582" y="5738883"/>
            <a:ext cx="520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Octal: 736 Hex: 1de Decimal: 478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Octal: 5213  Hex: a8b  Decimal: 2699</a:t>
            </a:r>
          </a:p>
        </p:txBody>
      </p:sp>
    </p:spTree>
    <p:extLst>
      <p:ext uri="{BB962C8B-B14F-4D97-AF65-F5344CB8AC3E}">
        <p14:creationId xmlns:p14="http://schemas.microsoft.com/office/powerpoint/2010/main" val="101211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D46B-DFAA-9E18-F3EC-8F1098FD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97D0-A3F3-3FC6-CD2B-ABA07912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Data representation</a:t>
            </a:r>
          </a:p>
          <a:p>
            <a:r>
              <a:rPr lang="en-US" dirty="0"/>
              <a:t>Integer types</a:t>
            </a:r>
          </a:p>
        </p:txBody>
      </p:sp>
    </p:spTree>
    <p:extLst>
      <p:ext uri="{BB962C8B-B14F-4D97-AF65-F5344CB8AC3E}">
        <p14:creationId xmlns:p14="http://schemas.microsoft.com/office/powerpoint/2010/main" val="166024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4FFD-BC2E-4AEB-7891-1D31692A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Integer: Non-negative integers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ACAC6A3-5FD9-B858-33AE-031C0B764C83}"/>
              </a:ext>
            </a:extLst>
          </p:cNvPr>
          <p:cNvSpPr/>
          <p:nvPr/>
        </p:nvSpPr>
        <p:spPr>
          <a:xfrm>
            <a:off x="4234343" y="2523798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D156E-2CB5-10CE-FFD4-447067078656}"/>
              </a:ext>
            </a:extLst>
          </p:cNvPr>
          <p:cNvSpPr txBox="1"/>
          <p:nvPr/>
        </p:nvSpPr>
        <p:spPr>
          <a:xfrm>
            <a:off x="5891117" y="1858018"/>
            <a:ext cx="329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Binary representation in memory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D1083922-EF0E-4BB3-036E-46AD5D56EAB0}"/>
              </a:ext>
            </a:extLst>
          </p:cNvPr>
          <p:cNvGraphicFramePr>
            <a:graphicFrameLocks noGrp="1"/>
          </p:cNvGraphicFramePr>
          <p:nvPr/>
        </p:nvGraphicFramePr>
        <p:xfrm>
          <a:off x="4872249" y="2447561"/>
          <a:ext cx="53423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151502764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36739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12" name="Right Brace 11">
            <a:extLst>
              <a:ext uri="{FF2B5EF4-FFF2-40B4-BE49-F238E27FC236}">
                <a16:creationId xmlns:a16="http://schemas.microsoft.com/office/drawing/2014/main" id="{93049049-ECB3-1163-899F-4BEA06CB7781}"/>
              </a:ext>
            </a:extLst>
          </p:cNvPr>
          <p:cNvSpPr/>
          <p:nvPr/>
        </p:nvSpPr>
        <p:spPr>
          <a:xfrm rot="5400000">
            <a:off x="7486930" y="773509"/>
            <a:ext cx="134611" cy="429945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201C8-09E1-86E8-5904-B8D4FF44622B}"/>
              </a:ext>
            </a:extLst>
          </p:cNvPr>
          <p:cNvSpPr txBox="1"/>
          <p:nvPr/>
        </p:nvSpPr>
        <p:spPr>
          <a:xfrm>
            <a:off x="6715039" y="2905073"/>
            <a:ext cx="182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bits = 1 Byte (B)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84CD765-1B41-4FF5-C32B-C5ECE6378AB6}"/>
              </a:ext>
            </a:extLst>
          </p:cNvPr>
          <p:cNvSpPr/>
          <p:nvPr/>
        </p:nvSpPr>
        <p:spPr>
          <a:xfrm>
            <a:off x="4234343" y="3439882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D69F3387-A7E5-7B3D-45A4-7CB84DC25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67065"/>
              </p:ext>
            </p:extLst>
          </p:nvPr>
        </p:nvGraphicFramePr>
        <p:xfrm>
          <a:off x="4872249" y="3363645"/>
          <a:ext cx="53423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151502764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36739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16" name="Right Arrow 15">
            <a:extLst>
              <a:ext uri="{FF2B5EF4-FFF2-40B4-BE49-F238E27FC236}">
                <a16:creationId xmlns:a16="http://schemas.microsoft.com/office/drawing/2014/main" id="{0D171320-64F5-930F-2C35-E074C3E2C60F}"/>
              </a:ext>
            </a:extLst>
          </p:cNvPr>
          <p:cNvSpPr/>
          <p:nvPr/>
        </p:nvSpPr>
        <p:spPr>
          <a:xfrm>
            <a:off x="4234343" y="4142146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1">
            <a:extLst>
              <a:ext uri="{FF2B5EF4-FFF2-40B4-BE49-F238E27FC236}">
                <a16:creationId xmlns:a16="http://schemas.microsoft.com/office/drawing/2014/main" id="{8B88F068-6F8B-F857-9787-4A76AFEF1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017358"/>
              </p:ext>
            </p:extLst>
          </p:nvPr>
        </p:nvGraphicFramePr>
        <p:xfrm>
          <a:off x="4872249" y="4065909"/>
          <a:ext cx="53423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151502764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36739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18" name="Right Brace 17">
            <a:extLst>
              <a:ext uri="{FF2B5EF4-FFF2-40B4-BE49-F238E27FC236}">
                <a16:creationId xmlns:a16="http://schemas.microsoft.com/office/drawing/2014/main" id="{1AA26225-4DDE-1A2A-C37B-B249DE5F9B07}"/>
              </a:ext>
            </a:extLst>
          </p:cNvPr>
          <p:cNvSpPr/>
          <p:nvPr/>
        </p:nvSpPr>
        <p:spPr>
          <a:xfrm rot="5400000">
            <a:off x="8815495" y="3735271"/>
            <a:ext cx="122475" cy="159906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139FB5-C70A-E22B-5885-4177CE792E47}"/>
              </a:ext>
            </a:extLst>
          </p:cNvPr>
          <p:cNvSpPr txBox="1"/>
          <p:nvPr/>
        </p:nvSpPr>
        <p:spPr>
          <a:xfrm>
            <a:off x="8724427" y="45192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4BC9318-D5A6-7E84-12C3-98F550E87E88}"/>
              </a:ext>
            </a:extLst>
          </p:cNvPr>
          <p:cNvSpPr/>
          <p:nvPr/>
        </p:nvSpPr>
        <p:spPr>
          <a:xfrm rot="5400000">
            <a:off x="7209281" y="3740322"/>
            <a:ext cx="122474" cy="159906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74ADE1-D239-E00D-FF99-42C86C40B4EA}"/>
              </a:ext>
            </a:extLst>
          </p:cNvPr>
          <p:cNvSpPr txBox="1"/>
          <p:nvPr/>
        </p:nvSpPr>
        <p:spPr>
          <a:xfrm>
            <a:off x="7119675" y="45192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E5FA9032-8761-DE49-F543-F66CB131E024}"/>
              </a:ext>
            </a:extLst>
          </p:cNvPr>
          <p:cNvSpPr/>
          <p:nvPr/>
        </p:nvSpPr>
        <p:spPr>
          <a:xfrm>
            <a:off x="4234343" y="4970052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able 11">
            <a:extLst>
              <a:ext uri="{FF2B5EF4-FFF2-40B4-BE49-F238E27FC236}">
                <a16:creationId xmlns:a16="http://schemas.microsoft.com/office/drawing/2014/main" id="{C8333B93-0D17-45B6-A588-0FD95CD10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849843"/>
              </p:ext>
            </p:extLst>
          </p:nvPr>
        </p:nvGraphicFramePr>
        <p:xfrm>
          <a:off x="4872249" y="4893815"/>
          <a:ext cx="53423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151502764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36739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28" name="Right Brace 27">
            <a:extLst>
              <a:ext uri="{FF2B5EF4-FFF2-40B4-BE49-F238E27FC236}">
                <a16:creationId xmlns:a16="http://schemas.microsoft.com/office/drawing/2014/main" id="{5DF07266-E26B-286F-1099-D674F4046B52}"/>
              </a:ext>
            </a:extLst>
          </p:cNvPr>
          <p:cNvSpPr/>
          <p:nvPr/>
        </p:nvSpPr>
        <p:spPr>
          <a:xfrm rot="5400000">
            <a:off x="8554511" y="4282792"/>
            <a:ext cx="122475" cy="212578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68F808-B03E-D503-D8A2-75EA1FABE85F}"/>
              </a:ext>
            </a:extLst>
          </p:cNvPr>
          <p:cNvSpPr txBox="1"/>
          <p:nvPr/>
        </p:nvSpPr>
        <p:spPr>
          <a:xfrm>
            <a:off x="8464905" y="53251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6035F14B-4071-28E4-92B0-E5E92CEC0235}"/>
              </a:ext>
            </a:extLst>
          </p:cNvPr>
          <p:cNvSpPr/>
          <p:nvPr/>
        </p:nvSpPr>
        <p:spPr>
          <a:xfrm rot="5400000">
            <a:off x="6413658" y="4282792"/>
            <a:ext cx="122474" cy="212578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78F47-7CE3-72F9-8198-72C2ACB5B3C1}"/>
              </a:ext>
            </a:extLst>
          </p:cNvPr>
          <p:cNvSpPr txBox="1"/>
          <p:nvPr/>
        </p:nvSpPr>
        <p:spPr>
          <a:xfrm>
            <a:off x="6339124" y="53251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1273F-9495-608E-FFAD-68DEE60D80AE}"/>
              </a:ext>
            </a:extLst>
          </p:cNvPr>
          <p:cNvSpPr txBox="1"/>
          <p:nvPr/>
        </p:nvSpPr>
        <p:spPr>
          <a:xfrm>
            <a:off x="598534" y="1806171"/>
            <a:ext cx="1294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20895-C666-978C-6374-F79FDB150A95}"/>
              </a:ext>
            </a:extLst>
          </p:cNvPr>
          <p:cNvSpPr txBox="1"/>
          <p:nvPr/>
        </p:nvSpPr>
        <p:spPr>
          <a:xfrm>
            <a:off x="838200" y="2406335"/>
            <a:ext cx="3215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FF8BD0-FE5B-5C89-8924-6E756210FF29}"/>
              </a:ext>
            </a:extLst>
          </p:cNvPr>
          <p:cNvSpPr txBox="1"/>
          <p:nvPr/>
        </p:nvSpPr>
        <p:spPr>
          <a:xfrm>
            <a:off x="838200" y="3347146"/>
            <a:ext cx="3313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C02F30-7FB9-AE41-AD65-58D1B267E9EB}"/>
              </a:ext>
            </a:extLst>
          </p:cNvPr>
          <p:cNvSpPr txBox="1"/>
          <p:nvPr/>
        </p:nvSpPr>
        <p:spPr>
          <a:xfrm>
            <a:off x="838200" y="4053014"/>
            <a:ext cx="3494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F2421A-4DCA-C400-9181-AA000D0B3A45}"/>
              </a:ext>
            </a:extLst>
          </p:cNvPr>
          <p:cNvSpPr txBox="1"/>
          <p:nvPr/>
        </p:nvSpPr>
        <p:spPr>
          <a:xfrm>
            <a:off x="838199" y="4849378"/>
            <a:ext cx="3396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0x30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37BD8E-FD0F-4FB5-7F3F-36930083EE36}"/>
              </a:ext>
            </a:extLst>
          </p:cNvPr>
          <p:cNvSpPr txBox="1"/>
          <p:nvPr/>
        </p:nvSpPr>
        <p:spPr>
          <a:xfrm>
            <a:off x="838200" y="5797901"/>
            <a:ext cx="3396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'C'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5F74115E-C13C-9CE2-4457-D6994E6A7993}"/>
              </a:ext>
            </a:extLst>
          </p:cNvPr>
          <p:cNvSpPr/>
          <p:nvPr/>
        </p:nvSpPr>
        <p:spPr>
          <a:xfrm>
            <a:off x="4234343" y="5898328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628D36A2-0561-2EE2-3371-E9FF60C32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43928"/>
              </p:ext>
            </p:extLst>
          </p:nvPr>
        </p:nvGraphicFramePr>
        <p:xfrm>
          <a:off x="4872249" y="5822091"/>
          <a:ext cx="53423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151502764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36739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8252167-696A-5283-0B75-581710B6DE10}"/>
              </a:ext>
            </a:extLst>
          </p:cNvPr>
          <p:cNvSpPr txBox="1"/>
          <p:nvPr/>
        </p:nvSpPr>
        <p:spPr>
          <a:xfrm>
            <a:off x="2679020" y="6267771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 in decimal or 0x43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6FA33-A2C5-0164-397B-155543E4F246}"/>
              </a:ext>
            </a:extLst>
          </p:cNvPr>
          <p:cNvSpPr txBox="1"/>
          <p:nvPr/>
        </p:nvSpPr>
        <p:spPr>
          <a:xfrm>
            <a:off x="2885312" y="3619957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(128+64+8)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897C5D-685E-562E-A377-ABCA1C790C01}"/>
              </a:ext>
            </a:extLst>
          </p:cNvPr>
          <p:cNvSpPr txBox="1"/>
          <p:nvPr/>
        </p:nvSpPr>
        <p:spPr>
          <a:xfrm>
            <a:off x="928048" y="1338215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C4D542-65AF-A085-C429-6C447F3E08A8}"/>
              </a:ext>
            </a:extLst>
          </p:cNvPr>
          <p:cNvSpPr txBox="1"/>
          <p:nvPr/>
        </p:nvSpPr>
        <p:spPr>
          <a:xfrm>
            <a:off x="3131407" y="1307437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non-negative integer represented by 8 bits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77ABA935-20B8-BC43-CEDE-B5503BF30ACC}"/>
              </a:ext>
            </a:extLst>
          </p:cNvPr>
          <p:cNvSpPr/>
          <p:nvPr/>
        </p:nvSpPr>
        <p:spPr>
          <a:xfrm rot="5400000">
            <a:off x="8549354" y="5219973"/>
            <a:ext cx="122475" cy="212578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859288-D0D7-AE42-1199-5A51ABD2F9B1}"/>
              </a:ext>
            </a:extLst>
          </p:cNvPr>
          <p:cNvSpPr txBox="1"/>
          <p:nvPr/>
        </p:nvSpPr>
        <p:spPr>
          <a:xfrm>
            <a:off x="8459748" y="62622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A0A3AAE3-02CC-4646-D372-F3767FC81C70}"/>
              </a:ext>
            </a:extLst>
          </p:cNvPr>
          <p:cNvSpPr/>
          <p:nvPr/>
        </p:nvSpPr>
        <p:spPr>
          <a:xfrm rot="5400000">
            <a:off x="6408501" y="5219973"/>
            <a:ext cx="122474" cy="212578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FD5F6-A9D9-EE6C-8B3F-4EC7E3050EC7}"/>
              </a:ext>
            </a:extLst>
          </p:cNvPr>
          <p:cNvSpPr txBox="1"/>
          <p:nvPr/>
        </p:nvSpPr>
        <p:spPr>
          <a:xfrm>
            <a:off x="6333967" y="62622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AD7AD5-D713-3FEA-6914-7F7560625CB6}"/>
              </a:ext>
            </a:extLst>
          </p:cNvPr>
          <p:cNvSpPr txBox="1"/>
          <p:nvPr/>
        </p:nvSpPr>
        <p:spPr>
          <a:xfrm>
            <a:off x="10395295" y="3549065"/>
            <a:ext cx="1718740" cy="3139142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ASCII: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'0' -&gt; 0x30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'1' -&gt; 0x31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'A' -&gt; 0x41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'B' -&gt; 0x42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'a' -&gt; 0x61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'b' -&gt; 0x62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901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/>
      <p:bldP spid="20" grpId="0" animBg="1"/>
      <p:bldP spid="21" grpId="0"/>
      <p:bldP spid="22" grpId="0" animBg="1"/>
      <p:bldP spid="28" grpId="0" animBg="1"/>
      <p:bldP spid="29" grpId="0"/>
      <p:bldP spid="30" grpId="0" animBg="1"/>
      <p:bldP spid="31" grpId="0"/>
      <p:bldP spid="25" grpId="0"/>
      <p:bldP spid="27" grpId="0"/>
      <p:bldP spid="32" grpId="0"/>
      <p:bldP spid="35" grpId="0"/>
      <p:bldP spid="36" grpId="0" animBg="1"/>
      <p:bldP spid="38" grpId="0"/>
      <p:bldP spid="39" grpId="0"/>
      <p:bldP spid="42" grpId="0" animBg="1"/>
      <p:bldP spid="43" grpId="0"/>
      <p:bldP spid="44" grpId="0" animBg="1"/>
      <p:bldP spid="45" grpId="0"/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F1B1-9EC6-30C4-E47C-85E3919B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char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B37A0-A03E-C84F-60A3-21EDC74BF289}"/>
              </a:ext>
            </a:extLst>
          </p:cNvPr>
          <p:cNvSpPr txBox="1"/>
          <p:nvPr/>
        </p:nvSpPr>
        <p:spPr>
          <a:xfrm>
            <a:off x="972065" y="4523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66591-2D48-690C-0352-25A8012359E7}"/>
              </a:ext>
            </a:extLst>
          </p:cNvPr>
          <p:cNvSpPr txBox="1"/>
          <p:nvPr/>
        </p:nvSpPr>
        <p:spPr>
          <a:xfrm>
            <a:off x="928048" y="1686151"/>
            <a:ext cx="20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Value range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EA83D-803E-71D1-2370-F43AC679503C}"/>
              </a:ext>
            </a:extLst>
          </p:cNvPr>
          <p:cNvSpPr txBox="1"/>
          <p:nvPr/>
        </p:nvSpPr>
        <p:spPr>
          <a:xfrm>
            <a:off x="928048" y="3296547"/>
            <a:ext cx="44067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limitations of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/>
              <a:t>: 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What about negative integers?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What about values greater than 256?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2FC3D-1DAB-151D-5F11-FEA5A30ED5A4}"/>
              </a:ext>
            </a:extLst>
          </p:cNvPr>
          <p:cNvSpPr txBox="1"/>
          <p:nvPr/>
        </p:nvSpPr>
        <p:spPr>
          <a:xfrm>
            <a:off x="928048" y="1338215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971AA-A694-AF37-7ED3-80A91CEE0711}"/>
              </a:ext>
            </a:extLst>
          </p:cNvPr>
          <p:cNvSpPr txBox="1"/>
          <p:nvPr/>
        </p:nvSpPr>
        <p:spPr>
          <a:xfrm>
            <a:off x="5289883" y="3927489"/>
            <a:ext cx="37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A: Two's complement representation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4C177-236B-5E92-581A-476ACAD840CC}"/>
              </a:ext>
            </a:extLst>
          </p:cNvPr>
          <p:cNvSpPr txBox="1"/>
          <p:nvPr/>
        </p:nvSpPr>
        <p:spPr>
          <a:xfrm>
            <a:off x="5475235" y="4503511"/>
            <a:ext cx="3518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A: More integer types: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1" dirty="0"/>
              <a:t>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long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048C4-9EC1-A1F5-13CA-ED6580C2A85F}"/>
              </a:ext>
            </a:extLst>
          </p:cNvPr>
          <p:cNvSpPr txBox="1"/>
          <p:nvPr/>
        </p:nvSpPr>
        <p:spPr>
          <a:xfrm>
            <a:off x="928048" y="2074385"/>
            <a:ext cx="193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In hex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259C7-AC8D-22F9-F350-F7360F997E1B}"/>
              </a:ext>
            </a:extLst>
          </p:cNvPr>
          <p:cNvSpPr txBox="1"/>
          <p:nvPr/>
        </p:nvSpPr>
        <p:spPr>
          <a:xfrm>
            <a:off x="3131407" y="1307437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non-negative integer represented by 8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500549-34BB-0EAE-91BB-99CF34743B6A}"/>
              </a:ext>
            </a:extLst>
          </p:cNvPr>
          <p:cNvSpPr txBox="1"/>
          <p:nvPr/>
        </p:nvSpPr>
        <p:spPr>
          <a:xfrm>
            <a:off x="3131407" y="1686151"/>
            <a:ext cx="241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b="1" dirty="0"/>
              <a:t>0 </a:t>
            </a:r>
            <a:r>
              <a:rPr lang="en-US" sz="2000" dirty="0"/>
              <a:t>to</a:t>
            </a:r>
            <a:r>
              <a:rPr lang="en-US" sz="2000" b="1" dirty="0"/>
              <a:t> 255 (2^8-1)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CFF4E-691D-138A-A2BC-D1D2EDA09CA2}"/>
              </a:ext>
            </a:extLst>
          </p:cNvPr>
          <p:cNvSpPr txBox="1"/>
          <p:nvPr/>
        </p:nvSpPr>
        <p:spPr>
          <a:xfrm>
            <a:off x="3131407" y="2070868"/>
            <a:ext cx="2311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from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0x00</a:t>
            </a:r>
            <a:r>
              <a:rPr lang="en-US" sz="2000" dirty="0">
                <a:effectLst/>
                <a:cs typeface="Calibri" panose="020F0502020204030204" pitchFamily="34" charset="0"/>
              </a:rPr>
              <a:t> to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0xFF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538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187F-4C44-29F8-14D4-137DA683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01865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Representing negative integers: Two's complement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C253125-5C13-2D42-4041-0B67AB8E842E}"/>
              </a:ext>
            </a:extLst>
          </p:cNvPr>
          <p:cNvSpPr/>
          <p:nvPr/>
        </p:nvSpPr>
        <p:spPr>
          <a:xfrm rot="5400000">
            <a:off x="9463815" y="3037177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44590843-F254-560B-C97C-39CF95385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427384"/>
              </p:ext>
            </p:extLst>
          </p:nvPr>
        </p:nvGraphicFramePr>
        <p:xfrm>
          <a:off x="6559449" y="3498955"/>
          <a:ext cx="427387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2BD0FE2-734D-EEA5-B385-E5E4FD6B3C26}"/>
              </a:ext>
            </a:extLst>
          </p:cNvPr>
          <p:cNvSpPr txBox="1"/>
          <p:nvPr/>
        </p:nvSpPr>
        <p:spPr>
          <a:xfrm>
            <a:off x="7039550" y="2397135"/>
            <a:ext cx="3313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58F96-8A91-3AB3-D9FE-2200F05B0C43}"/>
              </a:ext>
            </a:extLst>
          </p:cNvPr>
          <p:cNvSpPr txBox="1"/>
          <p:nvPr/>
        </p:nvSpPr>
        <p:spPr>
          <a:xfrm>
            <a:off x="716691" y="1667996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Q: Can we use this binary represent a negative value?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3218B-A723-AAD0-0AF0-28927AB4517B}"/>
              </a:ext>
            </a:extLst>
          </p:cNvPr>
          <p:cNvSpPr txBox="1"/>
          <p:nvPr/>
        </p:nvSpPr>
        <p:spPr>
          <a:xfrm>
            <a:off x="716691" y="2297101"/>
            <a:ext cx="577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A: Two's complement --- </a:t>
            </a:r>
            <a:r>
              <a:rPr lang="en-US" dirty="0"/>
              <a:t>Interpret the leading bit differently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A628A-74F3-7F86-AC7D-E4A5FC1ECAE8}"/>
                  </a:ext>
                </a:extLst>
              </p:cNvPr>
              <p:cNvSpPr txBox="1"/>
              <p:nvPr/>
            </p:nvSpPr>
            <p:spPr>
              <a:xfrm>
                <a:off x="897449" y="3132711"/>
                <a:ext cx="5428918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Normal (unsigned interpretation): leading bit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A628A-74F3-7F86-AC7D-E4A5FC1EC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49" y="3132711"/>
                <a:ext cx="5428918" cy="374270"/>
              </a:xfrm>
              <a:prstGeom prst="rect">
                <a:avLst/>
              </a:prstGeom>
              <a:blipFill>
                <a:blip r:embed="rId2"/>
                <a:stretch>
                  <a:fillRect l="-93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92635-18B5-0FC0-39D9-8C8170BB76B5}"/>
                  </a:ext>
                </a:extLst>
              </p:cNvPr>
              <p:cNvSpPr txBox="1"/>
              <p:nvPr/>
            </p:nvSpPr>
            <p:spPr>
              <a:xfrm>
                <a:off x="2060392" y="4542528"/>
                <a:ext cx="4208332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Two's complement: leading bit means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92635-18B5-0FC0-39D9-8C8170BB7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392" y="4542528"/>
                <a:ext cx="4208332" cy="374270"/>
              </a:xfrm>
              <a:prstGeom prst="rect">
                <a:avLst/>
              </a:prstGeom>
              <a:blipFill>
                <a:blip r:embed="rId3"/>
                <a:stretch>
                  <a:fillRect l="-1205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EFE6E7-83B7-1119-40EE-FB5DDC7A6135}"/>
              </a:ext>
            </a:extLst>
          </p:cNvPr>
          <p:cNvCxnSpPr>
            <a:cxnSpLocks/>
          </p:cNvCxnSpPr>
          <p:nvPr/>
        </p:nvCxnSpPr>
        <p:spPr>
          <a:xfrm>
            <a:off x="6096000" y="3361312"/>
            <a:ext cx="634314" cy="2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FB43EB-FE71-C00E-A27F-4535FDCE6DC4}"/>
              </a:ext>
            </a:extLst>
          </p:cNvPr>
          <p:cNvCxnSpPr>
            <a:cxnSpLocks/>
          </p:cNvCxnSpPr>
          <p:nvPr/>
        </p:nvCxnSpPr>
        <p:spPr>
          <a:xfrm flipV="1">
            <a:off x="6178378" y="3781170"/>
            <a:ext cx="551936" cy="955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EDAFE42-D3FB-FB91-C5BC-666431A1CE2F}"/>
              </a:ext>
            </a:extLst>
          </p:cNvPr>
          <p:cNvSpPr/>
          <p:nvPr/>
        </p:nvSpPr>
        <p:spPr>
          <a:xfrm rot="5400000">
            <a:off x="9463815" y="4230986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5B5F1-20A8-A4B3-2C1F-8EC41EDA56F0}"/>
              </a:ext>
            </a:extLst>
          </p:cNvPr>
          <p:cNvSpPr txBox="1"/>
          <p:nvPr/>
        </p:nvSpPr>
        <p:spPr>
          <a:xfrm>
            <a:off x="6943645" y="4783246"/>
            <a:ext cx="326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in two's complement: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-56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62A62C-9FE5-C9D8-95F7-7242413023E6}"/>
                  </a:ext>
                </a:extLst>
              </p:cNvPr>
              <p:cNvSpPr txBox="1"/>
              <p:nvPr/>
            </p:nvSpPr>
            <p:spPr>
              <a:xfrm>
                <a:off x="7183395" y="2950514"/>
                <a:ext cx="2284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200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62A62C-9FE5-C9D8-95F7-724241302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395" y="2950514"/>
                <a:ext cx="2284407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5E2399-8281-286A-B383-C8AE022064EE}"/>
                  </a:ext>
                </a:extLst>
              </p:cNvPr>
              <p:cNvSpPr txBox="1"/>
              <p:nvPr/>
            </p:nvSpPr>
            <p:spPr>
              <a:xfrm>
                <a:off x="7183394" y="4141854"/>
                <a:ext cx="2399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5E2399-8281-286A-B383-C8AE02206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394" y="4141854"/>
                <a:ext cx="23998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9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20" grpId="0" animBg="1"/>
      <p:bldP spid="21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995C-5A78-3391-7DE4-357C7888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48749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Representing negative integers: Two's complement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0218779A-5014-8C41-D233-3E5BB00838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26992"/>
              </p:ext>
            </p:extLst>
          </p:nvPr>
        </p:nvGraphicFramePr>
        <p:xfrm>
          <a:off x="5756189" y="3467394"/>
          <a:ext cx="334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100" imgH="596900" progId="Equation.3">
                  <p:embed/>
                </p:oleObj>
              </mc:Choice>
              <mc:Fallback>
                <p:oleObj name="Equation" r:id="rId2" imgW="3340100" imgH="596900" progId="Equation.3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189" y="3467394"/>
                        <a:ext cx="3340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9650DEE3-7E46-CE75-2E33-98F0D6106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078042"/>
              </p:ext>
            </p:extLst>
          </p:nvPr>
        </p:nvGraphicFramePr>
        <p:xfrm>
          <a:off x="1946189" y="3467394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600" imgH="596900" progId="Equation.3">
                  <p:embed/>
                </p:oleObj>
              </mc:Choice>
              <mc:Fallback>
                <p:oleObj name="Equation" r:id="rId4" imgW="2133600" imgH="596900" progId="Equation.3">
                  <p:embed/>
                  <p:pic>
                    <p:nvPicPr>
                      <p:cNvPr id="10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189" y="3467394"/>
                        <a:ext cx="21336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6FB5209C-3286-5141-3E21-49C447467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989" y="3061342"/>
            <a:ext cx="138050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Unsigned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19943748-1B35-C160-9639-A01F42C05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189" y="3061342"/>
            <a:ext cx="369203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Two’s Complement (Signed)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823CCE1-B4AE-632D-BB4F-3F7E54570F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5391" y="3908459"/>
            <a:ext cx="293315" cy="34607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4E00ED8-D442-CAF6-84AA-0DD647679D10}"/>
              </a:ext>
            </a:extLst>
          </p:cNvPr>
          <p:cNvSpPr txBox="1">
            <a:spLocks noChangeArrowheads="1"/>
          </p:cNvSpPr>
          <p:nvPr/>
        </p:nvSpPr>
        <p:spPr>
          <a:xfrm>
            <a:off x="1070874" y="1234855"/>
            <a:ext cx="7896225" cy="577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tIns="45719" rIns="45719" bIns="45719"/>
          <a:lstStyle>
            <a:lvl1pPr marL="342900" indent="-342900">
              <a:spcBef>
                <a:spcPts val="500"/>
              </a:spcBef>
              <a:buClr>
                <a:srgbClr val="990000"/>
              </a:buClr>
              <a:buSzPct val="60000"/>
              <a:buFont typeface="Wingdings 2"/>
              <a:buChar char="⬛"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marL="800100" indent="-342900">
              <a:spcBef>
                <a:spcPts val="500"/>
              </a:spcBef>
              <a:buClr>
                <a:srgbClr val="990000"/>
              </a:buClr>
              <a:buSzPct val="110000"/>
              <a:buFont typeface="Wingdings 2"/>
              <a:buChar char="▪"/>
              <a:defRPr sz="2400" b="1">
                <a:latin typeface="Calibri"/>
                <a:ea typeface="Calibri"/>
                <a:cs typeface="Calibri"/>
                <a:sym typeface="Calibri"/>
              </a:defRPr>
            </a:lvl2pPr>
            <a:lvl3pPr marL="1188719" indent="-274319">
              <a:spcBef>
                <a:spcPts val="500"/>
              </a:spcBef>
              <a:buClr>
                <a:srgbClr val="990000"/>
              </a:buClr>
              <a:buSzPct val="80000"/>
              <a:buFont typeface="Wingdings 2"/>
              <a:buChar char="▪"/>
              <a:defRPr sz="2400" b="1">
                <a:latin typeface="Calibri"/>
                <a:ea typeface="Calibri"/>
                <a:cs typeface="Calibri"/>
                <a:sym typeface="Calibri"/>
              </a:defRPr>
            </a:lvl3pPr>
            <a:lvl4pPr marL="1645920" indent="-274320">
              <a:spcBef>
                <a:spcPts val="500"/>
              </a:spcBef>
              <a:buClr>
                <a:srgbClr val="990000"/>
              </a:buClr>
              <a:buSzPct val="100000"/>
              <a:buFont typeface="Wingdings 2"/>
              <a:buChar char="–"/>
              <a:defRPr sz="2400" b="1">
                <a:latin typeface="Calibri"/>
                <a:ea typeface="Calibri"/>
                <a:cs typeface="Calibri"/>
                <a:sym typeface="Calibri"/>
              </a:defRPr>
            </a:lvl4pPr>
            <a:lvl5pPr marL="2103120" indent="-274320">
              <a:spcBef>
                <a:spcPts val="500"/>
              </a:spcBef>
              <a:buClr>
                <a:srgbClr val="990000"/>
              </a:buClr>
              <a:buSzPct val="100000"/>
              <a:buFont typeface="Wingdings 2"/>
              <a:buChar char="»"/>
              <a:defRPr sz="2400" b="1">
                <a:latin typeface="Calibri"/>
                <a:ea typeface="Calibri"/>
                <a:cs typeface="Calibri"/>
                <a:sym typeface="Calibri"/>
              </a:defRPr>
            </a:lvl5pPr>
            <a:lvl6pPr marL="1963420" indent="-274320">
              <a:spcBef>
                <a:spcPts val="600"/>
              </a:spcBef>
              <a:buClr>
                <a:srgbClr val="990000"/>
              </a:buClr>
              <a:buSzPct val="100000"/>
              <a:buFont typeface="Wingdings 2"/>
              <a:buChar char="»"/>
              <a:defRPr sz="2400" b="1">
                <a:latin typeface="Calibri Bold"/>
                <a:ea typeface="Calibri Bold"/>
                <a:cs typeface="Calibri Bold"/>
                <a:sym typeface="Calibri Bold"/>
              </a:defRPr>
            </a:lvl6pPr>
            <a:lvl7pPr marL="2420620" indent="-274320">
              <a:spcBef>
                <a:spcPts val="600"/>
              </a:spcBef>
              <a:buClr>
                <a:srgbClr val="990000"/>
              </a:buClr>
              <a:buSzPct val="100000"/>
              <a:buFont typeface="Wingdings 2"/>
              <a:buChar char="»"/>
              <a:defRPr sz="2400" b="1">
                <a:latin typeface="Calibri Bold"/>
                <a:ea typeface="Calibri Bold"/>
                <a:cs typeface="Calibri Bold"/>
                <a:sym typeface="Calibri Bold"/>
              </a:defRPr>
            </a:lvl7pPr>
            <a:lvl8pPr marL="2877820" indent="-274320">
              <a:spcBef>
                <a:spcPts val="600"/>
              </a:spcBef>
              <a:buClr>
                <a:srgbClr val="990000"/>
              </a:buClr>
              <a:buSzPct val="100000"/>
              <a:buFont typeface="Wingdings 2"/>
              <a:buChar char="»"/>
              <a:defRPr sz="2400" b="1">
                <a:latin typeface="Calibri Bold"/>
                <a:ea typeface="Calibri Bold"/>
                <a:cs typeface="Calibri Bold"/>
                <a:sym typeface="Calibri Bold"/>
              </a:defRPr>
            </a:lvl8pPr>
            <a:lvl9pPr marL="3335020" indent="-274320">
              <a:spcBef>
                <a:spcPts val="600"/>
              </a:spcBef>
              <a:buClr>
                <a:srgbClr val="990000"/>
              </a:buClr>
              <a:buSzPct val="100000"/>
              <a:buFont typeface="Wingdings 2"/>
              <a:buChar char="»"/>
              <a:defRPr sz="2400" b="1">
                <a:latin typeface="Calibri Bold"/>
                <a:ea typeface="Calibri Bold"/>
                <a:cs typeface="Calibri Bold"/>
                <a:sym typeface="Calibri Bold"/>
              </a:defRPr>
            </a:lvl9pPr>
          </a:lstStyle>
          <a:p>
            <a:pPr marL="0" indent="0">
              <a:buNone/>
            </a:pPr>
            <a:r>
              <a:rPr lang="en-US" dirty="0"/>
              <a:t>Let integer </a:t>
            </a:r>
            <a:r>
              <a:rPr lang="en-US" i="1" dirty="0"/>
              <a:t>X</a:t>
            </a:r>
            <a:r>
              <a:rPr lang="en-US" dirty="0"/>
              <a:t> be a bit vector of width </a:t>
            </a:r>
            <a:r>
              <a:rPr lang="en-US" i="1" dirty="0"/>
              <a:t>w</a:t>
            </a:r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r>
              <a:rPr lang="en-US" dirty="0"/>
              <a:t>How to determine its value?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51B25-BAD2-AC07-905A-A87C57F27927}"/>
              </a:ext>
            </a:extLst>
          </p:cNvPr>
          <p:cNvSpPr txBox="1"/>
          <p:nvPr/>
        </p:nvSpPr>
        <p:spPr>
          <a:xfrm>
            <a:off x="2057400" y="1762573"/>
            <a:ext cx="572192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X = [ x</a:t>
            </a:r>
            <a:r>
              <a:rPr kumimoji="0" lang="en-US" sz="24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w-1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  x </a:t>
            </a:r>
            <a:r>
              <a:rPr kumimoji="0" lang="en-US" sz="24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w-2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   </a:t>
            </a:r>
            <a:r>
              <a:rPr kumimoji="0" lang="mr-I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…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   x</a:t>
            </a:r>
            <a:r>
              <a:rPr kumimoji="0" lang="en-US" sz="24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1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x</a:t>
            </a:r>
            <a:r>
              <a:rPr kumimoji="0" lang="en-US" sz="24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0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632C9D-F304-7332-1B9D-AD58BAF7A913}"/>
                  </a:ext>
                </a:extLst>
              </p:cNvPr>
              <p:cNvSpPr txBox="1"/>
              <p:nvPr/>
            </p:nvSpPr>
            <p:spPr>
              <a:xfrm>
                <a:off x="1592179" y="4532963"/>
                <a:ext cx="3715724" cy="12585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 Narrow Bold"/>
                  </a:rPr>
                  <a:t>For instance,</a:t>
                </a:r>
              </a:p>
              <a:p>
                <a:pPr marL="0" marR="0" indent="0" algn="ctr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𝐵</m:t>
                      </m:r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2</m:t>
                      </m:r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𝑈</m:t>
                      </m:r>
                      <m:d>
                        <m:d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  <m:t>1100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= 1 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3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+1∗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+0∗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1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+0∗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0</m:t>
                          </m:r>
                        </m:sup>
                      </m:sSup>
                      <m:r>
                        <a:rPr kumimoji="0" lang="en-US" sz="18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=12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Courier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632C9D-F304-7332-1B9D-AD58BAF7A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179" y="4532963"/>
                <a:ext cx="3715724" cy="1258548"/>
              </a:xfrm>
              <a:prstGeom prst="rect">
                <a:avLst/>
              </a:prstGeom>
              <a:blipFill>
                <a:blip r:embed="rId6"/>
                <a:stretch>
                  <a:fillRect l="-3061" t="-3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0320BA-0A46-A7B3-152C-6748F5ABD249}"/>
                  </a:ext>
                </a:extLst>
              </p:cNvPr>
              <p:cNvSpPr txBox="1"/>
              <p:nvPr/>
            </p:nvSpPr>
            <p:spPr>
              <a:xfrm>
                <a:off x="5642186" y="5486442"/>
                <a:ext cx="3715724" cy="12585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 Narrow Bold"/>
                  </a:rPr>
                  <a:t>For instance,</a:t>
                </a:r>
              </a:p>
              <a:p>
                <a:pPr marL="0" marR="0" indent="0" algn="ctr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𝐵</m:t>
                      </m:r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2</m:t>
                      </m:r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𝑇</m:t>
                      </m:r>
                      <m:d>
                        <m:d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  <m:t>1100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Arial Narrow Bold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=−1 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3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+1∗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+0∗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1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+0∗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2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Arial Narrow Bold"/>
                            </a:rPr>
                            <m:t>0</m:t>
                          </m:r>
                        </m:sup>
                      </m:sSup>
                      <m:r>
                        <a:rPr kumimoji="0" lang="en-US" sz="18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Arial Narrow Bold"/>
                        </a:rPr>
                        <m:t>=−4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Courier" pitchFamily="2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0320BA-0A46-A7B3-152C-6748F5ABD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86" y="5486442"/>
                <a:ext cx="3715724" cy="1258548"/>
              </a:xfrm>
              <a:prstGeom prst="rect">
                <a:avLst/>
              </a:prstGeom>
              <a:blipFill>
                <a:blip r:embed="rId7"/>
                <a:stretch>
                  <a:fillRect l="-3072" t="-303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67A648F-D4FF-D74C-8912-E3BCA68F20AE}"/>
              </a:ext>
            </a:extLst>
          </p:cNvPr>
          <p:cNvSpPr txBox="1"/>
          <p:nvPr/>
        </p:nvSpPr>
        <p:spPr>
          <a:xfrm>
            <a:off x="5642186" y="4123277"/>
            <a:ext cx="3646189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Sign bit (most significant bit)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0: nonnegative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1: negative</a:t>
            </a:r>
          </a:p>
        </p:txBody>
      </p:sp>
    </p:spTree>
    <p:extLst>
      <p:ext uri="{BB962C8B-B14F-4D97-AF65-F5344CB8AC3E}">
        <p14:creationId xmlns:p14="http://schemas.microsoft.com/office/powerpoint/2010/main" val="20953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F550-74E0-8670-8AE3-E3C70FCC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9FBE1DD-E989-B183-E6C3-49331014B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42642"/>
              </p:ext>
            </p:extLst>
          </p:nvPr>
        </p:nvGraphicFramePr>
        <p:xfrm>
          <a:off x="606854" y="1194481"/>
          <a:ext cx="4360563" cy="5098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521">
                  <a:extLst>
                    <a:ext uri="{9D8B030D-6E8A-4147-A177-3AD203B41FA5}">
                      <a16:colId xmlns:a16="http://schemas.microsoft.com/office/drawing/2014/main" val="399241612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233931518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3708816605"/>
                    </a:ext>
                  </a:extLst>
                </a:gridCol>
              </a:tblGrid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Binary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 (two's complement)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513042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0431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8381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7938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463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9753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2428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277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0784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21549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-127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549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-126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32856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2620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1679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7009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6153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06749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6E080143-F974-F2FB-4932-CFC5E30112A0}"/>
              </a:ext>
            </a:extLst>
          </p:cNvPr>
          <p:cNvSpPr/>
          <p:nvPr/>
        </p:nvSpPr>
        <p:spPr>
          <a:xfrm flipH="1">
            <a:off x="5025129" y="1643331"/>
            <a:ext cx="354181" cy="2309316"/>
          </a:xfrm>
          <a:prstGeom prst="leftBrace">
            <a:avLst>
              <a:gd name="adj1" fmla="val 8333"/>
              <a:gd name="adj2" fmla="val 24283"/>
            </a:avLst>
          </a:prstGeom>
          <a:noFill/>
          <a:ln w="25400" cap="flat">
            <a:solidFill>
              <a:srgbClr val="00CC99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33AFE33-93AF-1F12-0602-CB045F443B32}"/>
              </a:ext>
            </a:extLst>
          </p:cNvPr>
          <p:cNvSpPr/>
          <p:nvPr/>
        </p:nvSpPr>
        <p:spPr>
          <a:xfrm flipH="1">
            <a:off x="5025129" y="4017188"/>
            <a:ext cx="354181" cy="2309316"/>
          </a:xfrm>
          <a:prstGeom prst="leftBrace">
            <a:avLst>
              <a:gd name="adj1" fmla="val 8333"/>
              <a:gd name="adj2" fmla="val 71227"/>
            </a:avLst>
          </a:prstGeom>
          <a:noFill/>
          <a:ln w="25400" cap="flat">
            <a:solidFill>
              <a:srgbClr val="00CC99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13F14-1354-125E-46E5-E31123B6B992}"/>
              </a:ext>
            </a:extLst>
          </p:cNvPr>
          <p:cNvSpPr txBox="1"/>
          <p:nvPr/>
        </p:nvSpPr>
        <p:spPr>
          <a:xfrm>
            <a:off x="5508490" y="2024494"/>
            <a:ext cx="4520501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</a:rPr>
              <a:t>Same for both signed and unsigned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91F56-2AAD-6D05-05B2-AF9177945EA4}"/>
              </a:ext>
            </a:extLst>
          </p:cNvPr>
          <p:cNvSpPr txBox="1"/>
          <p:nvPr/>
        </p:nvSpPr>
        <p:spPr>
          <a:xfrm>
            <a:off x="5508490" y="3106362"/>
            <a:ext cx="4786967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45719" rIns="91440" bIns="45719" numCol="1" spcCol="38100" rtlCol="0" anchor="t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Signed and unsigned are just two interpretations of 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bit vector.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Each signed/unsigned value has only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bit-vector representation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D828A-788B-145E-683D-F7E991242422}"/>
              </a:ext>
            </a:extLst>
          </p:cNvPr>
          <p:cNvSpPr txBox="1"/>
          <p:nvPr/>
        </p:nvSpPr>
        <p:spPr>
          <a:xfrm>
            <a:off x="5508491" y="5476646"/>
            <a:ext cx="4520501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</a:rPr>
              <a:t>Exact 2^w away from each other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7581E-A2D9-BE2E-9EA3-F0E0D6E6B9DA}"/>
              </a:ext>
            </a:extLst>
          </p:cNvPr>
          <p:cNvSpPr txBox="1"/>
          <p:nvPr/>
        </p:nvSpPr>
        <p:spPr>
          <a:xfrm>
            <a:off x="6014189" y="1061629"/>
            <a:ext cx="2663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 = # of bits (8 for char)</a:t>
            </a:r>
          </a:p>
        </p:txBody>
      </p:sp>
    </p:spTree>
    <p:extLst>
      <p:ext uri="{BB962C8B-B14F-4D97-AF65-F5344CB8AC3E}">
        <p14:creationId xmlns:p14="http://schemas.microsoft.com/office/powerpoint/2010/main" val="1644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BBBE0C9-13FE-EA1C-4029-4B635CC5A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42259"/>
              </p:ext>
            </p:extLst>
          </p:nvPr>
        </p:nvGraphicFramePr>
        <p:xfrm>
          <a:off x="606854" y="1194481"/>
          <a:ext cx="4360563" cy="5098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521">
                  <a:extLst>
                    <a:ext uri="{9D8B030D-6E8A-4147-A177-3AD203B41FA5}">
                      <a16:colId xmlns:a16="http://schemas.microsoft.com/office/drawing/2014/main" val="399241612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233931518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3708816605"/>
                    </a:ext>
                  </a:extLst>
                </a:gridCol>
              </a:tblGrid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Binary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 (two's complement)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513042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0431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8381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7938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463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9753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2428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277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0784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21549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-127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549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-126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32856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2620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1679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7009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6153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067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17F550-74E0-8670-8AE3-E3C70FCC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E1D3BD-C1B5-4F4A-2E24-D3D00B49DB99}"/>
              </a:ext>
            </a:extLst>
          </p:cNvPr>
          <p:cNvSpPr/>
          <p:nvPr/>
        </p:nvSpPr>
        <p:spPr>
          <a:xfrm>
            <a:off x="2396206" y="6024885"/>
            <a:ext cx="9144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60D3ABF-45EE-E86C-EF41-F5F9C854D9DB}"/>
              </a:ext>
            </a:extLst>
          </p:cNvPr>
          <p:cNvSpPr/>
          <p:nvPr/>
        </p:nvSpPr>
        <p:spPr>
          <a:xfrm>
            <a:off x="3774531" y="3706665"/>
            <a:ext cx="9906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B15156-E422-6279-1429-9309036D0819}"/>
              </a:ext>
            </a:extLst>
          </p:cNvPr>
          <p:cNvSpPr/>
          <p:nvPr/>
        </p:nvSpPr>
        <p:spPr>
          <a:xfrm>
            <a:off x="3774531" y="4064479"/>
            <a:ext cx="9906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D046E-6E16-445C-F397-EDAD1D150FCE}"/>
              </a:ext>
            </a:extLst>
          </p:cNvPr>
          <p:cNvSpPr txBox="1"/>
          <p:nvPr/>
        </p:nvSpPr>
        <p:spPr>
          <a:xfrm>
            <a:off x="2190255" y="6246570"/>
            <a:ext cx="160104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Umax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(2</a:t>
            </a:r>
            <a:r>
              <a:rPr kumimoji="0" lang="en-US" sz="200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w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-1)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0ACB0-E9DC-7D62-45B0-164FCD894C1F}"/>
              </a:ext>
            </a:extLst>
          </p:cNvPr>
          <p:cNvSpPr txBox="1"/>
          <p:nvPr/>
        </p:nvSpPr>
        <p:spPr>
          <a:xfrm>
            <a:off x="4967417" y="3490263"/>
            <a:ext cx="3822356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20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max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(2</a:t>
            </a:r>
            <a:r>
              <a:rPr kumimoji="0" lang="en-US" sz="200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w-1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-1): max</a:t>
            </a:r>
            <a:r>
              <a:rPr kumimoji="0" lang="en-US" sz="200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value for signed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Narrow Bold"/>
                <a:ea typeface="Arial Narrow Bold"/>
                <a:cs typeface="Arial Narrow Bold"/>
                <a:sym typeface="Arial Narrow 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52806-ED53-2A88-3092-175B843CC03B}"/>
              </a:ext>
            </a:extLst>
          </p:cNvPr>
          <p:cNvSpPr txBox="1"/>
          <p:nvPr/>
        </p:nvSpPr>
        <p:spPr>
          <a:xfrm>
            <a:off x="4967417" y="4064479"/>
            <a:ext cx="432577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20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min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(-2</a:t>
            </a:r>
            <a:r>
              <a:rPr kumimoji="0" lang="en-US" sz="200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w-1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): min</a:t>
            </a:r>
            <a:r>
              <a:rPr kumimoji="0" lang="en-US" sz="200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value for signed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Arial Narrow Bold"/>
              <a:cs typeface="Calibri" panose="020F0502020204030204" pitchFamily="34" charset="0"/>
              <a:sym typeface="Arial Narrow Bold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7DCE28-9298-0508-40FA-022D78651B71}"/>
              </a:ext>
            </a:extLst>
          </p:cNvPr>
          <p:cNvSpPr/>
          <p:nvPr/>
        </p:nvSpPr>
        <p:spPr>
          <a:xfrm>
            <a:off x="3768684" y="6020401"/>
            <a:ext cx="9144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304EF1-756D-012A-4112-8283DB5E9455}"/>
              </a:ext>
            </a:extLst>
          </p:cNvPr>
          <p:cNvSpPr txBox="1"/>
          <p:nvPr/>
        </p:nvSpPr>
        <p:spPr>
          <a:xfrm>
            <a:off x="5106366" y="5879224"/>
            <a:ext cx="4325772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 All 1’s in binary: -1 for signed,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Max value for unsigned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05E3ED-2E2A-305E-51B5-7463BA376152}"/>
              </a:ext>
            </a:extLst>
          </p:cNvPr>
          <p:cNvSpPr txBox="1"/>
          <p:nvPr/>
        </p:nvSpPr>
        <p:spPr>
          <a:xfrm>
            <a:off x="9495476" y="3781492"/>
            <a:ext cx="2015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Range asymmetric!</a:t>
            </a:r>
          </a:p>
        </p:txBody>
      </p:sp>
    </p:spTree>
    <p:extLst>
      <p:ext uri="{BB962C8B-B14F-4D97-AF65-F5344CB8AC3E}">
        <p14:creationId xmlns:p14="http://schemas.microsoft.com/office/powerpoint/2010/main" val="41291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465413"/>
              </p:ext>
            </p:extLst>
          </p:nvPr>
        </p:nvGraphicFramePr>
        <p:xfrm>
          <a:off x="656670" y="1668163"/>
          <a:ext cx="10948637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962342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76669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</p:spTree>
    <p:extLst>
      <p:ext uri="{BB962C8B-B14F-4D97-AF65-F5344CB8AC3E}">
        <p14:creationId xmlns:p14="http://schemas.microsoft.com/office/powerpoint/2010/main" val="226933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217081"/>
              </p:ext>
            </p:extLst>
          </p:nvPr>
        </p:nvGraphicFramePr>
        <p:xfrm>
          <a:off x="656670" y="1668163"/>
          <a:ext cx="10948637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962342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76669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65,535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</p:spTree>
    <p:extLst>
      <p:ext uri="{BB962C8B-B14F-4D97-AF65-F5344CB8AC3E}">
        <p14:creationId xmlns:p14="http://schemas.microsoft.com/office/powerpoint/2010/main" val="1644217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54965"/>
              </p:ext>
            </p:extLst>
          </p:nvPr>
        </p:nvGraphicFramePr>
        <p:xfrm>
          <a:off x="656670" y="1668163"/>
          <a:ext cx="10948637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962342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76669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65,535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</p:spTree>
    <p:extLst>
      <p:ext uri="{BB962C8B-B14F-4D97-AF65-F5344CB8AC3E}">
        <p14:creationId xmlns:p14="http://schemas.microsoft.com/office/powerpoint/2010/main" val="3275112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890257"/>
              </p:ext>
            </p:extLst>
          </p:nvPr>
        </p:nvGraphicFramePr>
        <p:xfrm>
          <a:off x="656670" y="1668163"/>
          <a:ext cx="10948637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962342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76669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65,535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long*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 bits (8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-2^63 to 2^63-1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2^64-1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261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322F1-16BC-EAC6-FC67-8AE27F50D05A}"/>
              </a:ext>
            </a:extLst>
          </p:cNvPr>
          <p:cNvSpPr txBox="1"/>
          <p:nvPr/>
        </p:nvSpPr>
        <p:spPr>
          <a:xfrm>
            <a:off x="838200" y="6200487"/>
            <a:ext cx="840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*this depends on the machine type. On most modern machines, this is 64 bits (8bytes), but older so-called 32-bit machine, long is 32 bits</a:t>
            </a:r>
          </a:p>
        </p:txBody>
      </p:sp>
    </p:spTree>
    <p:extLst>
      <p:ext uri="{BB962C8B-B14F-4D97-AF65-F5344CB8AC3E}">
        <p14:creationId xmlns:p14="http://schemas.microsoft.com/office/powerpoint/2010/main" val="2927025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/>
        </p:nvGraphicFramePr>
        <p:xfrm>
          <a:off x="656670" y="1668163"/>
          <a:ext cx="10948637" cy="394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962342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76669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65,535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long*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 bits (8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-2^63 to 2^63-1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2^64-1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2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float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-3.4x10^38 to 3.4x10^38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7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bits (8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double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-1.7x10^208 to 1.7x10^308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87624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322F1-16BC-EAC6-FC67-8AE27F50D05A}"/>
              </a:ext>
            </a:extLst>
          </p:cNvPr>
          <p:cNvSpPr txBox="1"/>
          <p:nvPr/>
        </p:nvSpPr>
        <p:spPr>
          <a:xfrm>
            <a:off x="838200" y="6200487"/>
            <a:ext cx="840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*this depends on the machine type. On most modern machines, this is 64 bits (8bytes), but older so-called 32-bit machine, long is 32 bits</a:t>
            </a:r>
          </a:p>
        </p:txBody>
      </p:sp>
    </p:spTree>
    <p:extLst>
      <p:ext uri="{BB962C8B-B14F-4D97-AF65-F5344CB8AC3E}">
        <p14:creationId xmlns:p14="http://schemas.microsoft.com/office/powerpoint/2010/main" val="223628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4367-7513-427C-32B3-B2592005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size of a variable: </a:t>
            </a:r>
            <a:r>
              <a:rPr lang="en-US" dirty="0" err="1"/>
              <a:t>sizeof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B16DA-9CAD-ED6B-1ACD-14A4CF39F59D}"/>
              </a:ext>
            </a:extLst>
          </p:cNvPr>
          <p:cNvSpPr txBox="1"/>
          <p:nvPr/>
        </p:nvSpPr>
        <p:spPr>
          <a:xfrm>
            <a:off x="533400" y="2590988"/>
            <a:ext cx="111252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latin typeface="Menlo" panose="020B0609030804020204" pitchFamily="49" charset="0"/>
              </a:rPr>
              <a:t>z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short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0E183-B854-725F-D852-E29D568B9AAA}"/>
              </a:ext>
            </a:extLst>
          </p:cNvPr>
          <p:cNvSpPr txBox="1"/>
          <p:nvPr/>
        </p:nvSpPr>
        <p:spPr>
          <a:xfrm>
            <a:off x="533400" y="1617547"/>
            <a:ext cx="9030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b="0" i="0" dirty="0">
                <a:solidFill>
                  <a:srgbClr val="273239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Expression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sz="2000" dirty="0"/>
              <a:t> returns the size (in # of bytes) of the result of the expression</a:t>
            </a:r>
          </a:p>
          <a:p>
            <a:r>
              <a:rPr lang="en-US" sz="2000" dirty="0"/>
              <a:t>Return type is </a:t>
            </a:r>
            <a:r>
              <a:rPr lang="en-US" sz="1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sz="2000" dirty="0"/>
              <a:t>. </a:t>
            </a:r>
            <a:r>
              <a:rPr lang="en-US" sz="2000" dirty="0" err="1"/>
              <a:t>printf</a:t>
            </a:r>
            <a:r>
              <a:rPr lang="en-US" sz="2000" dirty="0"/>
              <a:t> specifier is 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D24C6-7DA7-3236-B743-A55C1D7319AF}"/>
              </a:ext>
            </a:extLst>
          </p:cNvPr>
          <p:cNvSpPr txBox="1"/>
          <p:nvPr/>
        </p:nvSpPr>
        <p:spPr>
          <a:xfrm>
            <a:off x="838200" y="3037095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1, 2, 4, 8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2B99B-FE08-7210-E959-D5D8B97D4487}"/>
              </a:ext>
            </a:extLst>
          </p:cNvPr>
          <p:cNvSpPr txBox="1"/>
          <p:nvPr/>
        </p:nvSpPr>
        <p:spPr>
          <a:xfrm>
            <a:off x="533400" y="3611710"/>
            <a:ext cx="1112520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u;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short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(u),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(w),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8EDEF-46F3-F5C9-8931-9B23BE6F9599}"/>
              </a:ext>
            </a:extLst>
          </p:cNvPr>
          <p:cNvSpPr txBox="1"/>
          <p:nvPr/>
        </p:nvSpPr>
        <p:spPr>
          <a:xfrm>
            <a:off x="838200" y="5006566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1, 2, 4, 8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A6B0D-204A-5D2C-9DA8-973B982A38D8}"/>
              </a:ext>
            </a:extLst>
          </p:cNvPr>
          <p:cNvSpPr txBox="1"/>
          <p:nvPr/>
        </p:nvSpPr>
        <p:spPr>
          <a:xfrm>
            <a:off x="533400" y="5456134"/>
            <a:ext cx="111252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zu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 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(a++), a);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is compile-time operator </a:t>
            </a:r>
          </a:p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                                           --&gt; it doesn't run the expression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23A961-9896-DAB0-CB4D-4CF8E5D71FC2}"/>
              </a:ext>
            </a:extLst>
          </p:cNvPr>
          <p:cNvSpPr txBox="1"/>
          <p:nvPr/>
        </p:nvSpPr>
        <p:spPr>
          <a:xfrm>
            <a:off x="838200" y="632655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4, 10</a:t>
            </a:r>
          </a:p>
        </p:txBody>
      </p:sp>
    </p:spTree>
    <p:extLst>
      <p:ext uri="{BB962C8B-B14F-4D97-AF65-F5344CB8AC3E}">
        <p14:creationId xmlns:p14="http://schemas.microsoft.com/office/powerpoint/2010/main" val="36553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  <p:bldP spid="9" grpId="0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905D-F11F-141B-3DC1-41BEB5C2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6AA0-8F69-DEA5-B981-84BF4F3C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  <a:p>
            <a:pPr lvl="1"/>
            <a:r>
              <a:rPr lang="en-US" dirty="0"/>
              <a:t>Binary, octal, hex</a:t>
            </a:r>
          </a:p>
          <a:p>
            <a:endParaRPr lang="en-US" dirty="0"/>
          </a:p>
          <a:p>
            <a:r>
              <a:rPr lang="en-US" dirty="0"/>
              <a:t>Integer types</a:t>
            </a:r>
          </a:p>
          <a:p>
            <a:pPr lvl="1"/>
            <a:r>
              <a:rPr lang="en-US" dirty="0"/>
              <a:t>Two's complement</a:t>
            </a:r>
          </a:p>
          <a:p>
            <a:pPr lvl="1"/>
            <a:r>
              <a:rPr lang="en-US" dirty="0"/>
              <a:t>char, short, int, long</a:t>
            </a:r>
          </a:p>
          <a:p>
            <a:pPr lvl="1"/>
            <a:r>
              <a:rPr lang="en-US" dirty="0" err="1"/>
              <a:t>sizeof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738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DE51-3EB2-C243-407C-28AC5637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7FA4-437A-C874-51C3-D2B7AB9BC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19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7975-46F0-60F3-C435-91C404E9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302B-F9E9-B910-41BF-2565E89D7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46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greater integers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/>
        </p:nvGraphicFramePr>
        <p:xfrm>
          <a:off x="1253523" y="1627523"/>
          <a:ext cx="9421812" cy="448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42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2759646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1285304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3436620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Type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unsigned or signed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# of bits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value range </a:t>
                      </a:r>
                    </a:p>
                    <a:p>
                      <a:pPr algn="ctr"/>
                      <a:r>
                        <a:rPr lang="en-US" b="1"/>
                        <a:t>(hex)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unsigned (non-negative)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 (1 byte)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0 to 255 (2^8-1)</a:t>
                      </a:r>
                    </a:p>
                    <a:p>
                      <a:pPr algn="ctr"/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signed (two's complement)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 (1 byte)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-128 to 127 (2^7-1)</a:t>
                      </a:r>
                    </a:p>
                    <a:p>
                      <a:pPr algn="ctr"/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unsigned (non-negative)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 (2 bytes)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0 to 65,536 (2^16-1)</a:t>
                      </a:r>
                    </a:p>
                    <a:p>
                      <a:pPr algn="ctr"/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733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signed (two's complement)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 (2 bytes)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90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unsigned (non-negative)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 (4 bytes)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signed (two's complement)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 (4 bytes)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51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011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greater integers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/>
        </p:nvGraphicFramePr>
        <p:xfrm>
          <a:off x="656670" y="1668163"/>
          <a:ext cx="1087866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1833753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717482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65,536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long*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 bits (8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2^64-1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-2^63 to 2^63-1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261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0322F1-16BC-EAC6-FC67-8AE27F50D05A}"/>
              </a:ext>
            </a:extLst>
          </p:cNvPr>
          <p:cNvSpPr txBox="1"/>
          <p:nvPr/>
        </p:nvSpPr>
        <p:spPr>
          <a:xfrm>
            <a:off x="772161" y="5638800"/>
            <a:ext cx="840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*this depends on the machine type. On most modern machines, this is 64 bits (8bytes), but older so-called 32-bit machine, long is 32 bits</a:t>
            </a:r>
          </a:p>
        </p:txBody>
      </p:sp>
    </p:spTree>
    <p:extLst>
      <p:ext uri="{BB962C8B-B14F-4D97-AF65-F5344CB8AC3E}">
        <p14:creationId xmlns:p14="http://schemas.microsoft.com/office/powerpoint/2010/main" val="1279152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11E4-6900-D0CA-1B8F-CA6586B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more data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65C7DC-938E-1D23-5F78-1D78BFDBC7D8}"/>
              </a:ext>
            </a:extLst>
          </p:cNvPr>
          <p:cNvGraphicFramePr>
            <a:graphicFrameLocks noGrp="1"/>
          </p:cNvGraphicFramePr>
          <p:nvPr/>
        </p:nvGraphicFramePr>
        <p:xfrm>
          <a:off x="656670" y="1668163"/>
          <a:ext cx="10878660" cy="394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959">
                  <a:extLst>
                    <a:ext uri="{9D8B030D-6E8A-4147-A177-3AD203B41FA5}">
                      <a16:colId xmlns:a16="http://schemas.microsoft.com/office/drawing/2014/main" val="938789911"/>
                    </a:ext>
                  </a:extLst>
                </a:gridCol>
                <a:gridCol w="1718691">
                  <a:extLst>
                    <a:ext uri="{9D8B030D-6E8A-4147-A177-3AD203B41FA5}">
                      <a16:colId xmlns:a16="http://schemas.microsoft.com/office/drawing/2014/main" val="3954513354"/>
                    </a:ext>
                  </a:extLst>
                </a:gridCol>
                <a:gridCol w="1833753">
                  <a:extLst>
                    <a:ext uri="{9D8B030D-6E8A-4147-A177-3AD203B41FA5}">
                      <a16:colId xmlns:a16="http://schemas.microsoft.com/office/drawing/2014/main" val="2068903207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2665246715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278750564"/>
                    </a:ext>
                  </a:extLst>
                </a:gridCol>
                <a:gridCol w="2717482">
                  <a:extLst>
                    <a:ext uri="{9D8B030D-6E8A-4147-A177-3AD203B41FA5}">
                      <a16:colId xmlns:a16="http://schemas.microsoft.com/office/drawing/2014/main" val="57839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# of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 range </a:t>
                      </a:r>
                    </a:p>
                    <a:p>
                      <a:pPr algn="ctr"/>
                      <a:r>
                        <a:rPr lang="en-US" b="1" dirty="0"/>
                        <a:t>(in hex)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char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bits (1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255 (2^8-1)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-128 to 127 (2^7-1)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(-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2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short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bits (2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 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65,536 (2^16-1)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-32,768 to 32,767 (2^15-1)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7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2^32-1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-2^31 to 2^31-1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5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long*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 bits (8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0 to 2^64-1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0x00…00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0xFF…FF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int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-2^63 to 2^63-1</a:t>
                      </a:r>
                    </a:p>
                    <a:p>
                      <a:pPr algn="ctr"/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0x80…00</a:t>
                      </a:r>
                      <a:r>
                        <a:rPr lang="en-US" sz="1800" b="0" dirty="0">
                          <a:effectLst/>
                          <a:cs typeface="Calibri" panose="020F0502020204030204" pitchFamily="34" charset="0"/>
                        </a:rPr>
                        <a:t> to </a:t>
                      </a:r>
                      <a:r>
                        <a:rPr lang="en-US" sz="1800" b="0" dirty="0">
                          <a:effectLst/>
                          <a:latin typeface="Menlo" panose="020B0609030804020204" pitchFamily="49" charset="0"/>
                        </a:rPr>
                        <a:t>0x7F…FF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2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32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float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-3.4x10^38 to 3.4x10^38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97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bits (4 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FB41D"/>
                          </a:solidFill>
                          <a:effectLst/>
                          <a:latin typeface="Menlo" panose="020B0609030804020204" pitchFamily="49" charset="0"/>
                        </a:rPr>
                        <a:t>double</a:t>
                      </a:r>
                      <a:endParaRPr lang="en-US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-1.7x10^208 to 1.7x10^308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8762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0322F1-16BC-EAC6-FC67-8AE27F50D05A}"/>
              </a:ext>
            </a:extLst>
          </p:cNvPr>
          <p:cNvSpPr txBox="1"/>
          <p:nvPr/>
        </p:nvSpPr>
        <p:spPr>
          <a:xfrm>
            <a:off x="838200" y="6200487"/>
            <a:ext cx="840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*this depends on the machine type. On most modern machines, this is 64 bits (8bytes), but older so-called 32-bit machine, long is 32 bits</a:t>
            </a:r>
          </a:p>
        </p:txBody>
      </p:sp>
    </p:spTree>
    <p:extLst>
      <p:ext uri="{BB962C8B-B14F-4D97-AF65-F5344CB8AC3E}">
        <p14:creationId xmlns:p14="http://schemas.microsoft.com/office/powerpoint/2010/main" val="627835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B43F-E2DF-5E0A-5506-0E0B0E45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Binary, Octal, and Hexadecimal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ABD70-C595-8AB9-AB24-7C5077081A5C}"/>
              </a:ext>
            </a:extLst>
          </p:cNvPr>
          <p:cNvSpPr txBox="1"/>
          <p:nvPr/>
        </p:nvSpPr>
        <p:spPr>
          <a:xfrm>
            <a:off x="838200" y="1500347"/>
            <a:ext cx="4326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Convert 532 to octal (532</a:t>
            </a:r>
            <a:r>
              <a:rPr lang="en-US" sz="2400" baseline="-25000" dirty="0">
                <a:ea typeface="Cambria Math" panose="02040503050406030204" pitchFamily="18" charset="0"/>
              </a:rPr>
              <a:t>10</a:t>
            </a:r>
            <a:r>
              <a:rPr lang="en-US" sz="2400" dirty="0">
                <a:ea typeface="Cambria Math" panose="02040503050406030204" pitchFamily="18" charset="0"/>
              </a:rPr>
              <a:t>=???</a:t>
            </a:r>
            <a:r>
              <a:rPr lang="en-US" sz="2400" baseline="-25000" dirty="0">
                <a:ea typeface="Cambria Math" panose="02040503050406030204" pitchFamily="18" charset="0"/>
              </a:rPr>
              <a:t>8</a:t>
            </a:r>
            <a:r>
              <a:rPr lang="en-US" sz="2400" dirty="0">
                <a:ea typeface="Cambria Math" panose="02040503050406030204" pitchFamily="18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07F62-0833-48D6-2F52-1A614251A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72" y="2300056"/>
            <a:ext cx="5636589" cy="4359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B635B0-5A09-724C-F5B9-648BEFBE29DF}"/>
              </a:ext>
            </a:extLst>
          </p:cNvPr>
          <p:cNvSpPr txBox="1"/>
          <p:nvPr/>
        </p:nvSpPr>
        <p:spPr>
          <a:xfrm>
            <a:off x="8246532" y="2912533"/>
            <a:ext cx="3386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/ is truncated division </a:t>
            </a:r>
          </a:p>
          <a:p>
            <a:r>
              <a:rPr lang="en-US" sz="2400" dirty="0"/>
              <a:t>  (working with integers)</a:t>
            </a:r>
          </a:p>
          <a:p>
            <a:endParaRPr lang="en-US" sz="2400" dirty="0"/>
          </a:p>
          <a:p>
            <a:r>
              <a:rPr lang="en-US" sz="2400" dirty="0"/>
              <a:t>% is remainder after</a:t>
            </a:r>
          </a:p>
          <a:p>
            <a:r>
              <a:rPr lang="en-US" sz="2400" dirty="0"/>
              <a:t>   integer division</a:t>
            </a:r>
          </a:p>
        </p:txBody>
      </p:sp>
    </p:spTree>
    <p:extLst>
      <p:ext uri="{BB962C8B-B14F-4D97-AF65-F5344CB8AC3E}">
        <p14:creationId xmlns:p14="http://schemas.microsoft.com/office/powerpoint/2010/main" val="900032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F625-C6EF-E799-54F2-31B4AD6D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Binary, Octal, and Hexadecimal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3A136-29E0-18A4-B3B8-FA89BFFA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67" y="2300056"/>
            <a:ext cx="5363248" cy="35221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A1888F-19DA-ECDC-66C8-1ED7678C2283}"/>
              </a:ext>
            </a:extLst>
          </p:cNvPr>
          <p:cNvSpPr txBox="1"/>
          <p:nvPr/>
        </p:nvSpPr>
        <p:spPr>
          <a:xfrm>
            <a:off x="838200" y="1500347"/>
            <a:ext cx="44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Convert 532 to octal (532</a:t>
            </a:r>
            <a:r>
              <a:rPr lang="en-US" sz="2400" baseline="-25000" dirty="0">
                <a:ea typeface="Cambria Math" panose="02040503050406030204" pitchFamily="18" charset="0"/>
              </a:rPr>
              <a:t>10</a:t>
            </a:r>
            <a:r>
              <a:rPr lang="en-US" sz="2400" dirty="0">
                <a:ea typeface="Cambria Math" panose="02040503050406030204" pitchFamily="18" charset="0"/>
              </a:rPr>
              <a:t>=???</a:t>
            </a:r>
            <a:r>
              <a:rPr lang="en-US" sz="2400" baseline="-25000" dirty="0">
                <a:ea typeface="Cambria Math" panose="02040503050406030204" pitchFamily="18" charset="0"/>
              </a:rPr>
              <a:t>16</a:t>
            </a:r>
            <a:r>
              <a:rPr lang="en-US" sz="2400" dirty="0"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5947E-DF3C-9B9F-60D8-D01400785B61}"/>
              </a:ext>
            </a:extLst>
          </p:cNvPr>
          <p:cNvSpPr txBox="1"/>
          <p:nvPr/>
        </p:nvSpPr>
        <p:spPr>
          <a:xfrm>
            <a:off x="8246532" y="2912533"/>
            <a:ext cx="3386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/ is truncated division </a:t>
            </a:r>
          </a:p>
          <a:p>
            <a:r>
              <a:rPr lang="en-US" sz="2400" dirty="0"/>
              <a:t>  (working with integers)</a:t>
            </a:r>
          </a:p>
          <a:p>
            <a:endParaRPr lang="en-US" sz="2400" dirty="0"/>
          </a:p>
          <a:p>
            <a:r>
              <a:rPr lang="en-US" sz="2400" dirty="0"/>
              <a:t>% is remainder after</a:t>
            </a:r>
          </a:p>
          <a:p>
            <a:r>
              <a:rPr lang="en-US" sz="2400" dirty="0"/>
              <a:t>   integer division</a:t>
            </a:r>
          </a:p>
        </p:txBody>
      </p:sp>
    </p:spTree>
    <p:extLst>
      <p:ext uri="{BB962C8B-B14F-4D97-AF65-F5344CB8AC3E}">
        <p14:creationId xmlns:p14="http://schemas.microsoft.com/office/powerpoint/2010/main" val="1809691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CE4C-9B5F-6651-1AEB-CDD7D69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 in Python vs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1C193F-924E-232F-B3D3-458EE101117C}"/>
              </a:ext>
            </a:extLst>
          </p:cNvPr>
          <p:cNvSpPr/>
          <p:nvPr/>
        </p:nvSpPr>
        <p:spPr>
          <a:xfrm>
            <a:off x="990664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sum = 0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100000000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range(N):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sum += 1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5670F-C0D6-27E8-FC0A-F8A3A2DDBF0C}"/>
              </a:ext>
            </a:extLst>
          </p:cNvPr>
          <p:cNvSpPr/>
          <p:nvPr/>
        </p:nvSpPr>
        <p:spPr>
          <a:xfrm>
            <a:off x="6096000" y="1450741"/>
            <a:ext cx="3996519" cy="34351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#include &lt;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stdio.h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main()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int sum = 0;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int N = 100000000;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(int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0;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&lt;N;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sum += 1;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("%u\n", sum);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0;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5BC26E-F0F2-0DF5-BDD7-696FD25119CB}"/>
              </a:ext>
            </a:extLst>
          </p:cNvPr>
          <p:cNvSpPr/>
          <p:nvPr/>
        </p:nvSpPr>
        <p:spPr>
          <a:xfrm>
            <a:off x="990665" y="1524839"/>
            <a:ext cx="565420" cy="5112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B3926-0E67-0020-4668-BA17ED0919E7}"/>
              </a:ext>
            </a:extLst>
          </p:cNvPr>
          <p:cNvSpPr/>
          <p:nvPr/>
        </p:nvSpPr>
        <p:spPr>
          <a:xfrm>
            <a:off x="6353375" y="2585393"/>
            <a:ext cx="1022785" cy="5532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54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B5A2-893D-7C97-0EF5-FCA796F8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(base 10)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1B357-E6E1-9D3B-EC80-659BEC678ACF}"/>
                  </a:ext>
                </a:extLst>
              </p:cNvPr>
              <p:cNvSpPr txBox="1"/>
              <p:nvPr/>
            </p:nvSpPr>
            <p:spPr>
              <a:xfrm>
                <a:off x="554450" y="2959000"/>
                <a:ext cx="10506338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456 in base 10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456 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(4)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100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(5)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(6)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 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(5)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(6)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1B357-E6E1-9D3B-EC80-659BEC678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50" y="2959000"/>
                <a:ext cx="10506338" cy="470000"/>
              </a:xfrm>
              <a:prstGeom prst="rect">
                <a:avLst/>
              </a:prstGeom>
              <a:blipFill>
                <a:blip r:embed="rId2"/>
                <a:stretch>
                  <a:fillRect l="-845" t="-7692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148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5D3C-E90B-3D20-BB6F-5A4C275F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char vs. char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B1BF18-D6E3-7EB3-6988-C55ACE81E2C6}"/>
              </a:ext>
            </a:extLst>
          </p:cNvPr>
          <p:cNvSpPr txBox="1"/>
          <p:nvPr/>
        </p:nvSpPr>
        <p:spPr>
          <a:xfrm>
            <a:off x="928048" y="1686151"/>
            <a:ext cx="20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Value range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10DCB-9EFA-E416-9539-5B6F92144096}"/>
              </a:ext>
            </a:extLst>
          </p:cNvPr>
          <p:cNvSpPr txBox="1"/>
          <p:nvPr/>
        </p:nvSpPr>
        <p:spPr>
          <a:xfrm>
            <a:off x="928048" y="1338215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89B3C-69F3-74F4-55EF-AD8FFB5867B7}"/>
              </a:ext>
            </a:extLst>
          </p:cNvPr>
          <p:cNvSpPr txBox="1"/>
          <p:nvPr/>
        </p:nvSpPr>
        <p:spPr>
          <a:xfrm>
            <a:off x="928048" y="2074385"/>
            <a:ext cx="193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In hex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09C76-F1AE-13B8-2C57-2927E32AAC7A}"/>
              </a:ext>
            </a:extLst>
          </p:cNvPr>
          <p:cNvSpPr txBox="1"/>
          <p:nvPr/>
        </p:nvSpPr>
        <p:spPr>
          <a:xfrm>
            <a:off x="3131407" y="1307437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non-negative integer represented by 8 bits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26F60-0118-4851-97AF-37AF7C0456EE}"/>
              </a:ext>
            </a:extLst>
          </p:cNvPr>
          <p:cNvSpPr txBox="1"/>
          <p:nvPr/>
        </p:nvSpPr>
        <p:spPr>
          <a:xfrm>
            <a:off x="3131407" y="1686151"/>
            <a:ext cx="241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b="1" dirty="0"/>
              <a:t>0 </a:t>
            </a:r>
            <a:r>
              <a:rPr lang="en-US" sz="2000" dirty="0"/>
              <a:t>to</a:t>
            </a:r>
            <a:r>
              <a:rPr lang="en-US" sz="2000" b="1" dirty="0"/>
              <a:t> 255 (2^8-1)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BF368-0443-BE26-8F6A-4730B0C742A7}"/>
              </a:ext>
            </a:extLst>
          </p:cNvPr>
          <p:cNvSpPr txBox="1"/>
          <p:nvPr/>
        </p:nvSpPr>
        <p:spPr>
          <a:xfrm>
            <a:off x="3131407" y="2070868"/>
            <a:ext cx="2311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from </a:t>
            </a:r>
            <a:r>
              <a:rPr lang="en-US" sz="2000" dirty="0">
                <a:effectLst/>
                <a:latin typeface="Menlo" panose="020B0609030804020204" pitchFamily="49" charset="0"/>
              </a:rPr>
              <a:t>0x00</a:t>
            </a:r>
            <a:r>
              <a:rPr lang="en-US" sz="2000" dirty="0">
                <a:effectLst/>
                <a:cs typeface="Calibri" panose="020F0502020204030204" pitchFamily="34" charset="0"/>
              </a:rPr>
              <a:t> to </a:t>
            </a:r>
            <a:r>
              <a:rPr lang="en-US" sz="2000" dirty="0">
                <a:effectLst/>
                <a:latin typeface="Menlo" panose="020B0609030804020204" pitchFamily="49" charset="0"/>
              </a:rPr>
              <a:t>0xFF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8FAD77-79B4-A4DE-8B7D-00DEBC7FA3FB}"/>
              </a:ext>
            </a:extLst>
          </p:cNvPr>
          <p:cNvSpPr txBox="1"/>
          <p:nvPr/>
        </p:nvSpPr>
        <p:spPr>
          <a:xfrm>
            <a:off x="928048" y="2991844"/>
            <a:ext cx="20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Value range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FB7E4F-27E7-7608-37AA-2F5F23C03234}"/>
              </a:ext>
            </a:extLst>
          </p:cNvPr>
          <p:cNvSpPr txBox="1"/>
          <p:nvPr/>
        </p:nvSpPr>
        <p:spPr>
          <a:xfrm>
            <a:off x="928048" y="2643908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2BE445-D0DB-0A62-3A2A-D1D23BCC2E33}"/>
              </a:ext>
            </a:extLst>
          </p:cNvPr>
          <p:cNvSpPr txBox="1"/>
          <p:nvPr/>
        </p:nvSpPr>
        <p:spPr>
          <a:xfrm>
            <a:off x="3131407" y="2613130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Signed integer represented by 8 bits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5A6178-FA67-00D6-E796-A7F527D85018}"/>
              </a:ext>
            </a:extLst>
          </p:cNvPr>
          <p:cNvSpPr txBox="1"/>
          <p:nvPr/>
        </p:nvSpPr>
        <p:spPr>
          <a:xfrm>
            <a:off x="3131407" y="2991844"/>
            <a:ext cx="193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b="1" dirty="0">
                <a:solidFill>
                  <a:srgbClr val="C00000"/>
                </a:solidFill>
              </a:rPr>
              <a:t>-128</a:t>
            </a:r>
            <a:r>
              <a:rPr lang="en-US" sz="2000" b="1" dirty="0"/>
              <a:t> </a:t>
            </a:r>
            <a:r>
              <a:rPr lang="en-US" sz="2000" dirty="0"/>
              <a:t>to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127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3C361E-3C0F-9B24-6DE9-EDF8430491C0}"/>
              </a:ext>
            </a:extLst>
          </p:cNvPr>
          <p:cNvSpPr txBox="1"/>
          <p:nvPr/>
        </p:nvSpPr>
        <p:spPr>
          <a:xfrm>
            <a:off x="941352" y="4423529"/>
            <a:ext cx="20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Value range</a:t>
            </a:r>
            <a:endParaRPr lang="en-US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D97960-FFFF-5720-0EC6-578595D3101F}"/>
              </a:ext>
            </a:extLst>
          </p:cNvPr>
          <p:cNvSpPr txBox="1"/>
          <p:nvPr/>
        </p:nvSpPr>
        <p:spPr>
          <a:xfrm>
            <a:off x="941352" y="4075593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short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5FAA4D-B40D-80C6-3D01-304049760EF0}"/>
              </a:ext>
            </a:extLst>
          </p:cNvPr>
          <p:cNvSpPr txBox="1"/>
          <p:nvPr/>
        </p:nvSpPr>
        <p:spPr>
          <a:xfrm>
            <a:off x="941352" y="4811763"/>
            <a:ext cx="193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In hex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AAFB2-710F-9112-7664-590FBD28B29D}"/>
              </a:ext>
            </a:extLst>
          </p:cNvPr>
          <p:cNvSpPr txBox="1"/>
          <p:nvPr/>
        </p:nvSpPr>
        <p:spPr>
          <a:xfrm>
            <a:off x="3144711" y="4044815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non-negative integer represented by </a:t>
            </a:r>
            <a:r>
              <a:rPr lang="en-US" sz="2000" dirty="0">
                <a:solidFill>
                  <a:srgbClr val="C00000"/>
                </a:solidFill>
              </a:rPr>
              <a:t>16</a:t>
            </a:r>
            <a:r>
              <a:rPr lang="en-US" sz="2000" dirty="0"/>
              <a:t> bits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6AD3F-291B-6F31-6F9E-A9E53D3738F9}"/>
              </a:ext>
            </a:extLst>
          </p:cNvPr>
          <p:cNvSpPr txBox="1"/>
          <p:nvPr/>
        </p:nvSpPr>
        <p:spPr>
          <a:xfrm>
            <a:off x="3144711" y="4423529"/>
            <a:ext cx="292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b="1" dirty="0"/>
              <a:t>0 </a:t>
            </a:r>
            <a:r>
              <a:rPr lang="en-US" sz="2000" dirty="0"/>
              <a:t>to</a:t>
            </a:r>
            <a:r>
              <a:rPr lang="en-US" sz="2000" b="1" dirty="0"/>
              <a:t> 65,535  (2^16-1)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FF5341-2E92-8F45-3E0D-28346962434E}"/>
              </a:ext>
            </a:extLst>
          </p:cNvPr>
          <p:cNvSpPr txBox="1"/>
          <p:nvPr/>
        </p:nvSpPr>
        <p:spPr>
          <a:xfrm>
            <a:off x="3144711" y="4808246"/>
            <a:ext cx="292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cs typeface="Calibri" panose="020F0502020204030204" pitchFamily="34" charset="0"/>
              </a:rPr>
              <a:t>from </a:t>
            </a:r>
            <a:r>
              <a:rPr lang="en-US" sz="2000" dirty="0">
                <a:effectLst/>
                <a:latin typeface="Menlo" panose="020B0609030804020204" pitchFamily="49" charset="0"/>
              </a:rPr>
              <a:t>0x0000</a:t>
            </a:r>
            <a:r>
              <a:rPr lang="en-US" sz="2000" dirty="0">
                <a:effectLst/>
                <a:cs typeface="Calibri" panose="020F0502020204030204" pitchFamily="34" charset="0"/>
              </a:rPr>
              <a:t> to </a:t>
            </a:r>
            <a:r>
              <a:rPr lang="en-US" sz="2000" dirty="0">
                <a:effectLst/>
                <a:latin typeface="Menlo" panose="020B0609030804020204" pitchFamily="49" charset="0"/>
              </a:rPr>
              <a:t>0xFFFF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181922-805D-A0E4-72BF-B65AD51D00C2}"/>
              </a:ext>
            </a:extLst>
          </p:cNvPr>
          <p:cNvSpPr txBox="1"/>
          <p:nvPr/>
        </p:nvSpPr>
        <p:spPr>
          <a:xfrm>
            <a:off x="941352" y="5729222"/>
            <a:ext cx="20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Value range</a:t>
            </a:r>
            <a:endParaRPr lang="en-US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338B30-442E-EC5F-5503-4136FAD133E8}"/>
              </a:ext>
            </a:extLst>
          </p:cNvPr>
          <p:cNvSpPr txBox="1"/>
          <p:nvPr/>
        </p:nvSpPr>
        <p:spPr>
          <a:xfrm>
            <a:off x="941352" y="538128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short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E10329-28F5-05BC-A38A-A40F258E9DFE}"/>
              </a:ext>
            </a:extLst>
          </p:cNvPr>
          <p:cNvSpPr txBox="1"/>
          <p:nvPr/>
        </p:nvSpPr>
        <p:spPr>
          <a:xfrm>
            <a:off x="3144711" y="5350508"/>
            <a:ext cx="480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Signed integer represented by 8 bits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B5A8A7-0DE5-DA80-4111-DD428B6A3070}"/>
              </a:ext>
            </a:extLst>
          </p:cNvPr>
          <p:cNvSpPr txBox="1"/>
          <p:nvPr/>
        </p:nvSpPr>
        <p:spPr>
          <a:xfrm>
            <a:off x="3144711" y="5729222"/>
            <a:ext cx="2588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b="1" dirty="0"/>
              <a:t>-32,768 </a:t>
            </a:r>
            <a:r>
              <a:rPr lang="en-US" sz="2000" dirty="0"/>
              <a:t>to</a:t>
            </a:r>
            <a:r>
              <a:rPr lang="en-US" sz="2000" b="1" dirty="0"/>
              <a:t> 32,767</a:t>
            </a:r>
          </a:p>
        </p:txBody>
      </p:sp>
    </p:spTree>
    <p:extLst>
      <p:ext uri="{BB962C8B-B14F-4D97-AF65-F5344CB8AC3E}">
        <p14:creationId xmlns:p14="http://schemas.microsoft.com/office/powerpoint/2010/main" val="89293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6531</TotalTime>
  <Words>3195</Words>
  <Application>Microsoft Macintosh PowerPoint</Application>
  <PresentationFormat>Widescreen</PresentationFormat>
  <Paragraphs>821</Paragraphs>
  <Slides>37</Slides>
  <Notes>0</Notes>
  <HiddenSlides>8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Arial Narrow Bold</vt:lpstr>
      <vt:lpstr>Calibri</vt:lpstr>
      <vt:lpstr>Calibri Light</vt:lpstr>
      <vt:lpstr>Cambria Math</vt:lpstr>
      <vt:lpstr>Consolas</vt:lpstr>
      <vt:lpstr>Courier</vt:lpstr>
      <vt:lpstr>Menlo</vt:lpstr>
      <vt:lpstr>Wingdings</vt:lpstr>
      <vt:lpstr>Wingdings 2</vt:lpstr>
      <vt:lpstr>Office Theme</vt:lpstr>
      <vt:lpstr>Equation</vt:lpstr>
      <vt:lpstr>Bits I  CMSC 14300: System Programming I 4th Lecture</vt:lpstr>
      <vt:lpstr>Decimal (base 10) Representation</vt:lpstr>
      <vt:lpstr>Binary (base 2) Representation</vt:lpstr>
      <vt:lpstr>Overview</vt:lpstr>
      <vt:lpstr>Binary, Octal, and Hexadecimal</vt:lpstr>
      <vt:lpstr>Binary, Octal, and Hexadecimal</vt:lpstr>
      <vt:lpstr>Decimal  Octal</vt:lpstr>
      <vt:lpstr>Decimal  Hexadecimal</vt:lpstr>
      <vt:lpstr>Decimal  Hexadecimal</vt:lpstr>
      <vt:lpstr>Hexadecimal  Binary?</vt:lpstr>
      <vt:lpstr>Octal            Binary</vt:lpstr>
      <vt:lpstr>Hexadecimal            Binary</vt:lpstr>
      <vt:lpstr>Octal and Hexadecimal Values in C </vt:lpstr>
      <vt:lpstr>Overview</vt:lpstr>
      <vt:lpstr>Integer: Non-negative integers</vt:lpstr>
      <vt:lpstr>Limitations of char</vt:lpstr>
      <vt:lpstr>Representing negative integers: Two's complement</vt:lpstr>
      <vt:lpstr>Representing negative integers: Two's complement</vt:lpstr>
      <vt:lpstr>Examples</vt:lpstr>
      <vt:lpstr>Examples</vt:lpstr>
      <vt:lpstr>Representing more data</vt:lpstr>
      <vt:lpstr>Representing more data</vt:lpstr>
      <vt:lpstr>Representing more data</vt:lpstr>
      <vt:lpstr>Representing more data</vt:lpstr>
      <vt:lpstr>Representing more data</vt:lpstr>
      <vt:lpstr>Check the size of a variable: sizeof()</vt:lpstr>
      <vt:lpstr>Recap</vt:lpstr>
      <vt:lpstr>PowerPoint Presentation</vt:lpstr>
      <vt:lpstr>PowerPoint Presentation</vt:lpstr>
      <vt:lpstr>Representing greater integers</vt:lpstr>
      <vt:lpstr>Representing greater integers</vt:lpstr>
      <vt:lpstr>Representing more data</vt:lpstr>
      <vt:lpstr>Binary, Octal, and Hexadecimal</vt:lpstr>
      <vt:lpstr>Binary, Octal, and Hexadecimal</vt:lpstr>
      <vt:lpstr>Datatype in Python vs C</vt:lpstr>
      <vt:lpstr>Decimal (base 10) Representation</vt:lpstr>
      <vt:lpstr>unsigned char vs. char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157</cp:revision>
  <dcterms:created xsi:type="dcterms:W3CDTF">2023-03-12T16:00:37Z</dcterms:created>
  <dcterms:modified xsi:type="dcterms:W3CDTF">2023-04-17T00:24:19Z</dcterms:modified>
</cp:coreProperties>
</file>