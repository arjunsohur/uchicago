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1" r:id="rId3"/>
    <p:sldId id="282" r:id="rId4"/>
    <p:sldId id="263" r:id="rId5"/>
    <p:sldId id="265" r:id="rId6"/>
    <p:sldId id="266" r:id="rId7"/>
    <p:sldId id="268" r:id="rId8"/>
    <p:sldId id="267" r:id="rId9"/>
    <p:sldId id="285" r:id="rId10"/>
    <p:sldId id="269" r:id="rId11"/>
    <p:sldId id="293" r:id="rId12"/>
    <p:sldId id="284" r:id="rId13"/>
    <p:sldId id="294" r:id="rId14"/>
    <p:sldId id="298" r:id="rId15"/>
    <p:sldId id="299" r:id="rId16"/>
    <p:sldId id="301" r:id="rId17"/>
    <p:sldId id="297" r:id="rId18"/>
    <p:sldId id="300" r:id="rId19"/>
    <p:sldId id="302" r:id="rId20"/>
    <p:sldId id="306" r:id="rId21"/>
    <p:sldId id="30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1CF"/>
    <a:srgbClr val="0432F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08"/>
    <p:restoredTop sz="80952"/>
  </p:normalViewPr>
  <p:slideViewPr>
    <p:cSldViewPr snapToGrid="0">
      <p:cViewPr>
        <p:scale>
          <a:sx n="105" d="100"/>
          <a:sy n="105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5/6/23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96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75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12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US" sz="4400" b="1" kern="0" dirty="0">
                <a:solidFill>
                  <a:schemeClr val="tx1"/>
                </a:solidFill>
                <a:latin typeface="Calibri" pitchFamily="34" charset="0"/>
              </a:rPr>
              <a:t>Hash Table (1)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20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AA71-4C87-34F6-E139-F83A8D155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1BB05-2346-552A-49C1-2F9C7FF3F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0"/>
            <a:ext cx="6940464" cy="4835273"/>
          </a:xfrm>
        </p:spPr>
        <p:txBody>
          <a:bodyPr>
            <a:normAutofit/>
          </a:bodyPr>
          <a:lstStyle/>
          <a:p>
            <a:r>
              <a:rPr lang="en-US" dirty="0"/>
              <a:t>Searching a keyword in your email inbox.</a:t>
            </a:r>
          </a:p>
          <a:p>
            <a:pPr lvl="1"/>
            <a:r>
              <a:rPr lang="en-US" dirty="0"/>
              <a:t>How many emails? at least 10s of thousands…</a:t>
            </a:r>
          </a:p>
          <a:p>
            <a:pPr lvl="1"/>
            <a:r>
              <a:rPr lang="en-US" dirty="0"/>
              <a:t>How many words? at least millions…</a:t>
            </a:r>
          </a:p>
          <a:p>
            <a:pPr lvl="1"/>
            <a:r>
              <a:rPr lang="en-US" dirty="0"/>
              <a:t>How long does it take to search a keyword in your inbox? Less than a second!!!</a:t>
            </a:r>
          </a:p>
          <a:p>
            <a:endParaRPr lang="en-US" dirty="0"/>
          </a:p>
          <a:p>
            <a:r>
              <a:rPr lang="en-US" dirty="0"/>
              <a:t>Search a keyword on search engine.</a:t>
            </a:r>
          </a:p>
          <a:p>
            <a:pPr lvl="1"/>
            <a:r>
              <a:rPr lang="en-US" dirty="0"/>
              <a:t>How many webpages? Billions?</a:t>
            </a:r>
          </a:p>
          <a:p>
            <a:pPr lvl="1"/>
            <a:r>
              <a:rPr lang="en-US" dirty="0"/>
              <a:t>How many words? Even more…</a:t>
            </a:r>
          </a:p>
          <a:p>
            <a:pPr lvl="1"/>
            <a:r>
              <a:rPr lang="en-US" dirty="0"/>
              <a:t>How long does it take to search a keyword on Google? Less than a second!!!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12A16C-2B07-9CB2-9186-CBD8163D35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051" b="16461"/>
          <a:stretch/>
        </p:blipFill>
        <p:spPr>
          <a:xfrm>
            <a:off x="7778664" y="1686079"/>
            <a:ext cx="4314600" cy="49965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C91B95-C248-A98E-CB38-2799530E340D}"/>
              </a:ext>
            </a:extLst>
          </p:cNvPr>
          <p:cNvSpPr/>
          <p:nvPr/>
        </p:nvSpPr>
        <p:spPr>
          <a:xfrm>
            <a:off x="7891397" y="2617940"/>
            <a:ext cx="1954061" cy="26304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3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D6F02-AB56-DD65-2071-A04DC79ED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Abstraction: Dictionaries, Sets, &amp; Key Lookup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C0B96-FBFC-123E-9867-034312777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0"/>
            <a:ext cx="10825480" cy="48352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i="1" dirty="0"/>
              <a:t>dictionary</a:t>
            </a:r>
            <a:r>
              <a:rPr lang="en-US" dirty="0"/>
              <a:t> is a data structure that maps keys to values. </a:t>
            </a:r>
          </a:p>
          <a:p>
            <a:pPr lvl="1"/>
            <a:r>
              <a:rPr lang="en-US" dirty="0"/>
              <a:t>Also called key-value store</a:t>
            </a:r>
          </a:p>
          <a:p>
            <a:pPr lvl="1"/>
            <a:r>
              <a:rPr lang="en-US" dirty="0"/>
              <a:t>Ex. map </a:t>
            </a:r>
            <a:r>
              <a:rPr lang="en-US" dirty="0" err="1"/>
              <a:t>CnetID</a:t>
            </a:r>
            <a:r>
              <a:rPr lang="en-US" dirty="0"/>
              <a:t> to name. </a:t>
            </a:r>
            <a:r>
              <a:rPr lang="en-US" dirty="0" err="1"/>
              <a:t>CNetID</a:t>
            </a:r>
            <a:r>
              <a:rPr lang="en-US" dirty="0"/>
              <a:t> is the </a:t>
            </a:r>
            <a:r>
              <a:rPr lang="en-US" b="1" dirty="0"/>
              <a:t>key</a:t>
            </a:r>
            <a:r>
              <a:rPr lang="en-US" dirty="0"/>
              <a:t>, name is the </a:t>
            </a:r>
            <a:r>
              <a:rPr lang="en-US" b="1" dirty="0"/>
              <a:t>value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"</a:t>
            </a:r>
            <a:r>
              <a:rPr lang="en-US" dirty="0" err="1"/>
              <a:t>junchenj</a:t>
            </a:r>
            <a:r>
              <a:rPr lang="en-US" dirty="0"/>
              <a:t>": "Junchen Jiang"</a:t>
            </a:r>
          </a:p>
          <a:p>
            <a:pPr lvl="2"/>
            <a:r>
              <a:rPr lang="en-US" dirty="0"/>
              <a:t>"</a:t>
            </a:r>
            <a:r>
              <a:rPr lang="en-US" dirty="0" err="1"/>
              <a:t>ams</a:t>
            </a:r>
            <a:r>
              <a:rPr lang="en-US" dirty="0"/>
              <a:t>": "Adam Shaw"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i="1" dirty="0"/>
              <a:t>set</a:t>
            </a:r>
            <a:r>
              <a:rPr lang="en-US" dirty="0"/>
              <a:t> is a data structure that stores a collection of unique keys. </a:t>
            </a:r>
          </a:p>
          <a:p>
            <a:endParaRPr lang="en-US" dirty="0"/>
          </a:p>
          <a:p>
            <a:r>
              <a:rPr lang="en-US" dirty="0"/>
              <a:t>Basic operation: </a:t>
            </a:r>
            <a:r>
              <a:rPr lang="en-US" b="1" dirty="0"/>
              <a:t>Key lookup</a:t>
            </a:r>
          </a:p>
          <a:p>
            <a:pPr lvl="1"/>
            <a:r>
              <a:rPr lang="en-US" dirty="0"/>
              <a:t>Check whether a dictionary contains a given key or a set contains a given key. </a:t>
            </a:r>
          </a:p>
          <a:p>
            <a:pPr lvl="1"/>
            <a:r>
              <a:rPr lang="en-US" dirty="0"/>
              <a:t>Ex. does "</a:t>
            </a:r>
            <a:r>
              <a:rPr lang="en-US" dirty="0" err="1"/>
              <a:t>ams</a:t>
            </a:r>
            <a:r>
              <a:rPr lang="en-US" dirty="0"/>
              <a:t>" appear as a key in a dictionary?</a:t>
            </a:r>
          </a:p>
          <a:p>
            <a:endParaRPr lang="en-US" dirty="0"/>
          </a:p>
          <a:p>
            <a:r>
              <a:rPr lang="en-US" dirty="0"/>
              <a:t>We start with </a:t>
            </a:r>
            <a:r>
              <a:rPr lang="en-US" i="1" dirty="0"/>
              <a:t>integers</a:t>
            </a:r>
            <a:r>
              <a:rPr lang="en-US" dirty="0"/>
              <a:t> as keys, and then extend it to other key types</a:t>
            </a:r>
          </a:p>
        </p:txBody>
      </p:sp>
    </p:spTree>
    <p:extLst>
      <p:ext uri="{BB962C8B-B14F-4D97-AF65-F5344CB8AC3E}">
        <p14:creationId xmlns:p14="http://schemas.microsoft.com/office/powerpoint/2010/main" val="138141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13913-9334-BC11-8999-460841F1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Lookup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0952E-49FE-B19E-3EFB-6C7B27D8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0"/>
            <a:ext cx="10898688" cy="4835273"/>
          </a:xfrm>
        </p:spPr>
        <p:txBody>
          <a:bodyPr>
            <a:normAutofit/>
          </a:bodyPr>
          <a:lstStyle/>
          <a:p>
            <a:r>
              <a:rPr lang="en-US" dirty="0"/>
              <a:t>Given a dictionary </a:t>
            </a:r>
            <a:r>
              <a:rPr lang="en-US" i="1" dirty="0"/>
              <a:t>D</a:t>
            </a:r>
            <a:r>
              <a:rPr lang="en-US" dirty="0"/>
              <a:t>, check whether a given integer </a:t>
            </a:r>
            <a:r>
              <a:rPr lang="en-US" i="1" dirty="0"/>
              <a:t>key</a:t>
            </a:r>
            <a:r>
              <a:rPr lang="en-US" dirty="0"/>
              <a:t> appears in </a:t>
            </a:r>
            <a:r>
              <a:rPr lang="en-US" i="1" dirty="0"/>
              <a:t>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Ex. D = {5: "str0", 4423: "str1", 9: "str2", 25: "str3", 1100: "str4"}</a:t>
            </a:r>
          </a:p>
          <a:p>
            <a:pPr lvl="1"/>
            <a:r>
              <a:rPr lang="en-US" dirty="0"/>
              <a:t>Does key = 25 appear as a key in </a:t>
            </a:r>
            <a:r>
              <a:rPr lang="en-US" i="1" dirty="0"/>
              <a:t>D</a:t>
            </a:r>
            <a:r>
              <a:rPr lang="en-US" dirty="0"/>
              <a:t>? (Yes)</a:t>
            </a:r>
          </a:p>
          <a:p>
            <a:pPr lvl="1"/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Python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</a:t>
            </a:r>
            <a:r>
              <a:rPr lang="en-US" dirty="0"/>
              <a:t> or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dictionary</a:t>
            </a:r>
            <a:r>
              <a:rPr lang="en-US" dirty="0"/>
              <a:t>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rtl="0">
              <a:spcBef>
                <a:spcPts val="0"/>
              </a:spcBef>
              <a:spcAft>
                <a:spcPts val="1600"/>
              </a:spcAft>
            </a:pPr>
            <a:r>
              <a:rPr lang="en-US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do we store a dictionary or a set of values in C?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6878B-6CDF-B73C-9168-C20F14AA725F}"/>
              </a:ext>
            </a:extLst>
          </p:cNvPr>
          <p:cNvSpPr txBox="1"/>
          <p:nvPr/>
        </p:nvSpPr>
        <p:spPr>
          <a:xfrm>
            <a:off x="1002082" y="4048898"/>
            <a:ext cx="938910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 = {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"str0"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4423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"str1"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"str2"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"str3"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1100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"str4"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D)</a:t>
            </a:r>
            <a:endParaRPr lang="en-US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216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13913-9334-BC11-8999-460841F1A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365125"/>
            <a:ext cx="11728704" cy="797178"/>
          </a:xfrm>
        </p:spPr>
        <p:txBody>
          <a:bodyPr>
            <a:normAutofit fontScale="90000"/>
          </a:bodyPr>
          <a:lstStyle/>
          <a:p>
            <a:r>
              <a:rPr lang="en-US" dirty="0"/>
              <a:t>Idea #1: Create an array of keys and search exhaustively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79642A01-0E21-3F60-2952-EB948139E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554504"/>
              </p:ext>
            </p:extLst>
          </p:nvPr>
        </p:nvGraphicFramePr>
        <p:xfrm>
          <a:off x="1844108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F5EE433-AF4C-2A5E-435C-7BD73E739060}"/>
              </a:ext>
            </a:extLst>
          </p:cNvPr>
          <p:cNvSpPr txBox="1"/>
          <p:nvPr/>
        </p:nvSpPr>
        <p:spPr>
          <a:xfrm>
            <a:off x="98125" y="2410611"/>
            <a:ext cx="1361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Lookup(25)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BF485D-3EE1-D983-6BCD-57B6CD282253}"/>
              </a:ext>
            </a:extLst>
          </p:cNvPr>
          <p:cNvSpPr txBox="1"/>
          <p:nvPr/>
        </p:nvSpPr>
        <p:spPr>
          <a:xfrm>
            <a:off x="98125" y="2890957"/>
            <a:ext cx="1491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Lookup(100)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ED91EA-BACD-D4E7-083F-C207DCE060E8}"/>
              </a:ext>
            </a:extLst>
          </p:cNvPr>
          <p:cNvCxnSpPr>
            <a:cxnSpLocks/>
          </p:cNvCxnSpPr>
          <p:nvPr/>
        </p:nvCxnSpPr>
        <p:spPr>
          <a:xfrm>
            <a:off x="1844107" y="2606040"/>
            <a:ext cx="4356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B5DEDB-5E6D-D4E9-465E-59BB2A68A1FD}"/>
              </a:ext>
            </a:extLst>
          </p:cNvPr>
          <p:cNvCxnSpPr>
            <a:cxnSpLocks/>
          </p:cNvCxnSpPr>
          <p:nvPr/>
        </p:nvCxnSpPr>
        <p:spPr>
          <a:xfrm>
            <a:off x="1844107" y="2606040"/>
            <a:ext cx="111203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212883-EE73-59CE-F43F-F59FF81BBDB8}"/>
              </a:ext>
            </a:extLst>
          </p:cNvPr>
          <p:cNvCxnSpPr>
            <a:cxnSpLocks/>
          </p:cNvCxnSpPr>
          <p:nvPr/>
        </p:nvCxnSpPr>
        <p:spPr>
          <a:xfrm>
            <a:off x="1841321" y="2606040"/>
            <a:ext cx="18789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645C7B-8D23-03FF-9C75-0D0D47165A51}"/>
              </a:ext>
            </a:extLst>
          </p:cNvPr>
          <p:cNvCxnSpPr>
            <a:cxnSpLocks/>
          </p:cNvCxnSpPr>
          <p:nvPr/>
        </p:nvCxnSpPr>
        <p:spPr>
          <a:xfrm>
            <a:off x="1841321" y="2606040"/>
            <a:ext cx="26330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9F92188-A75B-E828-AA9C-F7282C7C9B9F}"/>
              </a:ext>
            </a:extLst>
          </p:cNvPr>
          <p:cNvCxnSpPr>
            <a:cxnSpLocks/>
          </p:cNvCxnSpPr>
          <p:nvPr/>
        </p:nvCxnSpPr>
        <p:spPr>
          <a:xfrm>
            <a:off x="1844107" y="3091012"/>
            <a:ext cx="4356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09F34E-064A-2FCC-9514-90B887EBC3BE}"/>
              </a:ext>
            </a:extLst>
          </p:cNvPr>
          <p:cNvCxnSpPr>
            <a:cxnSpLocks/>
          </p:cNvCxnSpPr>
          <p:nvPr/>
        </p:nvCxnSpPr>
        <p:spPr>
          <a:xfrm>
            <a:off x="1844107" y="3091012"/>
            <a:ext cx="111203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758C782-53A7-165C-9D6E-08CBB6D573B9}"/>
              </a:ext>
            </a:extLst>
          </p:cNvPr>
          <p:cNvCxnSpPr>
            <a:cxnSpLocks/>
          </p:cNvCxnSpPr>
          <p:nvPr/>
        </p:nvCxnSpPr>
        <p:spPr>
          <a:xfrm>
            <a:off x="1841321" y="3091012"/>
            <a:ext cx="18789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8B400A-711E-19FC-F3C1-0C78C3795308}"/>
              </a:ext>
            </a:extLst>
          </p:cNvPr>
          <p:cNvCxnSpPr>
            <a:cxnSpLocks/>
          </p:cNvCxnSpPr>
          <p:nvPr/>
        </p:nvCxnSpPr>
        <p:spPr>
          <a:xfrm>
            <a:off x="1841321" y="3091012"/>
            <a:ext cx="26330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FD052D6-1BA1-72AC-93B3-888866886F79}"/>
              </a:ext>
            </a:extLst>
          </p:cNvPr>
          <p:cNvCxnSpPr>
            <a:cxnSpLocks/>
          </p:cNvCxnSpPr>
          <p:nvPr/>
        </p:nvCxnSpPr>
        <p:spPr>
          <a:xfrm>
            <a:off x="1841321" y="3091012"/>
            <a:ext cx="33444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81634FA-3823-1D7D-09AE-419CD6184206}"/>
              </a:ext>
            </a:extLst>
          </p:cNvPr>
          <p:cNvSpPr txBox="1"/>
          <p:nvPr/>
        </p:nvSpPr>
        <p:spPr>
          <a:xfrm>
            <a:off x="4514559" y="2400834"/>
            <a:ext cx="84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match!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5BE103-ACD7-1F38-AEA7-A172F2EE07A3}"/>
              </a:ext>
            </a:extLst>
          </p:cNvPr>
          <p:cNvSpPr txBox="1"/>
          <p:nvPr/>
        </p:nvSpPr>
        <p:spPr>
          <a:xfrm>
            <a:off x="5288460" y="2906346"/>
            <a:ext cx="1143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match!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4ACDD2-60F9-F338-B761-93435DB3DE51}"/>
              </a:ext>
            </a:extLst>
          </p:cNvPr>
          <p:cNvSpPr txBox="1"/>
          <p:nvPr/>
        </p:nvSpPr>
        <p:spPr>
          <a:xfrm>
            <a:off x="607915" y="4409118"/>
            <a:ext cx="53447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Assume that </a:t>
            </a:r>
            <a:r>
              <a:rPr lang="en-US" sz="2400" i="1" dirty="0"/>
              <a:t>D</a:t>
            </a:r>
            <a:r>
              <a:rPr lang="en-US" sz="2400" dirty="0"/>
              <a:t> has </a:t>
            </a:r>
            <a:r>
              <a:rPr lang="en-US" sz="2400" i="1" dirty="0"/>
              <a:t>n</a:t>
            </a:r>
            <a:r>
              <a:rPr lang="en-US" sz="2400" dirty="0"/>
              <a:t> keys, </a:t>
            </a:r>
          </a:p>
          <a:p>
            <a:pPr algn="r"/>
            <a:r>
              <a:rPr lang="en-US" sz="2400" dirty="0"/>
              <a:t>Time to create data structure (key array)?</a:t>
            </a:r>
          </a:p>
          <a:p>
            <a:pPr algn="r"/>
            <a:r>
              <a:rPr lang="en-US" sz="2400" dirty="0"/>
              <a:t>How much space for data structure?</a:t>
            </a:r>
          </a:p>
          <a:p>
            <a:pPr algn="r"/>
            <a:r>
              <a:rPr lang="en-US" sz="2400" dirty="0"/>
              <a:t>Time to lookup one value?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49423B-DE44-23BE-8DFB-BAA7BB9C34E6}"/>
              </a:ext>
            </a:extLst>
          </p:cNvPr>
          <p:cNvSpPr txBox="1"/>
          <p:nvPr/>
        </p:nvSpPr>
        <p:spPr>
          <a:xfrm>
            <a:off x="5952648" y="5119358"/>
            <a:ext cx="408637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O(1), O(log n), O(n), O(n log n)?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8C9C751-8992-D7A0-761E-E0EFEA11A8B7}"/>
              </a:ext>
            </a:extLst>
          </p:cNvPr>
          <p:cNvSpPr txBox="1"/>
          <p:nvPr/>
        </p:nvSpPr>
        <p:spPr>
          <a:xfrm>
            <a:off x="10301324" y="5119358"/>
            <a:ext cx="73609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O(n)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459D1-0BA0-842D-E9CC-D3E8EB38D120}"/>
              </a:ext>
            </a:extLst>
          </p:cNvPr>
          <p:cNvSpPr txBox="1"/>
          <p:nvPr/>
        </p:nvSpPr>
        <p:spPr>
          <a:xfrm>
            <a:off x="5952648" y="5497019"/>
            <a:ext cx="408637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O(1), O(log n), O(n), O(n log n)?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7DA4C59-082F-1F45-AE11-A89C69D026C0}"/>
              </a:ext>
            </a:extLst>
          </p:cNvPr>
          <p:cNvSpPr txBox="1"/>
          <p:nvPr/>
        </p:nvSpPr>
        <p:spPr>
          <a:xfrm>
            <a:off x="10301324" y="5497019"/>
            <a:ext cx="73609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O(n)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637F5B5C-7772-E38A-145D-6D44B8F1D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1"/>
            <a:ext cx="8717280" cy="493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Given D = {5: "str0", 4423: "str1", 9: "str2", 25: "str3", 1100: "str4"}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24CBDF-F806-F669-BD64-E01B209C401E}"/>
              </a:ext>
            </a:extLst>
          </p:cNvPr>
          <p:cNvSpPr txBox="1"/>
          <p:nvPr/>
        </p:nvSpPr>
        <p:spPr>
          <a:xfrm>
            <a:off x="5952648" y="4753730"/>
            <a:ext cx="408637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O(1), O(log n), O(n), O(n log n)?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1C2274-962F-DD38-D501-0F1F46653654}"/>
              </a:ext>
            </a:extLst>
          </p:cNvPr>
          <p:cNvSpPr txBox="1"/>
          <p:nvPr/>
        </p:nvSpPr>
        <p:spPr>
          <a:xfrm>
            <a:off x="10301324" y="4753730"/>
            <a:ext cx="72968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O(1)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45D5EB9-CC81-5F40-6139-4A18E84E7B54}"/>
              </a:ext>
            </a:extLst>
          </p:cNvPr>
          <p:cNvSpPr/>
          <p:nvPr/>
        </p:nvSpPr>
        <p:spPr>
          <a:xfrm>
            <a:off x="10319312" y="5524412"/>
            <a:ext cx="729687" cy="457961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810341-9E1C-A1C4-E6A1-B9BA1A56296E}"/>
              </a:ext>
            </a:extLst>
          </p:cNvPr>
          <p:cNvSpPr txBox="1"/>
          <p:nvPr/>
        </p:nvSpPr>
        <p:spPr>
          <a:xfrm>
            <a:off x="9555480" y="5978778"/>
            <a:ext cx="2257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Lookup too slow</a:t>
            </a:r>
          </a:p>
        </p:txBody>
      </p:sp>
    </p:spTree>
    <p:extLst>
      <p:ext uri="{BB962C8B-B14F-4D97-AF65-F5344CB8AC3E}">
        <p14:creationId xmlns:p14="http://schemas.microsoft.com/office/powerpoint/2010/main" val="103173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49" grpId="0"/>
      <p:bldP spid="50" grpId="0"/>
      <p:bldP spid="57" grpId="0"/>
      <p:bldP spid="58" grpId="0" animBg="1"/>
      <p:bldP spid="59" grpId="0" animBg="1"/>
      <p:bldP spid="60" grpId="0" animBg="1"/>
      <p:bldP spid="61" grpId="0" animBg="1"/>
      <p:bldP spid="69" grpId="0" animBg="1"/>
      <p:bldP spid="70" grpId="0" animBg="1"/>
      <p:bldP spid="71" grpId="0" animBg="1"/>
      <p:bldP spid="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13913-9334-BC11-8999-460841F1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#2: Sort first, then binary search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DFEDE3A7-3FF0-3ACA-D630-141A0AE2C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300271"/>
              </p:ext>
            </p:extLst>
          </p:nvPr>
        </p:nvGraphicFramePr>
        <p:xfrm>
          <a:off x="1844108" y="2837785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12" name="Down Arrow 11">
            <a:extLst>
              <a:ext uri="{FF2B5EF4-FFF2-40B4-BE49-F238E27FC236}">
                <a16:creationId xmlns:a16="http://schemas.microsoft.com/office/drawing/2014/main" id="{6A4FDDC3-E997-648E-26E7-F55239C016EF}"/>
              </a:ext>
            </a:extLst>
          </p:cNvPr>
          <p:cNvSpPr/>
          <p:nvPr/>
        </p:nvSpPr>
        <p:spPr>
          <a:xfrm>
            <a:off x="2393615" y="2281386"/>
            <a:ext cx="2004165" cy="42926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3AAB62-F8E8-910B-43F5-ACE4BF516C4B}"/>
              </a:ext>
            </a:extLst>
          </p:cNvPr>
          <p:cNvSpPr txBox="1"/>
          <p:nvPr/>
        </p:nvSpPr>
        <p:spPr>
          <a:xfrm>
            <a:off x="4502219" y="2227571"/>
            <a:ext cx="2555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Prepare: Heap Sort</a:t>
            </a:r>
          </a:p>
        </p:txBody>
      </p:sp>
      <p:graphicFrame>
        <p:nvGraphicFramePr>
          <p:cNvPr id="46" name="Table 11">
            <a:extLst>
              <a:ext uri="{FF2B5EF4-FFF2-40B4-BE49-F238E27FC236}">
                <a16:creationId xmlns:a16="http://schemas.microsoft.com/office/drawing/2014/main" id="{8CA7E29A-00FD-1CC7-9949-BD1B5D6D5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08641"/>
              </p:ext>
            </p:extLst>
          </p:nvPr>
        </p:nvGraphicFramePr>
        <p:xfrm>
          <a:off x="1844108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425AFD0A-9B02-0272-16D3-A5E396B70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1"/>
            <a:ext cx="8717280" cy="493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Given D = {5: "str0", 4423: "str1", 9: "str2", 25: "str3", 1100: "str4"}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E12A89-CB40-DDEE-4FA4-09CB52188223}"/>
              </a:ext>
            </a:extLst>
          </p:cNvPr>
          <p:cNvSpPr txBox="1"/>
          <p:nvPr/>
        </p:nvSpPr>
        <p:spPr>
          <a:xfrm>
            <a:off x="125963" y="3263502"/>
            <a:ext cx="1361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Lookup(25)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993A86-CBDF-5DF7-DE92-CEC643E7A4B3}"/>
              </a:ext>
            </a:extLst>
          </p:cNvPr>
          <p:cNvSpPr txBox="1"/>
          <p:nvPr/>
        </p:nvSpPr>
        <p:spPr>
          <a:xfrm>
            <a:off x="125963" y="3743848"/>
            <a:ext cx="1491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Lookup(100)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3A0E126-AE9C-63E1-46D3-59FBA5F8B0CF}"/>
              </a:ext>
            </a:extLst>
          </p:cNvPr>
          <p:cNvCxnSpPr>
            <a:cxnSpLocks/>
          </p:cNvCxnSpPr>
          <p:nvPr/>
        </p:nvCxnSpPr>
        <p:spPr>
          <a:xfrm>
            <a:off x="1869159" y="3458931"/>
            <a:ext cx="18789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AD9D9E2-5BFE-FA44-4030-74978650EDD5}"/>
              </a:ext>
            </a:extLst>
          </p:cNvPr>
          <p:cNvCxnSpPr>
            <a:cxnSpLocks/>
          </p:cNvCxnSpPr>
          <p:nvPr/>
        </p:nvCxnSpPr>
        <p:spPr>
          <a:xfrm>
            <a:off x="1869159" y="3943903"/>
            <a:ext cx="18789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4E95FD4-48F6-66C4-2164-FB6F8C842606}"/>
              </a:ext>
            </a:extLst>
          </p:cNvPr>
          <p:cNvCxnSpPr>
            <a:cxnSpLocks/>
          </p:cNvCxnSpPr>
          <p:nvPr/>
        </p:nvCxnSpPr>
        <p:spPr>
          <a:xfrm>
            <a:off x="1869159" y="3943903"/>
            <a:ext cx="26330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AED91BA-262A-D567-BAD3-33209D87AE81}"/>
              </a:ext>
            </a:extLst>
          </p:cNvPr>
          <p:cNvSpPr txBox="1"/>
          <p:nvPr/>
        </p:nvSpPr>
        <p:spPr>
          <a:xfrm>
            <a:off x="3838309" y="3262325"/>
            <a:ext cx="84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match!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0C3CF0-D14F-1753-0981-D71BBA5FF72F}"/>
              </a:ext>
            </a:extLst>
          </p:cNvPr>
          <p:cNvSpPr txBox="1"/>
          <p:nvPr/>
        </p:nvSpPr>
        <p:spPr>
          <a:xfrm>
            <a:off x="4502219" y="3734425"/>
            <a:ext cx="1143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match!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AB8543-F9F4-DA84-7B3C-242154BFDAB4}"/>
              </a:ext>
            </a:extLst>
          </p:cNvPr>
          <p:cNvSpPr txBox="1"/>
          <p:nvPr/>
        </p:nvSpPr>
        <p:spPr>
          <a:xfrm>
            <a:off x="608333" y="4409118"/>
            <a:ext cx="57283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Assume that </a:t>
            </a:r>
            <a:r>
              <a:rPr lang="en-US" sz="2400" i="1" dirty="0"/>
              <a:t>D</a:t>
            </a:r>
            <a:r>
              <a:rPr lang="en-US" sz="2400" dirty="0"/>
              <a:t> has </a:t>
            </a:r>
            <a:r>
              <a:rPr lang="en-US" sz="2400" i="1" dirty="0"/>
              <a:t>n</a:t>
            </a:r>
            <a:r>
              <a:rPr lang="en-US" sz="2400" dirty="0"/>
              <a:t> keys, </a:t>
            </a:r>
          </a:p>
          <a:p>
            <a:pPr algn="r"/>
            <a:r>
              <a:rPr lang="en-US" sz="2400" dirty="0"/>
              <a:t>Time to create data structure (sorted array)?</a:t>
            </a:r>
          </a:p>
          <a:p>
            <a:pPr algn="r"/>
            <a:r>
              <a:rPr lang="en-US" sz="2400" dirty="0"/>
              <a:t>How much space for data structure?</a:t>
            </a:r>
          </a:p>
          <a:p>
            <a:pPr algn="r"/>
            <a:r>
              <a:rPr lang="en-US" sz="2400" dirty="0"/>
              <a:t>Time to lookup one value?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D8AE9E-4472-6216-56E0-AE639162E311}"/>
              </a:ext>
            </a:extLst>
          </p:cNvPr>
          <p:cNvSpPr txBox="1"/>
          <p:nvPr/>
        </p:nvSpPr>
        <p:spPr>
          <a:xfrm>
            <a:off x="6336696" y="5119358"/>
            <a:ext cx="408637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O(1), O(log n), O(n), O(n log n)?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C0CB6D-C60B-3DB7-795C-5197B7F928A3}"/>
              </a:ext>
            </a:extLst>
          </p:cNvPr>
          <p:cNvSpPr txBox="1"/>
          <p:nvPr/>
        </p:nvSpPr>
        <p:spPr>
          <a:xfrm>
            <a:off x="10685372" y="5119358"/>
            <a:ext cx="73609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O(n)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4E980A-0FB3-5B70-D65C-4762F3FE56E5}"/>
              </a:ext>
            </a:extLst>
          </p:cNvPr>
          <p:cNvSpPr txBox="1"/>
          <p:nvPr/>
        </p:nvSpPr>
        <p:spPr>
          <a:xfrm>
            <a:off x="6336696" y="5497019"/>
            <a:ext cx="408637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O(1), O(log n), O(n), O(n log n)?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F17EE4C-F1DD-D35B-E27D-162B9D2807CB}"/>
              </a:ext>
            </a:extLst>
          </p:cNvPr>
          <p:cNvSpPr txBox="1"/>
          <p:nvPr/>
        </p:nvSpPr>
        <p:spPr>
          <a:xfrm>
            <a:off x="10685372" y="5497019"/>
            <a:ext cx="118173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O(log n)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3425EB-59B6-16F6-F77A-D1FBA04999C0}"/>
              </a:ext>
            </a:extLst>
          </p:cNvPr>
          <p:cNvSpPr txBox="1"/>
          <p:nvPr/>
        </p:nvSpPr>
        <p:spPr>
          <a:xfrm>
            <a:off x="6336696" y="4753730"/>
            <a:ext cx="408637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O(1), O(log n), O(n), O(n log n)?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D8A53C-BBE6-DCBE-8A18-2BB56808D88C}"/>
              </a:ext>
            </a:extLst>
          </p:cNvPr>
          <p:cNvSpPr txBox="1"/>
          <p:nvPr/>
        </p:nvSpPr>
        <p:spPr>
          <a:xfrm>
            <a:off x="10685372" y="4753730"/>
            <a:ext cx="141256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O(n log n)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03CF164-7E45-CCED-804C-71B9B481EEBA}"/>
              </a:ext>
            </a:extLst>
          </p:cNvPr>
          <p:cNvSpPr/>
          <p:nvPr/>
        </p:nvSpPr>
        <p:spPr>
          <a:xfrm>
            <a:off x="10685372" y="5545038"/>
            <a:ext cx="1101244" cy="47363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9DBE7D-7718-1BE2-8719-4EAD89B0AF26}"/>
              </a:ext>
            </a:extLst>
          </p:cNvPr>
          <p:cNvSpPr txBox="1"/>
          <p:nvPr/>
        </p:nvSpPr>
        <p:spPr>
          <a:xfrm>
            <a:off x="9463307" y="6153531"/>
            <a:ext cx="277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Lookup still too slow</a:t>
            </a:r>
          </a:p>
        </p:txBody>
      </p:sp>
    </p:spTree>
    <p:extLst>
      <p:ext uri="{BB962C8B-B14F-4D97-AF65-F5344CB8AC3E}">
        <p14:creationId xmlns:p14="http://schemas.microsoft.com/office/powerpoint/2010/main" val="151150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48" grpId="0"/>
      <p:bldP spid="49" grpId="0"/>
      <p:bldP spid="59" grpId="0"/>
      <p:bldP spid="60" grpId="0"/>
      <p:bldP spid="61" grpId="0"/>
      <p:bldP spid="62" grpId="0" animBg="1"/>
      <p:bldP spid="63" grpId="0" animBg="1"/>
      <p:bldP spid="64" grpId="0" animBg="1"/>
      <p:bldP spid="65" grpId="0" animBg="1"/>
      <p:bldP spid="68" grpId="0" animBg="1"/>
      <p:bldP spid="69" grpId="0" animBg="1"/>
      <p:bldP spid="70" grpId="0" animBg="1"/>
      <p:bldP spid="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13913-9334-BC11-8999-460841F1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Idea #3: Create and check a counter array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E6496690-BBA2-13CF-4443-A3EB7C9EDB80}"/>
              </a:ext>
            </a:extLst>
          </p:cNvPr>
          <p:cNvSpPr/>
          <p:nvPr/>
        </p:nvSpPr>
        <p:spPr>
          <a:xfrm>
            <a:off x="2401113" y="2319362"/>
            <a:ext cx="2004165" cy="42926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2A392A-920B-B4EA-7A2A-19AF24599EC8}"/>
              </a:ext>
            </a:extLst>
          </p:cNvPr>
          <p:cNvSpPr txBox="1"/>
          <p:nvPr/>
        </p:nvSpPr>
        <p:spPr>
          <a:xfrm>
            <a:off x="4558477" y="2287805"/>
            <a:ext cx="4098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Prepare: Create a counter array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5F7640-6DBE-1AE2-52A4-B92A5E3C2384}"/>
              </a:ext>
            </a:extLst>
          </p:cNvPr>
          <p:cNvSpPr txBox="1"/>
          <p:nvPr/>
        </p:nvSpPr>
        <p:spPr>
          <a:xfrm>
            <a:off x="2213122" y="2709093"/>
            <a:ext cx="55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a[5]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2F1735-E9D3-3DA3-C409-4B1E20F580FD}"/>
              </a:ext>
            </a:extLst>
          </p:cNvPr>
          <p:cNvSpPr txBox="1"/>
          <p:nvPr/>
        </p:nvSpPr>
        <p:spPr>
          <a:xfrm>
            <a:off x="261337" y="2862635"/>
            <a:ext cx="1452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counter array</a:t>
            </a:r>
          </a:p>
          <a:p>
            <a:pPr algn="ctr"/>
            <a:r>
              <a:rPr lang="en-US" dirty="0"/>
              <a:t>a[4424]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60F4FF-4BAB-DB99-7E1C-8829AA9F29D0}"/>
              </a:ext>
            </a:extLst>
          </p:cNvPr>
          <p:cNvSpPr txBox="1"/>
          <p:nvPr/>
        </p:nvSpPr>
        <p:spPr>
          <a:xfrm>
            <a:off x="3175860" y="2703357"/>
            <a:ext cx="55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a[9]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241D67-7410-8503-DAA0-6FD00E04A44F}"/>
              </a:ext>
            </a:extLst>
          </p:cNvPr>
          <p:cNvSpPr txBox="1"/>
          <p:nvPr/>
        </p:nvSpPr>
        <p:spPr>
          <a:xfrm>
            <a:off x="4176408" y="2714993"/>
            <a:ext cx="67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a[25]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FEC72B-1EDA-C234-E216-900CE456F095}"/>
              </a:ext>
            </a:extLst>
          </p:cNvPr>
          <p:cNvSpPr txBox="1"/>
          <p:nvPr/>
        </p:nvSpPr>
        <p:spPr>
          <a:xfrm>
            <a:off x="7752621" y="2724615"/>
            <a:ext cx="90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a[1100]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9D63E6-F628-09C5-1CAF-FE6C04F4470B}"/>
              </a:ext>
            </a:extLst>
          </p:cNvPr>
          <p:cNvSpPr txBox="1"/>
          <p:nvPr/>
        </p:nvSpPr>
        <p:spPr>
          <a:xfrm>
            <a:off x="9074464" y="2711701"/>
            <a:ext cx="90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a[4423]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3E43A6-ACE2-921F-8137-0CD07903ADF2}"/>
              </a:ext>
            </a:extLst>
          </p:cNvPr>
          <p:cNvSpPr txBox="1"/>
          <p:nvPr/>
        </p:nvSpPr>
        <p:spPr>
          <a:xfrm>
            <a:off x="98126" y="3845280"/>
            <a:ext cx="1361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Lookup(25)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7D0108-7F1B-8F22-BC48-1859942F950E}"/>
              </a:ext>
            </a:extLst>
          </p:cNvPr>
          <p:cNvSpPr txBox="1"/>
          <p:nvPr/>
        </p:nvSpPr>
        <p:spPr>
          <a:xfrm>
            <a:off x="98126" y="4363204"/>
            <a:ext cx="1491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Lookup(100)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4346362-A14F-C633-4C1B-F849A0E64147}"/>
              </a:ext>
            </a:extLst>
          </p:cNvPr>
          <p:cNvCxnSpPr>
            <a:cxnSpLocks/>
          </p:cNvCxnSpPr>
          <p:nvPr/>
        </p:nvCxnSpPr>
        <p:spPr>
          <a:xfrm>
            <a:off x="1844109" y="4078290"/>
            <a:ext cx="271436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4355670-165B-19EE-34C0-F826E36CDFAE}"/>
              </a:ext>
            </a:extLst>
          </p:cNvPr>
          <p:cNvSpPr txBox="1"/>
          <p:nvPr/>
        </p:nvSpPr>
        <p:spPr>
          <a:xfrm>
            <a:off x="4558477" y="3854469"/>
            <a:ext cx="1798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a[25] &gt; 0: Match!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CE61ED8-8724-458F-1F43-EA8EF21103B0}"/>
              </a:ext>
            </a:extLst>
          </p:cNvPr>
          <p:cNvCxnSpPr>
            <a:cxnSpLocks/>
          </p:cNvCxnSpPr>
          <p:nvPr/>
        </p:nvCxnSpPr>
        <p:spPr>
          <a:xfrm>
            <a:off x="1844108" y="4512112"/>
            <a:ext cx="47636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B23C547-00D8-550F-5A85-390EA5F2DD3F}"/>
              </a:ext>
            </a:extLst>
          </p:cNvPr>
          <p:cNvSpPr txBox="1"/>
          <p:nvPr/>
        </p:nvSpPr>
        <p:spPr>
          <a:xfrm>
            <a:off x="5952648" y="5088544"/>
            <a:ext cx="408637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O(1), O(log n), O(n), O(n log n)?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D743E3-0792-C814-2B44-D48C90EAD767}"/>
              </a:ext>
            </a:extLst>
          </p:cNvPr>
          <p:cNvSpPr txBox="1"/>
          <p:nvPr/>
        </p:nvSpPr>
        <p:spPr>
          <a:xfrm>
            <a:off x="10075856" y="5088544"/>
            <a:ext cx="72968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O(n)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98612C-B22A-B4C8-566A-8B34EA24C773}"/>
              </a:ext>
            </a:extLst>
          </p:cNvPr>
          <p:cNvSpPr txBox="1"/>
          <p:nvPr/>
        </p:nvSpPr>
        <p:spPr>
          <a:xfrm>
            <a:off x="5952648" y="5466205"/>
            <a:ext cx="408637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O(1), O(log n), O(n), O(n log n)?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FFC072-EEDA-7C47-35C0-7CA5B6E86174}"/>
              </a:ext>
            </a:extLst>
          </p:cNvPr>
          <p:cNvSpPr txBox="1"/>
          <p:nvPr/>
        </p:nvSpPr>
        <p:spPr>
          <a:xfrm>
            <a:off x="10075856" y="5466205"/>
            <a:ext cx="158697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O(max key)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48F884-7924-9374-008B-E40D6DC426D7}"/>
              </a:ext>
            </a:extLst>
          </p:cNvPr>
          <p:cNvSpPr txBox="1"/>
          <p:nvPr/>
        </p:nvSpPr>
        <p:spPr>
          <a:xfrm>
            <a:off x="5952648" y="5855631"/>
            <a:ext cx="408637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O(1), O(log n), O(n), O(n log n)?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09227C-39E8-E5BB-0B61-1F82B37C26C7}"/>
              </a:ext>
            </a:extLst>
          </p:cNvPr>
          <p:cNvSpPr txBox="1"/>
          <p:nvPr/>
        </p:nvSpPr>
        <p:spPr>
          <a:xfrm>
            <a:off x="10075856" y="5855631"/>
            <a:ext cx="72968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O(1)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13CA7FE-281C-CB20-C808-F617358CCD7B}"/>
              </a:ext>
            </a:extLst>
          </p:cNvPr>
          <p:cNvSpPr txBox="1"/>
          <p:nvPr/>
        </p:nvSpPr>
        <p:spPr>
          <a:xfrm>
            <a:off x="6607756" y="4327351"/>
            <a:ext cx="2355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a[100] == 0: No Match!</a:t>
            </a:r>
          </a:p>
        </p:txBody>
      </p:sp>
      <p:graphicFrame>
        <p:nvGraphicFramePr>
          <p:cNvPr id="72" name="Table 11">
            <a:extLst>
              <a:ext uri="{FF2B5EF4-FFF2-40B4-BE49-F238E27FC236}">
                <a16:creationId xmlns:a16="http://schemas.microsoft.com/office/drawing/2014/main" id="{8D0F2AE2-C312-8EC7-7A75-C5896C40A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29130"/>
              </p:ext>
            </p:extLst>
          </p:nvPr>
        </p:nvGraphicFramePr>
        <p:xfrm>
          <a:off x="1790582" y="3080568"/>
          <a:ext cx="800566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396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  <a:gridCol w="690503">
                  <a:extLst>
                    <a:ext uri="{9D8B030D-6E8A-4147-A177-3AD203B41FA5}">
                      <a16:colId xmlns:a16="http://schemas.microsoft.com/office/drawing/2014/main" val="462117924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779182554"/>
                    </a:ext>
                  </a:extLst>
                </a:gridCol>
                <a:gridCol w="702617">
                  <a:extLst>
                    <a:ext uri="{9D8B030D-6E8A-4147-A177-3AD203B41FA5}">
                      <a16:colId xmlns:a16="http://schemas.microsoft.com/office/drawing/2014/main" val="3507829491"/>
                    </a:ext>
                  </a:extLst>
                </a:gridCol>
                <a:gridCol w="351308">
                  <a:extLst>
                    <a:ext uri="{9D8B030D-6E8A-4147-A177-3AD203B41FA5}">
                      <a16:colId xmlns:a16="http://schemas.microsoft.com/office/drawing/2014/main" val="2735122860"/>
                    </a:ext>
                  </a:extLst>
                </a:gridCol>
                <a:gridCol w="3406376">
                  <a:extLst>
                    <a:ext uri="{9D8B030D-6E8A-4147-A177-3AD203B41FA5}">
                      <a16:colId xmlns:a16="http://schemas.microsoft.com/office/drawing/2014/main" val="357438494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401227878"/>
                    </a:ext>
                  </a:extLst>
                </a:gridCol>
                <a:gridCol w="929997">
                  <a:extLst>
                    <a:ext uri="{9D8B030D-6E8A-4147-A177-3AD203B41FA5}">
                      <a16:colId xmlns:a16="http://schemas.microsoft.com/office/drawing/2014/main" val="1765456420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1366204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graphicFrame>
        <p:nvGraphicFramePr>
          <p:cNvPr id="75" name="Table 11">
            <a:extLst>
              <a:ext uri="{FF2B5EF4-FFF2-40B4-BE49-F238E27FC236}">
                <a16:creationId xmlns:a16="http://schemas.microsoft.com/office/drawing/2014/main" id="{251DF326-A41A-5575-32A7-AA32C7E38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556339"/>
              </p:ext>
            </p:extLst>
          </p:nvPr>
        </p:nvGraphicFramePr>
        <p:xfrm>
          <a:off x="1844108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05F32509-6448-3745-E61C-3A3A8542E545}"/>
              </a:ext>
            </a:extLst>
          </p:cNvPr>
          <p:cNvSpPr txBox="1">
            <a:spLocks/>
          </p:cNvSpPr>
          <p:nvPr/>
        </p:nvSpPr>
        <p:spPr>
          <a:xfrm>
            <a:off x="83820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Given D = {5: "str0", 4423: "str1", 9: "str2", 25: "str3", 1100: "str4"}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42FF95D-6F30-FC05-D779-D30B0E2FDC4B}"/>
              </a:ext>
            </a:extLst>
          </p:cNvPr>
          <p:cNvSpPr txBox="1"/>
          <p:nvPr/>
        </p:nvSpPr>
        <p:spPr>
          <a:xfrm>
            <a:off x="95266" y="4800424"/>
            <a:ext cx="58944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Assume that </a:t>
            </a:r>
            <a:r>
              <a:rPr lang="en-US" sz="2400" i="1" dirty="0"/>
              <a:t>D</a:t>
            </a:r>
            <a:r>
              <a:rPr lang="en-US" sz="2400" dirty="0"/>
              <a:t> has </a:t>
            </a:r>
            <a:r>
              <a:rPr lang="en-US" sz="2400" i="1" dirty="0"/>
              <a:t>n</a:t>
            </a:r>
            <a:r>
              <a:rPr lang="en-US" sz="2400" dirty="0"/>
              <a:t> keys, </a:t>
            </a:r>
          </a:p>
          <a:p>
            <a:pPr algn="r"/>
            <a:r>
              <a:rPr lang="en-US" sz="2400" dirty="0"/>
              <a:t>Time to create data structure (counter array)?</a:t>
            </a:r>
          </a:p>
          <a:p>
            <a:pPr algn="r"/>
            <a:r>
              <a:rPr lang="en-US" sz="2400" dirty="0"/>
              <a:t>How much space for data structure?</a:t>
            </a:r>
          </a:p>
          <a:p>
            <a:pPr algn="r"/>
            <a:r>
              <a:rPr lang="en-US" sz="2400" dirty="0"/>
              <a:t>Time to lookup one value?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70487D5-AFDB-8852-1389-18EEFC6173F1}"/>
              </a:ext>
            </a:extLst>
          </p:cNvPr>
          <p:cNvSpPr/>
          <p:nvPr/>
        </p:nvSpPr>
        <p:spPr>
          <a:xfrm>
            <a:off x="10141437" y="5514224"/>
            <a:ext cx="1538383" cy="355607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76C654-DF86-8CD5-0BDE-95F329F3113A}"/>
              </a:ext>
            </a:extLst>
          </p:cNvPr>
          <p:cNvSpPr txBox="1"/>
          <p:nvPr/>
        </p:nvSpPr>
        <p:spPr>
          <a:xfrm>
            <a:off x="9312284" y="4747137"/>
            <a:ext cx="2710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Use too much space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814138F-B36C-B23C-03B9-C3BF7E946F5E}"/>
              </a:ext>
            </a:extLst>
          </p:cNvPr>
          <p:cNvSpPr txBox="1"/>
          <p:nvPr/>
        </p:nvSpPr>
        <p:spPr>
          <a:xfrm>
            <a:off x="10062379" y="3080568"/>
            <a:ext cx="1897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5D1CF"/>
                </a:highlight>
              </a:rPr>
              <a:t>red cells are all 0's</a:t>
            </a:r>
          </a:p>
        </p:txBody>
      </p:sp>
    </p:spTree>
    <p:extLst>
      <p:ext uri="{BB962C8B-B14F-4D97-AF65-F5344CB8AC3E}">
        <p14:creationId xmlns:p14="http://schemas.microsoft.com/office/powerpoint/2010/main" val="213073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4" grpId="0"/>
      <p:bldP spid="33" grpId="0"/>
      <p:bldP spid="34" grpId="0"/>
      <p:bldP spid="35" grpId="0"/>
      <p:bldP spid="42" grpId="0"/>
      <p:bldP spid="43" grpId="0"/>
      <p:bldP spid="45" grpId="0"/>
      <p:bldP spid="46" grpId="0"/>
      <p:bldP spid="50" grpId="0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71" grpId="0"/>
      <p:bldP spid="79" grpId="0"/>
      <p:bldP spid="80" grpId="0" animBg="1"/>
      <p:bldP spid="81" grpId="0"/>
      <p:bldP spid="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009A-DCC8-B93C-AA58-420CD3D31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Performance of Integer Key Lookup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18883-58FD-C215-873D-F8F649E2B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1"/>
            <a:ext cx="10515600" cy="687526"/>
          </a:xfrm>
        </p:spPr>
        <p:txBody>
          <a:bodyPr/>
          <a:lstStyle/>
          <a:p>
            <a:r>
              <a:rPr lang="en-US" sz="2400" dirty="0"/>
              <a:t>Given a dictionary </a:t>
            </a:r>
            <a:r>
              <a:rPr lang="en-US" sz="2400" i="1" dirty="0"/>
              <a:t>D</a:t>
            </a:r>
            <a:r>
              <a:rPr lang="en-US" sz="2400" dirty="0"/>
              <a:t>, check whether a given integer </a:t>
            </a:r>
            <a:r>
              <a:rPr lang="en-US" sz="2400" i="1" dirty="0"/>
              <a:t>key</a:t>
            </a:r>
            <a:r>
              <a:rPr lang="en-US" sz="2400" dirty="0"/>
              <a:t> appears in </a:t>
            </a:r>
            <a:r>
              <a:rPr lang="en-US" sz="2400" i="1" dirty="0"/>
              <a:t>D</a:t>
            </a:r>
            <a:r>
              <a:rPr lang="en-US" sz="2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DCC10-528F-FE04-364B-489E9AEFFD3E}"/>
              </a:ext>
            </a:extLst>
          </p:cNvPr>
          <p:cNvSpPr txBox="1"/>
          <p:nvPr/>
        </p:nvSpPr>
        <p:spPr>
          <a:xfrm>
            <a:off x="4507661" y="5499896"/>
            <a:ext cx="28942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rgbClr val="C00000"/>
                </a:solidFill>
              </a:rPr>
              <a:t>Can we do better?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2B256FDD-C47F-4115-6B4C-93404FA0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4207"/>
              </p:ext>
            </p:extLst>
          </p:nvPr>
        </p:nvGraphicFramePr>
        <p:xfrm>
          <a:off x="687011" y="2007437"/>
          <a:ext cx="10322364" cy="293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2146">
                  <a:extLst>
                    <a:ext uri="{9D8B030D-6E8A-4147-A177-3AD203B41FA5}">
                      <a16:colId xmlns:a16="http://schemas.microsoft.com/office/drawing/2014/main" val="2431880483"/>
                    </a:ext>
                  </a:extLst>
                </a:gridCol>
                <a:gridCol w="3133456">
                  <a:extLst>
                    <a:ext uri="{9D8B030D-6E8A-4147-A177-3AD203B41FA5}">
                      <a16:colId xmlns:a16="http://schemas.microsoft.com/office/drawing/2014/main" val="1218337079"/>
                    </a:ext>
                  </a:extLst>
                </a:gridCol>
                <a:gridCol w="2706762">
                  <a:extLst>
                    <a:ext uri="{9D8B030D-6E8A-4147-A177-3AD203B41FA5}">
                      <a16:colId xmlns:a16="http://schemas.microsoft.com/office/drawing/2014/main" val="3674989815"/>
                    </a:ext>
                  </a:extLst>
                </a:gridCol>
              </a:tblGrid>
              <a:tr h="70316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Time to lookup a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Space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610654"/>
                  </a:ext>
                </a:extLst>
              </a:tr>
              <a:tr h="703168">
                <a:tc>
                  <a:txBody>
                    <a:bodyPr/>
                    <a:lstStyle/>
                    <a:p>
                      <a:r>
                        <a:rPr lang="en-US" sz="2400" dirty="0"/>
                        <a:t>Idea #1: Exhaustive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429444"/>
                  </a:ext>
                </a:extLst>
              </a:tr>
              <a:tr h="7031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Idea #2: Sort then binary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697258"/>
                  </a:ext>
                </a:extLst>
              </a:tr>
              <a:tr h="703168">
                <a:tc>
                  <a:txBody>
                    <a:bodyPr/>
                    <a:lstStyle/>
                    <a:p>
                      <a:r>
                        <a:rPr lang="en-US" sz="2400" dirty="0"/>
                        <a:t>Idea #3: Create and check a counting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O(max key)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25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A46FD49-27B4-6CCA-2C4E-F0824FBF4DC3}"/>
              </a:ext>
            </a:extLst>
          </p:cNvPr>
          <p:cNvSpPr/>
          <p:nvPr/>
        </p:nvSpPr>
        <p:spPr>
          <a:xfrm>
            <a:off x="5191223" y="3432506"/>
            <a:ext cx="1101244" cy="47363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8288A7-B751-4F9A-FD2D-DB378AAC4A1D}"/>
              </a:ext>
            </a:extLst>
          </p:cNvPr>
          <p:cNvSpPr/>
          <p:nvPr/>
        </p:nvSpPr>
        <p:spPr>
          <a:xfrm>
            <a:off x="8350294" y="4181591"/>
            <a:ext cx="1545374" cy="444653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76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E2E0D-A39B-3EB9-B948-EE3C96F21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EC9A9-D77E-4950-E71B-6A0E0469B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1"/>
            <a:ext cx="10515600" cy="3184590"/>
          </a:xfrm>
        </p:spPr>
        <p:txBody>
          <a:bodyPr/>
          <a:lstStyle/>
          <a:p>
            <a:r>
              <a:rPr lang="en-US" dirty="0"/>
              <a:t>Goal: </a:t>
            </a:r>
          </a:p>
          <a:p>
            <a:pPr lvl="1"/>
            <a:r>
              <a:rPr lang="en-US" dirty="0"/>
              <a:t>We want to lookup values in (nearly) constant time.</a:t>
            </a:r>
          </a:p>
          <a:p>
            <a:pPr lvl="1"/>
            <a:r>
              <a:rPr lang="en-US" dirty="0"/>
              <a:t>Low space usage</a:t>
            </a:r>
          </a:p>
          <a:p>
            <a:endParaRPr lang="en-US" dirty="0"/>
          </a:p>
          <a:p>
            <a:r>
              <a:rPr lang="en-US" dirty="0"/>
              <a:t>Insight: Lookup an index in an array takes constant time. </a:t>
            </a:r>
          </a:p>
          <a:p>
            <a:endParaRPr lang="en-US" dirty="0"/>
          </a:p>
          <a:p>
            <a:r>
              <a:rPr lang="en-US" dirty="0"/>
              <a:t>Idea: Use a </a:t>
            </a:r>
            <a:r>
              <a:rPr lang="en-US" b="1" dirty="0"/>
              <a:t>hash function </a:t>
            </a:r>
            <a:r>
              <a:rPr lang="en-US" dirty="0"/>
              <a:t>to map each value to an index in a small array!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067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46F4-A9F9-4BB3-4D0A-CC8F60EA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 "Counter Array"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30D781-4809-CE37-30F3-E06B902A5BD0}"/>
              </a:ext>
            </a:extLst>
          </p:cNvPr>
          <p:cNvSpPr txBox="1"/>
          <p:nvPr/>
        </p:nvSpPr>
        <p:spPr>
          <a:xfrm>
            <a:off x="3233928" y="3988113"/>
            <a:ext cx="5109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Size of counter array: </a:t>
            </a:r>
            <a:r>
              <a:rPr lang="en-US" sz="2400" dirty="0" err="1"/>
              <a:t>max_value</a:t>
            </a:r>
            <a:r>
              <a:rPr lang="en-US" sz="2400" dirty="0"/>
              <a:t> (4424)</a:t>
            </a:r>
          </a:p>
        </p:txBody>
      </p:sp>
      <p:sp>
        <p:nvSpPr>
          <p:cNvPr id="94" name="Left Brace 93">
            <a:extLst>
              <a:ext uri="{FF2B5EF4-FFF2-40B4-BE49-F238E27FC236}">
                <a16:creationId xmlns:a16="http://schemas.microsoft.com/office/drawing/2014/main" id="{9B67C2FB-DB0A-66D6-2B34-B6AF6CFBE888}"/>
              </a:ext>
            </a:extLst>
          </p:cNvPr>
          <p:cNvSpPr/>
          <p:nvPr/>
        </p:nvSpPr>
        <p:spPr>
          <a:xfrm rot="16200000">
            <a:off x="5560149" y="-141161"/>
            <a:ext cx="456844" cy="7995974"/>
          </a:xfrm>
          <a:prstGeom prst="leftBrac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ED88BD9-2B83-10BE-4A4C-21FD6720CD47}"/>
              </a:ext>
            </a:extLst>
          </p:cNvPr>
          <p:cNvSpPr txBox="1"/>
          <p:nvPr/>
        </p:nvSpPr>
        <p:spPr>
          <a:xfrm>
            <a:off x="1915134" y="4722365"/>
            <a:ext cx="7995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O(1) lookup, but it needs too many space to store the counters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621CD5D-4575-A01F-A824-40DFB9DBA0F7}"/>
              </a:ext>
            </a:extLst>
          </p:cNvPr>
          <p:cNvSpPr txBox="1"/>
          <p:nvPr/>
        </p:nvSpPr>
        <p:spPr>
          <a:xfrm>
            <a:off x="2213122" y="2709093"/>
            <a:ext cx="55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a[5]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CA8956F-F1D9-5DC4-990B-AFB099D6077F}"/>
              </a:ext>
            </a:extLst>
          </p:cNvPr>
          <p:cNvSpPr txBox="1"/>
          <p:nvPr/>
        </p:nvSpPr>
        <p:spPr>
          <a:xfrm>
            <a:off x="3175860" y="2703357"/>
            <a:ext cx="55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a[9]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F8C43CD-301A-99DF-8BFA-9DE8DB2522F6}"/>
              </a:ext>
            </a:extLst>
          </p:cNvPr>
          <p:cNvSpPr txBox="1"/>
          <p:nvPr/>
        </p:nvSpPr>
        <p:spPr>
          <a:xfrm>
            <a:off x="4176408" y="2714993"/>
            <a:ext cx="67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a[25]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06272AE-F9FC-A032-C48F-51D5E285CB71}"/>
              </a:ext>
            </a:extLst>
          </p:cNvPr>
          <p:cNvSpPr txBox="1"/>
          <p:nvPr/>
        </p:nvSpPr>
        <p:spPr>
          <a:xfrm>
            <a:off x="7752621" y="2724615"/>
            <a:ext cx="90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a[1100]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4C86CB9-78A9-CD37-9E9A-A6206876E1C5}"/>
              </a:ext>
            </a:extLst>
          </p:cNvPr>
          <p:cNvSpPr txBox="1"/>
          <p:nvPr/>
        </p:nvSpPr>
        <p:spPr>
          <a:xfrm>
            <a:off x="9074464" y="2711701"/>
            <a:ext cx="90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a[4423]</a:t>
            </a:r>
          </a:p>
        </p:txBody>
      </p:sp>
      <p:graphicFrame>
        <p:nvGraphicFramePr>
          <p:cNvPr id="187" name="Table 11">
            <a:extLst>
              <a:ext uri="{FF2B5EF4-FFF2-40B4-BE49-F238E27FC236}">
                <a16:creationId xmlns:a16="http://schemas.microsoft.com/office/drawing/2014/main" id="{AFDA3370-6F1A-D257-4E78-F3C621227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794936"/>
              </p:ext>
            </p:extLst>
          </p:nvPr>
        </p:nvGraphicFramePr>
        <p:xfrm>
          <a:off x="1790582" y="3080568"/>
          <a:ext cx="800566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396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  <a:gridCol w="690503">
                  <a:extLst>
                    <a:ext uri="{9D8B030D-6E8A-4147-A177-3AD203B41FA5}">
                      <a16:colId xmlns:a16="http://schemas.microsoft.com/office/drawing/2014/main" val="462117924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779182554"/>
                    </a:ext>
                  </a:extLst>
                </a:gridCol>
                <a:gridCol w="702617">
                  <a:extLst>
                    <a:ext uri="{9D8B030D-6E8A-4147-A177-3AD203B41FA5}">
                      <a16:colId xmlns:a16="http://schemas.microsoft.com/office/drawing/2014/main" val="3507829491"/>
                    </a:ext>
                  </a:extLst>
                </a:gridCol>
                <a:gridCol w="351308">
                  <a:extLst>
                    <a:ext uri="{9D8B030D-6E8A-4147-A177-3AD203B41FA5}">
                      <a16:colId xmlns:a16="http://schemas.microsoft.com/office/drawing/2014/main" val="2735122860"/>
                    </a:ext>
                  </a:extLst>
                </a:gridCol>
                <a:gridCol w="3406376">
                  <a:extLst>
                    <a:ext uri="{9D8B030D-6E8A-4147-A177-3AD203B41FA5}">
                      <a16:colId xmlns:a16="http://schemas.microsoft.com/office/drawing/2014/main" val="357438494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401227878"/>
                    </a:ext>
                  </a:extLst>
                </a:gridCol>
                <a:gridCol w="929997">
                  <a:extLst>
                    <a:ext uri="{9D8B030D-6E8A-4147-A177-3AD203B41FA5}">
                      <a16:colId xmlns:a16="http://schemas.microsoft.com/office/drawing/2014/main" val="1765456420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1366204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graphicFrame>
        <p:nvGraphicFramePr>
          <p:cNvPr id="188" name="Table 11">
            <a:extLst>
              <a:ext uri="{FF2B5EF4-FFF2-40B4-BE49-F238E27FC236}">
                <a16:creationId xmlns:a16="http://schemas.microsoft.com/office/drawing/2014/main" id="{428C94A0-9C42-E67F-8E6E-0C3D5E89C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36222"/>
              </p:ext>
            </p:extLst>
          </p:nvPr>
        </p:nvGraphicFramePr>
        <p:xfrm>
          <a:off x="3179132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EA02F93B-784F-63F7-01E4-E94BA1744FC6}"/>
              </a:ext>
            </a:extLst>
          </p:cNvPr>
          <p:cNvCxnSpPr>
            <a:cxnSpLocks/>
            <a:endCxn id="182" idx="0"/>
          </p:cNvCxnSpPr>
          <p:nvPr/>
        </p:nvCxnSpPr>
        <p:spPr>
          <a:xfrm flipH="1">
            <a:off x="2489801" y="2176780"/>
            <a:ext cx="1076359" cy="53231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777EB0FF-7E68-DD66-8F34-CD07F1586226}"/>
              </a:ext>
            </a:extLst>
          </p:cNvPr>
          <p:cNvCxnSpPr>
            <a:cxnSpLocks/>
            <a:endCxn id="186" idx="0"/>
          </p:cNvCxnSpPr>
          <p:nvPr/>
        </p:nvCxnSpPr>
        <p:spPr>
          <a:xfrm>
            <a:off x="4379976" y="2176780"/>
            <a:ext cx="5146695" cy="53492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A12C8578-21A4-07D4-F923-73525B88EF67}"/>
              </a:ext>
            </a:extLst>
          </p:cNvPr>
          <p:cNvCxnSpPr>
            <a:cxnSpLocks/>
            <a:stCxn id="188" idx="2"/>
            <a:endCxn id="183" idx="0"/>
          </p:cNvCxnSpPr>
          <p:nvPr/>
        </p:nvCxnSpPr>
        <p:spPr>
          <a:xfrm flipH="1">
            <a:off x="3452539" y="2176780"/>
            <a:ext cx="1581430" cy="52657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01380AAC-A528-BB36-1CF4-46F17C0CFAA7}"/>
              </a:ext>
            </a:extLst>
          </p:cNvPr>
          <p:cNvCxnSpPr>
            <a:cxnSpLocks/>
            <a:endCxn id="184" idx="0"/>
          </p:cNvCxnSpPr>
          <p:nvPr/>
        </p:nvCxnSpPr>
        <p:spPr>
          <a:xfrm flipH="1">
            <a:off x="4511596" y="2176780"/>
            <a:ext cx="1276556" cy="53821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EC74B842-A2A1-94BA-054E-F1673AF6D47A}"/>
              </a:ext>
            </a:extLst>
          </p:cNvPr>
          <p:cNvCxnSpPr>
            <a:cxnSpLocks/>
            <a:endCxn id="185" idx="0"/>
          </p:cNvCxnSpPr>
          <p:nvPr/>
        </p:nvCxnSpPr>
        <p:spPr>
          <a:xfrm>
            <a:off x="6537960" y="2176780"/>
            <a:ext cx="1666868" cy="54783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6A221300-4177-DDD4-7868-D1F91C40E278}"/>
              </a:ext>
            </a:extLst>
          </p:cNvPr>
          <p:cNvSpPr txBox="1"/>
          <p:nvPr/>
        </p:nvSpPr>
        <p:spPr>
          <a:xfrm>
            <a:off x="261337" y="2862635"/>
            <a:ext cx="1452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counter array</a:t>
            </a:r>
          </a:p>
          <a:p>
            <a:pPr algn="ctr"/>
            <a:r>
              <a:rPr lang="en-US" b="1" dirty="0"/>
              <a:t>a[4424]</a:t>
            </a:r>
          </a:p>
        </p:txBody>
      </p:sp>
      <p:sp>
        <p:nvSpPr>
          <p:cNvPr id="213" name="Content Placeholder 2">
            <a:extLst>
              <a:ext uri="{FF2B5EF4-FFF2-40B4-BE49-F238E27FC236}">
                <a16:creationId xmlns:a16="http://schemas.microsoft.com/office/drawing/2014/main" id="{913516B9-0816-A476-8FEB-0CA1614A189E}"/>
              </a:ext>
            </a:extLst>
          </p:cNvPr>
          <p:cNvSpPr txBox="1">
            <a:spLocks/>
          </p:cNvSpPr>
          <p:nvPr/>
        </p:nvSpPr>
        <p:spPr>
          <a:xfrm>
            <a:off x="83820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/>
              <a:t>Given D = {5: "str0", 4423: "str1", 9: "str2", 25: "str3", 1100: "str4"}</a:t>
            </a:r>
            <a:endParaRPr lang="en-US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771A3513-D009-C8AB-069A-B0AE4631E9C2}"/>
              </a:ext>
            </a:extLst>
          </p:cNvPr>
          <p:cNvSpPr txBox="1"/>
          <p:nvPr/>
        </p:nvSpPr>
        <p:spPr>
          <a:xfrm>
            <a:off x="10062379" y="3080568"/>
            <a:ext cx="1897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5D1CF"/>
                </a:highlight>
              </a:rPr>
              <a:t>red cells are all 0's</a:t>
            </a:r>
          </a:p>
        </p:txBody>
      </p:sp>
    </p:spTree>
    <p:extLst>
      <p:ext uri="{BB962C8B-B14F-4D97-AF65-F5344CB8AC3E}">
        <p14:creationId xmlns:p14="http://schemas.microsoft.com/office/powerpoint/2010/main" val="2063330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46F4-A9F9-4BB3-4D0A-CC8F60EA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 "Counter Array"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30D781-4809-CE37-30F3-E06B902A5BD0}"/>
              </a:ext>
            </a:extLst>
          </p:cNvPr>
          <p:cNvSpPr txBox="1"/>
          <p:nvPr/>
        </p:nvSpPr>
        <p:spPr>
          <a:xfrm>
            <a:off x="3233928" y="3988113"/>
            <a:ext cx="4861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Size of counter array: </a:t>
            </a:r>
            <a:r>
              <a:rPr lang="en-US" sz="2400" dirty="0" err="1"/>
              <a:t>max_key</a:t>
            </a:r>
            <a:r>
              <a:rPr lang="en-US" sz="2400" dirty="0"/>
              <a:t> (4424)</a:t>
            </a:r>
          </a:p>
        </p:txBody>
      </p:sp>
      <p:sp>
        <p:nvSpPr>
          <p:cNvPr id="94" name="Left Brace 93">
            <a:extLst>
              <a:ext uri="{FF2B5EF4-FFF2-40B4-BE49-F238E27FC236}">
                <a16:creationId xmlns:a16="http://schemas.microsoft.com/office/drawing/2014/main" id="{9B67C2FB-DB0A-66D6-2B34-B6AF6CFBE888}"/>
              </a:ext>
            </a:extLst>
          </p:cNvPr>
          <p:cNvSpPr/>
          <p:nvPr/>
        </p:nvSpPr>
        <p:spPr>
          <a:xfrm rot="16200000">
            <a:off x="5560149" y="-141161"/>
            <a:ext cx="456844" cy="7995974"/>
          </a:xfrm>
          <a:prstGeom prst="leftBrac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ED88BD9-2B83-10BE-4A4C-21FD6720CD47}"/>
              </a:ext>
            </a:extLst>
          </p:cNvPr>
          <p:cNvSpPr txBox="1"/>
          <p:nvPr/>
        </p:nvSpPr>
        <p:spPr>
          <a:xfrm>
            <a:off x="1915134" y="4722365"/>
            <a:ext cx="7995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O(1) lookup, but it needs too many space to store the counters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621CD5D-4575-A01F-A824-40DFB9DBA0F7}"/>
              </a:ext>
            </a:extLst>
          </p:cNvPr>
          <p:cNvSpPr txBox="1"/>
          <p:nvPr/>
        </p:nvSpPr>
        <p:spPr>
          <a:xfrm>
            <a:off x="2213122" y="2709093"/>
            <a:ext cx="55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a[5]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CA8956F-F1D9-5DC4-990B-AFB099D6077F}"/>
              </a:ext>
            </a:extLst>
          </p:cNvPr>
          <p:cNvSpPr txBox="1"/>
          <p:nvPr/>
        </p:nvSpPr>
        <p:spPr>
          <a:xfrm>
            <a:off x="3175860" y="2703357"/>
            <a:ext cx="55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a[9]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F8C43CD-301A-99DF-8BFA-9DE8DB2522F6}"/>
              </a:ext>
            </a:extLst>
          </p:cNvPr>
          <p:cNvSpPr txBox="1"/>
          <p:nvPr/>
        </p:nvSpPr>
        <p:spPr>
          <a:xfrm>
            <a:off x="4176408" y="2714993"/>
            <a:ext cx="67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a[25]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06272AE-F9FC-A032-C48F-51D5E285CB71}"/>
              </a:ext>
            </a:extLst>
          </p:cNvPr>
          <p:cNvSpPr txBox="1"/>
          <p:nvPr/>
        </p:nvSpPr>
        <p:spPr>
          <a:xfrm>
            <a:off x="7752621" y="2724615"/>
            <a:ext cx="90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a[1100]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4C86CB9-78A9-CD37-9E9A-A6206876E1C5}"/>
              </a:ext>
            </a:extLst>
          </p:cNvPr>
          <p:cNvSpPr txBox="1"/>
          <p:nvPr/>
        </p:nvSpPr>
        <p:spPr>
          <a:xfrm>
            <a:off x="9074464" y="2711701"/>
            <a:ext cx="90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a[4423]</a:t>
            </a:r>
          </a:p>
        </p:txBody>
      </p:sp>
      <p:graphicFrame>
        <p:nvGraphicFramePr>
          <p:cNvPr id="187" name="Table 11">
            <a:extLst>
              <a:ext uri="{FF2B5EF4-FFF2-40B4-BE49-F238E27FC236}">
                <a16:creationId xmlns:a16="http://schemas.microsoft.com/office/drawing/2014/main" id="{AFDA3370-6F1A-D257-4E78-F3C6212273CD}"/>
              </a:ext>
            </a:extLst>
          </p:cNvPr>
          <p:cNvGraphicFramePr>
            <a:graphicFrameLocks noGrp="1"/>
          </p:cNvGraphicFramePr>
          <p:nvPr/>
        </p:nvGraphicFramePr>
        <p:xfrm>
          <a:off x="1790582" y="3080568"/>
          <a:ext cx="800566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396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  <a:gridCol w="690503">
                  <a:extLst>
                    <a:ext uri="{9D8B030D-6E8A-4147-A177-3AD203B41FA5}">
                      <a16:colId xmlns:a16="http://schemas.microsoft.com/office/drawing/2014/main" val="462117924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779182554"/>
                    </a:ext>
                  </a:extLst>
                </a:gridCol>
                <a:gridCol w="702617">
                  <a:extLst>
                    <a:ext uri="{9D8B030D-6E8A-4147-A177-3AD203B41FA5}">
                      <a16:colId xmlns:a16="http://schemas.microsoft.com/office/drawing/2014/main" val="3507829491"/>
                    </a:ext>
                  </a:extLst>
                </a:gridCol>
                <a:gridCol w="351308">
                  <a:extLst>
                    <a:ext uri="{9D8B030D-6E8A-4147-A177-3AD203B41FA5}">
                      <a16:colId xmlns:a16="http://schemas.microsoft.com/office/drawing/2014/main" val="2735122860"/>
                    </a:ext>
                  </a:extLst>
                </a:gridCol>
                <a:gridCol w="3406376">
                  <a:extLst>
                    <a:ext uri="{9D8B030D-6E8A-4147-A177-3AD203B41FA5}">
                      <a16:colId xmlns:a16="http://schemas.microsoft.com/office/drawing/2014/main" val="357438494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401227878"/>
                    </a:ext>
                  </a:extLst>
                </a:gridCol>
                <a:gridCol w="929997">
                  <a:extLst>
                    <a:ext uri="{9D8B030D-6E8A-4147-A177-3AD203B41FA5}">
                      <a16:colId xmlns:a16="http://schemas.microsoft.com/office/drawing/2014/main" val="1765456420"/>
                    </a:ext>
                  </a:extLst>
                </a:gridCol>
                <a:gridCol w="368617">
                  <a:extLst>
                    <a:ext uri="{9D8B030D-6E8A-4147-A177-3AD203B41FA5}">
                      <a16:colId xmlns:a16="http://schemas.microsoft.com/office/drawing/2014/main" val="1366204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204" name="TextBox 203">
            <a:extLst>
              <a:ext uri="{FF2B5EF4-FFF2-40B4-BE49-F238E27FC236}">
                <a16:creationId xmlns:a16="http://schemas.microsoft.com/office/drawing/2014/main" id="{6A221300-4177-DDD4-7868-D1F91C40E278}"/>
              </a:ext>
            </a:extLst>
          </p:cNvPr>
          <p:cNvSpPr txBox="1"/>
          <p:nvPr/>
        </p:nvSpPr>
        <p:spPr>
          <a:xfrm>
            <a:off x="261337" y="2862635"/>
            <a:ext cx="1452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counter array</a:t>
            </a:r>
          </a:p>
          <a:p>
            <a:pPr algn="ctr"/>
            <a:r>
              <a:rPr lang="en-US" b="1" dirty="0"/>
              <a:t>a[4424]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DE1FF820-97A4-A676-9419-A9CDA7611264}"/>
              </a:ext>
            </a:extLst>
          </p:cNvPr>
          <p:cNvSpPr txBox="1"/>
          <p:nvPr/>
        </p:nvSpPr>
        <p:spPr>
          <a:xfrm>
            <a:off x="4097217" y="5431621"/>
            <a:ext cx="3088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Key reason: index = key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3350121F-3AAF-9B2B-2B52-45D74C67451E}"/>
              </a:ext>
            </a:extLst>
          </p:cNvPr>
          <p:cNvSpPr txBox="1"/>
          <p:nvPr/>
        </p:nvSpPr>
        <p:spPr>
          <a:xfrm>
            <a:off x="5613427" y="2241295"/>
            <a:ext cx="15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index = key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150951-5DD0-C295-67C3-D4C2F0CC3CF1}"/>
              </a:ext>
            </a:extLst>
          </p:cNvPr>
          <p:cNvSpPr txBox="1">
            <a:spLocks/>
          </p:cNvSpPr>
          <p:nvPr/>
        </p:nvSpPr>
        <p:spPr>
          <a:xfrm>
            <a:off x="83820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/>
              <a:t>Given D = {5: "str0", 4423: "str1", 9: "str2", 25: "str3", 1100: "str4"}</a:t>
            </a:r>
            <a:endParaRPr lang="en-US" dirty="0"/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34F7AFAB-61E7-058A-3A69-97B790E8A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461406"/>
              </p:ext>
            </p:extLst>
          </p:nvPr>
        </p:nvGraphicFramePr>
        <p:xfrm>
          <a:off x="3179132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48E3B1-321D-1252-87A4-6269824E2140}"/>
              </a:ext>
            </a:extLst>
          </p:cNvPr>
          <p:cNvCxnSpPr>
            <a:cxnSpLocks/>
          </p:cNvCxnSpPr>
          <p:nvPr/>
        </p:nvCxnSpPr>
        <p:spPr>
          <a:xfrm flipH="1">
            <a:off x="4511596" y="2176780"/>
            <a:ext cx="1276556" cy="53821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927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46F4-A9F9-4BB3-4D0A-CC8F60EA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Integers</a:t>
            </a:r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FC57E7A1-4AFF-1D86-2C4E-3F4951F3D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834013"/>
              </p:ext>
            </p:extLst>
          </p:nvPr>
        </p:nvGraphicFramePr>
        <p:xfrm>
          <a:off x="3675163" y="3171565"/>
          <a:ext cx="3566886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0156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346801">
                  <a:extLst>
                    <a:ext uri="{9D8B030D-6E8A-4147-A177-3AD203B41FA5}">
                      <a16:colId xmlns:a16="http://schemas.microsoft.com/office/drawing/2014/main" val="1366204395"/>
                    </a:ext>
                  </a:extLst>
                </a:gridCol>
                <a:gridCol w="1709929">
                  <a:extLst>
                    <a:ext uri="{9D8B030D-6E8A-4147-A177-3AD203B41FA5}">
                      <a16:colId xmlns:a16="http://schemas.microsoft.com/office/drawing/2014/main" val="66896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0CBC38E-A37A-A2CA-7F8B-38DFD07E0688}"/>
              </a:ext>
            </a:extLst>
          </p:cNvPr>
          <p:cNvSpPr txBox="1"/>
          <p:nvPr/>
        </p:nvSpPr>
        <p:spPr>
          <a:xfrm>
            <a:off x="4666222" y="2890995"/>
            <a:ext cx="1255473" cy="276999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en-US" dirty="0"/>
              <a:t>a[hash(25)]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0877687-21E2-826F-BEA4-D0B6EC975B79}"/>
              </a:ext>
            </a:extLst>
          </p:cNvPr>
          <p:cNvSpPr txBox="1"/>
          <p:nvPr/>
        </p:nvSpPr>
        <p:spPr>
          <a:xfrm>
            <a:off x="5553783" y="2405857"/>
            <a:ext cx="2365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index = </a:t>
            </a:r>
            <a:r>
              <a:rPr lang="en-US" sz="2400" b="1" dirty="0">
                <a:solidFill>
                  <a:srgbClr val="C00000"/>
                </a:solidFill>
              </a:rPr>
              <a:t>hash</a:t>
            </a:r>
            <a:r>
              <a:rPr lang="en-US" sz="2400" dirty="0">
                <a:solidFill>
                  <a:srgbClr val="C00000"/>
                </a:solidFill>
              </a:rPr>
              <a:t>(key)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D00A49-50F4-3D90-485C-3AA8ECFBEA26}"/>
              </a:ext>
            </a:extLst>
          </p:cNvPr>
          <p:cNvSpPr txBox="1"/>
          <p:nvPr/>
        </p:nvSpPr>
        <p:spPr>
          <a:xfrm>
            <a:off x="712940" y="4818274"/>
            <a:ext cx="9412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 function, </a:t>
            </a:r>
            <a:r>
              <a:rPr lang="en-US" sz="2400" b="1" dirty="0"/>
              <a:t>hash</a:t>
            </a:r>
            <a:r>
              <a:rPr lang="en-US" sz="2400" dirty="0"/>
              <a:t>(), maps a key to an index in a small range [0, …, </a:t>
            </a:r>
            <a:r>
              <a:rPr lang="en-US" sz="2400" i="1" dirty="0"/>
              <a:t>m</a:t>
            </a:r>
            <a:r>
              <a:rPr lang="en-US" sz="2400" dirty="0"/>
              <a:t>-1]. 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C45EFF2D-CEE2-B411-3CA6-8ACF3F86F270}"/>
              </a:ext>
            </a:extLst>
          </p:cNvPr>
          <p:cNvSpPr/>
          <p:nvPr/>
        </p:nvSpPr>
        <p:spPr>
          <a:xfrm>
            <a:off x="8613944" y="2008051"/>
            <a:ext cx="2396072" cy="919643"/>
          </a:xfrm>
          <a:prstGeom prst="wedgeRoundRectCallout">
            <a:avLst>
              <a:gd name="adj1" fmla="val -69804"/>
              <a:gd name="adj2" fmla="val 25684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What's this hash function?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076131-D9E1-7B07-26C6-87FBB2706364}"/>
              </a:ext>
            </a:extLst>
          </p:cNvPr>
          <p:cNvSpPr txBox="1"/>
          <p:nvPr/>
        </p:nvSpPr>
        <p:spPr>
          <a:xfrm>
            <a:off x="1595252" y="3082028"/>
            <a:ext cx="19970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hash table</a:t>
            </a:r>
            <a:r>
              <a:rPr lang="en-US" sz="2400" dirty="0"/>
              <a:t>:</a:t>
            </a:r>
          </a:p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[m]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AF0BF8-C4D5-A0BC-A623-532DE2C7CE42}"/>
              </a:ext>
            </a:extLst>
          </p:cNvPr>
          <p:cNvSpPr txBox="1">
            <a:spLocks/>
          </p:cNvSpPr>
          <p:nvPr/>
        </p:nvSpPr>
        <p:spPr>
          <a:xfrm>
            <a:off x="83820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/>
              <a:t>Given D = {5: "str0", 4423: "str1", 9: "str2", 25: "str3", 1100: "str4"}</a:t>
            </a:r>
            <a:endParaRPr lang="en-US" dirty="0"/>
          </a:p>
        </p:txBody>
      </p:sp>
      <p:graphicFrame>
        <p:nvGraphicFramePr>
          <p:cNvPr id="29" name="Table 11">
            <a:extLst>
              <a:ext uri="{FF2B5EF4-FFF2-40B4-BE49-F238E27FC236}">
                <a16:creationId xmlns:a16="http://schemas.microsoft.com/office/drawing/2014/main" id="{926B89F2-8C2D-5EED-88B6-CBC593AA7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771959"/>
              </p:ext>
            </p:extLst>
          </p:nvPr>
        </p:nvGraphicFramePr>
        <p:xfrm>
          <a:off x="3179132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498B43-1C94-47FF-223D-EA7E7798C2B7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5293959" y="2176780"/>
            <a:ext cx="494193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157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46F4-A9F9-4BB3-4D0A-CC8F60EA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Integers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CBC38E-A37A-A2CA-7F8B-38DFD07E0688}"/>
              </a:ext>
            </a:extLst>
          </p:cNvPr>
          <p:cNvSpPr txBox="1"/>
          <p:nvPr/>
        </p:nvSpPr>
        <p:spPr>
          <a:xfrm>
            <a:off x="4666222" y="2890995"/>
            <a:ext cx="1255473" cy="276999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en-US" dirty="0"/>
              <a:t>a[hash(25)]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0877687-21E2-826F-BEA4-D0B6EC975B79}"/>
              </a:ext>
            </a:extLst>
          </p:cNvPr>
          <p:cNvSpPr txBox="1"/>
          <p:nvPr/>
        </p:nvSpPr>
        <p:spPr>
          <a:xfrm>
            <a:off x="5553783" y="2405857"/>
            <a:ext cx="2365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index = </a:t>
            </a:r>
            <a:r>
              <a:rPr lang="en-US" sz="2400" b="1" dirty="0"/>
              <a:t>hash</a:t>
            </a:r>
            <a:r>
              <a:rPr lang="en-US" sz="2400" dirty="0"/>
              <a:t>(key)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0DCF069-92DC-C2B4-A209-B721643458BA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306824" y="2176780"/>
            <a:ext cx="987135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EA1D3BD-5BBC-51DE-C6C3-BD1AF9821ABB}"/>
              </a:ext>
            </a:extLst>
          </p:cNvPr>
          <p:cNvSpPr txBox="1"/>
          <p:nvPr/>
        </p:nvSpPr>
        <p:spPr>
          <a:xfrm>
            <a:off x="601399" y="2188546"/>
            <a:ext cx="39792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Collision:</a:t>
            </a:r>
          </a:p>
          <a:p>
            <a:pPr algn="ctr"/>
            <a:r>
              <a:rPr lang="en-US" sz="2400" dirty="0">
                <a:solidFill>
                  <a:srgbClr val="C00000"/>
                </a:solidFill>
              </a:rPr>
              <a:t>What if </a:t>
            </a:r>
            <a:r>
              <a:rPr lang="en-US" sz="2400" b="1" dirty="0">
                <a:solidFill>
                  <a:srgbClr val="C00000"/>
                </a:solidFill>
              </a:rPr>
              <a:t>hash</a:t>
            </a:r>
            <a:r>
              <a:rPr lang="en-US" sz="2400" dirty="0">
                <a:solidFill>
                  <a:srgbClr val="C00000"/>
                </a:solidFill>
              </a:rPr>
              <a:t>(4423) = </a:t>
            </a:r>
            <a:r>
              <a:rPr lang="en-US" sz="2400" b="1" dirty="0">
                <a:solidFill>
                  <a:srgbClr val="C00000"/>
                </a:solidFill>
              </a:rPr>
              <a:t>hash</a:t>
            </a:r>
            <a:r>
              <a:rPr lang="en-US" sz="2400" dirty="0">
                <a:solidFill>
                  <a:srgbClr val="C00000"/>
                </a:solidFill>
              </a:rPr>
              <a:t>(25)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6A801-23D5-3936-6C5A-94FA04FF0A7D}"/>
              </a:ext>
            </a:extLst>
          </p:cNvPr>
          <p:cNvSpPr txBox="1"/>
          <p:nvPr/>
        </p:nvSpPr>
        <p:spPr>
          <a:xfrm>
            <a:off x="712940" y="4818274"/>
            <a:ext cx="94121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 function, </a:t>
            </a:r>
            <a:r>
              <a:rPr lang="en-US" sz="2400" b="1" dirty="0"/>
              <a:t>hash</a:t>
            </a:r>
            <a:r>
              <a:rPr lang="en-US" sz="2400" dirty="0"/>
              <a:t>(), maps a key to an index in a small range [0, …, </a:t>
            </a:r>
            <a:r>
              <a:rPr lang="en-US" sz="2400" i="1" dirty="0"/>
              <a:t>m</a:t>
            </a:r>
            <a:r>
              <a:rPr lang="en-US" sz="2400" dirty="0"/>
              <a:t>-1].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Hope: Low chance of collision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E0C434F-1B9A-E368-019B-E2906FDF7F41}"/>
              </a:ext>
            </a:extLst>
          </p:cNvPr>
          <p:cNvSpPr txBox="1">
            <a:spLocks/>
          </p:cNvSpPr>
          <p:nvPr/>
        </p:nvSpPr>
        <p:spPr>
          <a:xfrm>
            <a:off x="83820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/>
              <a:t>Given D = {5: "str0", 4423: "str1", 9: "str2", 25: "str3", 1100: "str4"}</a:t>
            </a:r>
            <a:endParaRPr lang="en-US" dirty="0"/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5A7196AD-5910-DCAC-A3C0-CD3486A52D17}"/>
              </a:ext>
            </a:extLst>
          </p:cNvPr>
          <p:cNvSpPr/>
          <p:nvPr/>
        </p:nvSpPr>
        <p:spPr>
          <a:xfrm>
            <a:off x="8613944" y="2008051"/>
            <a:ext cx="2396072" cy="919643"/>
          </a:xfrm>
          <a:prstGeom prst="wedgeRoundRectCallout">
            <a:avLst>
              <a:gd name="adj1" fmla="val -69804"/>
              <a:gd name="adj2" fmla="val 25684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What's this hash function?</a:t>
            </a:r>
          </a:p>
        </p:txBody>
      </p:sp>
      <p:graphicFrame>
        <p:nvGraphicFramePr>
          <p:cNvPr id="15" name="Table 11">
            <a:extLst>
              <a:ext uri="{FF2B5EF4-FFF2-40B4-BE49-F238E27FC236}">
                <a16:creationId xmlns:a16="http://schemas.microsoft.com/office/drawing/2014/main" id="{2072AC8F-E0EE-0591-D5E1-C73D61C84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053218"/>
              </p:ext>
            </p:extLst>
          </p:nvPr>
        </p:nvGraphicFramePr>
        <p:xfrm>
          <a:off x="3179132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3C62AD-2CF0-BE05-5933-3541C1F8BF64}"/>
              </a:ext>
            </a:extLst>
          </p:cNvPr>
          <p:cNvCxnSpPr>
            <a:cxnSpLocks/>
          </p:cNvCxnSpPr>
          <p:nvPr/>
        </p:nvCxnSpPr>
        <p:spPr>
          <a:xfrm flipH="1">
            <a:off x="5293959" y="2176780"/>
            <a:ext cx="494193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1AB8E86-524D-DC0B-ED6C-49487DCC6537}"/>
              </a:ext>
            </a:extLst>
          </p:cNvPr>
          <p:cNvSpPr txBox="1"/>
          <p:nvPr/>
        </p:nvSpPr>
        <p:spPr>
          <a:xfrm>
            <a:off x="6096000" y="3762665"/>
            <a:ext cx="5601897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i="1" dirty="0"/>
              <a:t>Collisions are hard to completely avoid with small m. </a:t>
            </a:r>
          </a:p>
          <a:p>
            <a:r>
              <a:rPr lang="en-US" sz="2000" b="1" i="1" dirty="0">
                <a:solidFill>
                  <a:srgbClr val="C00000"/>
                </a:solidFill>
              </a:rPr>
              <a:t>For simplicity, we assume no collision for now. </a:t>
            </a:r>
          </a:p>
          <a:p>
            <a:r>
              <a:rPr lang="en-US" sz="2000" i="1" dirty="0"/>
              <a:t>More on how to handle collisions in next lecture</a:t>
            </a:r>
          </a:p>
        </p:txBody>
      </p:sp>
      <p:graphicFrame>
        <p:nvGraphicFramePr>
          <p:cNvPr id="24" name="Table 11">
            <a:extLst>
              <a:ext uri="{FF2B5EF4-FFF2-40B4-BE49-F238E27FC236}">
                <a16:creationId xmlns:a16="http://schemas.microsoft.com/office/drawing/2014/main" id="{FB3766FE-B8F1-28CB-8007-98C71ACF5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246223"/>
              </p:ext>
            </p:extLst>
          </p:nvPr>
        </p:nvGraphicFramePr>
        <p:xfrm>
          <a:off x="3675163" y="3171565"/>
          <a:ext cx="3566886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0156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346801">
                  <a:extLst>
                    <a:ext uri="{9D8B030D-6E8A-4147-A177-3AD203B41FA5}">
                      <a16:colId xmlns:a16="http://schemas.microsoft.com/office/drawing/2014/main" val="1366204395"/>
                    </a:ext>
                  </a:extLst>
                </a:gridCol>
                <a:gridCol w="1709929">
                  <a:extLst>
                    <a:ext uri="{9D8B030D-6E8A-4147-A177-3AD203B41FA5}">
                      <a16:colId xmlns:a16="http://schemas.microsoft.com/office/drawing/2014/main" val="66896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1805080-0AF2-AA2F-7E03-B6025236E3EC}"/>
              </a:ext>
            </a:extLst>
          </p:cNvPr>
          <p:cNvSpPr txBox="1"/>
          <p:nvPr/>
        </p:nvSpPr>
        <p:spPr>
          <a:xfrm>
            <a:off x="1595252" y="3082028"/>
            <a:ext cx="19970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hash table</a:t>
            </a:r>
            <a:r>
              <a:rPr lang="en-US" sz="2400" dirty="0"/>
              <a:t>:</a:t>
            </a:r>
          </a:p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[m]</a:t>
            </a:r>
          </a:p>
        </p:txBody>
      </p:sp>
    </p:spTree>
    <p:extLst>
      <p:ext uri="{BB962C8B-B14F-4D97-AF65-F5344CB8AC3E}">
        <p14:creationId xmlns:p14="http://schemas.microsoft.com/office/powerpoint/2010/main" val="232048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46F4-A9F9-4BB3-4D0A-CC8F60EA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Integers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CBC38E-A37A-A2CA-7F8B-38DFD07E0688}"/>
              </a:ext>
            </a:extLst>
          </p:cNvPr>
          <p:cNvSpPr txBox="1"/>
          <p:nvPr/>
        </p:nvSpPr>
        <p:spPr>
          <a:xfrm>
            <a:off x="4666222" y="2890995"/>
            <a:ext cx="1255473" cy="276999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en-US" dirty="0"/>
              <a:t>a[hash(25)]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0877687-21E2-826F-BEA4-D0B6EC975B79}"/>
              </a:ext>
            </a:extLst>
          </p:cNvPr>
          <p:cNvSpPr txBox="1"/>
          <p:nvPr/>
        </p:nvSpPr>
        <p:spPr>
          <a:xfrm>
            <a:off x="5553783" y="2405857"/>
            <a:ext cx="2599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index = </a:t>
            </a:r>
            <a:r>
              <a:rPr lang="en-US" sz="2400" b="1" dirty="0"/>
              <a:t>hash</a:t>
            </a:r>
            <a:r>
              <a:rPr lang="en-US" sz="2400" dirty="0"/>
              <a:t>(value)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1D3BD-5BBC-51DE-C6C3-BD1AF9821ABB}"/>
              </a:ext>
            </a:extLst>
          </p:cNvPr>
          <p:cNvSpPr txBox="1"/>
          <p:nvPr/>
        </p:nvSpPr>
        <p:spPr>
          <a:xfrm>
            <a:off x="601399" y="2188546"/>
            <a:ext cx="39792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Collision:</a:t>
            </a:r>
          </a:p>
          <a:p>
            <a:pPr algn="ctr"/>
            <a:r>
              <a:rPr lang="en-US" sz="2400" dirty="0"/>
              <a:t>What if </a:t>
            </a:r>
            <a:r>
              <a:rPr lang="en-US" sz="2400" b="1" dirty="0"/>
              <a:t>hash</a:t>
            </a:r>
            <a:r>
              <a:rPr lang="en-US" sz="2400" dirty="0"/>
              <a:t>(4423) = </a:t>
            </a:r>
            <a:r>
              <a:rPr lang="en-US" sz="2400" b="1" dirty="0"/>
              <a:t>hash</a:t>
            </a:r>
            <a:r>
              <a:rPr lang="en-US" sz="2400" dirty="0"/>
              <a:t>(25)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6A801-23D5-3936-6C5A-94FA04FF0A7D}"/>
              </a:ext>
            </a:extLst>
          </p:cNvPr>
          <p:cNvSpPr txBox="1"/>
          <p:nvPr/>
        </p:nvSpPr>
        <p:spPr>
          <a:xfrm>
            <a:off x="712940" y="4818274"/>
            <a:ext cx="94121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 function, </a:t>
            </a:r>
            <a:r>
              <a:rPr lang="en-US" sz="2400" b="1" dirty="0"/>
              <a:t>hash</a:t>
            </a:r>
            <a:r>
              <a:rPr lang="en-US" sz="2400" dirty="0"/>
              <a:t>(), maps a key to an index in a small range [0, …, </a:t>
            </a:r>
            <a:r>
              <a:rPr lang="en-US" sz="2400" i="1" dirty="0"/>
              <a:t>m</a:t>
            </a:r>
            <a:r>
              <a:rPr lang="en-US" sz="2400" dirty="0"/>
              <a:t>-1]. </a:t>
            </a:r>
          </a:p>
          <a:p>
            <a:r>
              <a:rPr lang="en-US" sz="2400" dirty="0"/>
              <a:t>Hope: Low chance of collision</a:t>
            </a:r>
          </a:p>
          <a:p>
            <a:r>
              <a:rPr lang="en-US" sz="2400" dirty="0">
                <a:solidFill>
                  <a:srgbClr val="C00000"/>
                </a:solidFill>
              </a:rPr>
              <a:t>General format of </a:t>
            </a:r>
            <a:r>
              <a:rPr lang="en-US" sz="2400" b="1" dirty="0">
                <a:solidFill>
                  <a:srgbClr val="C00000"/>
                </a:solidFill>
              </a:rPr>
              <a:t>hash</a:t>
            </a:r>
            <a:r>
              <a:rPr lang="en-US" sz="2400" dirty="0">
                <a:solidFill>
                  <a:srgbClr val="C00000"/>
                </a:solidFill>
              </a:rPr>
              <a:t>()</a:t>
            </a:r>
          </a:p>
          <a:p>
            <a:r>
              <a:rPr lang="en-US" sz="2400" dirty="0">
                <a:solidFill>
                  <a:srgbClr val="C00000"/>
                </a:solidFill>
              </a:rPr>
              <a:t>	hash(x) = (a*</a:t>
            </a:r>
            <a:r>
              <a:rPr lang="en-US" sz="2400" dirty="0" err="1">
                <a:solidFill>
                  <a:srgbClr val="C00000"/>
                </a:solidFill>
              </a:rPr>
              <a:t>x+b</a:t>
            </a:r>
            <a:r>
              <a:rPr lang="en-US" sz="2400" dirty="0">
                <a:solidFill>
                  <a:srgbClr val="C00000"/>
                </a:solidFill>
              </a:rPr>
              <a:t>) % m, where a*</a:t>
            </a:r>
            <a:r>
              <a:rPr lang="en-US" sz="2400" dirty="0" err="1">
                <a:solidFill>
                  <a:srgbClr val="C00000"/>
                </a:solidFill>
              </a:rPr>
              <a:t>x+b</a:t>
            </a:r>
            <a:r>
              <a:rPr lang="en-US" sz="2400" dirty="0">
                <a:solidFill>
                  <a:srgbClr val="C00000"/>
                </a:solidFill>
              </a:rPr>
              <a:t> is the </a:t>
            </a:r>
            <a:r>
              <a:rPr lang="en-US" sz="2400" b="1" dirty="0">
                <a:solidFill>
                  <a:srgbClr val="C00000"/>
                </a:solidFill>
              </a:rPr>
              <a:t>hash code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	More on this in next lecture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E0C434F-1B9A-E368-019B-E2906FDF7F41}"/>
              </a:ext>
            </a:extLst>
          </p:cNvPr>
          <p:cNvSpPr txBox="1">
            <a:spLocks/>
          </p:cNvSpPr>
          <p:nvPr/>
        </p:nvSpPr>
        <p:spPr>
          <a:xfrm>
            <a:off x="83820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/>
              <a:t>Given D = {5: "str0", 4423: "str1", 9: "str2", 25: "str3", 1100: "str4"}</a:t>
            </a:r>
            <a:endParaRPr lang="en-US" dirty="0"/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5A7196AD-5910-DCAC-A3C0-CD3486A52D17}"/>
              </a:ext>
            </a:extLst>
          </p:cNvPr>
          <p:cNvSpPr/>
          <p:nvPr/>
        </p:nvSpPr>
        <p:spPr>
          <a:xfrm>
            <a:off x="8613944" y="2008051"/>
            <a:ext cx="2396072" cy="919643"/>
          </a:xfrm>
          <a:prstGeom prst="wedgeRoundRectCallout">
            <a:avLst>
              <a:gd name="adj1" fmla="val -69804"/>
              <a:gd name="adj2" fmla="val 25684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What's this hash function?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9FECA34-6492-5949-6575-07E8F085C749}"/>
              </a:ext>
            </a:extLst>
          </p:cNvPr>
          <p:cNvCxnSpPr>
            <a:cxnSpLocks/>
          </p:cNvCxnSpPr>
          <p:nvPr/>
        </p:nvCxnSpPr>
        <p:spPr>
          <a:xfrm>
            <a:off x="4306824" y="2176780"/>
            <a:ext cx="987135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E1CC1B91-2F92-6188-253F-939501E19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443792"/>
              </p:ext>
            </p:extLst>
          </p:nvPr>
        </p:nvGraphicFramePr>
        <p:xfrm>
          <a:off x="3179132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EBBFAE-BEC4-54CD-548E-891E0AC0DAFB}"/>
              </a:ext>
            </a:extLst>
          </p:cNvPr>
          <p:cNvCxnSpPr>
            <a:cxnSpLocks/>
          </p:cNvCxnSpPr>
          <p:nvPr/>
        </p:nvCxnSpPr>
        <p:spPr>
          <a:xfrm flipH="1">
            <a:off x="5293959" y="2176780"/>
            <a:ext cx="494193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322F57-2AB1-5F0A-DF0B-89C808899B3C}"/>
              </a:ext>
            </a:extLst>
          </p:cNvPr>
          <p:cNvSpPr txBox="1"/>
          <p:nvPr/>
        </p:nvSpPr>
        <p:spPr>
          <a:xfrm>
            <a:off x="6096000" y="3762665"/>
            <a:ext cx="5601897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i="1" dirty="0"/>
              <a:t>Collisions are hard to completely avoid with small m. </a:t>
            </a:r>
          </a:p>
          <a:p>
            <a:r>
              <a:rPr lang="en-US" sz="2000" b="1" i="1" dirty="0">
                <a:solidFill>
                  <a:srgbClr val="C00000"/>
                </a:solidFill>
              </a:rPr>
              <a:t>For simplicity, we assume no collision for now. </a:t>
            </a:r>
          </a:p>
          <a:p>
            <a:r>
              <a:rPr lang="en-US" sz="2000" i="1" dirty="0"/>
              <a:t>More on how to handle collisions in next lecture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C77192B-5FC7-AE00-5CEA-73143C551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642006"/>
              </p:ext>
            </p:extLst>
          </p:nvPr>
        </p:nvGraphicFramePr>
        <p:xfrm>
          <a:off x="3675163" y="3171565"/>
          <a:ext cx="3566886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0156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346801">
                  <a:extLst>
                    <a:ext uri="{9D8B030D-6E8A-4147-A177-3AD203B41FA5}">
                      <a16:colId xmlns:a16="http://schemas.microsoft.com/office/drawing/2014/main" val="1366204395"/>
                    </a:ext>
                  </a:extLst>
                </a:gridCol>
                <a:gridCol w="1709929">
                  <a:extLst>
                    <a:ext uri="{9D8B030D-6E8A-4147-A177-3AD203B41FA5}">
                      <a16:colId xmlns:a16="http://schemas.microsoft.com/office/drawing/2014/main" val="66896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62F7CD5-E9D1-FEDF-AE3B-CDCE7085559A}"/>
              </a:ext>
            </a:extLst>
          </p:cNvPr>
          <p:cNvSpPr txBox="1"/>
          <p:nvPr/>
        </p:nvSpPr>
        <p:spPr>
          <a:xfrm>
            <a:off x="1595252" y="3082028"/>
            <a:ext cx="19970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hash table</a:t>
            </a:r>
            <a:r>
              <a:rPr lang="en-US" sz="2400" dirty="0"/>
              <a:t>:</a:t>
            </a:r>
          </a:p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[m]</a:t>
            </a:r>
          </a:p>
        </p:txBody>
      </p:sp>
    </p:spTree>
    <p:extLst>
      <p:ext uri="{BB962C8B-B14F-4D97-AF65-F5344CB8AC3E}">
        <p14:creationId xmlns:p14="http://schemas.microsoft.com/office/powerpoint/2010/main" val="4157935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4498-6A6D-DEC0-DE0F-66E9108A4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7E31FA-262E-A983-3BEF-DD9527FF2F25}"/>
              </a:ext>
            </a:extLst>
          </p:cNvPr>
          <p:cNvSpPr txBox="1">
            <a:spLocks/>
          </p:cNvSpPr>
          <p:nvPr/>
        </p:nvSpPr>
        <p:spPr>
          <a:xfrm>
            <a:off x="83820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/>
              <a:t>Given D = {5: "str0", 4423: "str1", 9: "str2", 25: "str3", 1100: "str4"}</a:t>
            </a:r>
            <a:endParaRPr lang="en-US" dirty="0"/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0F906AFE-F9F2-326F-12CA-3BC8666AC1F4}"/>
              </a:ext>
            </a:extLst>
          </p:cNvPr>
          <p:cNvGraphicFramePr>
            <a:graphicFrameLocks noGrp="1"/>
          </p:cNvGraphicFramePr>
          <p:nvPr/>
        </p:nvGraphicFramePr>
        <p:xfrm>
          <a:off x="3179132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5C003D-48BE-529B-DCCA-00F0E6D0424D}"/>
              </a:ext>
            </a:extLst>
          </p:cNvPr>
          <p:cNvSpPr txBox="1"/>
          <p:nvPr/>
        </p:nvSpPr>
        <p:spPr>
          <a:xfrm>
            <a:off x="7620744" y="2182370"/>
            <a:ext cx="33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index = </a:t>
            </a:r>
            <a:r>
              <a:rPr lang="en-US" sz="2400" b="1" dirty="0">
                <a:solidFill>
                  <a:srgbClr val="C00000"/>
                </a:solidFill>
              </a:rPr>
              <a:t>(key * 7) % 11</a:t>
            </a:r>
            <a:endParaRPr lang="en-US" sz="2400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567EB77-216B-12C3-A2E4-8DB76A650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982996"/>
              </p:ext>
            </p:extLst>
          </p:nvPr>
        </p:nvGraphicFramePr>
        <p:xfrm>
          <a:off x="181965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8754179A-988F-8E5C-5842-18AC759D7593}"/>
              </a:ext>
            </a:extLst>
          </p:cNvPr>
          <p:cNvGraphicFramePr>
            <a:graphicFrameLocks noGrp="1"/>
          </p:cNvGraphicFramePr>
          <p:nvPr/>
        </p:nvGraphicFramePr>
        <p:xfrm>
          <a:off x="181965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8D1D39-1A00-6FA4-60D7-2B57E37C955D}"/>
              </a:ext>
            </a:extLst>
          </p:cNvPr>
          <p:cNvCxnSpPr>
            <a:cxnSpLocks/>
          </p:cNvCxnSpPr>
          <p:nvPr/>
        </p:nvCxnSpPr>
        <p:spPr>
          <a:xfrm flipH="1">
            <a:off x="3447288" y="2176780"/>
            <a:ext cx="182880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8762C8-118E-6C52-955A-A68C5F16A540}"/>
              </a:ext>
            </a:extLst>
          </p:cNvPr>
          <p:cNvCxnSpPr>
            <a:cxnSpLocks/>
          </p:cNvCxnSpPr>
          <p:nvPr/>
        </p:nvCxnSpPr>
        <p:spPr>
          <a:xfrm>
            <a:off x="4242816" y="2176780"/>
            <a:ext cx="2478024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0242EF-59C2-77F3-7F58-11B891B6234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033969" y="2176780"/>
            <a:ext cx="2299519" cy="70231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D8CEA6-823D-BE45-FC89-42BB35B04F30}"/>
              </a:ext>
            </a:extLst>
          </p:cNvPr>
          <p:cNvCxnSpPr>
            <a:cxnSpLocks/>
          </p:cNvCxnSpPr>
          <p:nvPr/>
        </p:nvCxnSpPr>
        <p:spPr>
          <a:xfrm>
            <a:off x="5877405" y="2176780"/>
            <a:ext cx="2781963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23B440-617A-5626-8DC6-D255053B9EFC}"/>
              </a:ext>
            </a:extLst>
          </p:cNvPr>
          <p:cNvCxnSpPr>
            <a:cxnSpLocks/>
          </p:cNvCxnSpPr>
          <p:nvPr/>
        </p:nvCxnSpPr>
        <p:spPr>
          <a:xfrm flipH="1">
            <a:off x="2200500" y="2189591"/>
            <a:ext cx="4404947" cy="66548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B8C0599-0B3B-3D89-BDCC-9BB223593CFA}"/>
              </a:ext>
            </a:extLst>
          </p:cNvPr>
          <p:cNvSpPr txBox="1"/>
          <p:nvPr/>
        </p:nvSpPr>
        <p:spPr>
          <a:xfrm>
            <a:off x="1410653" y="410935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(1100, "str4")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AACAC96-1F27-9D7F-1D86-D1D94BBAFF7F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2136492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6ADD4C5-A2AF-F38E-3D1E-556B0AAADDB5}"/>
              </a:ext>
            </a:extLst>
          </p:cNvPr>
          <p:cNvSpPr txBox="1"/>
          <p:nvPr/>
        </p:nvSpPr>
        <p:spPr>
          <a:xfrm>
            <a:off x="2896977" y="4109351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(5, "str0")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03A798-0D43-7F4B-D33D-6B27688DC2C0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3447288" y="3650421"/>
            <a:ext cx="0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A163B7E-2DF0-6F30-F592-A8D68163EC89}"/>
              </a:ext>
            </a:extLst>
          </p:cNvPr>
          <p:cNvSpPr txBox="1"/>
          <p:nvPr/>
        </p:nvSpPr>
        <p:spPr>
          <a:xfrm>
            <a:off x="5995001" y="4081106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(4423, "str1")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D8CEBC-DD97-C9F3-1431-BC7A0C1B99CA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6720840" y="3622176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CC8A41E-BC3C-797E-4071-75E8ABABE401}"/>
              </a:ext>
            </a:extLst>
          </p:cNvPr>
          <p:cNvSpPr txBox="1"/>
          <p:nvPr/>
        </p:nvSpPr>
        <p:spPr>
          <a:xfrm>
            <a:off x="6888807" y="4450438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(9, "str2")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3A1A6D9-1E31-5B83-216E-82BE735D7C41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7439118" y="3650421"/>
            <a:ext cx="0" cy="80001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FD57CDE-D7DE-2E31-D88B-F010E6355706}"/>
              </a:ext>
            </a:extLst>
          </p:cNvPr>
          <p:cNvSpPr txBox="1"/>
          <p:nvPr/>
        </p:nvSpPr>
        <p:spPr>
          <a:xfrm>
            <a:off x="8098887" y="4109351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(25, "str3")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B41BCBD-0D17-ABE6-07B7-8AA3876B21D0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8707707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369CDDB-5951-426B-6F9C-CBF1A98E3740}"/>
              </a:ext>
            </a:extLst>
          </p:cNvPr>
          <p:cNvSpPr txBox="1"/>
          <p:nvPr/>
        </p:nvSpPr>
        <p:spPr>
          <a:xfrm>
            <a:off x="8979029" y="3041162"/>
            <a:ext cx="2062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hash table</a:t>
            </a:r>
            <a:r>
              <a:rPr lang="en-US" sz="2400" dirty="0"/>
              <a:t>:</a:t>
            </a:r>
          </a:p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[11]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4E7CF9-DD9A-0802-4DD9-725F52197D66}"/>
              </a:ext>
            </a:extLst>
          </p:cNvPr>
          <p:cNvSpPr/>
          <p:nvPr/>
        </p:nvSpPr>
        <p:spPr>
          <a:xfrm>
            <a:off x="1841988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B0630A-7848-5E83-C720-6409BB7C9734}"/>
              </a:ext>
            </a:extLst>
          </p:cNvPr>
          <p:cNvSpPr/>
          <p:nvPr/>
        </p:nvSpPr>
        <p:spPr>
          <a:xfrm>
            <a:off x="3154486" y="3294396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626DAD-EC0D-D1CF-4FC8-1E74C3619CA1}"/>
              </a:ext>
            </a:extLst>
          </p:cNvPr>
          <p:cNvSpPr/>
          <p:nvPr/>
        </p:nvSpPr>
        <p:spPr>
          <a:xfrm>
            <a:off x="6420760" y="3330973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45E6C2-4962-211E-0401-AB0ED30DF9BE}"/>
              </a:ext>
            </a:extLst>
          </p:cNvPr>
          <p:cNvSpPr/>
          <p:nvPr/>
        </p:nvSpPr>
        <p:spPr>
          <a:xfrm>
            <a:off x="7061204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C53293-8DA6-D626-C48A-81ECB29F8026}"/>
              </a:ext>
            </a:extLst>
          </p:cNvPr>
          <p:cNvSpPr/>
          <p:nvPr/>
        </p:nvSpPr>
        <p:spPr>
          <a:xfrm>
            <a:off x="8378870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3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8" grpId="0"/>
      <p:bldP spid="40" grpId="0"/>
      <p:bldP spid="42" grpId="0"/>
      <p:bldP spid="47" grpId="0"/>
      <p:bldP spid="6" grpId="0" animBg="1"/>
      <p:bldP spid="8" grpId="0" animBg="1"/>
      <p:bldP spid="11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4498-6A6D-DEC0-DE0F-66E9108A4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7E31FA-262E-A983-3BEF-DD9527FF2F25}"/>
              </a:ext>
            </a:extLst>
          </p:cNvPr>
          <p:cNvSpPr txBox="1">
            <a:spLocks/>
          </p:cNvSpPr>
          <p:nvPr/>
        </p:nvSpPr>
        <p:spPr>
          <a:xfrm>
            <a:off x="83820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/>
              <a:t>Given D = {5: "str0", 4423: "str1", 9: "str2", 25: "str3", 1100: "str4"}</a:t>
            </a:r>
            <a:endParaRPr lang="en-US" dirty="0"/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0F906AFE-F9F2-326F-12CA-3BC8666AC1F4}"/>
              </a:ext>
            </a:extLst>
          </p:cNvPr>
          <p:cNvGraphicFramePr>
            <a:graphicFrameLocks noGrp="1"/>
          </p:cNvGraphicFramePr>
          <p:nvPr/>
        </p:nvGraphicFramePr>
        <p:xfrm>
          <a:off x="3179132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5C003D-48BE-529B-DCCA-00F0E6D0424D}"/>
              </a:ext>
            </a:extLst>
          </p:cNvPr>
          <p:cNvSpPr txBox="1"/>
          <p:nvPr/>
        </p:nvSpPr>
        <p:spPr>
          <a:xfrm>
            <a:off x="7620744" y="2182370"/>
            <a:ext cx="33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index = </a:t>
            </a:r>
            <a:r>
              <a:rPr lang="en-US" sz="2400" b="1" dirty="0">
                <a:solidFill>
                  <a:srgbClr val="C00000"/>
                </a:solidFill>
              </a:rPr>
              <a:t>(key * 7) % 11</a:t>
            </a:r>
            <a:endParaRPr lang="en-US" sz="2400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567EB77-216B-12C3-A2E4-8DB76A65079C}"/>
              </a:ext>
            </a:extLst>
          </p:cNvPr>
          <p:cNvGraphicFramePr>
            <a:graphicFrameLocks noGrp="1"/>
          </p:cNvGraphicFramePr>
          <p:nvPr/>
        </p:nvGraphicFramePr>
        <p:xfrm>
          <a:off x="181965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8754179A-988F-8E5C-5842-18AC759D7593}"/>
              </a:ext>
            </a:extLst>
          </p:cNvPr>
          <p:cNvGraphicFramePr>
            <a:graphicFrameLocks noGrp="1"/>
          </p:cNvGraphicFramePr>
          <p:nvPr/>
        </p:nvGraphicFramePr>
        <p:xfrm>
          <a:off x="181965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8D1D39-1A00-6FA4-60D7-2B57E37C955D}"/>
              </a:ext>
            </a:extLst>
          </p:cNvPr>
          <p:cNvCxnSpPr>
            <a:cxnSpLocks/>
          </p:cNvCxnSpPr>
          <p:nvPr/>
        </p:nvCxnSpPr>
        <p:spPr>
          <a:xfrm flipH="1">
            <a:off x="3447288" y="2176780"/>
            <a:ext cx="182880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8762C8-118E-6C52-955A-A68C5F16A540}"/>
              </a:ext>
            </a:extLst>
          </p:cNvPr>
          <p:cNvCxnSpPr>
            <a:cxnSpLocks/>
          </p:cNvCxnSpPr>
          <p:nvPr/>
        </p:nvCxnSpPr>
        <p:spPr>
          <a:xfrm>
            <a:off x="4242816" y="2176780"/>
            <a:ext cx="2478024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0242EF-59C2-77F3-7F58-11B891B6234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033969" y="2176780"/>
            <a:ext cx="2299519" cy="70231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D8CEA6-823D-BE45-FC89-42BB35B04F30}"/>
              </a:ext>
            </a:extLst>
          </p:cNvPr>
          <p:cNvCxnSpPr>
            <a:cxnSpLocks/>
          </p:cNvCxnSpPr>
          <p:nvPr/>
        </p:nvCxnSpPr>
        <p:spPr>
          <a:xfrm>
            <a:off x="5877405" y="2176780"/>
            <a:ext cx="2781963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23B440-617A-5626-8DC6-D255053B9EFC}"/>
              </a:ext>
            </a:extLst>
          </p:cNvPr>
          <p:cNvCxnSpPr>
            <a:cxnSpLocks/>
          </p:cNvCxnSpPr>
          <p:nvPr/>
        </p:nvCxnSpPr>
        <p:spPr>
          <a:xfrm flipH="1">
            <a:off x="2200500" y="2189591"/>
            <a:ext cx="4404947" cy="66548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B8C0599-0B3B-3D89-BDCC-9BB223593CFA}"/>
              </a:ext>
            </a:extLst>
          </p:cNvPr>
          <p:cNvSpPr txBox="1"/>
          <p:nvPr/>
        </p:nvSpPr>
        <p:spPr>
          <a:xfrm>
            <a:off x="1410653" y="410935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(1100, "str4")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AACAC96-1F27-9D7F-1D86-D1D94BBAFF7F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2136492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6ADD4C5-A2AF-F38E-3D1E-556B0AAADDB5}"/>
              </a:ext>
            </a:extLst>
          </p:cNvPr>
          <p:cNvSpPr txBox="1"/>
          <p:nvPr/>
        </p:nvSpPr>
        <p:spPr>
          <a:xfrm>
            <a:off x="2896977" y="4109351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(5, "str0")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03A798-0D43-7F4B-D33D-6B27688DC2C0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3447288" y="3650421"/>
            <a:ext cx="0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A163B7E-2DF0-6F30-F592-A8D68163EC89}"/>
              </a:ext>
            </a:extLst>
          </p:cNvPr>
          <p:cNvSpPr txBox="1"/>
          <p:nvPr/>
        </p:nvSpPr>
        <p:spPr>
          <a:xfrm>
            <a:off x="5995001" y="4081106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(4423, "str1")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D8CEBC-DD97-C9F3-1431-BC7A0C1B99CA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6720840" y="3622176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CC8A41E-BC3C-797E-4071-75E8ABABE401}"/>
              </a:ext>
            </a:extLst>
          </p:cNvPr>
          <p:cNvSpPr txBox="1"/>
          <p:nvPr/>
        </p:nvSpPr>
        <p:spPr>
          <a:xfrm>
            <a:off x="6888807" y="4450438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(9, "str2")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3A1A6D9-1E31-5B83-216E-82BE735D7C41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7439118" y="3650421"/>
            <a:ext cx="0" cy="80001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FD57CDE-D7DE-2E31-D88B-F010E6355706}"/>
              </a:ext>
            </a:extLst>
          </p:cNvPr>
          <p:cNvSpPr txBox="1"/>
          <p:nvPr/>
        </p:nvSpPr>
        <p:spPr>
          <a:xfrm>
            <a:off x="8098887" y="4109351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(25, "str3")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B41BCBD-0D17-ABE6-07B7-8AA3876B21D0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8707707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220D491-B952-0D8C-4157-61D874383B4A}"/>
              </a:ext>
            </a:extLst>
          </p:cNvPr>
          <p:cNvSpPr txBox="1"/>
          <p:nvPr/>
        </p:nvSpPr>
        <p:spPr>
          <a:xfrm>
            <a:off x="776614" y="5134293"/>
            <a:ext cx="1508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Lookup (7)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BCB9A3-5BA6-07F7-F508-3F1882A04E22}"/>
              </a:ext>
            </a:extLst>
          </p:cNvPr>
          <p:cNvSpPr txBox="1"/>
          <p:nvPr/>
        </p:nvSpPr>
        <p:spPr>
          <a:xfrm>
            <a:off x="3179132" y="5134292"/>
            <a:ext cx="6029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Wingdings" pitchFamily="2" charset="2"/>
              </a:rPr>
              <a:t>Calculate hash index: hash(7) = (7*7) % 11 = 5</a:t>
            </a:r>
            <a:endParaRPr lang="en-US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E22149-4CBD-C5F9-26A8-C030349BCF48}"/>
              </a:ext>
            </a:extLst>
          </p:cNvPr>
          <p:cNvSpPr txBox="1"/>
          <p:nvPr/>
        </p:nvSpPr>
        <p:spPr>
          <a:xfrm>
            <a:off x="3179132" y="5591522"/>
            <a:ext cx="4862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Check if index 5 is NULL </a:t>
            </a:r>
            <a:r>
              <a:rPr lang="en-US" sz="2400" dirty="0">
                <a:sym typeface="Wingdings" pitchFamily="2" charset="2"/>
              </a:rPr>
              <a:t> no match!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B1964-EE28-A2E7-B72E-0EF43D4DDE4C}"/>
              </a:ext>
            </a:extLst>
          </p:cNvPr>
          <p:cNvSpPr txBox="1"/>
          <p:nvPr/>
        </p:nvSpPr>
        <p:spPr>
          <a:xfrm>
            <a:off x="8979029" y="3041162"/>
            <a:ext cx="2062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hash table</a:t>
            </a:r>
            <a:r>
              <a:rPr lang="en-US" sz="2400" dirty="0"/>
              <a:t>:</a:t>
            </a:r>
          </a:p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[11]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A091A-FA2A-EAD4-6BFA-841884E6F235}"/>
              </a:ext>
            </a:extLst>
          </p:cNvPr>
          <p:cNvSpPr/>
          <p:nvPr/>
        </p:nvSpPr>
        <p:spPr>
          <a:xfrm>
            <a:off x="5109339" y="2891905"/>
            <a:ext cx="596133" cy="100725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3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4498-6A6D-DEC0-DE0F-66E9108A4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7E31FA-262E-A983-3BEF-DD9527FF2F25}"/>
              </a:ext>
            </a:extLst>
          </p:cNvPr>
          <p:cNvSpPr txBox="1">
            <a:spLocks/>
          </p:cNvSpPr>
          <p:nvPr/>
        </p:nvSpPr>
        <p:spPr>
          <a:xfrm>
            <a:off x="83820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/>
              <a:t>Given D = {5: "str0", 4423: "str1", 9: "str2", 25: "str3", 1100: "str4"}</a:t>
            </a:r>
            <a:endParaRPr lang="en-US" dirty="0"/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0F906AFE-F9F2-326F-12CA-3BC8666AC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972598"/>
              </p:ext>
            </p:extLst>
          </p:nvPr>
        </p:nvGraphicFramePr>
        <p:xfrm>
          <a:off x="3179132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5C003D-48BE-529B-DCCA-00F0E6D0424D}"/>
              </a:ext>
            </a:extLst>
          </p:cNvPr>
          <p:cNvSpPr txBox="1"/>
          <p:nvPr/>
        </p:nvSpPr>
        <p:spPr>
          <a:xfrm>
            <a:off x="7620744" y="2182370"/>
            <a:ext cx="33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index = </a:t>
            </a:r>
            <a:r>
              <a:rPr lang="en-US" sz="2400" b="1" dirty="0">
                <a:solidFill>
                  <a:srgbClr val="C00000"/>
                </a:solidFill>
              </a:rPr>
              <a:t>(key * 7) % 11</a:t>
            </a:r>
            <a:endParaRPr lang="en-US" sz="2400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567EB77-216B-12C3-A2E4-8DB76A650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561524"/>
              </p:ext>
            </p:extLst>
          </p:nvPr>
        </p:nvGraphicFramePr>
        <p:xfrm>
          <a:off x="181965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8754179A-988F-8E5C-5842-18AC759D7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126507"/>
              </p:ext>
            </p:extLst>
          </p:nvPr>
        </p:nvGraphicFramePr>
        <p:xfrm>
          <a:off x="181965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8D1D39-1A00-6FA4-60D7-2B57E37C955D}"/>
              </a:ext>
            </a:extLst>
          </p:cNvPr>
          <p:cNvCxnSpPr>
            <a:cxnSpLocks/>
          </p:cNvCxnSpPr>
          <p:nvPr/>
        </p:nvCxnSpPr>
        <p:spPr>
          <a:xfrm flipH="1">
            <a:off x="3447288" y="2176780"/>
            <a:ext cx="182880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8762C8-118E-6C52-955A-A68C5F16A540}"/>
              </a:ext>
            </a:extLst>
          </p:cNvPr>
          <p:cNvCxnSpPr>
            <a:cxnSpLocks/>
          </p:cNvCxnSpPr>
          <p:nvPr/>
        </p:nvCxnSpPr>
        <p:spPr>
          <a:xfrm>
            <a:off x="4242816" y="2176780"/>
            <a:ext cx="2478024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0242EF-59C2-77F3-7F58-11B891B6234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033969" y="2176780"/>
            <a:ext cx="2299519" cy="70231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D8CEA6-823D-BE45-FC89-42BB35B04F30}"/>
              </a:ext>
            </a:extLst>
          </p:cNvPr>
          <p:cNvCxnSpPr>
            <a:cxnSpLocks/>
          </p:cNvCxnSpPr>
          <p:nvPr/>
        </p:nvCxnSpPr>
        <p:spPr>
          <a:xfrm>
            <a:off x="5877405" y="2176780"/>
            <a:ext cx="2781963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23B440-617A-5626-8DC6-D255053B9EFC}"/>
              </a:ext>
            </a:extLst>
          </p:cNvPr>
          <p:cNvCxnSpPr>
            <a:cxnSpLocks/>
          </p:cNvCxnSpPr>
          <p:nvPr/>
        </p:nvCxnSpPr>
        <p:spPr>
          <a:xfrm flipH="1">
            <a:off x="2200500" y="2189591"/>
            <a:ext cx="4404947" cy="66548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B8C0599-0B3B-3D89-BDCC-9BB223593CFA}"/>
              </a:ext>
            </a:extLst>
          </p:cNvPr>
          <p:cNvSpPr txBox="1"/>
          <p:nvPr/>
        </p:nvSpPr>
        <p:spPr>
          <a:xfrm>
            <a:off x="1410653" y="410935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(1100, "str4")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AACAC96-1F27-9D7F-1D86-D1D94BBAFF7F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2136492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6ADD4C5-A2AF-F38E-3D1E-556B0AAADDB5}"/>
              </a:ext>
            </a:extLst>
          </p:cNvPr>
          <p:cNvSpPr txBox="1"/>
          <p:nvPr/>
        </p:nvSpPr>
        <p:spPr>
          <a:xfrm>
            <a:off x="2896977" y="4109351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(5, "str0")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03A798-0D43-7F4B-D33D-6B27688DC2C0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3447288" y="3650421"/>
            <a:ext cx="0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A163B7E-2DF0-6F30-F592-A8D68163EC89}"/>
              </a:ext>
            </a:extLst>
          </p:cNvPr>
          <p:cNvSpPr txBox="1"/>
          <p:nvPr/>
        </p:nvSpPr>
        <p:spPr>
          <a:xfrm>
            <a:off x="5995001" y="4081106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(4423, "str1")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D8CEBC-DD97-C9F3-1431-BC7A0C1B99CA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6720840" y="3622176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CC8A41E-BC3C-797E-4071-75E8ABABE401}"/>
              </a:ext>
            </a:extLst>
          </p:cNvPr>
          <p:cNvSpPr txBox="1"/>
          <p:nvPr/>
        </p:nvSpPr>
        <p:spPr>
          <a:xfrm>
            <a:off x="6888807" y="4450438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(9, "str2")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3A1A6D9-1E31-5B83-216E-82BE735D7C41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7439118" y="3650421"/>
            <a:ext cx="0" cy="80001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FD57CDE-D7DE-2E31-D88B-F010E6355706}"/>
              </a:ext>
            </a:extLst>
          </p:cNvPr>
          <p:cNvSpPr txBox="1"/>
          <p:nvPr/>
        </p:nvSpPr>
        <p:spPr>
          <a:xfrm>
            <a:off x="8098887" y="4109351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(25, "str3")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B41BCBD-0D17-ABE6-07B7-8AA3876B21D0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8707707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220D491-B952-0D8C-4157-61D874383B4A}"/>
              </a:ext>
            </a:extLst>
          </p:cNvPr>
          <p:cNvSpPr txBox="1"/>
          <p:nvPr/>
        </p:nvSpPr>
        <p:spPr>
          <a:xfrm>
            <a:off x="776614" y="5134293"/>
            <a:ext cx="1663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Lookup (25)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BCB9A3-5BA6-07F7-F508-3F1882A04E22}"/>
              </a:ext>
            </a:extLst>
          </p:cNvPr>
          <p:cNvSpPr txBox="1"/>
          <p:nvPr/>
        </p:nvSpPr>
        <p:spPr>
          <a:xfrm>
            <a:off x="3179132" y="5134292"/>
            <a:ext cx="6340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Wingdings" pitchFamily="2" charset="2"/>
              </a:rPr>
              <a:t>Calculate hash index: hash(25) = (25*7) % 11 = 10</a:t>
            </a:r>
            <a:endParaRPr lang="en-US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E22149-4CBD-C5F9-26A8-C030349BCF48}"/>
              </a:ext>
            </a:extLst>
          </p:cNvPr>
          <p:cNvSpPr txBox="1"/>
          <p:nvPr/>
        </p:nvSpPr>
        <p:spPr>
          <a:xfrm>
            <a:off x="3179132" y="5591522"/>
            <a:ext cx="327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Check if index 10 is NULL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D03598-FAC2-6EB0-B141-0D452B1FDD4C}"/>
              </a:ext>
            </a:extLst>
          </p:cNvPr>
          <p:cNvSpPr txBox="1"/>
          <p:nvPr/>
        </p:nvSpPr>
        <p:spPr>
          <a:xfrm>
            <a:off x="3179132" y="6094002"/>
            <a:ext cx="6434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key associated with index 10 </a:t>
            </a:r>
            <a:r>
              <a:rPr lang="en-US" sz="2400" i="1" dirty="0"/>
              <a:t>is</a:t>
            </a:r>
            <a:r>
              <a:rPr lang="en-US" sz="2400" dirty="0"/>
              <a:t> 25 </a:t>
            </a:r>
            <a:r>
              <a:rPr lang="en-US" sz="2400" dirty="0">
                <a:sym typeface="Wingdings" pitchFamily="2" charset="2"/>
              </a:rPr>
              <a:t> match!</a:t>
            </a:r>
            <a:endParaRPr lang="en-US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99AF87-F980-E11C-C271-D53E5B2C2B92}"/>
              </a:ext>
            </a:extLst>
          </p:cNvPr>
          <p:cNvSpPr txBox="1"/>
          <p:nvPr/>
        </p:nvSpPr>
        <p:spPr>
          <a:xfrm>
            <a:off x="8979029" y="3041162"/>
            <a:ext cx="2062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hash table</a:t>
            </a:r>
            <a:r>
              <a:rPr lang="en-US" sz="2400" dirty="0"/>
              <a:t>:</a:t>
            </a:r>
          </a:p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[11]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54C01DF-05CF-F669-8801-201FEA47BD48}"/>
              </a:ext>
            </a:extLst>
          </p:cNvPr>
          <p:cNvSpPr/>
          <p:nvPr/>
        </p:nvSpPr>
        <p:spPr>
          <a:xfrm>
            <a:off x="8397957" y="2898287"/>
            <a:ext cx="581072" cy="849692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0BFC9A3-BCA5-9820-F7D4-834DB46D90F6}"/>
              </a:ext>
            </a:extLst>
          </p:cNvPr>
          <p:cNvSpPr/>
          <p:nvPr/>
        </p:nvSpPr>
        <p:spPr>
          <a:xfrm>
            <a:off x="8146633" y="4087221"/>
            <a:ext cx="451602" cy="42484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7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4" grpId="0" animBg="1"/>
      <p:bldP spid="5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4498-6A6D-DEC0-DE0F-66E9108A4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7E31FA-262E-A983-3BEF-DD9527FF2F25}"/>
              </a:ext>
            </a:extLst>
          </p:cNvPr>
          <p:cNvSpPr txBox="1">
            <a:spLocks/>
          </p:cNvSpPr>
          <p:nvPr/>
        </p:nvSpPr>
        <p:spPr>
          <a:xfrm>
            <a:off x="83820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Given D = {5: "str0", 4423: "str1", 9: "str2", 25: "str3", 1100: "str4"}</a:t>
            </a:r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0F906AFE-F9F2-326F-12CA-3BC8666AC1F4}"/>
              </a:ext>
            </a:extLst>
          </p:cNvPr>
          <p:cNvGraphicFramePr>
            <a:graphicFrameLocks noGrp="1"/>
          </p:cNvGraphicFramePr>
          <p:nvPr/>
        </p:nvGraphicFramePr>
        <p:xfrm>
          <a:off x="3179132" y="1780540"/>
          <a:ext cx="3709675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35">
                  <a:extLst>
                    <a:ext uri="{9D8B030D-6E8A-4147-A177-3AD203B41FA5}">
                      <a16:colId xmlns:a16="http://schemas.microsoft.com/office/drawing/2014/main" val="1956186995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764214734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2442854473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3489725889"/>
                    </a:ext>
                  </a:extLst>
                </a:gridCol>
                <a:gridCol w="741935">
                  <a:extLst>
                    <a:ext uri="{9D8B030D-6E8A-4147-A177-3AD203B41FA5}">
                      <a16:colId xmlns:a16="http://schemas.microsoft.com/office/drawing/2014/main" val="40616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416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5C003D-48BE-529B-DCCA-00F0E6D0424D}"/>
              </a:ext>
            </a:extLst>
          </p:cNvPr>
          <p:cNvSpPr txBox="1"/>
          <p:nvPr/>
        </p:nvSpPr>
        <p:spPr>
          <a:xfrm>
            <a:off x="7620744" y="2182370"/>
            <a:ext cx="33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index = </a:t>
            </a:r>
            <a:r>
              <a:rPr lang="en-US" sz="2400" b="1" dirty="0">
                <a:solidFill>
                  <a:srgbClr val="C00000"/>
                </a:solidFill>
              </a:rPr>
              <a:t>(key * 7) % 11</a:t>
            </a:r>
            <a:endParaRPr lang="en-US" sz="2400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567EB77-216B-12C3-A2E4-8DB76A65079C}"/>
              </a:ext>
            </a:extLst>
          </p:cNvPr>
          <p:cNvGraphicFramePr>
            <a:graphicFrameLocks noGrp="1"/>
          </p:cNvGraphicFramePr>
          <p:nvPr/>
        </p:nvGraphicFramePr>
        <p:xfrm>
          <a:off x="181965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8754179A-988F-8E5C-5842-18AC759D7593}"/>
              </a:ext>
            </a:extLst>
          </p:cNvPr>
          <p:cNvGraphicFramePr>
            <a:graphicFrameLocks noGrp="1"/>
          </p:cNvGraphicFramePr>
          <p:nvPr/>
        </p:nvGraphicFramePr>
        <p:xfrm>
          <a:off x="181965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8D1D39-1A00-6FA4-60D7-2B57E37C955D}"/>
              </a:ext>
            </a:extLst>
          </p:cNvPr>
          <p:cNvCxnSpPr>
            <a:cxnSpLocks/>
          </p:cNvCxnSpPr>
          <p:nvPr/>
        </p:nvCxnSpPr>
        <p:spPr>
          <a:xfrm flipH="1">
            <a:off x="3447288" y="2176780"/>
            <a:ext cx="182880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8762C8-118E-6C52-955A-A68C5F16A540}"/>
              </a:ext>
            </a:extLst>
          </p:cNvPr>
          <p:cNvCxnSpPr>
            <a:cxnSpLocks/>
          </p:cNvCxnSpPr>
          <p:nvPr/>
        </p:nvCxnSpPr>
        <p:spPr>
          <a:xfrm>
            <a:off x="4242816" y="2176780"/>
            <a:ext cx="2478024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0242EF-59C2-77F3-7F58-11B891B6234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033969" y="2176780"/>
            <a:ext cx="2299519" cy="70231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D8CEA6-823D-BE45-FC89-42BB35B04F30}"/>
              </a:ext>
            </a:extLst>
          </p:cNvPr>
          <p:cNvCxnSpPr>
            <a:cxnSpLocks/>
          </p:cNvCxnSpPr>
          <p:nvPr/>
        </p:nvCxnSpPr>
        <p:spPr>
          <a:xfrm>
            <a:off x="5877405" y="2176780"/>
            <a:ext cx="2781963" cy="7142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23B440-617A-5626-8DC6-D255053B9EFC}"/>
              </a:ext>
            </a:extLst>
          </p:cNvPr>
          <p:cNvCxnSpPr>
            <a:cxnSpLocks/>
          </p:cNvCxnSpPr>
          <p:nvPr/>
        </p:nvCxnSpPr>
        <p:spPr>
          <a:xfrm flipH="1">
            <a:off x="2200500" y="2189591"/>
            <a:ext cx="4404947" cy="66548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B8C0599-0B3B-3D89-BDCC-9BB223593CFA}"/>
              </a:ext>
            </a:extLst>
          </p:cNvPr>
          <p:cNvSpPr txBox="1"/>
          <p:nvPr/>
        </p:nvSpPr>
        <p:spPr>
          <a:xfrm>
            <a:off x="1410653" y="410935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(1100, "str4")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AACAC96-1F27-9D7F-1D86-D1D94BBAFF7F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2136492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6ADD4C5-A2AF-F38E-3D1E-556B0AAADDB5}"/>
              </a:ext>
            </a:extLst>
          </p:cNvPr>
          <p:cNvSpPr txBox="1"/>
          <p:nvPr/>
        </p:nvSpPr>
        <p:spPr>
          <a:xfrm>
            <a:off x="2896977" y="4109351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(5, "str0")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03A798-0D43-7F4B-D33D-6B27688DC2C0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3447288" y="3650421"/>
            <a:ext cx="0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A163B7E-2DF0-6F30-F592-A8D68163EC89}"/>
              </a:ext>
            </a:extLst>
          </p:cNvPr>
          <p:cNvSpPr txBox="1"/>
          <p:nvPr/>
        </p:nvSpPr>
        <p:spPr>
          <a:xfrm>
            <a:off x="5995001" y="4081106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(4423, "str1")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D8CEBC-DD97-C9F3-1431-BC7A0C1B99CA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6720840" y="3622176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CC8A41E-BC3C-797E-4071-75E8ABABE401}"/>
              </a:ext>
            </a:extLst>
          </p:cNvPr>
          <p:cNvSpPr txBox="1"/>
          <p:nvPr/>
        </p:nvSpPr>
        <p:spPr>
          <a:xfrm>
            <a:off x="6888807" y="4450438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(9, "str2")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3A1A6D9-1E31-5B83-216E-82BE735D7C41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7439118" y="3650421"/>
            <a:ext cx="0" cy="80001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FD57CDE-D7DE-2E31-D88B-F010E6355706}"/>
              </a:ext>
            </a:extLst>
          </p:cNvPr>
          <p:cNvSpPr txBox="1"/>
          <p:nvPr/>
        </p:nvSpPr>
        <p:spPr>
          <a:xfrm>
            <a:off x="8098887" y="4109351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(25, "str3")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B41BCBD-0D17-ABE6-07B7-8AA3876B21D0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8707707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220D491-B952-0D8C-4157-61D874383B4A}"/>
              </a:ext>
            </a:extLst>
          </p:cNvPr>
          <p:cNvSpPr txBox="1"/>
          <p:nvPr/>
        </p:nvSpPr>
        <p:spPr>
          <a:xfrm>
            <a:off x="776614" y="5134293"/>
            <a:ext cx="1663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Lookup (14)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BCB9A3-5BA6-07F7-F508-3F1882A04E22}"/>
              </a:ext>
            </a:extLst>
          </p:cNvPr>
          <p:cNvSpPr txBox="1"/>
          <p:nvPr/>
        </p:nvSpPr>
        <p:spPr>
          <a:xfrm>
            <a:off x="3179132" y="5134292"/>
            <a:ext cx="6340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Wingdings" pitchFamily="2" charset="2"/>
              </a:rPr>
              <a:t>Calculate hash index: hash(14) = (14*7) % 11 = 10</a:t>
            </a:r>
            <a:endParaRPr lang="en-US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E22149-4CBD-C5F9-26A8-C030349BCF48}"/>
              </a:ext>
            </a:extLst>
          </p:cNvPr>
          <p:cNvSpPr txBox="1"/>
          <p:nvPr/>
        </p:nvSpPr>
        <p:spPr>
          <a:xfrm>
            <a:off x="3179132" y="5591522"/>
            <a:ext cx="327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Check if index 10 is NULL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D03598-FAC2-6EB0-B141-0D452B1FDD4C}"/>
              </a:ext>
            </a:extLst>
          </p:cNvPr>
          <p:cNvSpPr txBox="1"/>
          <p:nvPr/>
        </p:nvSpPr>
        <p:spPr>
          <a:xfrm>
            <a:off x="3179132" y="6094002"/>
            <a:ext cx="7171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key associated with index 10 </a:t>
            </a:r>
            <a:r>
              <a:rPr lang="en-US" sz="2400" i="1" dirty="0"/>
              <a:t>is not</a:t>
            </a:r>
            <a:r>
              <a:rPr lang="en-US" sz="2400" dirty="0"/>
              <a:t> 14 </a:t>
            </a:r>
            <a:r>
              <a:rPr lang="en-US" sz="2400" dirty="0">
                <a:sym typeface="Wingdings" pitchFamily="2" charset="2"/>
              </a:rPr>
              <a:t> no match!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89CEE-DD02-3C17-284A-574573144CD1}"/>
              </a:ext>
            </a:extLst>
          </p:cNvPr>
          <p:cNvSpPr txBox="1"/>
          <p:nvPr/>
        </p:nvSpPr>
        <p:spPr>
          <a:xfrm>
            <a:off x="8979029" y="3041162"/>
            <a:ext cx="2062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hash table</a:t>
            </a:r>
            <a:r>
              <a:rPr lang="en-US" sz="2400" dirty="0"/>
              <a:t>:</a:t>
            </a:r>
          </a:p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[11]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9489C4-DA20-A641-09FB-C51FACE2821D}"/>
              </a:ext>
            </a:extLst>
          </p:cNvPr>
          <p:cNvSpPr/>
          <p:nvPr/>
        </p:nvSpPr>
        <p:spPr>
          <a:xfrm>
            <a:off x="8397957" y="2898287"/>
            <a:ext cx="581072" cy="849692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9BE7E0-9D4A-583B-5592-DB486CA154B1}"/>
              </a:ext>
            </a:extLst>
          </p:cNvPr>
          <p:cNvSpPr/>
          <p:nvPr/>
        </p:nvSpPr>
        <p:spPr>
          <a:xfrm>
            <a:off x="8146633" y="4087221"/>
            <a:ext cx="451602" cy="42484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2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EFE7-FDD8-8E90-AED1-3CAD371B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AFBA2C-DA91-3BCE-F655-8FF6458A52FC}"/>
              </a:ext>
            </a:extLst>
          </p:cNvPr>
          <p:cNvSpPr txBox="1"/>
          <p:nvPr/>
        </p:nvSpPr>
        <p:spPr>
          <a:xfrm>
            <a:off x="7353300" y="243512"/>
            <a:ext cx="4396740" cy="63709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#define SIZE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11</a:t>
            </a: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pair pair;</a:t>
            </a:r>
            <a:endParaRPr lang="en-US" sz="12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pair{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key;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</a:p>
          <a:p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hash(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 *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% SIZE;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lookup(pair **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key){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index = hash(key);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 !=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&amp;&amp; </a:t>
            </a:r>
            <a:endParaRPr lang="en-US" sz="1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[index]-&gt;key == key)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appears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does not appear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key);</a:t>
            </a:r>
            <a:endParaRPr lang="en-US" sz="12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pair*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[SIZE];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SIZE;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 pr0 = {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"str0"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[hash(pr0.key)] = &amp;pr0;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 pr1 = {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4423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"str1"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[hash(pr1.key)] = &amp;pr1;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 pr2 = {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"str2"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[hash(pr2.key)] = &amp;pr2;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 pr3 = {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"str3"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[hash(pr3.key)] = &amp;pr3;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 pr4 = {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1100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"str4"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[hash(pr4.key)] = &amp;pr4;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lookup(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lookup(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lookup(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14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6BB24A0-FBE3-BCE4-4639-252648E72F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2912"/>
          <a:stretch/>
        </p:blipFill>
        <p:spPr>
          <a:xfrm>
            <a:off x="-1" y="1323848"/>
            <a:ext cx="7265675" cy="2534920"/>
          </a:xfrm>
          <a:prstGeom prst="rect">
            <a:avLst/>
          </a:prstGeom>
        </p:spPr>
      </p:pic>
      <p:sp>
        <p:nvSpPr>
          <p:cNvPr id="102" name="Rectangle 101">
            <a:extLst>
              <a:ext uri="{FF2B5EF4-FFF2-40B4-BE49-F238E27FC236}">
                <a16:creationId xmlns:a16="http://schemas.microsoft.com/office/drawing/2014/main" id="{50BF37A0-967F-E989-A199-E4919ECA2CED}"/>
              </a:ext>
            </a:extLst>
          </p:cNvPr>
          <p:cNvSpPr/>
          <p:nvPr/>
        </p:nvSpPr>
        <p:spPr>
          <a:xfrm>
            <a:off x="7571973" y="3364993"/>
            <a:ext cx="3236235" cy="245973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BAAAE80-24FD-5E24-5F95-5D3842B465A5}"/>
              </a:ext>
            </a:extLst>
          </p:cNvPr>
          <p:cNvSpPr/>
          <p:nvPr/>
        </p:nvSpPr>
        <p:spPr>
          <a:xfrm>
            <a:off x="7395973" y="646177"/>
            <a:ext cx="3147060" cy="935735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18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EFE7-FDD8-8E90-AED1-3CAD371B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AFBA2C-DA91-3BCE-F655-8FF6458A52FC}"/>
              </a:ext>
            </a:extLst>
          </p:cNvPr>
          <p:cNvSpPr txBox="1"/>
          <p:nvPr/>
        </p:nvSpPr>
        <p:spPr>
          <a:xfrm>
            <a:off x="7353300" y="243512"/>
            <a:ext cx="4396740" cy="63709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#define SIZE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11</a:t>
            </a: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pair pair;</a:t>
            </a:r>
            <a:endParaRPr lang="en-US" sz="12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pair{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key;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</a:p>
          <a:p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hash(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 *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% SIZE;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lookup(pair **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key){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index = hash(key);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 !=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&amp;&amp; </a:t>
            </a:r>
            <a:endParaRPr lang="en-US" sz="1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[index]-&gt;key == key)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appears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does not appear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key);</a:t>
            </a:r>
            <a:endParaRPr lang="en-US" sz="12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pair*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[SIZE];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SIZE;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 pr0 = {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"str0"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[hash(pr0.key)] = &amp;pr0;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 pr1 = {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4423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"str1"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[hash(pr1.key)] = &amp;pr1;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 pr2 = {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"str2"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[hash(pr2.key)] = &amp;pr2;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 pr3 = {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"str3"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[hash(pr3.key)] = &amp;pr3;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pair pr4 = {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1100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"str4"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[hash(pr4.key)] = &amp;pr4;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lookup(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lookup(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lookup(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14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6BB24A0-FBE3-BCE4-4639-252648E72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23848"/>
            <a:ext cx="7265675" cy="377850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343283-4296-72ED-5AF9-82A775A65671}"/>
              </a:ext>
            </a:extLst>
          </p:cNvPr>
          <p:cNvSpPr/>
          <p:nvPr/>
        </p:nvSpPr>
        <p:spPr>
          <a:xfrm>
            <a:off x="7353300" y="1655065"/>
            <a:ext cx="4223004" cy="1444751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15138C-8825-AD3A-610A-5CEF9631218B}"/>
              </a:ext>
            </a:extLst>
          </p:cNvPr>
          <p:cNvSpPr/>
          <p:nvPr/>
        </p:nvSpPr>
        <p:spPr>
          <a:xfrm>
            <a:off x="1706880" y="3938017"/>
            <a:ext cx="5068824" cy="1164335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0F9A-B534-535D-C01B-D14F2EF4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C05F2BB-7317-D623-F52B-4F4924D2B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371821"/>
              </p:ext>
            </p:extLst>
          </p:nvPr>
        </p:nvGraphicFramePr>
        <p:xfrm>
          <a:off x="687011" y="1678253"/>
          <a:ext cx="10322364" cy="3014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2146">
                  <a:extLst>
                    <a:ext uri="{9D8B030D-6E8A-4147-A177-3AD203B41FA5}">
                      <a16:colId xmlns:a16="http://schemas.microsoft.com/office/drawing/2014/main" val="2431880483"/>
                    </a:ext>
                  </a:extLst>
                </a:gridCol>
                <a:gridCol w="3133456">
                  <a:extLst>
                    <a:ext uri="{9D8B030D-6E8A-4147-A177-3AD203B41FA5}">
                      <a16:colId xmlns:a16="http://schemas.microsoft.com/office/drawing/2014/main" val="1218337079"/>
                    </a:ext>
                  </a:extLst>
                </a:gridCol>
                <a:gridCol w="2706762">
                  <a:extLst>
                    <a:ext uri="{9D8B030D-6E8A-4147-A177-3AD203B41FA5}">
                      <a16:colId xmlns:a16="http://schemas.microsoft.com/office/drawing/2014/main" val="3674989815"/>
                    </a:ext>
                  </a:extLst>
                </a:gridCol>
              </a:tblGrid>
              <a:tr h="547956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Time to lookup a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Space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610654"/>
                  </a:ext>
                </a:extLst>
              </a:tr>
              <a:tr h="547956">
                <a:tc>
                  <a:txBody>
                    <a:bodyPr/>
                    <a:lstStyle/>
                    <a:p>
                      <a:r>
                        <a:rPr lang="en-US" sz="2400" dirty="0"/>
                        <a:t>Idea #1: Exhaustive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429444"/>
                  </a:ext>
                </a:extLst>
              </a:tr>
              <a:tr h="547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Idea #2: Sort then binary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697258"/>
                  </a:ext>
                </a:extLst>
              </a:tr>
              <a:tr h="775076">
                <a:tc>
                  <a:txBody>
                    <a:bodyPr/>
                    <a:lstStyle/>
                    <a:p>
                      <a:r>
                        <a:rPr lang="en-US" sz="2400" dirty="0"/>
                        <a:t>Idea #3: Create and check a counting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O(max key)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2548"/>
                  </a:ext>
                </a:extLst>
              </a:tr>
              <a:tr h="547956">
                <a:tc>
                  <a:txBody>
                    <a:bodyPr/>
                    <a:lstStyle/>
                    <a:p>
                      <a:r>
                        <a:rPr lang="en-US" sz="2400" dirty="0"/>
                        <a:t>Idea #4: Hash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O(m)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0343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41AC7F-2BEF-A498-4158-4697DF855592}"/>
              </a:ext>
            </a:extLst>
          </p:cNvPr>
          <p:cNvSpPr txBox="1"/>
          <p:nvPr/>
        </p:nvSpPr>
        <p:spPr>
          <a:xfrm>
            <a:off x="713232" y="1051560"/>
            <a:ext cx="87780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Given a dictionary </a:t>
            </a:r>
            <a:r>
              <a:rPr lang="en-US" sz="2400" i="1" dirty="0"/>
              <a:t>D</a:t>
            </a:r>
            <a:r>
              <a:rPr lang="en-US" sz="2400" dirty="0"/>
              <a:t>, check whether a given integer </a:t>
            </a:r>
            <a:r>
              <a:rPr lang="en-US" sz="2400" i="1" dirty="0"/>
              <a:t>key</a:t>
            </a:r>
            <a:r>
              <a:rPr lang="en-US" sz="2400" dirty="0"/>
              <a:t> appears in </a:t>
            </a:r>
            <a:r>
              <a:rPr lang="en-US" sz="2400" i="1" dirty="0"/>
              <a:t>D</a:t>
            </a:r>
            <a:r>
              <a:rPr lang="en-US" sz="2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6BDA1-3224-BAAF-CA20-D5C13C14CA25}"/>
              </a:ext>
            </a:extLst>
          </p:cNvPr>
          <p:cNvSpPr txBox="1"/>
          <p:nvPr/>
        </p:nvSpPr>
        <p:spPr>
          <a:xfrm>
            <a:off x="754691" y="4858065"/>
            <a:ext cx="103223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m</a:t>
            </a:r>
            <a:r>
              <a:rPr lang="en-US" sz="2800" dirty="0"/>
              <a:t> is the hash table size</a:t>
            </a:r>
            <a:r>
              <a:rPr lang="en-US" sz="2800" i="1" dirty="0"/>
              <a:t>. Usually, m is proportional to n, not max key. </a:t>
            </a:r>
          </a:p>
          <a:p>
            <a:r>
              <a:rPr lang="en-US" sz="2800" i="1" dirty="0"/>
              <a:t>Does this apply to other key types (e.g., strings)? </a:t>
            </a:r>
          </a:p>
          <a:p>
            <a:r>
              <a:rPr lang="en-US" sz="2800" i="1" dirty="0"/>
              <a:t>How to avoid collisions? How handle collisions? </a:t>
            </a:r>
          </a:p>
          <a:p>
            <a:r>
              <a:rPr lang="en-US" sz="2800" b="1" i="1" dirty="0"/>
              <a:t>Next lecture!</a:t>
            </a:r>
          </a:p>
        </p:txBody>
      </p:sp>
    </p:spTree>
    <p:extLst>
      <p:ext uri="{BB962C8B-B14F-4D97-AF65-F5344CB8AC3E}">
        <p14:creationId xmlns:p14="http://schemas.microsoft.com/office/powerpoint/2010/main" val="1323630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36261</TotalTime>
  <Words>2864</Words>
  <Application>Microsoft Macintosh PowerPoint</Application>
  <PresentationFormat>Widescreen</PresentationFormat>
  <Paragraphs>492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Menlo</vt:lpstr>
      <vt:lpstr>Wingdings</vt:lpstr>
      <vt:lpstr>Office Theme</vt:lpstr>
      <vt:lpstr>Hash Table (1)  CMSC 14300: System Programming I 20th Lecture</vt:lpstr>
      <vt:lpstr>Motivation</vt:lpstr>
      <vt:lpstr>Abstraction: Dictionaries, Sets, &amp; Key Lookup</vt:lpstr>
      <vt:lpstr>Integer Lookup</vt:lpstr>
      <vt:lpstr>Idea #1: Create an array of keys and search exhaustively</vt:lpstr>
      <vt:lpstr>Idea #2: Sort first, then binary search</vt:lpstr>
      <vt:lpstr>Idea #3: Create and check a counter array</vt:lpstr>
      <vt:lpstr>Recap: Performance of Integer Key Lookup</vt:lpstr>
      <vt:lpstr>Hash Table</vt:lpstr>
      <vt:lpstr>Revisit "Counter Array"</vt:lpstr>
      <vt:lpstr>Revisit "Counter Array"</vt:lpstr>
      <vt:lpstr>Hashing Integers</vt:lpstr>
      <vt:lpstr>Hashing Integers</vt:lpstr>
      <vt:lpstr>Hashing Integers</vt:lpstr>
      <vt:lpstr>Example: </vt:lpstr>
      <vt:lpstr>Example: </vt:lpstr>
      <vt:lpstr>Example: </vt:lpstr>
      <vt:lpstr>Example: </vt:lpstr>
      <vt:lpstr>Code example</vt:lpstr>
      <vt:lpstr>Code example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1222</cp:revision>
  <dcterms:created xsi:type="dcterms:W3CDTF">2023-03-12T16:00:37Z</dcterms:created>
  <dcterms:modified xsi:type="dcterms:W3CDTF">2023-05-09T15:00:59Z</dcterms:modified>
</cp:coreProperties>
</file>