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340" r:id="rId3"/>
    <p:sldId id="376" r:id="rId4"/>
    <p:sldId id="384" r:id="rId5"/>
    <p:sldId id="387" r:id="rId6"/>
    <p:sldId id="310" r:id="rId7"/>
    <p:sldId id="399" r:id="rId8"/>
    <p:sldId id="388" r:id="rId9"/>
    <p:sldId id="389" r:id="rId10"/>
    <p:sldId id="405" r:id="rId11"/>
    <p:sldId id="390" r:id="rId12"/>
    <p:sldId id="407" r:id="rId13"/>
    <p:sldId id="408" r:id="rId14"/>
    <p:sldId id="409" r:id="rId15"/>
    <p:sldId id="406" r:id="rId16"/>
    <p:sldId id="411" r:id="rId17"/>
    <p:sldId id="400" r:id="rId18"/>
    <p:sldId id="413" r:id="rId19"/>
    <p:sldId id="401" r:id="rId20"/>
    <p:sldId id="402" r:id="rId21"/>
    <p:sldId id="343" r:id="rId22"/>
    <p:sldId id="362" r:id="rId23"/>
    <p:sldId id="363" r:id="rId24"/>
    <p:sldId id="344" r:id="rId25"/>
    <p:sldId id="347" r:id="rId26"/>
    <p:sldId id="348" r:id="rId27"/>
    <p:sldId id="359" r:id="rId28"/>
    <p:sldId id="350" r:id="rId29"/>
    <p:sldId id="360" r:id="rId30"/>
    <p:sldId id="361" r:id="rId31"/>
    <p:sldId id="368" r:id="rId32"/>
    <p:sldId id="349" r:id="rId33"/>
    <p:sldId id="385" r:id="rId34"/>
    <p:sldId id="367" r:id="rId35"/>
    <p:sldId id="386" r:id="rId36"/>
    <p:sldId id="393" r:id="rId37"/>
    <p:sldId id="395" r:id="rId38"/>
    <p:sldId id="41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5D1C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6"/>
    <p:restoredTop sz="80919"/>
  </p:normalViewPr>
  <p:slideViewPr>
    <p:cSldViewPr snapToGrid="0">
      <p:cViewPr>
        <p:scale>
          <a:sx n="120" d="100"/>
          <a:sy n="120" d="100"/>
        </p:scale>
        <p:origin x="4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4/9/23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8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33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97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4/9/23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Pointer, Stack, Memory Leak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10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B4499-5655-F2BD-B8EA-0FCA6F8F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4EF64-3F52-025F-C947-9B596BEC8305}"/>
              </a:ext>
            </a:extLst>
          </p:cNvPr>
          <p:cNvSpPr txBox="1"/>
          <p:nvPr/>
        </p:nvSpPr>
        <p:spPr>
          <a:xfrm>
            <a:off x="600075" y="1355551"/>
            <a:ext cx="93065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string is a char array that ends with the character '\0' as the terminator.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Pro: No need to explicit maintain its size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Con: Obtaining its length needs to scan the whole string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9893F-6F85-8CD0-6FFC-E2334CADDB90}"/>
              </a:ext>
            </a:extLst>
          </p:cNvPr>
          <p:cNvSpPr txBox="1"/>
          <p:nvPr/>
        </p:nvSpPr>
        <p:spPr>
          <a:xfrm>
            <a:off x="2126683" y="3643021"/>
            <a:ext cx="5634681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str[]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abc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  <a:r>
              <a:rPr lang="en-US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en-US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abc</a:t>
            </a:r>
            <a:endParaRPr lang="en-US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  <a:r>
              <a:rPr lang="en-US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// 0x16f9af604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*str);</a:t>
            </a:r>
            <a:r>
              <a:rPr lang="en-US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// a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081F1-DE32-3C65-DF35-0495A1C548F0}"/>
              </a:ext>
            </a:extLst>
          </p:cNvPr>
          <p:cNvSpPr txBox="1"/>
          <p:nvPr/>
        </p:nvSpPr>
        <p:spPr>
          <a:xfrm>
            <a:off x="10269593" y="2247074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3D3AF7-58F4-C7AB-D07C-8B3E77947578}"/>
              </a:ext>
            </a:extLst>
          </p:cNvPr>
          <p:cNvGrpSpPr/>
          <p:nvPr/>
        </p:nvGrpSpPr>
        <p:grpSpPr>
          <a:xfrm>
            <a:off x="10365985" y="2788381"/>
            <a:ext cx="894722" cy="3515162"/>
            <a:chOff x="9176035" y="1959362"/>
            <a:chExt cx="1488006" cy="351516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E7AE2E-02C1-7506-EC57-88F45B3478CF}"/>
                </a:ext>
              </a:extLst>
            </p:cNvPr>
            <p:cNvSpPr/>
            <p:nvPr/>
          </p:nvSpPr>
          <p:spPr>
            <a:xfrm>
              <a:off x="9176035" y="1959362"/>
              <a:ext cx="1488006" cy="351516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15B666-3805-93F8-079B-5A412360D57F}"/>
                </a:ext>
              </a:extLst>
            </p:cNvPr>
            <p:cNvSpPr txBox="1"/>
            <p:nvPr/>
          </p:nvSpPr>
          <p:spPr>
            <a:xfrm rot="5400000">
              <a:off x="9721106" y="4679130"/>
              <a:ext cx="397866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086A69-A591-8E98-DB15-1BAC6FEE1D34}"/>
                </a:ext>
              </a:extLst>
            </p:cNvPr>
            <p:cNvSpPr txBox="1"/>
            <p:nvPr/>
          </p:nvSpPr>
          <p:spPr>
            <a:xfrm rot="5400000">
              <a:off x="9726471" y="2172392"/>
              <a:ext cx="397866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F79700-3DAF-D426-3804-7D187CCA0CE2}"/>
                </a:ext>
              </a:extLst>
            </p:cNvPr>
            <p:cNvSpPr/>
            <p:nvPr/>
          </p:nvSpPr>
          <p:spPr>
            <a:xfrm>
              <a:off x="9176037" y="3258165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'c'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E6237C-2F44-A3ED-642C-FD2D431FBE04}"/>
                </a:ext>
              </a:extLst>
            </p:cNvPr>
            <p:cNvSpPr/>
            <p:nvPr/>
          </p:nvSpPr>
          <p:spPr>
            <a:xfrm>
              <a:off x="9176037" y="3687786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'b'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80282A-2B0A-A991-4B23-0864A689EEC2}"/>
                </a:ext>
              </a:extLst>
            </p:cNvPr>
            <p:cNvSpPr/>
            <p:nvPr/>
          </p:nvSpPr>
          <p:spPr>
            <a:xfrm>
              <a:off x="9176037" y="4116495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'a'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B90D172-88FD-917F-86F3-276BEAEB5CD0}"/>
              </a:ext>
            </a:extLst>
          </p:cNvPr>
          <p:cNvSpPr txBox="1"/>
          <p:nvPr/>
        </p:nvSpPr>
        <p:spPr>
          <a:xfrm>
            <a:off x="8522907" y="4930060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92AE86-EE1A-1C3A-263A-E13251F0FC0A}"/>
              </a:ext>
            </a:extLst>
          </p:cNvPr>
          <p:cNvCxnSpPr/>
          <p:nvPr/>
        </p:nvCxnSpPr>
        <p:spPr>
          <a:xfrm>
            <a:off x="10004177" y="5114726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8362A5C-AAD7-10CC-60DD-B8744AF4B824}"/>
              </a:ext>
            </a:extLst>
          </p:cNvPr>
          <p:cNvSpPr txBox="1"/>
          <p:nvPr/>
        </p:nvSpPr>
        <p:spPr>
          <a:xfrm>
            <a:off x="8522907" y="4501351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0x16f9af605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213143-2E23-F217-DC24-9C5207FE57F6}"/>
              </a:ext>
            </a:extLst>
          </p:cNvPr>
          <p:cNvCxnSpPr/>
          <p:nvPr/>
        </p:nvCxnSpPr>
        <p:spPr>
          <a:xfrm>
            <a:off x="10004177" y="4686017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A5D5D4D-F4DA-9952-67A0-252DD2F92680}"/>
              </a:ext>
            </a:extLst>
          </p:cNvPr>
          <p:cNvSpPr txBox="1"/>
          <p:nvPr/>
        </p:nvSpPr>
        <p:spPr>
          <a:xfrm>
            <a:off x="8522907" y="4065069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0x16f9af606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A93A12-47F8-D994-B841-4168C5C46F3D}"/>
              </a:ext>
            </a:extLst>
          </p:cNvPr>
          <p:cNvCxnSpPr/>
          <p:nvPr/>
        </p:nvCxnSpPr>
        <p:spPr>
          <a:xfrm>
            <a:off x="10004177" y="4249735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D9DBBC1-59B9-8AF7-8A3D-7A0FB447921B}"/>
              </a:ext>
            </a:extLst>
          </p:cNvPr>
          <p:cNvSpPr txBox="1"/>
          <p:nvPr/>
        </p:nvSpPr>
        <p:spPr>
          <a:xfrm>
            <a:off x="8514865" y="3643021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0x16f9af607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D72E9A-4126-E079-0C50-2ADD8BFF9E22}"/>
              </a:ext>
            </a:extLst>
          </p:cNvPr>
          <p:cNvCxnSpPr/>
          <p:nvPr/>
        </p:nvCxnSpPr>
        <p:spPr>
          <a:xfrm>
            <a:off x="9996135" y="3827687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10CE183-1574-B3BC-B83D-50725DEFFA9F}"/>
              </a:ext>
            </a:extLst>
          </p:cNvPr>
          <p:cNvSpPr/>
          <p:nvPr/>
        </p:nvSpPr>
        <p:spPr>
          <a:xfrm>
            <a:off x="10365984" y="3658475"/>
            <a:ext cx="894723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'\0'</a:t>
            </a:r>
          </a:p>
        </p:txBody>
      </p:sp>
    </p:spTree>
    <p:extLst>
      <p:ext uri="{BB962C8B-B14F-4D97-AF65-F5344CB8AC3E}">
        <p14:creationId xmlns:p14="http://schemas.microsoft.com/office/powerpoint/2010/main" val="4276675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422DC-1FD8-53E3-F38D-CA242E360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two strings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65177-8879-3C5F-0C45-7A8DE04649B0}"/>
              </a:ext>
            </a:extLst>
          </p:cNvPr>
          <p:cNvSpPr txBox="1"/>
          <p:nvPr/>
        </p:nvSpPr>
        <p:spPr>
          <a:xfrm>
            <a:off x="838200" y="1414562"/>
            <a:ext cx="5862502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my_strcmp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str1,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str2)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(*str1)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(*str1 != *str2)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str1++;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str2++;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*str1-*str2;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str1[]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abc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str2[]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abc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my_strcmp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(str1, str2));</a:t>
            </a:r>
            <a:r>
              <a:rPr lang="en-US" sz="160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// 0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str3[]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"ax"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my_strcmp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(str1, str3));</a:t>
            </a:r>
            <a:r>
              <a:rPr lang="en-US" sz="160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 //-22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769C9928-D966-A05B-DF4A-DB390064A535}"/>
              </a:ext>
            </a:extLst>
          </p:cNvPr>
          <p:cNvGraphicFramePr>
            <a:graphicFrameLocks noGrp="1"/>
          </p:cNvGraphicFramePr>
          <p:nvPr/>
        </p:nvGraphicFramePr>
        <p:xfrm>
          <a:off x="7068059" y="2530050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'a'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'b'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'c'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BAFD0A-59BF-3042-5E68-BB5A34B86B51}"/>
              </a:ext>
            </a:extLst>
          </p:cNvPr>
          <p:cNvGraphicFramePr>
            <a:graphicFrameLocks noGrp="1"/>
          </p:cNvGraphicFramePr>
          <p:nvPr/>
        </p:nvGraphicFramePr>
        <p:xfrm>
          <a:off x="7068059" y="3658469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'a'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'b'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'c'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24CD7F-539F-B103-7C8F-CB283B7A4250}"/>
              </a:ext>
            </a:extLst>
          </p:cNvPr>
          <p:cNvCxnSpPr/>
          <p:nvPr/>
        </p:nvCxnSpPr>
        <p:spPr>
          <a:xfrm>
            <a:off x="7537617" y="3111400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327F99-194B-F96C-F8E1-A49CF31F5DF8}"/>
              </a:ext>
            </a:extLst>
          </p:cNvPr>
          <p:cNvCxnSpPr/>
          <p:nvPr/>
        </p:nvCxnSpPr>
        <p:spPr>
          <a:xfrm>
            <a:off x="8419065" y="3110647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704874-878C-9960-A9C5-3FAC92B76009}"/>
              </a:ext>
            </a:extLst>
          </p:cNvPr>
          <p:cNvCxnSpPr/>
          <p:nvPr/>
        </p:nvCxnSpPr>
        <p:spPr>
          <a:xfrm>
            <a:off x="9300513" y="3110647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27DD44-F0A8-FA41-EED4-AEDF31FD59EB}"/>
              </a:ext>
            </a:extLst>
          </p:cNvPr>
          <p:cNvCxnSpPr/>
          <p:nvPr/>
        </p:nvCxnSpPr>
        <p:spPr>
          <a:xfrm>
            <a:off x="10227269" y="3110647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5D3C84-D58A-4FA8-CB5C-98E8854F3A2E}"/>
              </a:ext>
            </a:extLst>
          </p:cNvPr>
          <p:cNvCxnSpPr>
            <a:cxnSpLocks/>
          </p:cNvCxnSpPr>
          <p:nvPr/>
        </p:nvCxnSpPr>
        <p:spPr>
          <a:xfrm flipV="1">
            <a:off x="10305531" y="3341480"/>
            <a:ext cx="612481" cy="7206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7D3E5C8-635B-061E-CBFE-511DB478FDDB}"/>
              </a:ext>
            </a:extLst>
          </p:cNvPr>
          <p:cNvSpPr txBox="1"/>
          <p:nvPr/>
        </p:nvSpPr>
        <p:spPr>
          <a:xfrm>
            <a:off x="10918012" y="3098290"/>
            <a:ext cx="1198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return 0</a:t>
            </a:r>
          </a:p>
        </p:txBody>
      </p:sp>
      <p:graphicFrame>
        <p:nvGraphicFramePr>
          <p:cNvPr id="21" name="Table 10">
            <a:extLst>
              <a:ext uri="{FF2B5EF4-FFF2-40B4-BE49-F238E27FC236}">
                <a16:creationId xmlns:a16="http://schemas.microsoft.com/office/drawing/2014/main" id="{02411AB0-879C-4863-7EAF-8EB5738A7E6F}"/>
              </a:ext>
            </a:extLst>
          </p:cNvPr>
          <p:cNvGraphicFramePr>
            <a:graphicFrameLocks noGrp="1"/>
          </p:cNvGraphicFramePr>
          <p:nvPr/>
        </p:nvGraphicFramePr>
        <p:xfrm>
          <a:off x="7068059" y="4950208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'a'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'b'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'c'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0442AD4-C061-B7D2-9C70-7D64B20947BE}"/>
              </a:ext>
            </a:extLst>
          </p:cNvPr>
          <p:cNvGraphicFramePr>
            <a:graphicFrameLocks noGrp="1"/>
          </p:cNvGraphicFramePr>
          <p:nvPr/>
        </p:nvGraphicFramePr>
        <p:xfrm>
          <a:off x="7068059" y="6053913"/>
          <a:ext cx="2650527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'a'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'x'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32D44E-CAAE-93AA-53F1-3D58BF544CF5}"/>
              </a:ext>
            </a:extLst>
          </p:cNvPr>
          <p:cNvCxnSpPr/>
          <p:nvPr/>
        </p:nvCxnSpPr>
        <p:spPr>
          <a:xfrm>
            <a:off x="7537617" y="5482130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14D422-AD38-410B-80A8-9556C35EA98B}"/>
              </a:ext>
            </a:extLst>
          </p:cNvPr>
          <p:cNvCxnSpPr/>
          <p:nvPr/>
        </p:nvCxnSpPr>
        <p:spPr>
          <a:xfrm>
            <a:off x="8419065" y="5481377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8DCE75-7939-A25C-52EC-B5FAE03B52AE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8526155" y="5712210"/>
            <a:ext cx="612481" cy="7206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18FA228-D786-CF11-D81B-5C75238A0CA2}"/>
              </a:ext>
            </a:extLst>
          </p:cNvPr>
          <p:cNvSpPr txBox="1"/>
          <p:nvPr/>
        </p:nvSpPr>
        <p:spPr>
          <a:xfrm>
            <a:off x="9138636" y="5481377"/>
            <a:ext cx="1448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return -22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538E9A-12F1-02BB-5C05-C144025EE58E}"/>
              </a:ext>
            </a:extLst>
          </p:cNvPr>
          <p:cNvSpPr txBox="1"/>
          <p:nvPr/>
        </p:nvSpPr>
        <p:spPr>
          <a:xfrm>
            <a:off x="6864860" y="946178"/>
            <a:ext cx="48740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Compare two strings with </a:t>
            </a:r>
            <a:r>
              <a:rPr lang="en-US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strcmp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(a, b)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 is 0 if they are equal</a:t>
            </a:r>
            <a:b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 is 0 if a comes before b alphabetically </a:t>
            </a: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Else 0 </a:t>
            </a:r>
          </a:p>
        </p:txBody>
      </p:sp>
    </p:spTree>
    <p:extLst>
      <p:ext uri="{BB962C8B-B14F-4D97-AF65-F5344CB8AC3E}">
        <p14:creationId xmlns:p14="http://schemas.microsoft.com/office/powerpoint/2010/main" val="394493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422DC-1FD8-53E3-F38D-CA242E360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Concatenate two strings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65177-8879-3C5F-0C45-7A8DE04649B0}"/>
              </a:ext>
            </a:extLst>
          </p:cNvPr>
          <p:cNvSpPr txBox="1"/>
          <p:nvPr/>
        </p:nvSpPr>
        <p:spPr>
          <a:xfrm>
            <a:off x="197965" y="1997839"/>
            <a:ext cx="5436716" cy="33855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my_strcat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strcpy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dst+strlen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a[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], b[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strcpy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(a,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latin typeface="Menlo" panose="020B0609030804020204" pitchFamily="49" charset="0"/>
              </a:rPr>
              <a:t>abc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strcpy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(b,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latin typeface="Menlo" panose="020B0609030804020204" pitchFamily="49" charset="0"/>
              </a:rPr>
              <a:t>xyz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my_strcat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(a, b);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// </a:t>
            </a:r>
            <a:r>
              <a:rPr lang="en-US" sz="1600" dirty="0" err="1">
                <a:solidFill>
                  <a:srgbClr val="0070C0"/>
                </a:solidFill>
                <a:latin typeface="Menlo" panose="020B0609030804020204" pitchFamily="49" charset="0"/>
              </a:rPr>
              <a:t>abcxyz</a:t>
            </a:r>
            <a:endParaRPr lang="en-US" sz="160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  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BBA6B0A3-02F9-FCD5-E3B3-D84A906E8C6C}"/>
              </a:ext>
            </a:extLst>
          </p:cNvPr>
          <p:cNvGraphicFramePr>
            <a:graphicFrameLocks noGrp="1"/>
          </p:cNvGraphicFramePr>
          <p:nvPr/>
        </p:nvGraphicFramePr>
        <p:xfrm>
          <a:off x="5832380" y="1997839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'a'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'b'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'c'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3061D0-6906-0323-4624-C99167DC3910}"/>
              </a:ext>
            </a:extLst>
          </p:cNvPr>
          <p:cNvGraphicFramePr>
            <a:graphicFrameLocks noGrp="1"/>
          </p:cNvGraphicFramePr>
          <p:nvPr/>
        </p:nvGraphicFramePr>
        <p:xfrm>
          <a:off x="5832380" y="3171279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'x'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'y'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'z'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AC9298-16E1-0B55-50AF-145263E04D4A}"/>
              </a:ext>
            </a:extLst>
          </p:cNvPr>
          <p:cNvGraphicFramePr>
            <a:graphicFrameLocks noGrp="1"/>
          </p:cNvGraphicFramePr>
          <p:nvPr/>
        </p:nvGraphicFramePr>
        <p:xfrm>
          <a:off x="5832380" y="3171279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'x'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'y'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'z'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47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L 0.21797 -0.170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98" y="-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1476-1FD1-FF76-A2D8-F99EC94F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library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0F69C-C5CD-5BC7-993B-90DE9932E435}"/>
              </a:ext>
            </a:extLst>
          </p:cNvPr>
          <p:cNvSpPr txBox="1"/>
          <p:nvPr/>
        </p:nvSpPr>
        <p:spPr>
          <a:xfrm>
            <a:off x="838200" y="1507524"/>
            <a:ext cx="10310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Include </a:t>
            </a:r>
            <a:r>
              <a:rPr lang="en-US" sz="2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string.h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use the standard built-in functions: </a:t>
            </a:r>
            <a:r>
              <a:rPr lang="en-US" sz="2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strlen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strcpy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strcat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strcmp</a:t>
            </a:r>
            <a:endParaRPr lang="en-US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3C5F6-0E01-D7C7-99C6-DC0410CEB58D}"/>
              </a:ext>
            </a:extLst>
          </p:cNvPr>
          <p:cNvSpPr txBox="1"/>
          <p:nvPr/>
        </p:nvSpPr>
        <p:spPr>
          <a:xfrm>
            <a:off x="838200" y="2522557"/>
            <a:ext cx="5763116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string.h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s1[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s2[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s3[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strcpy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(s1,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abc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strcpy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(s2,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xyz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strcpy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(s3,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ijk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strcpy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(s1, s2);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s1 becomes "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xyz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"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strcat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(s1, s3);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s2 becomes "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xyzijk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lu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(s1));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6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s1);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xyzijk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4F08F7-5491-6DA8-DAEF-5BF4C0C7F9EC}"/>
              </a:ext>
            </a:extLst>
          </p:cNvPr>
          <p:cNvSpPr/>
          <p:nvPr/>
        </p:nvSpPr>
        <p:spPr>
          <a:xfrm>
            <a:off x="838200" y="2860907"/>
            <a:ext cx="2831757" cy="35184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AEECD04-BE64-173C-5FF9-3F4E5A9B2286}"/>
              </a:ext>
            </a:extLst>
          </p:cNvPr>
          <p:cNvSpPr/>
          <p:nvPr/>
        </p:nvSpPr>
        <p:spPr>
          <a:xfrm>
            <a:off x="1126525" y="3915350"/>
            <a:ext cx="1035908" cy="143512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0FBDFDF-73A2-873C-9D04-749FBDB05021}"/>
              </a:ext>
            </a:extLst>
          </p:cNvPr>
          <p:cNvSpPr/>
          <p:nvPr/>
        </p:nvSpPr>
        <p:spPr>
          <a:xfrm>
            <a:off x="3325664" y="5276334"/>
            <a:ext cx="1468758" cy="35184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9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C02A-BF3A-8F04-6603-A838884A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99F7-7128-50F7-1473-358F65051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Pointer Exercise</a:t>
            </a:r>
          </a:p>
          <a:p>
            <a:r>
              <a:rPr lang="en-US" dirty="0"/>
              <a:t>Iteration vs. Recursion</a:t>
            </a:r>
          </a:p>
          <a:p>
            <a:r>
              <a:rPr lang="en-US" dirty="0"/>
              <a:t>Memory Overread/Overwrite &amp; Memory Leak</a:t>
            </a:r>
          </a:p>
        </p:txBody>
      </p:sp>
    </p:spTree>
    <p:extLst>
      <p:ext uri="{BB962C8B-B14F-4D97-AF65-F5344CB8AC3E}">
        <p14:creationId xmlns:p14="http://schemas.microsoft.com/office/powerpoint/2010/main" val="3042742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E7298-8B6F-9051-3005-71B02F50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equality vs. value equality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11055-2B63-0378-8B3C-915F6139A462}"/>
              </a:ext>
            </a:extLst>
          </p:cNvPr>
          <p:cNvSpPr txBox="1"/>
          <p:nvPr/>
        </p:nvSpPr>
        <p:spPr>
          <a:xfrm>
            <a:off x="1201479" y="1562986"/>
            <a:ext cx="185820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*p = &amp;x;</a:t>
            </a:r>
          </a:p>
          <a:p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*q = &amp;y;</a:t>
            </a:r>
          </a:p>
          <a:p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*r = p;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B6960-F89F-6580-B75F-D66AAF4BEC46}"/>
              </a:ext>
            </a:extLst>
          </p:cNvPr>
          <p:cNvSpPr txBox="1"/>
          <p:nvPr/>
        </p:nvSpPr>
        <p:spPr>
          <a:xfrm>
            <a:off x="6879266" y="1562986"/>
            <a:ext cx="171874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== y?  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 == q?  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 == r?  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&amp;p == &amp;r?  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*p == *r?  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6784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32AD-A4CD-7010-4AED-F1EBCDAF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of Pointers and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27B32-4461-AD63-254F-FF47EE192026}"/>
              </a:ext>
            </a:extLst>
          </p:cNvPr>
          <p:cNvSpPr txBox="1"/>
          <p:nvPr/>
        </p:nvSpPr>
        <p:spPr>
          <a:xfrm>
            <a:off x="289907" y="1400298"/>
            <a:ext cx="5447325" cy="5047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y++;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"&amp;y: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y: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&amp;y, y);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0x754c, 11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y;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g(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*y)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(*y)++;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"&amp;y: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y: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*y: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&amp;y, y, *y);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0x7548, 0x75ac, 12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"&amp;x: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x: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&amp;x, x);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0x75ac, 10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f(x);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"&amp;x: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x: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&amp;x, x);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0x75ac, 11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g(&amp;x);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"&amp;x: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x: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&amp;x, x);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0x75ac, 12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841282B-E5EE-C68C-D817-9BB36BD24331}"/>
              </a:ext>
            </a:extLst>
          </p:cNvPr>
          <p:cNvGrpSpPr/>
          <p:nvPr/>
        </p:nvGrpSpPr>
        <p:grpSpPr>
          <a:xfrm>
            <a:off x="5950375" y="954597"/>
            <a:ext cx="3287856" cy="5538278"/>
            <a:chOff x="5950375" y="954597"/>
            <a:chExt cx="3287856" cy="55382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51E00A-064F-C003-A7F4-F3F3865541BD}"/>
                </a:ext>
              </a:extLst>
            </p:cNvPr>
            <p:cNvGrpSpPr/>
            <p:nvPr/>
          </p:nvGrpSpPr>
          <p:grpSpPr>
            <a:xfrm>
              <a:off x="7224958" y="954597"/>
              <a:ext cx="896130" cy="5538278"/>
              <a:chOff x="7211641" y="2940522"/>
              <a:chExt cx="896130" cy="189862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850C772-E43B-24D9-F1D7-6B6FACD51048}"/>
                  </a:ext>
                </a:extLst>
              </p:cNvPr>
              <p:cNvSpPr/>
              <p:nvPr/>
            </p:nvSpPr>
            <p:spPr>
              <a:xfrm>
                <a:off x="7211641" y="2964924"/>
                <a:ext cx="896130" cy="187422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53759C-EA88-8B7E-27AD-BB1A5E87273C}"/>
                  </a:ext>
                </a:extLst>
              </p:cNvPr>
              <p:cNvSpPr txBox="1"/>
              <p:nvPr/>
            </p:nvSpPr>
            <p:spPr>
              <a:xfrm rot="5400000">
                <a:off x="7539848" y="4484197"/>
                <a:ext cx="2461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…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556D81-845C-825D-159C-76601155160C}"/>
                  </a:ext>
                </a:extLst>
              </p:cNvPr>
              <p:cNvSpPr txBox="1"/>
              <p:nvPr/>
            </p:nvSpPr>
            <p:spPr>
              <a:xfrm rot="5400000">
                <a:off x="7539848" y="2832778"/>
                <a:ext cx="2461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…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7AEE6C-EDDE-D4D9-0A56-03B0AD4C1FB4}"/>
                </a:ext>
              </a:extLst>
            </p:cNvPr>
            <p:cNvSpPr/>
            <p:nvPr/>
          </p:nvSpPr>
          <p:spPr>
            <a:xfrm>
              <a:off x="7224955" y="1565523"/>
              <a:ext cx="896129" cy="1440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A995B8-8665-C951-9139-4EDE28E9E2C2}"/>
                </a:ext>
              </a:extLst>
            </p:cNvPr>
            <p:cNvSpPr txBox="1"/>
            <p:nvPr/>
          </p:nvSpPr>
          <p:spPr>
            <a:xfrm>
              <a:off x="8438012" y="2121123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6">
                      <a:lumMod val="7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main</a:t>
              </a:r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FC9E9590-965A-B90A-B9B7-1868DD17C653}"/>
                </a:ext>
              </a:extLst>
            </p:cNvPr>
            <p:cNvSpPr/>
            <p:nvPr/>
          </p:nvSpPr>
          <p:spPr>
            <a:xfrm>
              <a:off x="8162203" y="1565523"/>
              <a:ext cx="275809" cy="1440668"/>
            </a:xfrm>
            <a:prstGeom prst="rightBrace">
              <a:avLst>
                <a:gd name="adj1" fmla="val 30242"/>
                <a:gd name="adj2" fmla="val 50000"/>
              </a:avLst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43D5F5-05C9-1605-94BD-E77360D2A016}"/>
                </a:ext>
              </a:extLst>
            </p:cNvPr>
            <p:cNvSpPr/>
            <p:nvPr/>
          </p:nvSpPr>
          <p:spPr>
            <a:xfrm>
              <a:off x="7223471" y="3006195"/>
              <a:ext cx="896129" cy="13889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530905-0BA0-0F3C-5F05-18173212E43E}"/>
                </a:ext>
              </a:extLst>
            </p:cNvPr>
            <p:cNvSpPr txBox="1"/>
            <p:nvPr/>
          </p:nvSpPr>
          <p:spPr>
            <a:xfrm>
              <a:off x="8476540" y="3532988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</a:t>
              </a:r>
            </a:p>
          </p:txBody>
        </p: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434EF7EB-FC69-7CC8-FFE0-43D72AEA6326}"/>
                </a:ext>
              </a:extLst>
            </p:cNvPr>
            <p:cNvSpPr/>
            <p:nvPr/>
          </p:nvSpPr>
          <p:spPr>
            <a:xfrm>
              <a:off x="8162203" y="3070957"/>
              <a:ext cx="275813" cy="1324172"/>
            </a:xfrm>
            <a:prstGeom prst="rightBrace">
              <a:avLst>
                <a:gd name="adj1" fmla="val 30242"/>
                <a:gd name="adj2" fmla="val 50000"/>
              </a:avLst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9F6DF33-ADCF-16C4-331E-E1620982CCE2}"/>
                </a:ext>
              </a:extLst>
            </p:cNvPr>
            <p:cNvSpPr/>
            <p:nvPr/>
          </p:nvSpPr>
          <p:spPr>
            <a:xfrm>
              <a:off x="7239600" y="2262166"/>
              <a:ext cx="886863" cy="466445"/>
            </a:xfrm>
            <a:prstGeom prst="rect">
              <a:avLst/>
            </a:prstGeom>
            <a:noFill/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x=10</a:t>
              </a:r>
            </a:p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-&gt;11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11BD1CF-E677-9655-0101-E921DF09578E}"/>
                </a:ext>
              </a:extLst>
            </p:cNvPr>
            <p:cNvSpPr/>
            <p:nvPr/>
          </p:nvSpPr>
          <p:spPr>
            <a:xfrm>
              <a:off x="7226152" y="3747446"/>
              <a:ext cx="886863" cy="466445"/>
            </a:xfrm>
            <a:prstGeom prst="rect">
              <a:avLst/>
            </a:prstGeom>
            <a:noFill/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y=10 </a:t>
              </a:r>
            </a:p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-&gt;11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1E789C9-F5BF-F3B0-6E2C-2C40697D312C}"/>
                </a:ext>
              </a:extLst>
            </p:cNvPr>
            <p:cNvCxnSpPr>
              <a:cxnSpLocks/>
            </p:cNvCxnSpPr>
            <p:nvPr/>
          </p:nvCxnSpPr>
          <p:spPr>
            <a:xfrm>
              <a:off x="6841011" y="2741556"/>
              <a:ext cx="3800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AB2E157-052C-9436-FC5A-3FF7FFEE520B}"/>
                </a:ext>
              </a:extLst>
            </p:cNvPr>
            <p:cNvCxnSpPr>
              <a:cxnSpLocks/>
            </p:cNvCxnSpPr>
            <p:nvPr/>
          </p:nvCxnSpPr>
          <p:spPr>
            <a:xfrm>
              <a:off x="6820978" y="4213891"/>
              <a:ext cx="3800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4AAC118-48A3-7CDE-A199-1C9D699114A4}"/>
                </a:ext>
              </a:extLst>
            </p:cNvPr>
            <p:cNvSpPr txBox="1"/>
            <p:nvPr/>
          </p:nvSpPr>
          <p:spPr>
            <a:xfrm>
              <a:off x="5970408" y="2556890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0x</a:t>
              </a:r>
              <a:r>
                <a:rPr lang="en-US" dirty="0">
                  <a:solidFill>
                    <a:srgbClr val="00000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75ac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07346BA-8314-4E4A-8462-6F34C3864C31}"/>
                </a:ext>
              </a:extLst>
            </p:cNvPr>
            <p:cNvSpPr txBox="1"/>
            <p:nvPr/>
          </p:nvSpPr>
          <p:spPr>
            <a:xfrm>
              <a:off x="5950375" y="4029225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0x</a:t>
              </a:r>
              <a:r>
                <a:rPr lang="en-US" dirty="0">
                  <a:solidFill>
                    <a:srgbClr val="00000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754c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0C114D1-EC7B-A186-CA85-6F582148D0B7}"/>
              </a:ext>
            </a:extLst>
          </p:cNvPr>
          <p:cNvGrpSpPr/>
          <p:nvPr/>
        </p:nvGrpSpPr>
        <p:grpSpPr>
          <a:xfrm>
            <a:off x="8786046" y="954597"/>
            <a:ext cx="3287856" cy="5538278"/>
            <a:chOff x="8786046" y="954597"/>
            <a:chExt cx="3287856" cy="553827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6EC6276-F4DC-CE54-3F97-814DE2AE5FB0}"/>
                </a:ext>
              </a:extLst>
            </p:cNvPr>
            <p:cNvGrpSpPr/>
            <p:nvPr/>
          </p:nvGrpSpPr>
          <p:grpSpPr>
            <a:xfrm>
              <a:off x="10060629" y="954597"/>
              <a:ext cx="896130" cy="5538278"/>
              <a:chOff x="7211641" y="2940522"/>
              <a:chExt cx="896130" cy="1898624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29AF8A-0075-42BA-9020-70B6C1571817}"/>
                  </a:ext>
                </a:extLst>
              </p:cNvPr>
              <p:cNvSpPr/>
              <p:nvPr/>
            </p:nvSpPr>
            <p:spPr>
              <a:xfrm>
                <a:off x="7211641" y="2964924"/>
                <a:ext cx="896130" cy="187422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25BB7D8-F891-92FF-2630-0EC4A4ECE06C}"/>
                  </a:ext>
                </a:extLst>
              </p:cNvPr>
              <p:cNvSpPr txBox="1"/>
              <p:nvPr/>
            </p:nvSpPr>
            <p:spPr>
              <a:xfrm rot="5400000">
                <a:off x="7539848" y="4484197"/>
                <a:ext cx="2461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…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091B2ED-7578-FB1A-7F6D-8B8B0A8EEC1E}"/>
                  </a:ext>
                </a:extLst>
              </p:cNvPr>
              <p:cNvSpPr txBox="1"/>
              <p:nvPr/>
            </p:nvSpPr>
            <p:spPr>
              <a:xfrm rot="5400000">
                <a:off x="7539848" y="2832778"/>
                <a:ext cx="2461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…</a:t>
                </a: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F9338F5-1E6D-3939-E677-9ECCD18E15FF}"/>
                </a:ext>
              </a:extLst>
            </p:cNvPr>
            <p:cNvSpPr/>
            <p:nvPr/>
          </p:nvSpPr>
          <p:spPr>
            <a:xfrm>
              <a:off x="10060626" y="1565523"/>
              <a:ext cx="896129" cy="1440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35B6FA-DE41-3630-0EEE-505F3556A159}"/>
                </a:ext>
              </a:extLst>
            </p:cNvPr>
            <p:cNvSpPr txBox="1"/>
            <p:nvPr/>
          </p:nvSpPr>
          <p:spPr>
            <a:xfrm>
              <a:off x="11273683" y="2121123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6">
                      <a:lumMod val="7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main</a:t>
              </a:r>
            </a:p>
          </p:txBody>
        </p:sp>
        <p:sp>
          <p:nvSpPr>
            <p:cNvPr id="37" name="Right Brace 36">
              <a:extLst>
                <a:ext uri="{FF2B5EF4-FFF2-40B4-BE49-F238E27FC236}">
                  <a16:creationId xmlns:a16="http://schemas.microsoft.com/office/drawing/2014/main" id="{DD7D5CC0-E471-3166-625D-50CF43D18713}"/>
                </a:ext>
              </a:extLst>
            </p:cNvPr>
            <p:cNvSpPr/>
            <p:nvPr/>
          </p:nvSpPr>
          <p:spPr>
            <a:xfrm>
              <a:off x="10997874" y="1565523"/>
              <a:ext cx="275809" cy="1440668"/>
            </a:xfrm>
            <a:prstGeom prst="rightBrace">
              <a:avLst>
                <a:gd name="adj1" fmla="val 30242"/>
                <a:gd name="adj2" fmla="val 50000"/>
              </a:avLst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C8DF878-A682-0578-6E4D-F3EE3F384A91}"/>
                </a:ext>
              </a:extLst>
            </p:cNvPr>
            <p:cNvSpPr/>
            <p:nvPr/>
          </p:nvSpPr>
          <p:spPr>
            <a:xfrm>
              <a:off x="10059142" y="3006195"/>
              <a:ext cx="896129" cy="13889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9E59492-C374-33E7-9FE5-2F73A148EDB6}"/>
                </a:ext>
              </a:extLst>
            </p:cNvPr>
            <p:cNvSpPr txBox="1"/>
            <p:nvPr/>
          </p:nvSpPr>
          <p:spPr>
            <a:xfrm>
              <a:off x="11312211" y="3532988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g</a:t>
              </a:r>
            </a:p>
          </p:txBody>
        </p:sp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8830C9B8-E8D8-7FB3-D145-661D26C31527}"/>
                </a:ext>
              </a:extLst>
            </p:cNvPr>
            <p:cNvSpPr/>
            <p:nvPr/>
          </p:nvSpPr>
          <p:spPr>
            <a:xfrm>
              <a:off x="10997874" y="3070957"/>
              <a:ext cx="275813" cy="1324172"/>
            </a:xfrm>
            <a:prstGeom prst="rightBrace">
              <a:avLst>
                <a:gd name="adj1" fmla="val 30242"/>
                <a:gd name="adj2" fmla="val 50000"/>
              </a:avLst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2EE852F-3352-C08F-20AC-3E18C13801A6}"/>
                </a:ext>
              </a:extLst>
            </p:cNvPr>
            <p:cNvSpPr/>
            <p:nvPr/>
          </p:nvSpPr>
          <p:spPr>
            <a:xfrm>
              <a:off x="10075271" y="2262166"/>
              <a:ext cx="886863" cy="466445"/>
            </a:xfrm>
            <a:prstGeom prst="rect">
              <a:avLst/>
            </a:prstGeom>
            <a:noFill/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x=11</a:t>
              </a:r>
            </a:p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-&gt;12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AB8750F-233C-9E92-3C5A-D5A86B14731D}"/>
                </a:ext>
              </a:extLst>
            </p:cNvPr>
            <p:cNvSpPr/>
            <p:nvPr/>
          </p:nvSpPr>
          <p:spPr>
            <a:xfrm>
              <a:off x="10061823" y="3747446"/>
              <a:ext cx="886863" cy="466445"/>
            </a:xfrm>
            <a:prstGeom prst="rect">
              <a:avLst/>
            </a:prstGeom>
            <a:noFill/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y=</a:t>
              </a:r>
            </a:p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0x75ac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A0C5D9C-B3F1-3A33-1E62-D3C5A598E2B1}"/>
                </a:ext>
              </a:extLst>
            </p:cNvPr>
            <p:cNvCxnSpPr>
              <a:cxnSpLocks/>
            </p:cNvCxnSpPr>
            <p:nvPr/>
          </p:nvCxnSpPr>
          <p:spPr>
            <a:xfrm>
              <a:off x="9676682" y="2741556"/>
              <a:ext cx="3800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4ED7085-0F15-4D6A-79CB-60911AF42755}"/>
                </a:ext>
              </a:extLst>
            </p:cNvPr>
            <p:cNvCxnSpPr>
              <a:cxnSpLocks/>
            </p:cNvCxnSpPr>
            <p:nvPr/>
          </p:nvCxnSpPr>
          <p:spPr>
            <a:xfrm>
              <a:off x="9656649" y="4213891"/>
              <a:ext cx="3800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urved Connector 46">
              <a:extLst>
                <a:ext uri="{FF2B5EF4-FFF2-40B4-BE49-F238E27FC236}">
                  <a16:creationId xmlns:a16="http://schemas.microsoft.com/office/drawing/2014/main" id="{6A301468-86EE-8EF0-EAA2-2D53BA290845}"/>
                </a:ext>
              </a:extLst>
            </p:cNvPr>
            <p:cNvCxnSpPr>
              <a:cxnSpLocks/>
              <a:stCxn id="42" idx="3"/>
              <a:endCxn id="41" idx="3"/>
            </p:cNvCxnSpPr>
            <p:nvPr/>
          </p:nvCxnSpPr>
          <p:spPr>
            <a:xfrm flipV="1">
              <a:off x="10948686" y="2495389"/>
              <a:ext cx="13448" cy="1485280"/>
            </a:xfrm>
            <a:prstGeom prst="curvedConnector3">
              <a:avLst>
                <a:gd name="adj1" fmla="val 1799881"/>
              </a:avLst>
            </a:prstGeom>
            <a:ln w="381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F058972-FEE7-E289-AEFC-A91500D8C9F0}"/>
                </a:ext>
              </a:extLst>
            </p:cNvPr>
            <p:cNvSpPr txBox="1"/>
            <p:nvPr/>
          </p:nvSpPr>
          <p:spPr>
            <a:xfrm>
              <a:off x="8806079" y="2556890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0x</a:t>
              </a:r>
              <a:r>
                <a:rPr lang="en-US" dirty="0">
                  <a:solidFill>
                    <a:srgbClr val="00000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75ac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F4C87E-1854-748B-7461-3610B352AE8A}"/>
                </a:ext>
              </a:extLst>
            </p:cNvPr>
            <p:cNvSpPr txBox="1"/>
            <p:nvPr/>
          </p:nvSpPr>
          <p:spPr>
            <a:xfrm>
              <a:off x="8786046" y="4029225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0x</a:t>
              </a:r>
              <a:r>
                <a:rPr lang="en-US" dirty="0">
                  <a:solidFill>
                    <a:srgbClr val="00000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7548</a:t>
              </a:r>
            </a:p>
          </p:txBody>
        </p:sp>
      </p:grp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0D49CDE0-F592-D7AA-B2A2-0AB4CC449454}"/>
              </a:ext>
            </a:extLst>
          </p:cNvPr>
          <p:cNvSpPr/>
          <p:nvPr/>
        </p:nvSpPr>
        <p:spPr>
          <a:xfrm>
            <a:off x="347330" y="1814623"/>
            <a:ext cx="5323368" cy="119156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3E250BAB-4DEE-48FB-FFA3-341DE8E60980}"/>
              </a:ext>
            </a:extLst>
          </p:cNvPr>
          <p:cNvSpPr/>
          <p:nvPr/>
        </p:nvSpPr>
        <p:spPr>
          <a:xfrm>
            <a:off x="340660" y="3104878"/>
            <a:ext cx="5323368" cy="119156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97B4DDC4-D152-8DE9-1985-6DA5D79E92F4}"/>
              </a:ext>
            </a:extLst>
          </p:cNvPr>
          <p:cNvSpPr/>
          <p:nvPr/>
        </p:nvSpPr>
        <p:spPr>
          <a:xfrm>
            <a:off x="468515" y="5046133"/>
            <a:ext cx="1072418" cy="2540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240B580A-D107-49A9-E2B4-65E409A52B51}"/>
              </a:ext>
            </a:extLst>
          </p:cNvPr>
          <p:cNvSpPr/>
          <p:nvPr/>
        </p:nvSpPr>
        <p:spPr>
          <a:xfrm>
            <a:off x="468515" y="5457702"/>
            <a:ext cx="1072418" cy="2540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  <p:bldP spid="57" grpId="0" animBg="1"/>
      <p:bldP spid="61" grpId="0" animBg="1"/>
      <p:bldP spid="61" grpId="1" animBg="1"/>
      <p:bldP spid="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3D63-0022-8FB5-5755-D5270647E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of Arrays and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DA473-A968-6B55-0815-C2BF2A9F7616}"/>
              </a:ext>
            </a:extLst>
          </p:cNvPr>
          <p:cNvSpPr txBox="1"/>
          <p:nvPr/>
        </p:nvSpPr>
        <p:spPr>
          <a:xfrm>
            <a:off x="838200" y="1414562"/>
            <a:ext cx="5232523" cy="5047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*y)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"y(as pointer):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y(as string):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         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&amp;y: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*y: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y, y, &amp;y, *y);</a:t>
            </a:r>
          </a:p>
          <a:p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  // 0x75a4, hello, 0x7548, h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(*y)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*y);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y++;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s[]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"s(as pointer):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s(as string):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        &amp;s: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*s: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s, s, &amp;s, *s);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 // 0x75a4, hello, 0x75a4, h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h(s);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"s(as pointer):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s(as string):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        &amp;s: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*s: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s, s, &amp;s, *s);</a:t>
            </a:r>
          </a:p>
          <a:p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 // 0x75a4, hello, 0x75a4, h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  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4446E9-17ED-018A-1DE5-262F65E18D45}"/>
              </a:ext>
            </a:extLst>
          </p:cNvPr>
          <p:cNvGrpSpPr/>
          <p:nvPr/>
        </p:nvGrpSpPr>
        <p:grpSpPr>
          <a:xfrm>
            <a:off x="7859472" y="1029025"/>
            <a:ext cx="896130" cy="5538278"/>
            <a:chOff x="7211641" y="2940522"/>
            <a:chExt cx="896130" cy="18986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86392-4844-E9D6-0A3B-01778198E9AA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F874FB-675A-1A83-0F97-616EBF066215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318CB2-0E63-5AE0-C96A-5CE1C4EC1131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769CE41-B3E5-A2DE-50A4-C7C0E0F7E6F0}"/>
              </a:ext>
            </a:extLst>
          </p:cNvPr>
          <p:cNvSpPr/>
          <p:nvPr/>
        </p:nvSpPr>
        <p:spPr>
          <a:xfrm>
            <a:off x="7859469" y="1639951"/>
            <a:ext cx="896129" cy="14406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EBD8AA-38FA-D3B4-1430-CA734E179130}"/>
              </a:ext>
            </a:extLst>
          </p:cNvPr>
          <p:cNvSpPr txBox="1"/>
          <p:nvPr/>
        </p:nvSpPr>
        <p:spPr>
          <a:xfrm>
            <a:off x="9072526" y="2195551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55C250C9-3EB2-4204-9432-F5CBDBD73C55}"/>
              </a:ext>
            </a:extLst>
          </p:cNvPr>
          <p:cNvSpPr/>
          <p:nvPr/>
        </p:nvSpPr>
        <p:spPr>
          <a:xfrm>
            <a:off x="8796717" y="1639951"/>
            <a:ext cx="275809" cy="1440668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C85BF5-8AF1-F46B-4CAE-6153B6CD8589}"/>
              </a:ext>
            </a:extLst>
          </p:cNvPr>
          <p:cNvSpPr/>
          <p:nvPr/>
        </p:nvSpPr>
        <p:spPr>
          <a:xfrm>
            <a:off x="7857985" y="3080623"/>
            <a:ext cx="896129" cy="13889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BE763E-EBB1-B68B-0548-7D9479D864FE}"/>
              </a:ext>
            </a:extLst>
          </p:cNvPr>
          <p:cNvSpPr txBox="1"/>
          <p:nvPr/>
        </p:nvSpPr>
        <p:spPr>
          <a:xfrm>
            <a:off x="9111054" y="360741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7E8A84EB-7426-A352-F064-B701CC63A20B}"/>
              </a:ext>
            </a:extLst>
          </p:cNvPr>
          <p:cNvSpPr/>
          <p:nvPr/>
        </p:nvSpPr>
        <p:spPr>
          <a:xfrm>
            <a:off x="8796717" y="3145385"/>
            <a:ext cx="275813" cy="1324172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673103-8999-8947-9CA7-0CCDF46FC1F0}"/>
              </a:ext>
            </a:extLst>
          </p:cNvPr>
          <p:cNvSpPr/>
          <p:nvPr/>
        </p:nvSpPr>
        <p:spPr>
          <a:xfrm>
            <a:off x="7874114" y="2631318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7E8EA7-1A23-E256-0D38-D3D37AA97AC0}"/>
              </a:ext>
            </a:extLst>
          </p:cNvPr>
          <p:cNvSpPr/>
          <p:nvPr/>
        </p:nvSpPr>
        <p:spPr>
          <a:xfrm>
            <a:off x="7860666" y="3821874"/>
            <a:ext cx="886863" cy="466445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y=</a:t>
            </a:r>
          </a:p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0x75a4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6D4444-1425-E566-B55B-026EE9F72424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475525" y="2731141"/>
            <a:ext cx="3800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9BC4E8A-FC2D-F29F-A776-2611C6FE6B0C}"/>
              </a:ext>
            </a:extLst>
          </p:cNvPr>
          <p:cNvSpPr txBox="1"/>
          <p:nvPr/>
        </p:nvSpPr>
        <p:spPr>
          <a:xfrm>
            <a:off x="6454092" y="2546475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75a4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0959375-84BB-47A5-619B-2FE40EDE09CB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7455492" y="4288319"/>
            <a:ext cx="3800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308498-EB54-0C42-9B38-15328E191432}"/>
              </a:ext>
            </a:extLst>
          </p:cNvPr>
          <p:cNvSpPr txBox="1"/>
          <p:nvPr/>
        </p:nvSpPr>
        <p:spPr>
          <a:xfrm>
            <a:off x="6434059" y="4103653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7548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FDBBC0-0EB5-CA65-3651-2047A83E8EC0}"/>
              </a:ext>
            </a:extLst>
          </p:cNvPr>
          <p:cNvSpPr/>
          <p:nvPr/>
        </p:nvSpPr>
        <p:spPr>
          <a:xfrm>
            <a:off x="7867251" y="2453092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DDAA2F-217A-084C-BD5E-B96AFB2E780B}"/>
              </a:ext>
            </a:extLst>
          </p:cNvPr>
          <p:cNvSpPr/>
          <p:nvPr/>
        </p:nvSpPr>
        <p:spPr>
          <a:xfrm>
            <a:off x="7866737" y="2274899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D5D31F-6316-98AF-98C7-9B282CA2573F}"/>
              </a:ext>
            </a:extLst>
          </p:cNvPr>
          <p:cNvSpPr/>
          <p:nvPr/>
        </p:nvSpPr>
        <p:spPr>
          <a:xfrm>
            <a:off x="7874629" y="2103174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3F49C8-4204-3B2F-1428-03E22D9E278C}"/>
              </a:ext>
            </a:extLst>
          </p:cNvPr>
          <p:cNvSpPr/>
          <p:nvPr/>
        </p:nvSpPr>
        <p:spPr>
          <a:xfrm>
            <a:off x="7874115" y="1924981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D72221-5DA2-E23F-F724-67A3F4B03B9C}"/>
              </a:ext>
            </a:extLst>
          </p:cNvPr>
          <p:cNvSpPr/>
          <p:nvPr/>
        </p:nvSpPr>
        <p:spPr>
          <a:xfrm>
            <a:off x="7874114" y="1742834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\0</a:t>
            </a:r>
          </a:p>
        </p:txBody>
      </p: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E40BED5B-BF75-30C2-CCA7-A7C6C216BE56}"/>
              </a:ext>
            </a:extLst>
          </p:cNvPr>
          <p:cNvCxnSpPr>
            <a:cxnSpLocks/>
            <a:stCxn id="16" idx="3"/>
            <a:endCxn id="15" idx="3"/>
          </p:cNvCxnSpPr>
          <p:nvPr/>
        </p:nvCxnSpPr>
        <p:spPr>
          <a:xfrm flipV="1">
            <a:off x="8747529" y="2717179"/>
            <a:ext cx="13448" cy="1337918"/>
          </a:xfrm>
          <a:prstGeom prst="curvedConnector3">
            <a:avLst>
              <a:gd name="adj1" fmla="val 1799881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8FF1850-1712-B892-1E96-7707C570AA3A}"/>
              </a:ext>
            </a:extLst>
          </p:cNvPr>
          <p:cNvGrpSpPr/>
          <p:nvPr/>
        </p:nvGrpSpPr>
        <p:grpSpPr>
          <a:xfrm>
            <a:off x="9912756" y="1029025"/>
            <a:ext cx="896130" cy="5538278"/>
            <a:chOff x="7211641" y="2940522"/>
            <a:chExt cx="896130" cy="1898624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4201FE6-3B35-99A0-50AB-98CF34206D36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AC1EA19-5E83-DBE1-EFA3-48A2286D8CD6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AAC4A05-CC29-8F00-7297-4C3B8E0A8510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047543C-D07F-1B91-5FEB-2AB31A63C048}"/>
              </a:ext>
            </a:extLst>
          </p:cNvPr>
          <p:cNvSpPr/>
          <p:nvPr/>
        </p:nvSpPr>
        <p:spPr>
          <a:xfrm>
            <a:off x="9912753" y="1639951"/>
            <a:ext cx="896129" cy="14406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9D866F-48F5-3193-70A1-6A2A8C6498DD}"/>
              </a:ext>
            </a:extLst>
          </p:cNvPr>
          <p:cNvSpPr/>
          <p:nvPr/>
        </p:nvSpPr>
        <p:spPr>
          <a:xfrm>
            <a:off x="9911269" y="3080623"/>
            <a:ext cx="896129" cy="13889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9D699FB-7C57-6378-65BC-D73C4BB1E6DE}"/>
              </a:ext>
            </a:extLst>
          </p:cNvPr>
          <p:cNvSpPr/>
          <p:nvPr/>
        </p:nvSpPr>
        <p:spPr>
          <a:xfrm>
            <a:off x="9927398" y="2631318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730C93-CA00-7F32-6BE8-228B735A7016}"/>
              </a:ext>
            </a:extLst>
          </p:cNvPr>
          <p:cNvSpPr/>
          <p:nvPr/>
        </p:nvSpPr>
        <p:spPr>
          <a:xfrm>
            <a:off x="9913950" y="3821874"/>
            <a:ext cx="886863" cy="466445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y=</a:t>
            </a:r>
          </a:p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0x75a5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AB8EDB6-9596-4DEF-B6FB-9A05C002D3FE}"/>
              </a:ext>
            </a:extLst>
          </p:cNvPr>
          <p:cNvSpPr/>
          <p:nvPr/>
        </p:nvSpPr>
        <p:spPr>
          <a:xfrm>
            <a:off x="9920535" y="2453092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68D8C2E-8FEB-39DD-538A-2C9B293B275B}"/>
              </a:ext>
            </a:extLst>
          </p:cNvPr>
          <p:cNvSpPr/>
          <p:nvPr/>
        </p:nvSpPr>
        <p:spPr>
          <a:xfrm>
            <a:off x="9920021" y="2274899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02B57A-ED97-A581-F5FC-54F202FAE280}"/>
              </a:ext>
            </a:extLst>
          </p:cNvPr>
          <p:cNvSpPr/>
          <p:nvPr/>
        </p:nvSpPr>
        <p:spPr>
          <a:xfrm>
            <a:off x="9927913" y="2103174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8234E8-0CD1-B2A5-1EBD-5F14662C8342}"/>
              </a:ext>
            </a:extLst>
          </p:cNvPr>
          <p:cNvSpPr/>
          <p:nvPr/>
        </p:nvSpPr>
        <p:spPr>
          <a:xfrm>
            <a:off x="9927399" y="1924981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19AD49D-93F3-C7CD-51EE-4F64F01FC2D8}"/>
              </a:ext>
            </a:extLst>
          </p:cNvPr>
          <p:cNvSpPr/>
          <p:nvPr/>
        </p:nvSpPr>
        <p:spPr>
          <a:xfrm>
            <a:off x="9927398" y="1742834"/>
            <a:ext cx="886863" cy="171721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\0</a:t>
            </a:r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6B2F4251-404C-6E4B-C000-6A093BBDCBDB}"/>
              </a:ext>
            </a:extLst>
          </p:cNvPr>
          <p:cNvCxnSpPr>
            <a:cxnSpLocks/>
            <a:stCxn id="40" idx="3"/>
            <a:endCxn id="41" idx="3"/>
          </p:cNvCxnSpPr>
          <p:nvPr/>
        </p:nvCxnSpPr>
        <p:spPr>
          <a:xfrm flipV="1">
            <a:off x="10800813" y="2538953"/>
            <a:ext cx="6585" cy="1516144"/>
          </a:xfrm>
          <a:prstGeom prst="curvedConnector3">
            <a:avLst>
              <a:gd name="adj1" fmla="val 3571526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F45291E-212A-6B43-31B8-E249FD5948DC}"/>
              </a:ext>
            </a:extLst>
          </p:cNvPr>
          <p:cNvSpPr txBox="1"/>
          <p:nvPr/>
        </p:nvSpPr>
        <p:spPr>
          <a:xfrm>
            <a:off x="11660680" y="400762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5AF12F-C5B2-570E-E104-5F345A18789C}"/>
              </a:ext>
            </a:extLst>
          </p:cNvPr>
          <p:cNvSpPr txBox="1"/>
          <p:nvPr/>
        </p:nvSpPr>
        <p:spPr>
          <a:xfrm>
            <a:off x="9134711" y="4376386"/>
            <a:ext cx="521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y++</a:t>
            </a:r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E1056F76-71BD-DFAB-EFEE-63497F603299}"/>
              </a:ext>
            </a:extLst>
          </p:cNvPr>
          <p:cNvSpPr/>
          <p:nvPr/>
        </p:nvSpPr>
        <p:spPr>
          <a:xfrm>
            <a:off x="9141296" y="4037378"/>
            <a:ext cx="646509" cy="4242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2B62B7-EEFF-1BD3-0E55-14F768F1521A}"/>
              </a:ext>
            </a:extLst>
          </p:cNvPr>
          <p:cNvSpPr txBox="1"/>
          <p:nvPr/>
        </p:nvSpPr>
        <p:spPr>
          <a:xfrm>
            <a:off x="10937315" y="4345966"/>
            <a:ext cx="521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y++</a:t>
            </a:r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685C6AAD-A3AA-574F-3809-CCFE93E0CDD6}"/>
              </a:ext>
            </a:extLst>
          </p:cNvPr>
          <p:cNvSpPr/>
          <p:nvPr/>
        </p:nvSpPr>
        <p:spPr>
          <a:xfrm>
            <a:off x="10943900" y="4006958"/>
            <a:ext cx="646509" cy="4242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4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C02A-BF3A-8F04-6603-A838884A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99F7-7128-50F7-1473-358F65051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More Pointer Exercise</a:t>
            </a:r>
          </a:p>
          <a:p>
            <a:r>
              <a:rPr lang="en-US" dirty="0"/>
              <a:t>Iteration vs. Recursion</a:t>
            </a:r>
          </a:p>
          <a:p>
            <a:r>
              <a:rPr lang="en-US" dirty="0"/>
              <a:t>Memory Overread/Overwrite &amp; Memory Leak</a:t>
            </a:r>
          </a:p>
        </p:txBody>
      </p:sp>
    </p:spTree>
    <p:extLst>
      <p:ext uri="{BB962C8B-B14F-4D97-AF65-F5344CB8AC3E}">
        <p14:creationId xmlns:p14="http://schemas.microsoft.com/office/powerpoint/2010/main" val="3530735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C6DE-A328-6FE6-3B02-8F1AC8D15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vs.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FFD58-B8AE-4268-A195-114F407974D2}"/>
              </a:ext>
            </a:extLst>
          </p:cNvPr>
          <p:cNvSpPr txBox="1"/>
          <p:nvPr/>
        </p:nvSpPr>
        <p:spPr>
          <a:xfrm>
            <a:off x="6435197" y="1793902"/>
            <a:ext cx="4182555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MAX 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b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recursion(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MAX)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3.57 * x * 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-x);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"recur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&amp;x: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x: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%.20f\n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  <a:endParaRPr lang="en-US" sz="12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++, &amp;x, x);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recursion(x,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recursion(</a:t>
            </a:r>
            <a:r>
              <a:rPr lang="en-US" sz="1200" dirty="0">
                <a:solidFill>
                  <a:srgbClr val="B42419"/>
                </a:solidFill>
                <a:latin typeface="Menlo" panose="020B0609030804020204" pitchFamily="49" charset="0"/>
              </a:rPr>
              <a:t>0.3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2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BA22D-28CE-DCDB-295A-B571EAE5ECF9}"/>
              </a:ext>
            </a:extLst>
          </p:cNvPr>
          <p:cNvSpPr txBox="1"/>
          <p:nvPr/>
        </p:nvSpPr>
        <p:spPr>
          <a:xfrm>
            <a:off x="955676" y="1793902"/>
            <a:ext cx="4089581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MAX 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sz="12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iteration(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MAX){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3.57 * x * 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-x);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iter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&amp;x: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x: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%.20f\n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  <a:endParaRPr lang="en-US" sz="12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++, &amp;x, x);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iteration(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0.3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2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CC61B2-CEEB-51FA-1480-97329477A9AD}"/>
              </a:ext>
            </a:extLst>
          </p:cNvPr>
          <p:cNvSpPr txBox="1"/>
          <p:nvPr/>
        </p:nvSpPr>
        <p:spPr>
          <a:xfrm rot="5400000">
            <a:off x="7092127" y="4726053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161A5-CD2A-B45E-3C20-80534C82556F}"/>
              </a:ext>
            </a:extLst>
          </p:cNvPr>
          <p:cNvSpPr txBox="1"/>
          <p:nvPr/>
        </p:nvSpPr>
        <p:spPr>
          <a:xfrm rot="5400000">
            <a:off x="2323735" y="4726052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5924A8-A5FE-7CDA-3CEB-C2B94FDA31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978"/>
          <a:stretch/>
        </p:blipFill>
        <p:spPr>
          <a:xfrm>
            <a:off x="838200" y="5099901"/>
            <a:ext cx="4132570" cy="10867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DB5051-66CF-E29C-A140-FEDACEA567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1533" b="1"/>
          <a:stretch/>
        </p:blipFill>
        <p:spPr>
          <a:xfrm>
            <a:off x="6435197" y="5089794"/>
            <a:ext cx="4132570" cy="108675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94C5E4D-1E5F-AF5D-C9A7-24A301766CD5}"/>
              </a:ext>
            </a:extLst>
          </p:cNvPr>
          <p:cNvSpPr/>
          <p:nvPr/>
        </p:nvSpPr>
        <p:spPr>
          <a:xfrm>
            <a:off x="6435196" y="6033155"/>
            <a:ext cx="2454279" cy="25452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2A7BFC-ADE4-45F4-C11B-A8F7ACCE4182}"/>
              </a:ext>
            </a:extLst>
          </p:cNvPr>
          <p:cNvSpPr txBox="1"/>
          <p:nvPr/>
        </p:nvSpPr>
        <p:spPr>
          <a:xfrm>
            <a:off x="6513922" y="6400799"/>
            <a:ext cx="336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Early exit after 130,751 recursions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F61A8A-7530-2175-92F8-BA142B19A741}"/>
              </a:ext>
            </a:extLst>
          </p:cNvPr>
          <p:cNvSpPr txBox="1"/>
          <p:nvPr/>
        </p:nvSpPr>
        <p:spPr>
          <a:xfrm>
            <a:off x="838200" y="6400799"/>
            <a:ext cx="3749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Correctly exit after 1 Million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F3030E-96C4-A0AF-3FE3-53535ABB113B}"/>
                  </a:ext>
                </a:extLst>
              </p:cNvPr>
              <p:cNvSpPr txBox="1"/>
              <p:nvPr/>
            </p:nvSpPr>
            <p:spPr>
              <a:xfrm>
                <a:off x="3115641" y="1013112"/>
                <a:ext cx="4546694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Run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←3.57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for 1 Million times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F3030E-96C4-A0AF-3FE3-53535ABB1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641" y="1013112"/>
                <a:ext cx="4546694" cy="400110"/>
              </a:xfrm>
              <a:prstGeom prst="rect">
                <a:avLst/>
              </a:prstGeom>
              <a:blipFill>
                <a:blip r:embed="rId5"/>
                <a:stretch>
                  <a:fillRect l="-1393" t="-6061" r="-279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D1BB5E4-D9F8-307C-4625-A1B80BC8C7DD}"/>
              </a:ext>
            </a:extLst>
          </p:cNvPr>
          <p:cNvSpPr txBox="1"/>
          <p:nvPr/>
        </p:nvSpPr>
        <p:spPr>
          <a:xfrm>
            <a:off x="2255287" y="1424570"/>
            <a:ext cx="989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4C9E6E-1E0E-CF7E-8C50-0393E22DA298}"/>
              </a:ext>
            </a:extLst>
          </p:cNvPr>
          <p:cNvSpPr txBox="1"/>
          <p:nvPr/>
        </p:nvSpPr>
        <p:spPr>
          <a:xfrm>
            <a:off x="7974880" y="1424570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156709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  <p:bldP spid="10" grpId="0"/>
      <p:bldP spid="13" grpId="0" animBg="1"/>
      <p:bldP spid="14" grpId="0"/>
      <p:bldP spid="15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E7CD6-FC5E-32C9-B791-12DDB40B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Iteration and Recursion Use Memory Differently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ECC19-F411-E348-5699-7CAA92E89074}"/>
              </a:ext>
            </a:extLst>
          </p:cNvPr>
          <p:cNvSpPr txBox="1"/>
          <p:nvPr/>
        </p:nvSpPr>
        <p:spPr>
          <a:xfrm>
            <a:off x="955676" y="1793902"/>
            <a:ext cx="4089581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MAX 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sz="12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iteration(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MAX){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3.57 * x * 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-x);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iter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&amp;x: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x: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%.20f\n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  <a:endParaRPr lang="en-US" sz="12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++, &amp;x, x);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iteration(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0.3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2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7BE32-F3CA-5BC7-D21B-A84444879570}"/>
              </a:ext>
            </a:extLst>
          </p:cNvPr>
          <p:cNvSpPr txBox="1"/>
          <p:nvPr/>
        </p:nvSpPr>
        <p:spPr>
          <a:xfrm rot="5400000">
            <a:off x="2323735" y="4726052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282CB0-2F2F-1D4E-1550-C2A8A2DACC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978"/>
          <a:stretch/>
        </p:blipFill>
        <p:spPr>
          <a:xfrm>
            <a:off x="838200" y="5099901"/>
            <a:ext cx="4132570" cy="1086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842056-B30A-E76C-F2FA-2B33DC3939E9}"/>
              </a:ext>
            </a:extLst>
          </p:cNvPr>
          <p:cNvSpPr txBox="1"/>
          <p:nvPr/>
        </p:nvSpPr>
        <p:spPr>
          <a:xfrm>
            <a:off x="838200" y="6400799"/>
            <a:ext cx="3823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Correctly exit after 1 Million recursions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37DF1AB-A577-C25E-A40C-51A2A4944250}"/>
              </a:ext>
            </a:extLst>
          </p:cNvPr>
          <p:cNvGrpSpPr/>
          <p:nvPr/>
        </p:nvGrpSpPr>
        <p:grpSpPr>
          <a:xfrm>
            <a:off x="7859472" y="1029025"/>
            <a:ext cx="896130" cy="5538278"/>
            <a:chOff x="7211641" y="2940522"/>
            <a:chExt cx="896130" cy="189862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6CE83D-693A-09E3-E361-E9FF1F74D7D9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97CE52-301C-654F-7AC4-EA3B86BE11B5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E346A66-FD4F-8B50-3536-C4F8B76F0A28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9335B58-713F-A147-AEEC-0CCF219181A4}"/>
              </a:ext>
            </a:extLst>
          </p:cNvPr>
          <p:cNvSpPr/>
          <p:nvPr/>
        </p:nvSpPr>
        <p:spPr>
          <a:xfrm>
            <a:off x="7857985" y="1553482"/>
            <a:ext cx="896129" cy="8575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08521AB1-AE54-382C-B25D-923A03402C49}"/>
              </a:ext>
            </a:extLst>
          </p:cNvPr>
          <p:cNvSpPr/>
          <p:nvPr/>
        </p:nvSpPr>
        <p:spPr>
          <a:xfrm>
            <a:off x="8788644" y="1553482"/>
            <a:ext cx="275813" cy="857537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A7A731-EF7E-71EF-0C88-BD184BA6CDDE}"/>
              </a:ext>
            </a:extLst>
          </p:cNvPr>
          <p:cNvSpPr txBox="1"/>
          <p:nvPr/>
        </p:nvSpPr>
        <p:spPr>
          <a:xfrm>
            <a:off x="9064457" y="1782195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iteration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BA3519-3A61-7498-9557-F3A91ABBB3F6}"/>
              </a:ext>
            </a:extLst>
          </p:cNvPr>
          <p:cNvSpPr/>
          <p:nvPr/>
        </p:nvSpPr>
        <p:spPr>
          <a:xfrm>
            <a:off x="7860666" y="1792230"/>
            <a:ext cx="886863" cy="175498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792FA8-85BB-AC31-0F4F-8B16D485165C}"/>
              </a:ext>
            </a:extLst>
          </p:cNvPr>
          <p:cNvSpPr txBox="1"/>
          <p:nvPr/>
        </p:nvSpPr>
        <p:spPr>
          <a:xfrm>
            <a:off x="5773055" y="1753645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0x16b6bb578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A9DD9D-7CEB-6933-5CDC-57F89EE398B2}"/>
              </a:ext>
            </a:extLst>
          </p:cNvPr>
          <p:cNvCxnSpPr>
            <a:cxnSpLocks/>
          </p:cNvCxnSpPr>
          <p:nvPr/>
        </p:nvCxnSpPr>
        <p:spPr>
          <a:xfrm>
            <a:off x="7491795" y="1938311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241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1DD4FD3E-DED1-BBD5-D037-C27E6A64F1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00"/>
          <a:stretch/>
        </p:blipFill>
        <p:spPr>
          <a:xfrm>
            <a:off x="769691" y="5024806"/>
            <a:ext cx="3943712" cy="11709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FE7CD6-FC5E-32C9-B791-12DDB40B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Iteration and Recursion Use Memory Differently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37DF1AB-A577-C25E-A40C-51A2A4944250}"/>
              </a:ext>
            </a:extLst>
          </p:cNvPr>
          <p:cNvGrpSpPr/>
          <p:nvPr/>
        </p:nvGrpSpPr>
        <p:grpSpPr>
          <a:xfrm>
            <a:off x="7859472" y="1029025"/>
            <a:ext cx="896130" cy="5538278"/>
            <a:chOff x="7211641" y="2940522"/>
            <a:chExt cx="896130" cy="189862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6CE83D-693A-09E3-E361-E9FF1F74D7D9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97CE52-301C-654F-7AC4-EA3B86BE11B5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E346A66-FD4F-8B50-3536-C4F8B76F0A28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97270AD-E28A-8A88-BFDF-DA3DE1CA7E06}"/>
              </a:ext>
            </a:extLst>
          </p:cNvPr>
          <p:cNvSpPr txBox="1"/>
          <p:nvPr/>
        </p:nvSpPr>
        <p:spPr>
          <a:xfrm>
            <a:off x="769691" y="1718486"/>
            <a:ext cx="4182555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MAX 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b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recursion(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MAX)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3.57 * x * 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-x);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"recur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&amp;x: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x: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%.20f\n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  <a:endParaRPr lang="en-US" sz="12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++, &amp;x, x);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recursion(x,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recursion(0.3,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2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8F1E3-A490-09BD-1CB8-7DB0A2CC2257}"/>
              </a:ext>
            </a:extLst>
          </p:cNvPr>
          <p:cNvSpPr txBox="1"/>
          <p:nvPr/>
        </p:nvSpPr>
        <p:spPr>
          <a:xfrm rot="5400000">
            <a:off x="1436048" y="4595041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4F10FF-7C12-39EB-017C-0F5D2EB559D9}"/>
              </a:ext>
            </a:extLst>
          </p:cNvPr>
          <p:cNvSpPr/>
          <p:nvPr/>
        </p:nvSpPr>
        <p:spPr>
          <a:xfrm>
            <a:off x="769690" y="6033155"/>
            <a:ext cx="2454279" cy="25452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97FA46-88B6-2B5B-CDC8-B6481651731B}"/>
              </a:ext>
            </a:extLst>
          </p:cNvPr>
          <p:cNvSpPr txBox="1"/>
          <p:nvPr/>
        </p:nvSpPr>
        <p:spPr>
          <a:xfrm>
            <a:off x="848416" y="6400799"/>
            <a:ext cx="336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Early exit after 130,751 recursions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401456-6CFF-D441-02B2-5A0C87A48C9B}"/>
              </a:ext>
            </a:extLst>
          </p:cNvPr>
          <p:cNvSpPr/>
          <p:nvPr/>
        </p:nvSpPr>
        <p:spPr>
          <a:xfrm>
            <a:off x="7857985" y="1553482"/>
            <a:ext cx="896129" cy="8575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E5F84C1F-EAFF-EDBF-3C6D-63220A3F175D}"/>
              </a:ext>
            </a:extLst>
          </p:cNvPr>
          <p:cNvSpPr/>
          <p:nvPr/>
        </p:nvSpPr>
        <p:spPr>
          <a:xfrm>
            <a:off x="8788644" y="1553482"/>
            <a:ext cx="275813" cy="857537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D46285-C9AC-4B23-A04B-A07EC281CC30}"/>
              </a:ext>
            </a:extLst>
          </p:cNvPr>
          <p:cNvSpPr txBox="1"/>
          <p:nvPr/>
        </p:nvSpPr>
        <p:spPr>
          <a:xfrm>
            <a:off x="9064457" y="1782195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iteration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BF479B-8F95-857E-A753-FEE035854BDB}"/>
              </a:ext>
            </a:extLst>
          </p:cNvPr>
          <p:cNvSpPr/>
          <p:nvPr/>
        </p:nvSpPr>
        <p:spPr>
          <a:xfrm>
            <a:off x="7860666" y="1792230"/>
            <a:ext cx="886863" cy="175498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BF57D8-9F76-36D1-97A2-F5FB269184FE}"/>
              </a:ext>
            </a:extLst>
          </p:cNvPr>
          <p:cNvSpPr txBox="1"/>
          <p:nvPr/>
        </p:nvSpPr>
        <p:spPr>
          <a:xfrm>
            <a:off x="5773055" y="1753645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0x16f5cf578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31C3AE3-73EE-EF33-B020-340150C419CD}"/>
              </a:ext>
            </a:extLst>
          </p:cNvPr>
          <p:cNvCxnSpPr>
            <a:cxnSpLocks/>
          </p:cNvCxnSpPr>
          <p:nvPr/>
        </p:nvCxnSpPr>
        <p:spPr>
          <a:xfrm>
            <a:off x="7491795" y="1938311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BD79A77-BB79-C5AE-AB10-6E9B451C3509}"/>
              </a:ext>
            </a:extLst>
          </p:cNvPr>
          <p:cNvSpPr/>
          <p:nvPr/>
        </p:nvSpPr>
        <p:spPr>
          <a:xfrm>
            <a:off x="7857985" y="2411019"/>
            <a:ext cx="896129" cy="8575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DA1C7AE-6D6A-6915-3234-307CC04632DF}"/>
              </a:ext>
            </a:extLst>
          </p:cNvPr>
          <p:cNvSpPr/>
          <p:nvPr/>
        </p:nvSpPr>
        <p:spPr>
          <a:xfrm>
            <a:off x="7860666" y="2649767"/>
            <a:ext cx="886863" cy="175498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D9EF75-F5AA-7D9E-9EAF-3C388F143740}"/>
              </a:ext>
            </a:extLst>
          </p:cNvPr>
          <p:cNvSpPr txBox="1"/>
          <p:nvPr/>
        </p:nvSpPr>
        <p:spPr>
          <a:xfrm>
            <a:off x="5773055" y="2611182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0x16f5cf538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95060F-7D8B-D4B0-8C04-FD8A402BF556}"/>
              </a:ext>
            </a:extLst>
          </p:cNvPr>
          <p:cNvCxnSpPr>
            <a:cxnSpLocks/>
          </p:cNvCxnSpPr>
          <p:nvPr/>
        </p:nvCxnSpPr>
        <p:spPr>
          <a:xfrm>
            <a:off x="7491795" y="2795848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B55585C-8B73-5F35-55EC-9575602991BE}"/>
              </a:ext>
            </a:extLst>
          </p:cNvPr>
          <p:cNvSpPr/>
          <p:nvPr/>
        </p:nvSpPr>
        <p:spPr>
          <a:xfrm>
            <a:off x="7857985" y="3283078"/>
            <a:ext cx="896129" cy="8575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D9FAD4-25E9-1902-20E9-B0FE025F3C87}"/>
              </a:ext>
            </a:extLst>
          </p:cNvPr>
          <p:cNvSpPr/>
          <p:nvPr/>
        </p:nvSpPr>
        <p:spPr>
          <a:xfrm>
            <a:off x="7860666" y="3521826"/>
            <a:ext cx="886863" cy="175498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DD8C56-397B-3E84-38CB-1AAAFE544E07}"/>
              </a:ext>
            </a:extLst>
          </p:cNvPr>
          <p:cNvSpPr txBox="1"/>
          <p:nvPr/>
        </p:nvSpPr>
        <p:spPr>
          <a:xfrm>
            <a:off x="5773055" y="3483241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0x16f5cf4f8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4693A83-0B6C-9985-35D5-57A46A64C24C}"/>
              </a:ext>
            </a:extLst>
          </p:cNvPr>
          <p:cNvCxnSpPr>
            <a:cxnSpLocks/>
          </p:cNvCxnSpPr>
          <p:nvPr/>
        </p:nvCxnSpPr>
        <p:spPr>
          <a:xfrm>
            <a:off x="7491795" y="3667907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0BEC082-B6D6-05F0-30E2-7968B898DB46}"/>
              </a:ext>
            </a:extLst>
          </p:cNvPr>
          <p:cNvSpPr txBox="1"/>
          <p:nvPr/>
        </p:nvSpPr>
        <p:spPr>
          <a:xfrm rot="5400000">
            <a:off x="7998308" y="4337819"/>
            <a:ext cx="718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80E6C0B-80B9-ED9E-1EB1-64F215FF5FE6}"/>
              </a:ext>
            </a:extLst>
          </p:cNvPr>
          <p:cNvSpPr/>
          <p:nvPr/>
        </p:nvSpPr>
        <p:spPr>
          <a:xfrm>
            <a:off x="7857985" y="4828008"/>
            <a:ext cx="896129" cy="8575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A99CB55-C3AE-337D-F460-2D11E4D9C836}"/>
              </a:ext>
            </a:extLst>
          </p:cNvPr>
          <p:cNvSpPr/>
          <p:nvPr/>
        </p:nvSpPr>
        <p:spPr>
          <a:xfrm>
            <a:off x="7860666" y="5066756"/>
            <a:ext cx="886863" cy="175498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F2FD44-BB8B-B2DD-2D51-9A686A6887F5}"/>
              </a:ext>
            </a:extLst>
          </p:cNvPr>
          <p:cNvSpPr txBox="1"/>
          <p:nvPr/>
        </p:nvSpPr>
        <p:spPr>
          <a:xfrm>
            <a:off x="5773055" y="5028171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0x16edd45b8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93C6887-F514-2649-ECD5-3C533ABA67A9}"/>
              </a:ext>
            </a:extLst>
          </p:cNvPr>
          <p:cNvCxnSpPr>
            <a:cxnSpLocks/>
          </p:cNvCxnSpPr>
          <p:nvPr/>
        </p:nvCxnSpPr>
        <p:spPr>
          <a:xfrm>
            <a:off x="7491795" y="5212837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3822243-6F93-1252-B8CD-188C6618D305}"/>
              </a:ext>
            </a:extLst>
          </p:cNvPr>
          <p:cNvSpPr txBox="1"/>
          <p:nvPr/>
        </p:nvSpPr>
        <p:spPr>
          <a:xfrm rot="5400000">
            <a:off x="6504209" y="4169691"/>
            <a:ext cx="718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8175FF-BAF9-975C-F409-AE3AA83E000B}"/>
              </a:ext>
            </a:extLst>
          </p:cNvPr>
          <p:cNvSpPr txBox="1"/>
          <p:nvPr/>
        </p:nvSpPr>
        <p:spPr>
          <a:xfrm>
            <a:off x="8937233" y="5476875"/>
            <a:ext cx="2896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Finally run out of stack space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C8ABC9-DC4E-8AF5-1032-AB1044DC43A6}"/>
              </a:ext>
            </a:extLst>
          </p:cNvPr>
          <p:cNvSpPr txBox="1"/>
          <p:nvPr/>
        </p:nvSpPr>
        <p:spPr>
          <a:xfrm>
            <a:off x="8964593" y="3418255"/>
            <a:ext cx="32397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Stack</a:t>
            </a:r>
          </a:p>
          <a:p>
            <a:pPr algn="ctr"/>
            <a:r>
              <a:rPr lang="en-US" sz="2400" dirty="0"/>
              <a:t>(usually max size = 1MB)</a:t>
            </a:r>
          </a:p>
        </p:txBody>
      </p:sp>
    </p:spTree>
    <p:extLst>
      <p:ext uri="{BB962C8B-B14F-4D97-AF65-F5344CB8AC3E}">
        <p14:creationId xmlns:p14="http://schemas.microsoft.com/office/powerpoint/2010/main" val="33625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/>
      <p:bldP spid="40" grpId="0" animBg="1"/>
      <p:bldP spid="41" grpId="0" animBg="1"/>
      <p:bldP spid="42" grpId="0"/>
      <p:bldP spid="48" grpId="0"/>
      <p:bldP spid="49" grpId="0" animBg="1"/>
      <p:bldP spid="50" grpId="0" animBg="1"/>
      <p:bldP spid="51" grpId="0"/>
      <p:bldP spid="53" grpId="0"/>
      <p:bldP spid="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F075-039F-77F8-9606-7FF02FC6D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vs. Recursion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8988FF-F9F4-FC03-9CBC-33B7A5DB8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iteration and recursion can repeatedly execute a sequence of statements.</a:t>
            </a:r>
          </a:p>
          <a:p>
            <a:endParaRPr lang="en-US" dirty="0"/>
          </a:p>
          <a:p>
            <a:r>
              <a:rPr lang="en-US" dirty="0"/>
              <a:t>Iteration can do so without the overhead of function calls and without using stack memory.</a:t>
            </a:r>
          </a:p>
          <a:p>
            <a:endParaRPr lang="en-US" dirty="0"/>
          </a:p>
          <a:p>
            <a:r>
              <a:rPr lang="en-US" dirty="0"/>
              <a:t>Recursion can keep more previous state that has already been executed. (More useful when traversing graphs and trees.)</a:t>
            </a:r>
          </a:p>
          <a:p>
            <a:endParaRPr lang="en-US" dirty="0"/>
          </a:p>
          <a:p>
            <a:r>
              <a:rPr lang="en-US" dirty="0"/>
              <a:t>The simplicity of recursion comes at the cost of time and space efficiency.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931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C02A-BF3A-8F04-6603-A838884A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99F7-7128-50F7-1473-358F65051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More Pointer Exercise</a:t>
            </a:r>
          </a:p>
          <a:p>
            <a:r>
              <a:rPr lang="en-US" strike="sngStrike" dirty="0"/>
              <a:t>Iteration vs. Recursion</a:t>
            </a:r>
          </a:p>
          <a:p>
            <a:r>
              <a:rPr lang="en-US" dirty="0"/>
              <a:t>Memory Overread/Overwrite &amp; Memory Leak</a:t>
            </a:r>
          </a:p>
        </p:txBody>
      </p:sp>
    </p:spTree>
    <p:extLst>
      <p:ext uri="{BB962C8B-B14F-4D97-AF65-F5344CB8AC3E}">
        <p14:creationId xmlns:p14="http://schemas.microsoft.com/office/powerpoint/2010/main" val="1513645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1641-078D-FD10-57B9-1BBD27D12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Overread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80E73-65AD-E9D1-805E-76BEF6E9707D}"/>
              </a:ext>
            </a:extLst>
          </p:cNvPr>
          <p:cNvSpPr txBox="1"/>
          <p:nvPr/>
        </p:nvSpPr>
        <p:spPr>
          <a:xfrm>
            <a:off x="510165" y="2308305"/>
            <a:ext cx="4628190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a[]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1;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at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a+i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5D351D-30ED-ACFD-051A-C5D17D8249C2}"/>
              </a:ext>
            </a:extLst>
          </p:cNvPr>
          <p:cNvGrpSpPr/>
          <p:nvPr/>
        </p:nvGrpSpPr>
        <p:grpSpPr>
          <a:xfrm>
            <a:off x="8965256" y="1029025"/>
            <a:ext cx="896130" cy="5164385"/>
            <a:chOff x="7211641" y="2940522"/>
            <a:chExt cx="896130" cy="18986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EDE1B6-831C-B844-B6EE-2471A4C0622E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8DF019-9A45-7994-9030-C404458E998C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F4EF77-2996-8E4E-0E60-40D099D410A3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E9027AFF-5431-CE5C-8771-CF1E89F8A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610087"/>
              </p:ext>
            </p:extLst>
          </p:nvPr>
        </p:nvGraphicFramePr>
        <p:xfrm>
          <a:off x="8965256" y="2772226"/>
          <a:ext cx="896130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130">
                  <a:extLst>
                    <a:ext uri="{9D8B030D-6E8A-4147-A177-3AD203B41FA5}">
                      <a16:colId xmlns:a16="http://schemas.microsoft.com/office/drawing/2014/main" val="681552778"/>
                    </a:ext>
                  </a:extLst>
                </a:gridCol>
              </a:tblGrid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\0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315390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!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04176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9086821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660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306245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9629203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843145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4BE85D-84CD-E6AF-2282-0E9D553456A2}"/>
              </a:ext>
            </a:extLst>
          </p:cNvPr>
          <p:cNvSpPr txBox="1"/>
          <p:nvPr/>
        </p:nvSpPr>
        <p:spPr>
          <a:xfrm>
            <a:off x="7258425" y="4019159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0x16f46b578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(a)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E5C9B9-AC46-EBEA-38AD-A2488639826D}"/>
              </a:ext>
            </a:extLst>
          </p:cNvPr>
          <p:cNvCxnSpPr>
            <a:cxnSpLocks/>
          </p:cNvCxnSpPr>
          <p:nvPr/>
        </p:nvCxnSpPr>
        <p:spPr>
          <a:xfrm>
            <a:off x="8605651" y="4173048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C9F744C-D4A2-A9A3-721B-C21A8C263649}"/>
              </a:ext>
            </a:extLst>
          </p:cNvPr>
          <p:cNvSpPr txBox="1"/>
          <p:nvPr/>
        </p:nvSpPr>
        <p:spPr>
          <a:xfrm>
            <a:off x="7258425" y="2763671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0x16f46b57d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974C99-0A0A-0EF9-9CF3-3E848D8D22C8}"/>
              </a:ext>
            </a:extLst>
          </p:cNvPr>
          <p:cNvCxnSpPr>
            <a:cxnSpLocks/>
          </p:cNvCxnSpPr>
          <p:nvPr/>
        </p:nvCxnSpPr>
        <p:spPr>
          <a:xfrm>
            <a:off x="8605651" y="2917560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5BF3F74-CA28-FC04-CCFC-45C9401160AF}"/>
              </a:ext>
            </a:extLst>
          </p:cNvPr>
          <p:cNvSpPr txBox="1"/>
          <p:nvPr/>
        </p:nvSpPr>
        <p:spPr>
          <a:xfrm>
            <a:off x="8437938" y="6259785"/>
            <a:ext cx="218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 (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000…00</a:t>
            </a:r>
            <a:r>
              <a:rPr lang="en-US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D97042-0579-8BC4-43B6-03CA9E4B4294}"/>
              </a:ext>
            </a:extLst>
          </p:cNvPr>
          <p:cNvSpPr txBox="1"/>
          <p:nvPr/>
        </p:nvSpPr>
        <p:spPr>
          <a:xfrm>
            <a:off x="8437938" y="763969"/>
            <a:ext cx="2230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 (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fff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…ff</a:t>
            </a:r>
            <a:r>
              <a:rPr lang="en-US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5605C-D5E0-D08B-B68B-52D40BA3A1E9}"/>
              </a:ext>
            </a:extLst>
          </p:cNvPr>
          <p:cNvSpPr txBox="1"/>
          <p:nvPr/>
        </p:nvSpPr>
        <p:spPr>
          <a:xfrm rot="5400000">
            <a:off x="7695753" y="3312503"/>
            <a:ext cx="669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D83D3F-8A95-C417-63CF-25D001F989FC}"/>
              </a:ext>
            </a:extLst>
          </p:cNvPr>
          <p:cNvSpPr txBox="1"/>
          <p:nvPr/>
        </p:nvSpPr>
        <p:spPr>
          <a:xfrm>
            <a:off x="510165" y="4763306"/>
            <a:ext cx="4628190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 = malloc(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1;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at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a+i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4B7FA3-B7DB-6ED7-2B1B-02C80C7410B9}"/>
              </a:ext>
            </a:extLst>
          </p:cNvPr>
          <p:cNvSpPr txBox="1"/>
          <p:nvPr/>
        </p:nvSpPr>
        <p:spPr>
          <a:xfrm>
            <a:off x="319655" y="3772937"/>
            <a:ext cx="60558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May not immediately throw out </a:t>
            </a:r>
            <a:r>
              <a:rPr lang="en-US" sz="2000" dirty="0" err="1"/>
              <a:t>segfault</a:t>
            </a:r>
            <a:r>
              <a:rPr lang="en-US" sz="2000" dirty="0"/>
              <a:t>, but this unsafe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607F5B-3D93-92EA-AC5B-79C1759F4C2B}"/>
              </a:ext>
            </a:extLst>
          </p:cNvPr>
          <p:cNvSpPr txBox="1"/>
          <p:nvPr/>
        </p:nvSpPr>
        <p:spPr>
          <a:xfrm>
            <a:off x="347937" y="1365279"/>
            <a:ext cx="5999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memory overread is when the number of bytes being read are more that what they are supposed to be.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9EBC8A-93F6-A299-B2BF-4D8083AEFD3F}"/>
              </a:ext>
            </a:extLst>
          </p:cNvPr>
          <p:cNvSpPr txBox="1"/>
          <p:nvPr/>
        </p:nvSpPr>
        <p:spPr>
          <a:xfrm>
            <a:off x="319655" y="6172702"/>
            <a:ext cx="3661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Same with memory block in heap</a:t>
            </a:r>
          </a:p>
        </p:txBody>
      </p:sp>
    </p:spTree>
    <p:extLst>
      <p:ext uri="{BB962C8B-B14F-4D97-AF65-F5344CB8AC3E}">
        <p14:creationId xmlns:p14="http://schemas.microsoft.com/office/powerpoint/2010/main" val="25088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8F44-6C35-E639-90B6-8731566E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Overwrite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41415-2CE0-D0AC-78F6-26B18585C314}"/>
              </a:ext>
            </a:extLst>
          </p:cNvPr>
          <p:cNvSpPr txBox="1"/>
          <p:nvPr/>
        </p:nvSpPr>
        <p:spPr>
          <a:xfrm>
            <a:off x="999460" y="1967023"/>
            <a:ext cx="4507965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hello!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hello!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532B-BA9F-F1E9-FDFD-C7B971E37FA7}"/>
              </a:ext>
            </a:extLst>
          </p:cNvPr>
          <p:cNvGrpSpPr/>
          <p:nvPr/>
        </p:nvGrpSpPr>
        <p:grpSpPr>
          <a:xfrm>
            <a:off x="7859472" y="1029025"/>
            <a:ext cx="896130" cy="5164385"/>
            <a:chOff x="7211641" y="2940522"/>
            <a:chExt cx="896130" cy="18986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B8934A-FA06-4898-2AA3-0C59EE3A09DF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CDA565-2D8C-AC58-58A5-6588C1376EAC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AC1002-F503-7A69-2492-84FF25C8A8A4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0E2C866-917B-074B-1105-3437F2D71F35}"/>
              </a:ext>
            </a:extLst>
          </p:cNvPr>
          <p:cNvSpPr txBox="1"/>
          <p:nvPr/>
        </p:nvSpPr>
        <p:spPr>
          <a:xfrm>
            <a:off x="7332154" y="6259785"/>
            <a:ext cx="218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 (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000…00</a:t>
            </a:r>
            <a:r>
              <a:rPr lang="en-US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7DC8D-B2E8-AC22-ED15-501DDA257262}"/>
              </a:ext>
            </a:extLst>
          </p:cNvPr>
          <p:cNvSpPr txBox="1"/>
          <p:nvPr/>
        </p:nvSpPr>
        <p:spPr>
          <a:xfrm>
            <a:off x="7332154" y="763969"/>
            <a:ext cx="2230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 (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fff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…ff</a:t>
            </a:r>
            <a:r>
              <a:rPr lang="en-US" dirty="0"/>
              <a:t>)</a:t>
            </a:r>
          </a:p>
        </p:txBody>
      </p:sp>
      <p:graphicFrame>
        <p:nvGraphicFramePr>
          <p:cNvPr id="18" name="Table 10">
            <a:extLst>
              <a:ext uri="{FF2B5EF4-FFF2-40B4-BE49-F238E27FC236}">
                <a16:creationId xmlns:a16="http://schemas.microsoft.com/office/drawing/2014/main" id="{DDDED25A-9BA2-6A3D-E3E2-F895EB401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010669"/>
              </p:ext>
            </p:extLst>
          </p:nvPr>
        </p:nvGraphicFramePr>
        <p:xfrm>
          <a:off x="7859472" y="3366788"/>
          <a:ext cx="896130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130">
                  <a:extLst>
                    <a:ext uri="{9D8B030D-6E8A-4147-A177-3AD203B41FA5}">
                      <a16:colId xmlns:a16="http://schemas.microsoft.com/office/drawing/2014/main" val="681552778"/>
                    </a:ext>
                  </a:extLst>
                </a:gridCol>
              </a:tblGrid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04176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9086821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191109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8616646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503973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803334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660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306245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9629203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8431452"/>
                  </a:ext>
                </a:extLst>
              </a:tr>
            </a:tbl>
          </a:graphicData>
        </a:graphic>
      </p:graphicFrame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63EC7436-5349-F240-7EBF-CF9291139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565378"/>
              </p:ext>
            </p:extLst>
          </p:nvPr>
        </p:nvGraphicFramePr>
        <p:xfrm>
          <a:off x="7859472" y="1872005"/>
          <a:ext cx="896130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130">
                  <a:extLst>
                    <a:ext uri="{9D8B030D-6E8A-4147-A177-3AD203B41FA5}">
                      <a16:colId xmlns:a16="http://schemas.microsoft.com/office/drawing/2014/main" val="681552778"/>
                    </a:ext>
                  </a:extLst>
                </a:gridCol>
              </a:tblGrid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\0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315390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!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04176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9086821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660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306245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9629203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843145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C160B63-A2E6-6D48-942D-E7F4E27A0243}"/>
              </a:ext>
            </a:extLst>
          </p:cNvPr>
          <p:cNvSpPr txBox="1"/>
          <p:nvPr/>
        </p:nvSpPr>
        <p:spPr>
          <a:xfrm>
            <a:off x="6152641" y="3118938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0x16ba9359e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src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A94AD6-D334-618A-58E8-9EB6E7E71659}"/>
              </a:ext>
            </a:extLst>
          </p:cNvPr>
          <p:cNvCxnSpPr>
            <a:cxnSpLocks/>
          </p:cNvCxnSpPr>
          <p:nvPr/>
        </p:nvCxnSpPr>
        <p:spPr>
          <a:xfrm>
            <a:off x="7499867" y="3272827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917889-8B3C-A9C8-A46A-6077A38FF94E}"/>
              </a:ext>
            </a:extLst>
          </p:cNvPr>
          <p:cNvSpPr txBox="1"/>
          <p:nvPr/>
        </p:nvSpPr>
        <p:spPr>
          <a:xfrm>
            <a:off x="6152641" y="5264404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0x16ba93590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dst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933667-1103-4B74-875A-80AC505708C5}"/>
              </a:ext>
            </a:extLst>
          </p:cNvPr>
          <p:cNvCxnSpPr>
            <a:cxnSpLocks/>
          </p:cNvCxnSpPr>
          <p:nvPr/>
        </p:nvCxnSpPr>
        <p:spPr>
          <a:xfrm>
            <a:off x="7499867" y="5418293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BA688DE-2286-16AB-7061-AB8392C0699F}"/>
              </a:ext>
            </a:extLst>
          </p:cNvPr>
          <p:cNvGrpSpPr/>
          <p:nvPr/>
        </p:nvGrpSpPr>
        <p:grpSpPr>
          <a:xfrm>
            <a:off x="10742391" y="1026229"/>
            <a:ext cx="896130" cy="5164385"/>
            <a:chOff x="7211641" y="2940522"/>
            <a:chExt cx="896130" cy="189862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FBC3EB2-74E2-6EC5-BBC7-5110EE425929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4C3EF13-3DCC-B766-6715-0D0DAC870042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508FD5D-53E2-80C2-BE23-A5AA3998239F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graphicFrame>
        <p:nvGraphicFramePr>
          <p:cNvPr id="35" name="Table 10">
            <a:extLst>
              <a:ext uri="{FF2B5EF4-FFF2-40B4-BE49-F238E27FC236}">
                <a16:creationId xmlns:a16="http://schemas.microsoft.com/office/drawing/2014/main" id="{74B17DE0-2B94-6AF2-0447-B4173050B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505637"/>
              </p:ext>
            </p:extLst>
          </p:nvPr>
        </p:nvGraphicFramePr>
        <p:xfrm>
          <a:off x="10742391" y="3363992"/>
          <a:ext cx="896130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130">
                  <a:extLst>
                    <a:ext uri="{9D8B030D-6E8A-4147-A177-3AD203B41FA5}">
                      <a16:colId xmlns:a16="http://schemas.microsoft.com/office/drawing/2014/main" val="681552778"/>
                    </a:ext>
                  </a:extLst>
                </a:gridCol>
              </a:tblGrid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04176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9086821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191109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\0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8616646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!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503973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803334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660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306245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9629203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8431452"/>
                  </a:ext>
                </a:extLst>
              </a:tr>
            </a:tbl>
          </a:graphicData>
        </a:graphic>
      </p:graphicFrame>
      <p:graphicFrame>
        <p:nvGraphicFramePr>
          <p:cNvPr id="36" name="Table 10">
            <a:extLst>
              <a:ext uri="{FF2B5EF4-FFF2-40B4-BE49-F238E27FC236}">
                <a16:creationId xmlns:a16="http://schemas.microsoft.com/office/drawing/2014/main" id="{BF510589-C803-57AB-0572-F2FDA88B9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050002"/>
              </p:ext>
            </p:extLst>
          </p:nvPr>
        </p:nvGraphicFramePr>
        <p:xfrm>
          <a:off x="10742391" y="1869209"/>
          <a:ext cx="896130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130">
                  <a:extLst>
                    <a:ext uri="{9D8B030D-6E8A-4147-A177-3AD203B41FA5}">
                      <a16:colId xmlns:a16="http://schemas.microsoft.com/office/drawing/2014/main" val="681552778"/>
                    </a:ext>
                  </a:extLst>
                </a:gridCol>
              </a:tblGrid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\0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315390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!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04176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9086821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660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306245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9629203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8431452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9C873D5-ACAB-59AA-2BD6-C4FF700FC68F}"/>
              </a:ext>
            </a:extLst>
          </p:cNvPr>
          <p:cNvSpPr txBox="1"/>
          <p:nvPr/>
        </p:nvSpPr>
        <p:spPr>
          <a:xfrm>
            <a:off x="9039418" y="3124522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0x16ba9359e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src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4288D73-A3D0-4A3B-C85F-DCDED906BD90}"/>
              </a:ext>
            </a:extLst>
          </p:cNvPr>
          <p:cNvCxnSpPr>
            <a:cxnSpLocks/>
          </p:cNvCxnSpPr>
          <p:nvPr/>
        </p:nvCxnSpPr>
        <p:spPr>
          <a:xfrm>
            <a:off x="10386644" y="3278411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2142F78-5436-9BE1-85D9-586B3FC63064}"/>
              </a:ext>
            </a:extLst>
          </p:cNvPr>
          <p:cNvSpPr txBox="1"/>
          <p:nvPr/>
        </p:nvSpPr>
        <p:spPr>
          <a:xfrm>
            <a:off x="9039418" y="5269988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0x16ba93590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dst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433CA40-2553-ACEB-042E-1B4F9D4A9063}"/>
              </a:ext>
            </a:extLst>
          </p:cNvPr>
          <p:cNvCxnSpPr>
            <a:cxnSpLocks/>
          </p:cNvCxnSpPr>
          <p:nvPr/>
        </p:nvCxnSpPr>
        <p:spPr>
          <a:xfrm>
            <a:off x="10386644" y="5423877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ight Brace 50">
            <a:extLst>
              <a:ext uri="{FF2B5EF4-FFF2-40B4-BE49-F238E27FC236}">
                <a16:creationId xmlns:a16="http://schemas.microsoft.com/office/drawing/2014/main" id="{6596A067-DAC5-E331-3D74-7AD6D17C0CCE}"/>
              </a:ext>
            </a:extLst>
          </p:cNvPr>
          <p:cNvSpPr/>
          <p:nvPr/>
        </p:nvSpPr>
        <p:spPr>
          <a:xfrm>
            <a:off x="8798518" y="1921699"/>
            <a:ext cx="275813" cy="1441021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Brace 51">
            <a:extLst>
              <a:ext uri="{FF2B5EF4-FFF2-40B4-BE49-F238E27FC236}">
                <a16:creationId xmlns:a16="http://schemas.microsoft.com/office/drawing/2014/main" id="{2BE46180-1BF0-FAB2-49FD-C93DEA063EB1}"/>
              </a:ext>
            </a:extLst>
          </p:cNvPr>
          <p:cNvSpPr/>
          <p:nvPr/>
        </p:nvSpPr>
        <p:spPr>
          <a:xfrm>
            <a:off x="11680040" y="1883993"/>
            <a:ext cx="275813" cy="1441021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Brace 52">
            <a:extLst>
              <a:ext uri="{FF2B5EF4-FFF2-40B4-BE49-F238E27FC236}">
                <a16:creationId xmlns:a16="http://schemas.microsoft.com/office/drawing/2014/main" id="{690D239C-CC1D-6AD2-D885-4DED79DFD5DF}"/>
              </a:ext>
            </a:extLst>
          </p:cNvPr>
          <p:cNvSpPr/>
          <p:nvPr/>
        </p:nvSpPr>
        <p:spPr>
          <a:xfrm>
            <a:off x="11680040" y="3991503"/>
            <a:ext cx="275813" cy="1441021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94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8F44-6C35-E639-90B6-8731566E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Overwrite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41415-2CE0-D0AC-78F6-26B18585C314}"/>
              </a:ext>
            </a:extLst>
          </p:cNvPr>
          <p:cNvSpPr txBox="1"/>
          <p:nvPr/>
        </p:nvSpPr>
        <p:spPr>
          <a:xfrm>
            <a:off x="999460" y="1967023"/>
            <a:ext cx="4507965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!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hello!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532B-BA9F-F1E9-FDFD-C7B971E37FA7}"/>
              </a:ext>
            </a:extLst>
          </p:cNvPr>
          <p:cNvGrpSpPr/>
          <p:nvPr/>
        </p:nvGrpSpPr>
        <p:grpSpPr>
          <a:xfrm>
            <a:off x="7859472" y="1029025"/>
            <a:ext cx="896130" cy="5164385"/>
            <a:chOff x="7211641" y="2940522"/>
            <a:chExt cx="896130" cy="18986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B8934A-FA06-4898-2AA3-0C59EE3A09DF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CDA565-2D8C-AC58-58A5-6588C1376EAC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AC1002-F503-7A69-2492-84FF25C8A8A4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0E2C866-917B-074B-1105-3437F2D71F35}"/>
              </a:ext>
            </a:extLst>
          </p:cNvPr>
          <p:cNvSpPr txBox="1"/>
          <p:nvPr/>
        </p:nvSpPr>
        <p:spPr>
          <a:xfrm>
            <a:off x="7332154" y="6259785"/>
            <a:ext cx="218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 (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000…00</a:t>
            </a:r>
            <a:r>
              <a:rPr lang="en-US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7DC8D-B2E8-AC22-ED15-501DDA257262}"/>
              </a:ext>
            </a:extLst>
          </p:cNvPr>
          <p:cNvSpPr txBox="1"/>
          <p:nvPr/>
        </p:nvSpPr>
        <p:spPr>
          <a:xfrm>
            <a:off x="7332154" y="763969"/>
            <a:ext cx="2230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 (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fff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…ff</a:t>
            </a:r>
            <a:r>
              <a:rPr lang="en-US" dirty="0"/>
              <a:t>)</a:t>
            </a:r>
          </a:p>
        </p:txBody>
      </p:sp>
      <p:graphicFrame>
        <p:nvGraphicFramePr>
          <p:cNvPr id="18" name="Table 10">
            <a:extLst>
              <a:ext uri="{FF2B5EF4-FFF2-40B4-BE49-F238E27FC236}">
                <a16:creationId xmlns:a16="http://schemas.microsoft.com/office/drawing/2014/main" id="{DDDED25A-9BA2-6A3D-E3E2-F895EB401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083716"/>
              </p:ext>
            </p:extLst>
          </p:nvPr>
        </p:nvGraphicFramePr>
        <p:xfrm>
          <a:off x="7859472" y="3366788"/>
          <a:ext cx="89613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130">
                  <a:extLst>
                    <a:ext uri="{9D8B030D-6E8A-4147-A177-3AD203B41FA5}">
                      <a16:colId xmlns:a16="http://schemas.microsoft.com/office/drawing/2014/main" val="681552778"/>
                    </a:ext>
                  </a:extLst>
                </a:gridCol>
              </a:tblGrid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04176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9086821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191109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8616646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5039735"/>
                  </a:ext>
                </a:extLst>
              </a:tr>
            </a:tbl>
          </a:graphicData>
        </a:graphic>
      </p:graphicFrame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63EC7436-5349-F240-7EBF-CF9291139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45320"/>
              </p:ext>
            </p:extLst>
          </p:nvPr>
        </p:nvGraphicFramePr>
        <p:xfrm>
          <a:off x="7859472" y="1872005"/>
          <a:ext cx="896130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130">
                  <a:extLst>
                    <a:ext uri="{9D8B030D-6E8A-4147-A177-3AD203B41FA5}">
                      <a16:colId xmlns:a16="http://schemas.microsoft.com/office/drawing/2014/main" val="681552778"/>
                    </a:ext>
                  </a:extLst>
                </a:gridCol>
              </a:tblGrid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\0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315390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!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04176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9086821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660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306245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9629203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843145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C160B63-A2E6-6D48-942D-E7F4E27A0243}"/>
              </a:ext>
            </a:extLst>
          </p:cNvPr>
          <p:cNvSpPr txBox="1"/>
          <p:nvPr/>
        </p:nvSpPr>
        <p:spPr>
          <a:xfrm>
            <a:off x="6152641" y="3118938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0x16d24f5a4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src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A94AD6-D334-618A-58E8-9EB6E7E71659}"/>
              </a:ext>
            </a:extLst>
          </p:cNvPr>
          <p:cNvCxnSpPr>
            <a:cxnSpLocks/>
          </p:cNvCxnSpPr>
          <p:nvPr/>
        </p:nvCxnSpPr>
        <p:spPr>
          <a:xfrm>
            <a:off x="7499867" y="3272827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917889-8B3C-A9C8-A46A-6077A38FF94E}"/>
              </a:ext>
            </a:extLst>
          </p:cNvPr>
          <p:cNvSpPr txBox="1"/>
          <p:nvPr/>
        </p:nvSpPr>
        <p:spPr>
          <a:xfrm>
            <a:off x="6152641" y="4200954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0x16d24f59f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dst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933667-1103-4B74-875A-80AC505708C5}"/>
              </a:ext>
            </a:extLst>
          </p:cNvPr>
          <p:cNvCxnSpPr>
            <a:cxnSpLocks/>
          </p:cNvCxnSpPr>
          <p:nvPr/>
        </p:nvCxnSpPr>
        <p:spPr>
          <a:xfrm>
            <a:off x="7499867" y="4354843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EF88962-3E6D-11B2-E10E-B91FA4A4A9CF}"/>
              </a:ext>
            </a:extLst>
          </p:cNvPr>
          <p:cNvGrpSpPr/>
          <p:nvPr/>
        </p:nvGrpSpPr>
        <p:grpSpPr>
          <a:xfrm>
            <a:off x="10750063" y="1026229"/>
            <a:ext cx="896130" cy="5164385"/>
            <a:chOff x="7211641" y="2940522"/>
            <a:chExt cx="896130" cy="18986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8B1D7AD-CF43-22A8-83D7-C5FA1E185A47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083646-5918-174A-EC25-4BE22DBD4E3E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D48F64E-6F1C-5FB0-743A-CDF97A33159D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graphicFrame>
        <p:nvGraphicFramePr>
          <p:cNvPr id="14" name="Table 10">
            <a:extLst>
              <a:ext uri="{FF2B5EF4-FFF2-40B4-BE49-F238E27FC236}">
                <a16:creationId xmlns:a16="http://schemas.microsoft.com/office/drawing/2014/main" id="{5E00EA1C-C4AB-A086-9F7F-C54FA5A41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580381"/>
              </p:ext>
            </p:extLst>
          </p:nvPr>
        </p:nvGraphicFramePr>
        <p:xfrm>
          <a:off x="10750063" y="3363992"/>
          <a:ext cx="89613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130">
                  <a:extLst>
                    <a:ext uri="{9D8B030D-6E8A-4147-A177-3AD203B41FA5}">
                      <a16:colId xmlns:a16="http://schemas.microsoft.com/office/drawing/2014/main" val="681552778"/>
                    </a:ext>
                  </a:extLst>
                </a:gridCol>
              </a:tblGrid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04176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9086821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191109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8616646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5039735"/>
                  </a:ext>
                </a:extLst>
              </a:tr>
            </a:tbl>
          </a:graphicData>
        </a:graphic>
      </p:graphicFrame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D8AA8846-A9A8-18D9-1CEF-164184BF0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374190"/>
              </p:ext>
            </p:extLst>
          </p:nvPr>
        </p:nvGraphicFramePr>
        <p:xfrm>
          <a:off x="10750063" y="1869209"/>
          <a:ext cx="896130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130">
                  <a:extLst>
                    <a:ext uri="{9D8B030D-6E8A-4147-A177-3AD203B41FA5}">
                      <a16:colId xmlns:a16="http://schemas.microsoft.com/office/drawing/2014/main" val="681552778"/>
                    </a:ext>
                  </a:extLst>
                </a:gridCol>
              </a:tblGrid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\0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315390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!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04176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9086821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660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306245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\0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9629203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!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8431452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D238AADF-4CF3-9666-67BB-C548AC054D8A}"/>
              </a:ext>
            </a:extLst>
          </p:cNvPr>
          <p:cNvSpPr/>
          <p:nvPr/>
        </p:nvSpPr>
        <p:spPr>
          <a:xfrm>
            <a:off x="1233325" y="3945006"/>
            <a:ext cx="802865" cy="25594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2C8210-DF0B-4EF3-B4BD-F16B7F0A24E1}"/>
              </a:ext>
            </a:extLst>
          </p:cNvPr>
          <p:cNvSpPr txBox="1"/>
          <p:nvPr/>
        </p:nvSpPr>
        <p:spPr>
          <a:xfrm>
            <a:off x="9053533" y="3118938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0x16d24f5a4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src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A8D5F62-05A8-C889-9A86-BBD5C13F678D}"/>
              </a:ext>
            </a:extLst>
          </p:cNvPr>
          <p:cNvCxnSpPr>
            <a:cxnSpLocks/>
          </p:cNvCxnSpPr>
          <p:nvPr/>
        </p:nvCxnSpPr>
        <p:spPr>
          <a:xfrm>
            <a:off x="10400759" y="3272827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CE2AC35-7863-36BB-2229-4152EA51A570}"/>
              </a:ext>
            </a:extLst>
          </p:cNvPr>
          <p:cNvSpPr txBox="1"/>
          <p:nvPr/>
        </p:nvSpPr>
        <p:spPr>
          <a:xfrm>
            <a:off x="9053533" y="4200954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0x16d24f59f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dst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3143E3-75D0-8D52-3D59-129BA48D0621}"/>
              </a:ext>
            </a:extLst>
          </p:cNvPr>
          <p:cNvCxnSpPr>
            <a:cxnSpLocks/>
          </p:cNvCxnSpPr>
          <p:nvPr/>
        </p:nvCxnSpPr>
        <p:spPr>
          <a:xfrm>
            <a:off x="10400759" y="4354843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22DAFFA-A4E4-12F1-7722-7C855FD42FA1}"/>
              </a:ext>
            </a:extLst>
          </p:cNvPr>
          <p:cNvSpPr/>
          <p:nvPr/>
        </p:nvSpPr>
        <p:spPr>
          <a:xfrm>
            <a:off x="1985391" y="2297706"/>
            <a:ext cx="994877" cy="25594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81C60E68-67F4-459F-167A-371BF2EB7F36}"/>
              </a:ext>
            </a:extLst>
          </p:cNvPr>
          <p:cNvSpPr/>
          <p:nvPr/>
        </p:nvSpPr>
        <p:spPr>
          <a:xfrm>
            <a:off x="8810239" y="1869209"/>
            <a:ext cx="275813" cy="1441021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054A724E-24CE-D4E0-930C-D09D049BAA59}"/>
              </a:ext>
            </a:extLst>
          </p:cNvPr>
          <p:cNvSpPr/>
          <p:nvPr/>
        </p:nvSpPr>
        <p:spPr>
          <a:xfrm>
            <a:off x="11700830" y="2989771"/>
            <a:ext cx="275813" cy="1441021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7123998A-301F-2921-D0D4-2324768966CC}"/>
              </a:ext>
            </a:extLst>
          </p:cNvPr>
          <p:cNvSpPr/>
          <p:nvPr/>
        </p:nvSpPr>
        <p:spPr>
          <a:xfrm>
            <a:off x="11838736" y="2948400"/>
            <a:ext cx="275813" cy="432148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33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5753-BEC2-EBC5-3568-B78B45364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Leak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27FDE-627A-DD3C-489B-45D1FCC5D173}"/>
              </a:ext>
            </a:extLst>
          </p:cNvPr>
          <p:cNvSpPr txBox="1"/>
          <p:nvPr/>
        </p:nvSpPr>
        <p:spPr>
          <a:xfrm>
            <a:off x="1095153" y="2083981"/>
            <a:ext cx="6460423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*area1 = malloc(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0x600003150030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*area2 = malloc(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0x600003150040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area1 = area2;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cannot free 0x600003150030 anymore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0B0F4-962A-C709-412D-6AACE425E796}"/>
              </a:ext>
            </a:extLst>
          </p:cNvPr>
          <p:cNvSpPr txBox="1"/>
          <p:nvPr/>
        </p:nvSpPr>
        <p:spPr>
          <a:xfrm>
            <a:off x="1451509" y="4124166"/>
            <a:ext cx="5646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memory location to which 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area1</a:t>
            </a:r>
            <a:r>
              <a:rPr lang="en-US" dirty="0"/>
              <a:t> was pointing to earlier becomes an orphan. </a:t>
            </a:r>
          </a:p>
          <a:p>
            <a:endParaRPr lang="en-US" dirty="0"/>
          </a:p>
          <a:p>
            <a:r>
              <a:rPr lang="en-US" dirty="0"/>
              <a:t>It cannot be freed, as there is no reference to this location. This will result in a memory leak of 10 bytes.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0F3D415-763F-A97E-DEBB-33307A874B09}"/>
              </a:ext>
            </a:extLst>
          </p:cNvPr>
          <p:cNvGrpSpPr/>
          <p:nvPr/>
        </p:nvGrpSpPr>
        <p:grpSpPr>
          <a:xfrm>
            <a:off x="9057336" y="1109524"/>
            <a:ext cx="896130" cy="5164385"/>
            <a:chOff x="7211641" y="2940522"/>
            <a:chExt cx="896130" cy="18986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366FFF-EE65-6610-2988-EA07BB18A4B8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96EA08-B053-2BD5-0B09-FEC04943D00F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A97FE1-C216-6778-4634-BB5011D9B977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FE289BE-78E8-9DB0-D839-EA2E0E2AA48E}"/>
              </a:ext>
            </a:extLst>
          </p:cNvPr>
          <p:cNvSpPr/>
          <p:nvPr/>
        </p:nvSpPr>
        <p:spPr>
          <a:xfrm>
            <a:off x="9057336" y="3846136"/>
            <a:ext cx="896130" cy="7447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 Bytes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FB59F-04F8-0F9B-E129-9516E47BABEA}"/>
              </a:ext>
            </a:extLst>
          </p:cNvPr>
          <p:cNvSpPr/>
          <p:nvPr/>
        </p:nvSpPr>
        <p:spPr>
          <a:xfrm>
            <a:off x="9057336" y="4792191"/>
            <a:ext cx="896130" cy="7447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 Bytes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A834CF-BF24-8962-A3C6-1F34C4D18F16}"/>
              </a:ext>
            </a:extLst>
          </p:cNvPr>
          <p:cNvSpPr txBox="1"/>
          <p:nvPr/>
        </p:nvSpPr>
        <p:spPr>
          <a:xfrm>
            <a:off x="7770585" y="4056878"/>
            <a:ext cx="715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area1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159629-EAD8-3DB7-EC91-46C0702819C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486037" y="4241544"/>
            <a:ext cx="571299" cy="22217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E1BB521-38D7-6423-C426-184AE1CDD911}"/>
              </a:ext>
            </a:extLst>
          </p:cNvPr>
          <p:cNvSpPr txBox="1"/>
          <p:nvPr/>
        </p:nvSpPr>
        <p:spPr>
          <a:xfrm>
            <a:off x="7770585" y="4934850"/>
            <a:ext cx="715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area2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30F147-1DC8-0DB4-C6FF-7D0F62998CD7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8486037" y="5119516"/>
            <a:ext cx="571299" cy="249251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E0A706-EF66-FC21-8766-DF3DCD0A3FCC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486037" y="4241544"/>
            <a:ext cx="571299" cy="1076234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ounded Rectangular Callout 21">
            <a:extLst>
              <a:ext uri="{FF2B5EF4-FFF2-40B4-BE49-F238E27FC236}">
                <a16:creationId xmlns:a16="http://schemas.microsoft.com/office/drawing/2014/main" id="{EE39C2D5-AB1E-F4C5-A929-8C01FB61261E}"/>
              </a:ext>
            </a:extLst>
          </p:cNvPr>
          <p:cNvSpPr/>
          <p:nvPr/>
        </p:nvSpPr>
        <p:spPr>
          <a:xfrm>
            <a:off x="10112190" y="3751444"/>
            <a:ext cx="1800447" cy="610867"/>
          </a:xfrm>
          <a:prstGeom prst="wedgeRoundRectCallout">
            <a:avLst>
              <a:gd name="adj1" fmla="val -64928"/>
              <a:gd name="adj2" fmla="val 4393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Memory leak</a:t>
            </a:r>
          </a:p>
          <a:p>
            <a:pPr algn="ctr"/>
            <a:r>
              <a:rPr lang="en-US" sz="1600" dirty="0"/>
              <a:t>Cannot be freed</a:t>
            </a:r>
          </a:p>
        </p:txBody>
      </p:sp>
    </p:spTree>
    <p:extLst>
      <p:ext uri="{BB962C8B-B14F-4D97-AF65-F5344CB8AC3E}">
        <p14:creationId xmlns:p14="http://schemas.microsoft.com/office/powerpoint/2010/main" val="61668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F405-CB56-7E3C-8A36-BD91AEC16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Leak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21CD7-57CA-E19D-7E92-F13682235A48}"/>
              </a:ext>
            </a:extLst>
          </p:cNvPr>
          <p:cNvSpPr txBox="1"/>
          <p:nvPr/>
        </p:nvSpPr>
        <p:spPr>
          <a:xfrm>
            <a:off x="909589" y="1640921"/>
            <a:ext cx="3514104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malloc(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 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callingFunc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Problem lies here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EAD6AF-FFA1-DF5C-4B94-EB6C3BED2ECD}"/>
              </a:ext>
            </a:extLst>
          </p:cNvPr>
          <p:cNvSpPr txBox="1"/>
          <p:nvPr/>
        </p:nvSpPr>
        <p:spPr>
          <a:xfrm>
            <a:off x="5799074" y="1541685"/>
            <a:ext cx="6199133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*p = malloc(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100000000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Allocate 100MB in heap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(p ==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"heap space has run out!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4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exit(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"p: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callingFun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{</a:t>
            </a:r>
            <a:endParaRPr lang="en-US" sz="1400" dirty="0"/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0CC85F77-17B3-305B-98ED-E4EAFA6DA377}"/>
              </a:ext>
            </a:extLst>
          </p:cNvPr>
          <p:cNvSpPr/>
          <p:nvPr/>
        </p:nvSpPr>
        <p:spPr>
          <a:xfrm>
            <a:off x="3434943" y="1419369"/>
            <a:ext cx="1760834" cy="797178"/>
          </a:xfrm>
          <a:prstGeom prst="wedgeRoundRectCallout">
            <a:avLst>
              <a:gd name="adj1" fmla="val -65331"/>
              <a:gd name="adj2" fmla="val 2970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Memory leak</a:t>
            </a:r>
          </a:p>
          <a:p>
            <a:pPr algn="ctr"/>
            <a:r>
              <a:rPr lang="en-US" sz="1600" dirty="0"/>
              <a:t>These 20 bytes cannot be freed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201658-5DAA-EB7C-6B4D-E907DEB68D88}"/>
              </a:ext>
            </a:extLst>
          </p:cNvPr>
          <p:cNvSpPr txBox="1"/>
          <p:nvPr/>
        </p:nvSpPr>
        <p:spPr>
          <a:xfrm>
            <a:off x="6953693" y="4865672"/>
            <a:ext cx="232307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en-US" sz="1200" dirty="0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p: 0x7fffd7c20000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p: 0x7fffddb80000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p: 0x7fffe3ae0000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p: 0x7fffe9a40000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p: 0x7fffef9a0000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p: 0x7ffff5900000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heap space has run out!</a:t>
            </a:r>
          </a:p>
        </p:txBody>
      </p:sp>
    </p:spTree>
    <p:extLst>
      <p:ext uri="{BB962C8B-B14F-4D97-AF65-F5344CB8AC3E}">
        <p14:creationId xmlns:p14="http://schemas.microsoft.com/office/powerpoint/2010/main" val="282194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F0F8-8BDC-7899-E6CD-BFEE705B7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BDC34-FD38-026F-997D-C5FFCF46A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you clearly understand how pointers are used in arrays and functions</a:t>
            </a:r>
          </a:p>
          <a:p>
            <a:endParaRPr lang="en-US" dirty="0"/>
          </a:p>
          <a:p>
            <a:r>
              <a:rPr lang="en-US" dirty="0"/>
              <a:t>Various types of memory overwrite and memory leak</a:t>
            </a:r>
          </a:p>
        </p:txBody>
      </p:sp>
    </p:spTree>
    <p:extLst>
      <p:ext uri="{BB962C8B-B14F-4D97-AF65-F5344CB8AC3E}">
        <p14:creationId xmlns:p14="http://schemas.microsoft.com/office/powerpoint/2010/main" val="3988468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0B74-6567-AEE4-5404-E7FF1328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FECCE-4414-CB52-9275-BB1BD2DD1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04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72D7-72D4-FC01-34EE-507B73CF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7B0A9-0C46-C310-5563-67C135EAA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37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456E28-2F0B-AE04-76FA-AF581BE70C8F}"/>
              </a:ext>
            </a:extLst>
          </p:cNvPr>
          <p:cNvSpPr txBox="1"/>
          <p:nvPr/>
        </p:nvSpPr>
        <p:spPr>
          <a:xfrm>
            <a:off x="2066795" y="0"/>
            <a:ext cx="4123245" cy="1129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print_array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n) 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elements: "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%.01f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"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array[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swap(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idx1,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idx2) 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TODO</a:t>
            </a:r>
            <a:r>
              <a:rPr lang="en-US" sz="8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: check boundary?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array[idx1]; </a:t>
            </a:r>
            <a:r>
              <a:rPr lang="en-US" sz="8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could be *(array+idx1)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array[idx1] = array[idx2];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array[idx2] =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why is "int *n" needed?</a:t>
            </a:r>
          </a:p>
          <a:p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insert(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*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--) 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array[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array[i-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array[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value;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(*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)++; </a:t>
            </a:r>
            <a:r>
              <a:rPr lang="en-US" sz="8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this is NOT pointer arithmetic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why we don't need "int *n"? </a:t>
            </a:r>
          </a:p>
          <a:p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reverse(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n) 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left =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right = n-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(left &lt; right){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swap(array, left, right);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left++;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right--;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*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array[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array[i+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(*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)--;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check if for is ok with dynamic n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*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8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(array[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value) 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(array,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--; </a:t>
            </a:r>
            <a:r>
              <a:rPr lang="en-US" sz="8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why is this needed?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 = 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*)malloc(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8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a[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swap(a,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print_array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n);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insert(a,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&amp;n);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print_array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n);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reverse(a, n);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print_array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n);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&amp;n);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print_array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n);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&amp;n);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print_array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n);</a:t>
            </a:r>
          </a:p>
          <a:p>
            <a:b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8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8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95632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3287-5E78-36EA-5A9D-1B539808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an element from an array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21F4E-DF0B-AB5F-026D-0E5E5E48EF01}"/>
              </a:ext>
            </a:extLst>
          </p:cNvPr>
          <p:cNvSpPr txBox="1"/>
          <p:nvPr/>
        </p:nvSpPr>
        <p:spPr>
          <a:xfrm>
            <a:off x="187260" y="1128570"/>
            <a:ext cx="6978038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/* definitions of </a:t>
            </a:r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swap and reverse are omitted */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array[i+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(*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)--;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 =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*)malloc(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4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swap(a,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4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reverse(a, n); </a:t>
            </a:r>
            <a:endParaRPr lang="en-US" sz="14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insert(a,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3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.0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&amp;n); 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7 elements: 2.0, 4.0, 3.0, 3.0, 5.0, 1.0, 0.0,</a:t>
            </a:r>
          </a:p>
          <a:p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&amp;n);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remove the element at inde</a:t>
            </a:r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x 4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6 elements: 2.0, 4.0, 3.0, 3.0, 1.0, 0.0,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69C1C1-7EC5-E617-1AD2-415564FD9209}"/>
              </a:ext>
            </a:extLst>
          </p:cNvPr>
          <p:cNvSpPr/>
          <p:nvPr/>
        </p:nvSpPr>
        <p:spPr>
          <a:xfrm>
            <a:off x="7446625" y="496414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FC6F4C-5370-8D30-2025-4B57094D063E}"/>
              </a:ext>
            </a:extLst>
          </p:cNvPr>
          <p:cNvSpPr/>
          <p:nvPr/>
        </p:nvSpPr>
        <p:spPr>
          <a:xfrm>
            <a:off x="8079370" y="496414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4.0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DED290-A225-E30B-C64A-8EC357BA0C88}"/>
              </a:ext>
            </a:extLst>
          </p:cNvPr>
          <p:cNvSpPr/>
          <p:nvPr/>
        </p:nvSpPr>
        <p:spPr>
          <a:xfrm>
            <a:off x="8712115" y="496414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97FBB8-33BD-62F0-7AA5-6A237C87CE00}"/>
              </a:ext>
            </a:extLst>
          </p:cNvPr>
          <p:cNvSpPr/>
          <p:nvPr/>
        </p:nvSpPr>
        <p:spPr>
          <a:xfrm>
            <a:off x="9974443" y="496414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5.0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DE010D-3849-5A4A-63EA-17F3D128608F}"/>
              </a:ext>
            </a:extLst>
          </p:cNvPr>
          <p:cNvSpPr/>
          <p:nvPr/>
        </p:nvSpPr>
        <p:spPr>
          <a:xfrm>
            <a:off x="10605635" y="496414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9A8EAC-07C1-A284-B499-7F0D2353F275}"/>
              </a:ext>
            </a:extLst>
          </p:cNvPr>
          <p:cNvSpPr/>
          <p:nvPr/>
        </p:nvSpPr>
        <p:spPr>
          <a:xfrm>
            <a:off x="11238380" y="496414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0FA01-70FE-3DC3-C6FA-3C3373753D8D}"/>
              </a:ext>
            </a:extLst>
          </p:cNvPr>
          <p:cNvSpPr/>
          <p:nvPr/>
        </p:nvSpPr>
        <p:spPr>
          <a:xfrm>
            <a:off x="9341698" y="496414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CEBCEE-5738-6264-8ABB-24C3B8A896B9}"/>
              </a:ext>
            </a:extLst>
          </p:cNvPr>
          <p:cNvSpPr/>
          <p:nvPr/>
        </p:nvSpPr>
        <p:spPr>
          <a:xfrm>
            <a:off x="7446625" y="5806095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F37BC8-6485-2595-6F2F-93B16776C31F}"/>
              </a:ext>
            </a:extLst>
          </p:cNvPr>
          <p:cNvSpPr/>
          <p:nvPr/>
        </p:nvSpPr>
        <p:spPr>
          <a:xfrm>
            <a:off x="8079370" y="5806095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4.0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0CEB42-D3BE-A492-EF45-BB0335358962}"/>
              </a:ext>
            </a:extLst>
          </p:cNvPr>
          <p:cNvSpPr/>
          <p:nvPr/>
        </p:nvSpPr>
        <p:spPr>
          <a:xfrm>
            <a:off x="8712115" y="5806095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A92884-A1C3-0324-EA40-78ED82A73A0E}"/>
              </a:ext>
            </a:extLst>
          </p:cNvPr>
          <p:cNvSpPr/>
          <p:nvPr/>
        </p:nvSpPr>
        <p:spPr>
          <a:xfrm>
            <a:off x="9974443" y="5806095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90B4A1-0F1A-E272-5006-38953456FE97}"/>
              </a:ext>
            </a:extLst>
          </p:cNvPr>
          <p:cNvSpPr/>
          <p:nvPr/>
        </p:nvSpPr>
        <p:spPr>
          <a:xfrm>
            <a:off x="10605635" y="5806095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0.0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FBFFFC-A5F1-DCCA-2B84-41EFC0A1CDDA}"/>
              </a:ext>
            </a:extLst>
          </p:cNvPr>
          <p:cNvSpPr/>
          <p:nvPr/>
        </p:nvSpPr>
        <p:spPr>
          <a:xfrm>
            <a:off x="9341698" y="5806095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BBDA38-72F9-C064-A8A1-4D17694BE143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flipH="1">
            <a:off x="10223526" y="5399068"/>
            <a:ext cx="631192" cy="40702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7B1E707-057A-8D23-1ABF-83FD74743323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 flipH="1">
            <a:off x="10854718" y="5399068"/>
            <a:ext cx="632745" cy="40702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F104CD-D497-76B7-E483-3A3E2E67CDD8}"/>
              </a:ext>
            </a:extLst>
          </p:cNvPr>
          <p:cNvCxnSpPr/>
          <p:nvPr/>
        </p:nvCxnSpPr>
        <p:spPr>
          <a:xfrm>
            <a:off x="9974443" y="4964148"/>
            <a:ext cx="498166" cy="4349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137346-6ACE-7132-EC84-2C48F3A47DCC}"/>
              </a:ext>
            </a:extLst>
          </p:cNvPr>
          <p:cNvCxnSpPr>
            <a:cxnSpLocks/>
          </p:cNvCxnSpPr>
          <p:nvPr/>
        </p:nvCxnSpPr>
        <p:spPr>
          <a:xfrm flipH="1">
            <a:off x="9974443" y="4964148"/>
            <a:ext cx="498166" cy="4349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5FBB903-9B11-6A6D-F4B6-7D4ED98238F3}"/>
              </a:ext>
            </a:extLst>
          </p:cNvPr>
          <p:cNvCxnSpPr/>
          <p:nvPr/>
        </p:nvCxnSpPr>
        <p:spPr>
          <a:xfrm>
            <a:off x="10126843" y="5116548"/>
            <a:ext cx="498166" cy="4349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3C26F8-A12C-F770-2761-60D804C7BC0B}"/>
              </a:ext>
            </a:extLst>
          </p:cNvPr>
          <p:cNvCxnSpPr>
            <a:cxnSpLocks/>
          </p:cNvCxnSpPr>
          <p:nvPr/>
        </p:nvCxnSpPr>
        <p:spPr>
          <a:xfrm flipH="1">
            <a:off x="10126843" y="5116548"/>
            <a:ext cx="498166" cy="4349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ular Callout 36">
            <a:extLst>
              <a:ext uri="{FF2B5EF4-FFF2-40B4-BE49-F238E27FC236}">
                <a16:creationId xmlns:a16="http://schemas.microsoft.com/office/drawing/2014/main" id="{9D39CFA9-B905-3749-2B26-FE973150F293}"/>
              </a:ext>
            </a:extLst>
          </p:cNvPr>
          <p:cNvSpPr/>
          <p:nvPr/>
        </p:nvSpPr>
        <p:spPr>
          <a:xfrm>
            <a:off x="6076495" y="2485140"/>
            <a:ext cx="3689794" cy="603693"/>
          </a:xfrm>
          <a:prstGeom prst="wedgeRectCallout">
            <a:avLst>
              <a:gd name="adj1" fmla="val -33611"/>
              <a:gd name="adj2" fmla="val -2555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 Why the order is different</a:t>
            </a:r>
          </a:p>
        </p:txBody>
      </p:sp>
    </p:spTree>
    <p:extLst>
      <p:ext uri="{BB962C8B-B14F-4D97-AF65-F5344CB8AC3E}">
        <p14:creationId xmlns:p14="http://schemas.microsoft.com/office/powerpoint/2010/main" val="85099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E132-D659-79DD-415D-FC50F7C0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an element to an array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AEB05D-E881-C5DE-574C-0DC799C7189C}"/>
              </a:ext>
            </a:extLst>
          </p:cNvPr>
          <p:cNvSpPr txBox="1"/>
          <p:nvPr/>
        </p:nvSpPr>
        <p:spPr>
          <a:xfrm>
            <a:off x="187260" y="1128570"/>
            <a:ext cx="6978038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/* definitions of </a:t>
            </a:r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swap and reverse are omitted */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insert(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--)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array[i-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value;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(*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)++;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this is NOT pointer arithmetic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 =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*)malloc(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4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swap(a,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4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reverse(a, n); </a:t>
            </a:r>
            <a:endParaRPr lang="en-US" sz="14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6 elements: 2.0, 4.0, 3.0, 5.0, 1.0, 0.0,</a:t>
            </a:r>
          </a:p>
          <a:p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insert(a,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3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.0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&amp;n);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insert 2.0 to array at index 3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7 elements: 2.0, 4.0, 3.0, 3.0, 5.0, 1.0, 0.0,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05A11A-8B9A-AA87-4A5C-0B4305C21470}"/>
              </a:ext>
            </a:extLst>
          </p:cNvPr>
          <p:cNvSpPr/>
          <p:nvPr/>
        </p:nvSpPr>
        <p:spPr>
          <a:xfrm>
            <a:off x="7446625" y="4661844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2.0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D9E2E-F49D-BB62-498E-1F916145F6F4}"/>
              </a:ext>
            </a:extLst>
          </p:cNvPr>
          <p:cNvSpPr/>
          <p:nvPr/>
        </p:nvSpPr>
        <p:spPr>
          <a:xfrm>
            <a:off x="8079370" y="4661844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9A5540-4CA0-006E-7E90-C3C20EE0042E}"/>
              </a:ext>
            </a:extLst>
          </p:cNvPr>
          <p:cNvSpPr/>
          <p:nvPr/>
        </p:nvSpPr>
        <p:spPr>
          <a:xfrm>
            <a:off x="8712115" y="4661844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38242B-CA0B-BF3E-726D-C386D9A4BD5A}"/>
              </a:ext>
            </a:extLst>
          </p:cNvPr>
          <p:cNvSpPr/>
          <p:nvPr/>
        </p:nvSpPr>
        <p:spPr>
          <a:xfrm>
            <a:off x="9344860" y="4661844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5.0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567C3B-C56D-439D-87B7-47BC676C69D5}"/>
              </a:ext>
            </a:extLst>
          </p:cNvPr>
          <p:cNvSpPr/>
          <p:nvPr/>
        </p:nvSpPr>
        <p:spPr>
          <a:xfrm>
            <a:off x="9976052" y="4661844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D5C8C9-9119-10E2-CDC2-65C599119DD6}"/>
              </a:ext>
            </a:extLst>
          </p:cNvPr>
          <p:cNvSpPr/>
          <p:nvPr/>
        </p:nvSpPr>
        <p:spPr>
          <a:xfrm>
            <a:off x="10608797" y="4661844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621947-EBA2-9AC2-2E2F-2CCC1872170E}"/>
              </a:ext>
            </a:extLst>
          </p:cNvPr>
          <p:cNvSpPr/>
          <p:nvPr/>
        </p:nvSpPr>
        <p:spPr>
          <a:xfrm>
            <a:off x="7446625" y="5368880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75CF39-BF8F-4FDA-8938-3B568582C2B0}"/>
              </a:ext>
            </a:extLst>
          </p:cNvPr>
          <p:cNvSpPr/>
          <p:nvPr/>
        </p:nvSpPr>
        <p:spPr>
          <a:xfrm>
            <a:off x="8079370" y="5368880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83EC07-3965-E8CF-5E4C-428E1F7A734C}"/>
              </a:ext>
            </a:extLst>
          </p:cNvPr>
          <p:cNvSpPr/>
          <p:nvPr/>
        </p:nvSpPr>
        <p:spPr>
          <a:xfrm>
            <a:off x="8712115" y="5368880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49D6A8-3F64-08E5-78BC-F88B4D4B3FE0}"/>
              </a:ext>
            </a:extLst>
          </p:cNvPr>
          <p:cNvSpPr/>
          <p:nvPr/>
        </p:nvSpPr>
        <p:spPr>
          <a:xfrm>
            <a:off x="9974443" y="5368880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5.0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808D3A-B1CF-B397-64B1-35B935BA9208}"/>
              </a:ext>
            </a:extLst>
          </p:cNvPr>
          <p:cNvSpPr/>
          <p:nvPr/>
        </p:nvSpPr>
        <p:spPr>
          <a:xfrm>
            <a:off x="10605635" y="5368880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9F703D-23F6-3766-57F4-372663BF2A84}"/>
              </a:ext>
            </a:extLst>
          </p:cNvPr>
          <p:cNvSpPr/>
          <p:nvPr/>
        </p:nvSpPr>
        <p:spPr>
          <a:xfrm>
            <a:off x="11238380" y="5368880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0.0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48275D-32EF-2CC6-6672-2D1E0267BBDD}"/>
              </a:ext>
            </a:extLst>
          </p:cNvPr>
          <p:cNvSpPr/>
          <p:nvPr/>
        </p:nvSpPr>
        <p:spPr>
          <a:xfrm>
            <a:off x="9341698" y="5368880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b="1" dirty="0"/>
              <a:t>3.0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4CF674-F456-E69F-3252-680C9528D865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>
            <a:off x="9593943" y="5096764"/>
            <a:ext cx="629583" cy="27211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078252-08FA-5953-5F3F-C89EAE1591E7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10225135" y="5096764"/>
            <a:ext cx="629583" cy="27211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4BA9CE-D6E7-576D-A05C-25F417002C02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10857880" y="5096764"/>
            <a:ext cx="629583" cy="27211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0264019-C799-2400-B5C8-A5D88EDDF69E}"/>
              </a:ext>
            </a:extLst>
          </p:cNvPr>
          <p:cNvSpPr txBox="1"/>
          <p:nvPr/>
        </p:nvSpPr>
        <p:spPr>
          <a:xfrm>
            <a:off x="8677486" y="6075916"/>
            <a:ext cx="1826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new element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1B6A750-97CC-02A8-9DF2-193B4443A888}"/>
              </a:ext>
            </a:extLst>
          </p:cNvPr>
          <p:cNvCxnSpPr>
            <a:cxnSpLocks/>
            <a:stCxn id="31" idx="0"/>
            <a:endCxn id="19" idx="2"/>
          </p:cNvCxnSpPr>
          <p:nvPr/>
        </p:nvCxnSpPr>
        <p:spPr>
          <a:xfrm flipV="1">
            <a:off x="9590781" y="5803800"/>
            <a:ext cx="0" cy="27211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8497BC2-503E-F671-455C-FEF02BF7DA71}"/>
              </a:ext>
            </a:extLst>
          </p:cNvPr>
          <p:cNvSpPr txBox="1"/>
          <p:nvPr/>
        </p:nvSpPr>
        <p:spPr>
          <a:xfrm>
            <a:off x="7365125" y="3003731"/>
            <a:ext cx="3689794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A: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insert</a:t>
            </a:r>
            <a:r>
              <a:rPr lang="en-US" sz="20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may change the array length.</a:t>
            </a: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ular Callout 36">
            <a:extLst>
              <a:ext uri="{FF2B5EF4-FFF2-40B4-BE49-F238E27FC236}">
                <a16:creationId xmlns:a16="http://schemas.microsoft.com/office/drawing/2014/main" id="{09561336-985E-D08A-B42B-CBDE01A45255}"/>
              </a:ext>
            </a:extLst>
          </p:cNvPr>
          <p:cNvSpPr/>
          <p:nvPr/>
        </p:nvSpPr>
        <p:spPr>
          <a:xfrm>
            <a:off x="7365384" y="2075380"/>
            <a:ext cx="3988416" cy="797178"/>
          </a:xfrm>
          <a:prstGeom prst="wedgeRectCallout">
            <a:avLst>
              <a:gd name="adj1" fmla="val -22109"/>
              <a:gd name="adj2" fmla="val -239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 Why is </a:t>
            </a:r>
            <a:r>
              <a:rPr lang="en-US" sz="20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passed as a pointer, instead of value?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7139DE-3FC8-96D5-A488-F6ED03AC902F}"/>
              </a:ext>
            </a:extLst>
          </p:cNvPr>
          <p:cNvSpPr/>
          <p:nvPr/>
        </p:nvSpPr>
        <p:spPr>
          <a:xfrm>
            <a:off x="5498741" y="1915160"/>
            <a:ext cx="1246833" cy="38971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1BAC0E6-672F-69CC-7141-0885F6EDBE35}"/>
              </a:ext>
            </a:extLst>
          </p:cNvPr>
          <p:cNvCxnSpPr>
            <a:cxnSpLocks/>
            <a:stCxn id="37" idx="1"/>
            <a:endCxn id="40" idx="3"/>
          </p:cNvCxnSpPr>
          <p:nvPr/>
        </p:nvCxnSpPr>
        <p:spPr>
          <a:xfrm flipH="1" flipV="1">
            <a:off x="6745574" y="2110020"/>
            <a:ext cx="619810" cy="363949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9D02F76-1974-EFB8-EC1F-A7A041D35BD0}"/>
              </a:ext>
            </a:extLst>
          </p:cNvPr>
          <p:cNvCxnSpPr>
            <a:cxnSpLocks/>
            <a:stCxn id="37" idx="1"/>
            <a:endCxn id="52" idx="3"/>
          </p:cNvCxnSpPr>
          <p:nvPr/>
        </p:nvCxnSpPr>
        <p:spPr>
          <a:xfrm flipH="1">
            <a:off x="2716091" y="2473969"/>
            <a:ext cx="4649293" cy="3065997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7038D8C3-79FF-3EB0-E861-55854E64A858}"/>
              </a:ext>
            </a:extLst>
          </p:cNvPr>
          <p:cNvSpPr/>
          <p:nvPr/>
        </p:nvSpPr>
        <p:spPr>
          <a:xfrm>
            <a:off x="2267755" y="5380982"/>
            <a:ext cx="448336" cy="31796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F5FC658-7810-A39D-E3CC-F8B4A80DF675}"/>
              </a:ext>
            </a:extLst>
          </p:cNvPr>
          <p:cNvCxnSpPr>
            <a:cxnSpLocks/>
            <a:stCxn id="36" idx="1"/>
            <a:endCxn id="57" idx="3"/>
          </p:cNvCxnSpPr>
          <p:nvPr/>
        </p:nvCxnSpPr>
        <p:spPr>
          <a:xfrm flipH="1" flipV="1">
            <a:off x="1686561" y="3262086"/>
            <a:ext cx="5678564" cy="95588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87AE976-AFDD-B7EF-74A3-D33AAC80F84D}"/>
              </a:ext>
            </a:extLst>
          </p:cNvPr>
          <p:cNvSpPr/>
          <p:nvPr/>
        </p:nvSpPr>
        <p:spPr>
          <a:xfrm>
            <a:off x="487533" y="3095171"/>
            <a:ext cx="1199028" cy="33383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6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40" grpId="0" animBg="1"/>
      <p:bldP spid="52" grpId="0" animBg="1"/>
      <p:bldP spid="5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8E499-7E96-A8E0-4018-E707B014A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elements in an array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04502-93F4-63EC-0E61-C732B99E00CF}"/>
              </a:ext>
            </a:extLst>
          </p:cNvPr>
          <p:cNvSpPr txBox="1"/>
          <p:nvPr/>
        </p:nvSpPr>
        <p:spPr>
          <a:xfrm>
            <a:off x="187260" y="1128570"/>
            <a:ext cx="5554726" cy="5047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/* definition of </a:t>
            </a:r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swap is omitted */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reverse(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[n-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-i];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 =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*)malloc(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4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swap(a,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6 elements: 0.0, 1.0, 5.0, 3.0, 4.0, 2.0,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reverse(a, n);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reverse the elements in a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6 elements: 2.0, 4.0, 3.0, 5.0, 1.0, 0.0,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51AA9D-461B-530C-5B00-F54A6ABE7445}"/>
              </a:ext>
            </a:extLst>
          </p:cNvPr>
          <p:cNvSpPr/>
          <p:nvPr/>
        </p:nvSpPr>
        <p:spPr>
          <a:xfrm>
            <a:off x="6667137" y="4551212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1A8B4-4A9A-D97C-C123-EF3096DCEDFD}"/>
              </a:ext>
            </a:extLst>
          </p:cNvPr>
          <p:cNvSpPr/>
          <p:nvPr/>
        </p:nvSpPr>
        <p:spPr>
          <a:xfrm>
            <a:off x="7299882" y="4551212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7FBFEA-6DD5-5986-C71C-1BD736E6BCCD}"/>
              </a:ext>
            </a:extLst>
          </p:cNvPr>
          <p:cNvSpPr/>
          <p:nvPr/>
        </p:nvSpPr>
        <p:spPr>
          <a:xfrm>
            <a:off x="7932627" y="4551212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5.0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A5CF9D-8653-3C2B-D80F-A85E845407E6}"/>
              </a:ext>
            </a:extLst>
          </p:cNvPr>
          <p:cNvSpPr/>
          <p:nvPr/>
        </p:nvSpPr>
        <p:spPr>
          <a:xfrm>
            <a:off x="8565372" y="4551212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F62688-7256-ADB9-0B95-6CDF9CAD452D}"/>
              </a:ext>
            </a:extLst>
          </p:cNvPr>
          <p:cNvSpPr/>
          <p:nvPr/>
        </p:nvSpPr>
        <p:spPr>
          <a:xfrm>
            <a:off x="9196564" y="4551212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4.0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45F2F4-F0EE-2948-C9AC-10AEAFBB541D}"/>
              </a:ext>
            </a:extLst>
          </p:cNvPr>
          <p:cNvSpPr/>
          <p:nvPr/>
        </p:nvSpPr>
        <p:spPr>
          <a:xfrm>
            <a:off x="9829309" y="4551212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2.0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E5F9A17-021E-3850-0222-3873621BBBB2}"/>
              </a:ext>
            </a:extLst>
          </p:cNvPr>
          <p:cNvSpPr/>
          <p:nvPr/>
        </p:nvSpPr>
        <p:spPr>
          <a:xfrm>
            <a:off x="6667137" y="5516283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2.0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4ED1E4-BAA1-511E-7D93-3FD94A46F8F2}"/>
              </a:ext>
            </a:extLst>
          </p:cNvPr>
          <p:cNvSpPr/>
          <p:nvPr/>
        </p:nvSpPr>
        <p:spPr>
          <a:xfrm>
            <a:off x="7299882" y="5516283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4.0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1BC8BD8-3C73-2037-B410-73703492574D}"/>
              </a:ext>
            </a:extLst>
          </p:cNvPr>
          <p:cNvSpPr/>
          <p:nvPr/>
        </p:nvSpPr>
        <p:spPr>
          <a:xfrm>
            <a:off x="7932627" y="5516283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0410461-C79F-4ED0-59F2-8E800E926ED9}"/>
              </a:ext>
            </a:extLst>
          </p:cNvPr>
          <p:cNvSpPr/>
          <p:nvPr/>
        </p:nvSpPr>
        <p:spPr>
          <a:xfrm>
            <a:off x="8565372" y="5516283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5.0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D9DA96D-6BFB-5C42-FEF8-07D54E23B9D3}"/>
              </a:ext>
            </a:extLst>
          </p:cNvPr>
          <p:cNvSpPr/>
          <p:nvPr/>
        </p:nvSpPr>
        <p:spPr>
          <a:xfrm>
            <a:off x="9196564" y="5516283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080C68-ACAF-04D9-2BED-AF1A80323E9E}"/>
              </a:ext>
            </a:extLst>
          </p:cNvPr>
          <p:cNvSpPr/>
          <p:nvPr/>
        </p:nvSpPr>
        <p:spPr>
          <a:xfrm>
            <a:off x="9829309" y="5516283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0.0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C36339-C495-CBFB-1203-6025292A7509}"/>
              </a:ext>
            </a:extLst>
          </p:cNvPr>
          <p:cNvSpPr txBox="1"/>
          <p:nvPr/>
        </p:nvSpPr>
        <p:spPr>
          <a:xfrm>
            <a:off x="4879653" y="2295962"/>
            <a:ext cx="4126052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A: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reverse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needs to know the position of the last element, but array doesn't carry this information</a:t>
            </a: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tangular Callout 51">
            <a:extLst>
              <a:ext uri="{FF2B5EF4-FFF2-40B4-BE49-F238E27FC236}">
                <a16:creationId xmlns:a16="http://schemas.microsoft.com/office/drawing/2014/main" id="{8E268A7D-230B-8919-BA84-3F7D867899A5}"/>
              </a:ext>
            </a:extLst>
          </p:cNvPr>
          <p:cNvSpPr/>
          <p:nvPr/>
        </p:nvSpPr>
        <p:spPr>
          <a:xfrm>
            <a:off x="4883384" y="1518938"/>
            <a:ext cx="2630525" cy="603693"/>
          </a:xfrm>
          <a:prstGeom prst="wedgeRectCallout">
            <a:avLst>
              <a:gd name="adj1" fmla="val -42051"/>
              <a:gd name="adj2" fmla="val 4802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 Why is n needed?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437CDDA-6D4D-BC36-907B-08B938C8189E}"/>
              </a:ext>
            </a:extLst>
          </p:cNvPr>
          <p:cNvSpPr/>
          <p:nvPr/>
        </p:nvSpPr>
        <p:spPr>
          <a:xfrm>
            <a:off x="3216827" y="1926858"/>
            <a:ext cx="632745" cy="38971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DD21CB9-0BA8-BD6C-43BD-7A79D51BD6A6}"/>
              </a:ext>
            </a:extLst>
          </p:cNvPr>
          <p:cNvCxnSpPr>
            <a:cxnSpLocks/>
            <a:stCxn id="52" idx="1"/>
            <a:endCxn id="55" idx="3"/>
          </p:cNvCxnSpPr>
          <p:nvPr/>
        </p:nvCxnSpPr>
        <p:spPr>
          <a:xfrm flipH="1">
            <a:off x="3849572" y="1820785"/>
            <a:ext cx="1033812" cy="300933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DEE5175-2835-E632-48BD-0D2A35C73E40}"/>
              </a:ext>
            </a:extLst>
          </p:cNvPr>
          <p:cNvCxnSpPr>
            <a:cxnSpLocks/>
            <a:stCxn id="11" idx="2"/>
            <a:endCxn id="47" idx="0"/>
          </p:cNvCxnSpPr>
          <p:nvPr/>
        </p:nvCxnSpPr>
        <p:spPr>
          <a:xfrm>
            <a:off x="6916220" y="4986132"/>
            <a:ext cx="3162172" cy="53015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E493A98-4938-7844-0199-95E5074B281B}"/>
              </a:ext>
            </a:extLst>
          </p:cNvPr>
          <p:cNvCxnSpPr>
            <a:cxnSpLocks/>
            <a:stCxn id="12" idx="2"/>
            <a:endCxn id="46" idx="0"/>
          </p:cNvCxnSpPr>
          <p:nvPr/>
        </p:nvCxnSpPr>
        <p:spPr>
          <a:xfrm>
            <a:off x="7548965" y="4986132"/>
            <a:ext cx="1896682" cy="53015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F9FC7EA-983A-C600-524C-76C5CFB2C96D}"/>
              </a:ext>
            </a:extLst>
          </p:cNvPr>
          <p:cNvCxnSpPr>
            <a:cxnSpLocks/>
            <a:stCxn id="13" idx="2"/>
            <a:endCxn id="45" idx="0"/>
          </p:cNvCxnSpPr>
          <p:nvPr/>
        </p:nvCxnSpPr>
        <p:spPr>
          <a:xfrm>
            <a:off x="8181710" y="4986132"/>
            <a:ext cx="632745" cy="53015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C171D21-4973-2BFA-0E1B-58769D7291C2}"/>
              </a:ext>
            </a:extLst>
          </p:cNvPr>
          <p:cNvCxnSpPr>
            <a:cxnSpLocks/>
            <a:stCxn id="14" idx="2"/>
            <a:endCxn id="44" idx="0"/>
          </p:cNvCxnSpPr>
          <p:nvPr/>
        </p:nvCxnSpPr>
        <p:spPr>
          <a:xfrm flipH="1">
            <a:off x="8181710" y="4986132"/>
            <a:ext cx="632745" cy="53015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E869F79-9440-1B50-6DA3-FFA9F19FD805}"/>
              </a:ext>
            </a:extLst>
          </p:cNvPr>
          <p:cNvCxnSpPr>
            <a:cxnSpLocks/>
            <a:stCxn id="15" idx="2"/>
            <a:endCxn id="43" idx="0"/>
          </p:cNvCxnSpPr>
          <p:nvPr/>
        </p:nvCxnSpPr>
        <p:spPr>
          <a:xfrm flipH="1">
            <a:off x="7548965" y="4986132"/>
            <a:ext cx="1896682" cy="53015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324EA4A-4A8D-C871-6981-DCCA8B773E76}"/>
              </a:ext>
            </a:extLst>
          </p:cNvPr>
          <p:cNvCxnSpPr>
            <a:cxnSpLocks/>
            <a:stCxn id="16" idx="2"/>
            <a:endCxn id="42" idx="0"/>
          </p:cNvCxnSpPr>
          <p:nvPr/>
        </p:nvCxnSpPr>
        <p:spPr>
          <a:xfrm flipH="1">
            <a:off x="6916220" y="4986132"/>
            <a:ext cx="3162172" cy="53015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17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D9F4-F0DA-A807-503C-065AFFBE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08C6D-E711-8578-B296-88ED3C5BAF1A}"/>
              </a:ext>
            </a:extLst>
          </p:cNvPr>
          <p:cNvSpPr txBox="1"/>
          <p:nvPr/>
        </p:nvSpPr>
        <p:spPr>
          <a:xfrm>
            <a:off x="1783080" y="3676882"/>
            <a:ext cx="4719320" cy="23391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reverse(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left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right = n-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(left &lt; right){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swap(array, left, right);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left++;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right--;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F6B9F-1A6C-A0D1-3790-5A7D9E1B2F99}"/>
              </a:ext>
            </a:extLst>
          </p:cNvPr>
          <p:cNvSpPr txBox="1"/>
          <p:nvPr/>
        </p:nvSpPr>
        <p:spPr>
          <a:xfrm>
            <a:off x="1783080" y="1553045"/>
            <a:ext cx="4719320" cy="1846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reverse(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array[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array[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[n-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-i];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8996A7-A628-3962-CA5C-33BD4EF7DF28}"/>
              </a:ext>
            </a:extLst>
          </p:cNvPr>
          <p:cNvSpPr txBox="1"/>
          <p:nvPr/>
        </p:nvSpPr>
        <p:spPr>
          <a:xfrm>
            <a:off x="7030720" y="1060703"/>
            <a:ext cx="124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Runtime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BECBA-6F1F-0F50-7701-708086128BEA}"/>
              </a:ext>
            </a:extLst>
          </p:cNvPr>
          <p:cNvSpPr txBox="1"/>
          <p:nvPr/>
        </p:nvSpPr>
        <p:spPr>
          <a:xfrm>
            <a:off x="7201184" y="1889760"/>
            <a:ext cx="9557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Linear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67B09A-0BCB-76DF-9597-14FB61EACF65}"/>
              </a:ext>
            </a:extLst>
          </p:cNvPr>
          <p:cNvSpPr txBox="1"/>
          <p:nvPr/>
        </p:nvSpPr>
        <p:spPr>
          <a:xfrm>
            <a:off x="7193169" y="4144243"/>
            <a:ext cx="9717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Linear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F3CED-B058-7EE8-F4B1-8382969A56ED}"/>
              </a:ext>
            </a:extLst>
          </p:cNvPr>
          <p:cNvSpPr txBox="1"/>
          <p:nvPr/>
        </p:nvSpPr>
        <p:spPr>
          <a:xfrm>
            <a:off x="8829040" y="1060703"/>
            <a:ext cx="2068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Auxiliary Space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C38E9-6825-C989-4F75-EC632D650FEA}"/>
              </a:ext>
            </a:extLst>
          </p:cNvPr>
          <p:cNvSpPr txBox="1"/>
          <p:nvPr/>
        </p:nvSpPr>
        <p:spPr>
          <a:xfrm>
            <a:off x="9377203" y="1889760"/>
            <a:ext cx="9717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Linear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FD3506-A770-BFFF-906E-C54F305AF298}"/>
              </a:ext>
            </a:extLst>
          </p:cNvPr>
          <p:cNvSpPr txBox="1"/>
          <p:nvPr/>
        </p:nvSpPr>
        <p:spPr>
          <a:xfrm>
            <a:off x="9200744" y="4144242"/>
            <a:ext cx="13246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Constant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C96500-ED56-8FB5-A964-E1FEEFE9DFF1}"/>
              </a:ext>
            </a:extLst>
          </p:cNvPr>
          <p:cNvSpPr txBox="1"/>
          <p:nvPr/>
        </p:nvSpPr>
        <p:spPr>
          <a:xfrm>
            <a:off x="1371600" y="6094310"/>
            <a:ext cx="9911080" cy="6088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400" dirty="0"/>
              <a:t>Space or time complexities can often be reduced by smarter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675949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C0FD-A92C-33FC-2F51-18344707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12F55-9DDA-1002-07E7-7359E1F7437D}"/>
              </a:ext>
            </a:extLst>
          </p:cNvPr>
          <p:cNvSpPr txBox="1"/>
          <p:nvPr/>
        </p:nvSpPr>
        <p:spPr>
          <a:xfrm>
            <a:off x="1174078" y="1639396"/>
            <a:ext cx="5125121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swap(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idx1,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idx2)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array[idx1];</a:t>
            </a:r>
            <a:endParaRPr lang="en-US" sz="14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array[idx1] = array[idx2];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array[idx2]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8FB7-ED84-CDC8-7A19-E8B5F97FBEC2}"/>
              </a:ext>
            </a:extLst>
          </p:cNvPr>
          <p:cNvSpPr txBox="1"/>
          <p:nvPr/>
        </p:nvSpPr>
        <p:spPr>
          <a:xfrm>
            <a:off x="1174078" y="3174281"/>
            <a:ext cx="5125121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insert_at_index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--)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array[i-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value;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(*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54E22-02E1-1E23-4258-9E991D365F7C}"/>
              </a:ext>
            </a:extLst>
          </p:cNvPr>
          <p:cNvSpPr txBox="1"/>
          <p:nvPr/>
        </p:nvSpPr>
        <p:spPr>
          <a:xfrm>
            <a:off x="6776720" y="1162303"/>
            <a:ext cx="124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Runtime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241B8-AB86-093C-8AAC-1DE331EFCCDA}"/>
              </a:ext>
            </a:extLst>
          </p:cNvPr>
          <p:cNvSpPr txBox="1"/>
          <p:nvPr/>
        </p:nvSpPr>
        <p:spPr>
          <a:xfrm>
            <a:off x="6762710" y="1798320"/>
            <a:ext cx="13246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Constant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51B06C-2532-FC45-241C-480CBED3A87D}"/>
              </a:ext>
            </a:extLst>
          </p:cNvPr>
          <p:cNvSpPr txBox="1"/>
          <p:nvPr/>
        </p:nvSpPr>
        <p:spPr>
          <a:xfrm>
            <a:off x="6939169" y="3666723"/>
            <a:ext cx="9717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Linear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62832C-864C-1593-8F1F-4FEF3B24B0FE}"/>
              </a:ext>
            </a:extLst>
          </p:cNvPr>
          <p:cNvSpPr txBox="1"/>
          <p:nvPr/>
        </p:nvSpPr>
        <p:spPr>
          <a:xfrm>
            <a:off x="8575040" y="1162303"/>
            <a:ext cx="2068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Auxiliary Space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4DD40F-8CA6-A978-58F6-D8A913E6B5D5}"/>
              </a:ext>
            </a:extLst>
          </p:cNvPr>
          <p:cNvSpPr txBox="1"/>
          <p:nvPr/>
        </p:nvSpPr>
        <p:spPr>
          <a:xfrm>
            <a:off x="8960754" y="1798320"/>
            <a:ext cx="12966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Constant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364BD7-6E10-384F-49A6-A240F487F6DE}"/>
              </a:ext>
            </a:extLst>
          </p:cNvPr>
          <p:cNvSpPr txBox="1"/>
          <p:nvPr/>
        </p:nvSpPr>
        <p:spPr>
          <a:xfrm>
            <a:off x="8960754" y="3666722"/>
            <a:ext cx="12966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Constant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21F224-C8E0-8038-A9F7-CEB709C72D9C}"/>
              </a:ext>
            </a:extLst>
          </p:cNvPr>
          <p:cNvSpPr txBox="1"/>
          <p:nvPr/>
        </p:nvSpPr>
        <p:spPr>
          <a:xfrm>
            <a:off x="838200" y="5806848"/>
            <a:ext cx="106297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Inherent property of array's </a:t>
            </a:r>
            <a:r>
              <a:rPr lang="en-US" sz="2000" i="1" dirty="0"/>
              <a:t>sequential </a:t>
            </a:r>
            <a:r>
              <a:rPr lang="en-US" sz="2000" dirty="0"/>
              <a:t>memory layout: Each element must be right next the last one.</a:t>
            </a:r>
          </a:p>
          <a:p>
            <a:r>
              <a:rPr lang="en-US" sz="2000" dirty="0">
                <a:sym typeface="Wingdings" pitchFamily="2" charset="2"/>
              </a:rPr>
              <a:t> </a:t>
            </a:r>
            <a:r>
              <a:rPr lang="en-US" sz="2000" dirty="0"/>
              <a:t>Easy to location certain index, but more difficult to insert or remove elements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7F690C-CC0C-F911-153A-FA0833639C27}"/>
              </a:ext>
            </a:extLst>
          </p:cNvPr>
          <p:cNvSpPr txBox="1"/>
          <p:nvPr/>
        </p:nvSpPr>
        <p:spPr>
          <a:xfrm>
            <a:off x="1005841" y="5155442"/>
            <a:ext cx="975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(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remove_at_index</a:t>
            </a:r>
            <a:r>
              <a:rPr lang="en-US" dirty="0"/>
              <a:t> and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remove_at_index</a:t>
            </a:r>
            <a:r>
              <a:rPr lang="en-US" sz="2000" dirty="0"/>
              <a:t> have the same time and space complexities)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5801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91D7-79BF-E811-E106-07124039F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FA643-2FCC-6893-96E3-19D5887ED546}"/>
              </a:ext>
            </a:extLst>
          </p:cNvPr>
          <p:cNvSpPr txBox="1"/>
          <p:nvPr/>
        </p:nvSpPr>
        <p:spPr>
          <a:xfrm>
            <a:off x="1346200" y="3683139"/>
            <a:ext cx="493268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  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shift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original_n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original_n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value){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shift++;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(*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)--;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-shift] = 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CCD49-0F6A-1826-6F7E-CC4DA269BCEB}"/>
              </a:ext>
            </a:extLst>
          </p:cNvPr>
          <p:cNvSpPr txBox="1"/>
          <p:nvPr/>
        </p:nvSpPr>
        <p:spPr>
          <a:xfrm>
            <a:off x="1346200" y="1468642"/>
            <a:ext cx="493268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  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value)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(array,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6200B-B9E5-814E-C56D-9FFF532B54F1}"/>
              </a:ext>
            </a:extLst>
          </p:cNvPr>
          <p:cNvSpPr txBox="1"/>
          <p:nvPr/>
        </p:nvSpPr>
        <p:spPr>
          <a:xfrm>
            <a:off x="7030720" y="1152143"/>
            <a:ext cx="124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Runtime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1C9E60-310C-16DE-AC18-31DDC054740D}"/>
              </a:ext>
            </a:extLst>
          </p:cNvPr>
          <p:cNvSpPr txBox="1"/>
          <p:nvPr/>
        </p:nvSpPr>
        <p:spPr>
          <a:xfrm>
            <a:off x="6958332" y="2123440"/>
            <a:ext cx="1441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Quadratic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3470C6-1596-1A72-5DA6-14250CF7E3E0}"/>
              </a:ext>
            </a:extLst>
          </p:cNvPr>
          <p:cNvSpPr txBox="1"/>
          <p:nvPr/>
        </p:nvSpPr>
        <p:spPr>
          <a:xfrm>
            <a:off x="7193169" y="4377923"/>
            <a:ext cx="9717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Linear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58359-8ED4-4B5C-E1B7-C172E3698CE6}"/>
              </a:ext>
            </a:extLst>
          </p:cNvPr>
          <p:cNvSpPr txBox="1"/>
          <p:nvPr/>
        </p:nvSpPr>
        <p:spPr>
          <a:xfrm>
            <a:off x="8829040" y="1152143"/>
            <a:ext cx="2068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Auxiliary Space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216F6-045E-E965-72E8-92F250CCE8DD}"/>
              </a:ext>
            </a:extLst>
          </p:cNvPr>
          <p:cNvSpPr txBox="1"/>
          <p:nvPr/>
        </p:nvSpPr>
        <p:spPr>
          <a:xfrm>
            <a:off x="9200745" y="2123440"/>
            <a:ext cx="13246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Constant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76AF8B-6D67-2BE0-5209-92DDF39B2342}"/>
              </a:ext>
            </a:extLst>
          </p:cNvPr>
          <p:cNvSpPr txBox="1"/>
          <p:nvPr/>
        </p:nvSpPr>
        <p:spPr>
          <a:xfrm>
            <a:off x="9200744" y="4377922"/>
            <a:ext cx="13246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Constant</a:t>
            </a:r>
          </a:p>
          <a:p>
            <a:pPr algn="ctr"/>
            <a:r>
              <a:rPr lang="en-US" sz="2400" i="1" dirty="0"/>
              <a:t>O</a:t>
            </a:r>
            <a:r>
              <a:rPr lang="en-US" sz="2400" dirty="0"/>
              <a:t>(1)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36255-45AB-5CE7-C0DA-DB2020E48C8C}"/>
              </a:ext>
            </a:extLst>
          </p:cNvPr>
          <p:cNvSpPr txBox="1"/>
          <p:nvPr/>
        </p:nvSpPr>
        <p:spPr>
          <a:xfrm>
            <a:off x="2002792" y="6056381"/>
            <a:ext cx="9911080" cy="6088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400" dirty="0"/>
              <a:t>Space or time complexities can often be reduced by smarter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403744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4BD30-A0C2-AF8F-7A3E-0B8A95BCA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C78A5-A3B5-A9CA-9FB7-957CE4F75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9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74ABD-C750-41C6-37E1-7825A528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Removing all occurrences of a value from an array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614B1-7BBE-A722-B49A-C4DACB9DD965}"/>
              </a:ext>
            </a:extLst>
          </p:cNvPr>
          <p:cNvSpPr txBox="1"/>
          <p:nvPr/>
        </p:nvSpPr>
        <p:spPr>
          <a:xfrm>
            <a:off x="187260" y="1068610"/>
            <a:ext cx="6741860" cy="56938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/* definitions of </a:t>
            </a:r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swap, reverse, remove, </a:t>
            </a:r>
            <a:r>
              <a:rPr lang="en-US" sz="1400" dirty="0" err="1">
                <a:solidFill>
                  <a:srgbClr val="400BD9"/>
                </a:solidFill>
                <a:latin typeface="Menlo" panose="020B0609030804020204" pitchFamily="49" charset="0"/>
              </a:rPr>
              <a:t>insert_at_index</a:t>
            </a:r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 */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*array, </a:t>
            </a:r>
            <a:r>
              <a:rPr lang="en-US" sz="1400" dirty="0">
                <a:solidFill>
                  <a:srgbClr val="2FB41D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&lt; *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(array[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] == value)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remove_at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_index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(array,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}</a:t>
            </a:r>
          </a:p>
          <a:p>
            <a:endParaRPr lang="en-US" sz="1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 =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*)malloc(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4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swap(a,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4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reverse(a, n); </a:t>
            </a:r>
            <a:endParaRPr lang="en-US" sz="14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&amp;n);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insert_at_index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4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.0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&amp;n);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6 elements: 2.0, 4.0, 4.0, 3.0, 1.0, 0.0,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4.0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&amp;n);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remove all occurrences of 4.0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4 elements: 2.0, 3.0, 1.0, 0.0,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E30A5B-F3A0-73D4-DD06-7B8E0CE528ED}"/>
              </a:ext>
            </a:extLst>
          </p:cNvPr>
          <p:cNvSpPr txBox="1"/>
          <p:nvPr/>
        </p:nvSpPr>
        <p:spPr>
          <a:xfrm>
            <a:off x="7223436" y="1084117"/>
            <a:ext cx="4409764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*array,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       </a:t>
            </a:r>
            <a:r>
              <a:rPr lang="en-US" sz="1400" dirty="0">
                <a:solidFill>
                  <a:srgbClr val="2FB41D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&lt; *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++){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(array[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] == value)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(array,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   }</a:t>
            </a:r>
            <a:endParaRPr lang="en-US" sz="1400" dirty="0">
              <a:solidFill>
                <a:srgbClr val="000000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2314B443-D905-EE7C-B06E-BBFA63C1A6FB}"/>
              </a:ext>
            </a:extLst>
          </p:cNvPr>
          <p:cNvSpPr/>
          <p:nvPr/>
        </p:nvSpPr>
        <p:spPr>
          <a:xfrm>
            <a:off x="7725109" y="2639645"/>
            <a:ext cx="3735371" cy="434920"/>
          </a:xfrm>
          <a:prstGeom prst="wedgeRectCallout">
            <a:avLst>
              <a:gd name="adj1" fmla="val -22109"/>
              <a:gd name="adj2" fmla="val -239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 Is this implementation correct?</a:t>
            </a: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05611899-F3B2-E8B2-E1C7-5458C4F65A2B}"/>
              </a:ext>
            </a:extLst>
          </p:cNvPr>
          <p:cNvSpPr/>
          <p:nvPr/>
        </p:nvSpPr>
        <p:spPr>
          <a:xfrm>
            <a:off x="7725109" y="3225546"/>
            <a:ext cx="3735371" cy="706844"/>
          </a:xfrm>
          <a:prstGeom prst="wedgeRectCallout">
            <a:avLst>
              <a:gd name="adj1" fmla="val -22109"/>
              <a:gd name="adj2" fmla="val -239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Hint: What if two matched values are next to each other?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445D9-EE53-C3EF-2B55-416FF3D4209E}"/>
              </a:ext>
            </a:extLst>
          </p:cNvPr>
          <p:cNvSpPr txBox="1"/>
          <p:nvPr/>
        </p:nvSpPr>
        <p:spPr>
          <a:xfrm>
            <a:off x="7223436" y="4134302"/>
            <a:ext cx="4409764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value)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(array,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b="1" dirty="0">
                <a:solidFill>
                  <a:srgbClr val="C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--;</a:t>
            </a:r>
            <a:endParaRPr lang="en-US" sz="1400" b="1" dirty="0">
              <a:solidFill>
                <a:srgbClr val="C00000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00BE47F9-7524-DF5E-D85F-8729FB3F2484}"/>
              </a:ext>
            </a:extLst>
          </p:cNvPr>
          <p:cNvSpPr/>
          <p:nvPr/>
        </p:nvSpPr>
        <p:spPr>
          <a:xfrm>
            <a:off x="7725109" y="5998588"/>
            <a:ext cx="2902252" cy="494287"/>
          </a:xfrm>
          <a:prstGeom prst="wedgeRectCallout">
            <a:avLst>
              <a:gd name="adj1" fmla="val -22109"/>
              <a:gd name="adj2" fmla="val -239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correct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66030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5D637-629B-F119-1932-465B4799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Iterating an array while it changes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10101-B67B-AFFD-6B62-C4AC44D96049}"/>
              </a:ext>
            </a:extLst>
          </p:cNvPr>
          <p:cNvSpPr txBox="1"/>
          <p:nvPr/>
        </p:nvSpPr>
        <p:spPr>
          <a:xfrm>
            <a:off x="838200" y="1480216"/>
            <a:ext cx="4932680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  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value)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(array,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DB1BB-38C8-FAC1-DEC8-B64B26157445}"/>
              </a:ext>
            </a:extLst>
          </p:cNvPr>
          <p:cNvSpPr/>
          <p:nvPr/>
        </p:nvSpPr>
        <p:spPr>
          <a:xfrm>
            <a:off x="7016857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AB192B-03A4-103E-6153-73DA0F4404A5}"/>
              </a:ext>
            </a:extLst>
          </p:cNvPr>
          <p:cNvSpPr/>
          <p:nvPr/>
        </p:nvSpPr>
        <p:spPr>
          <a:xfrm>
            <a:off x="7649602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1AD662-993F-C555-3A80-DDD547102D2F}"/>
              </a:ext>
            </a:extLst>
          </p:cNvPr>
          <p:cNvSpPr/>
          <p:nvPr/>
        </p:nvSpPr>
        <p:spPr>
          <a:xfrm>
            <a:off x="8282347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4.0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49E21-39C9-4AAF-B32F-7C152F0E3012}"/>
              </a:ext>
            </a:extLst>
          </p:cNvPr>
          <p:cNvSpPr/>
          <p:nvPr/>
        </p:nvSpPr>
        <p:spPr>
          <a:xfrm>
            <a:off x="9544675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76D258-43B4-D33A-1893-812C85BB2D0A}"/>
              </a:ext>
            </a:extLst>
          </p:cNvPr>
          <p:cNvSpPr/>
          <p:nvPr/>
        </p:nvSpPr>
        <p:spPr>
          <a:xfrm>
            <a:off x="10175867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2ED7A8-FC51-7A52-4FAE-4A7FA7654316}"/>
              </a:ext>
            </a:extLst>
          </p:cNvPr>
          <p:cNvSpPr/>
          <p:nvPr/>
        </p:nvSpPr>
        <p:spPr>
          <a:xfrm>
            <a:off x="8911930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A2F651-799F-547C-11D4-09DBA8527AE0}"/>
              </a:ext>
            </a:extLst>
          </p:cNvPr>
          <p:cNvSpPr/>
          <p:nvPr/>
        </p:nvSpPr>
        <p:spPr>
          <a:xfrm>
            <a:off x="7016857" y="2344471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8E10E8-37B3-401D-6D99-749FA2153D93}"/>
              </a:ext>
            </a:extLst>
          </p:cNvPr>
          <p:cNvSpPr/>
          <p:nvPr/>
        </p:nvSpPr>
        <p:spPr>
          <a:xfrm>
            <a:off x="7649602" y="2344471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CEFD93-D845-35E7-2396-D8A67D929C9D}"/>
              </a:ext>
            </a:extLst>
          </p:cNvPr>
          <p:cNvSpPr/>
          <p:nvPr/>
        </p:nvSpPr>
        <p:spPr>
          <a:xfrm>
            <a:off x="8282347" y="2344471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B785FE-3A2B-E60E-33B6-A9E3765003F9}"/>
              </a:ext>
            </a:extLst>
          </p:cNvPr>
          <p:cNvSpPr/>
          <p:nvPr/>
        </p:nvSpPr>
        <p:spPr>
          <a:xfrm>
            <a:off x="9544675" y="2344471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92D42C-8640-67D1-69D1-88AC72255168}"/>
              </a:ext>
            </a:extLst>
          </p:cNvPr>
          <p:cNvSpPr/>
          <p:nvPr/>
        </p:nvSpPr>
        <p:spPr>
          <a:xfrm>
            <a:off x="8911930" y="2344471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1.0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116A44A-BC48-4A01-79AD-06561C893B98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7265940" y="2059038"/>
            <a:ext cx="0" cy="28543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8F49BA-EEA6-C90D-1ED1-4E338DFE1B36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flipH="1">
            <a:off x="7898685" y="2059038"/>
            <a:ext cx="632745" cy="28543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E3F750-DCBF-0F0D-5B2E-811B8E607239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8531430" y="2059038"/>
            <a:ext cx="629583" cy="28543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0F8AAF-9097-02A2-2A17-D0581EED9FB4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 flipH="1">
            <a:off x="9161013" y="2059038"/>
            <a:ext cx="632745" cy="28543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AE0FAD6-B471-FEFE-F14C-EC42431CAEC2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flipH="1">
            <a:off x="9793758" y="2059038"/>
            <a:ext cx="631192" cy="28543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B73AA50-5352-BC01-185A-86FEA206AE40}"/>
              </a:ext>
            </a:extLst>
          </p:cNvPr>
          <p:cNvSpPr/>
          <p:nvPr/>
        </p:nvSpPr>
        <p:spPr>
          <a:xfrm>
            <a:off x="7016857" y="3049494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2.0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39B2C-0679-87C8-D0AF-B11D0739A289}"/>
              </a:ext>
            </a:extLst>
          </p:cNvPr>
          <p:cNvSpPr/>
          <p:nvPr/>
        </p:nvSpPr>
        <p:spPr>
          <a:xfrm>
            <a:off x="7649602" y="3049494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D5B9A0-927D-2707-E53C-076FA546B628}"/>
              </a:ext>
            </a:extLst>
          </p:cNvPr>
          <p:cNvSpPr/>
          <p:nvPr/>
        </p:nvSpPr>
        <p:spPr>
          <a:xfrm>
            <a:off x="8282347" y="3049494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5D999E-EE7B-4D57-D54B-BA0EEF3CBD9F}"/>
              </a:ext>
            </a:extLst>
          </p:cNvPr>
          <p:cNvSpPr/>
          <p:nvPr/>
        </p:nvSpPr>
        <p:spPr>
          <a:xfrm>
            <a:off x="8911930" y="3049494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0.0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2905121-D578-4046-8E25-E56572BBCE1C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flipH="1">
            <a:off x="9161013" y="2779391"/>
            <a:ext cx="632745" cy="27010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38B268D-6EE4-EB1A-49AE-302EB026B7EC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flipH="1">
            <a:off x="8531430" y="2779391"/>
            <a:ext cx="629583" cy="27010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DAAF7F-313E-9EA4-6CF0-34FC694D2410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flipH="1">
            <a:off x="7898685" y="2779391"/>
            <a:ext cx="632745" cy="27010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F899107-6853-06A6-4414-5247A59D4205}"/>
              </a:ext>
            </a:extLst>
          </p:cNvPr>
          <p:cNvSpPr txBox="1"/>
          <p:nvPr/>
        </p:nvSpPr>
        <p:spPr>
          <a:xfrm>
            <a:off x="838199" y="4399197"/>
            <a:ext cx="4932679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value)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(array,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3" name="Rectangular Callout 32">
            <a:extLst>
              <a:ext uri="{FF2B5EF4-FFF2-40B4-BE49-F238E27FC236}">
                <a16:creationId xmlns:a16="http://schemas.microsoft.com/office/drawing/2014/main" id="{0C43AF30-FE39-53A0-B015-C23B61C2F124}"/>
              </a:ext>
            </a:extLst>
          </p:cNvPr>
          <p:cNvSpPr/>
          <p:nvPr/>
        </p:nvSpPr>
        <p:spPr>
          <a:xfrm>
            <a:off x="1436852" y="5937906"/>
            <a:ext cx="3735371" cy="434920"/>
          </a:xfrm>
          <a:prstGeom prst="wedgeRectCallout">
            <a:avLst>
              <a:gd name="adj1" fmla="val -22109"/>
              <a:gd name="adj2" fmla="val -239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 Is this implementation correct?</a:t>
            </a:r>
          </a:p>
        </p:txBody>
      </p:sp>
      <p:sp>
        <p:nvSpPr>
          <p:cNvPr id="34" name="Rectangular Callout 33">
            <a:extLst>
              <a:ext uri="{FF2B5EF4-FFF2-40B4-BE49-F238E27FC236}">
                <a16:creationId xmlns:a16="http://schemas.microsoft.com/office/drawing/2014/main" id="{5BB97154-C052-FC64-E798-6B7A1351CE15}"/>
              </a:ext>
            </a:extLst>
          </p:cNvPr>
          <p:cNvSpPr/>
          <p:nvPr/>
        </p:nvSpPr>
        <p:spPr>
          <a:xfrm>
            <a:off x="363147" y="6430522"/>
            <a:ext cx="6209103" cy="368528"/>
          </a:xfrm>
          <a:prstGeom prst="wedgeRectCallout">
            <a:avLst>
              <a:gd name="adj1" fmla="val -22109"/>
              <a:gd name="adj2" fmla="val -239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Hint: What if two matched values are next to each other?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BB9BCC5-C307-BB9F-F0DD-F384C1EEDA19}"/>
              </a:ext>
            </a:extLst>
          </p:cNvPr>
          <p:cNvGrpSpPr/>
          <p:nvPr/>
        </p:nvGrpSpPr>
        <p:grpSpPr>
          <a:xfrm>
            <a:off x="7016857" y="4512530"/>
            <a:ext cx="3657176" cy="1155273"/>
            <a:chOff x="7016857" y="4142139"/>
            <a:chExt cx="3657176" cy="115527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60E0822-1DB5-4D7A-E821-A4EF1C78F035}"/>
                </a:ext>
              </a:extLst>
            </p:cNvPr>
            <p:cNvSpPr/>
            <p:nvPr/>
          </p:nvSpPr>
          <p:spPr>
            <a:xfrm>
              <a:off x="7016857" y="4142139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2.0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BFE7B34-122D-1FAA-F148-E9EE996AADED}"/>
                </a:ext>
              </a:extLst>
            </p:cNvPr>
            <p:cNvSpPr/>
            <p:nvPr/>
          </p:nvSpPr>
          <p:spPr>
            <a:xfrm>
              <a:off x="7649602" y="4142139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4.0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0289922-F9FE-BFFA-68C9-1B706C18E74E}"/>
                </a:ext>
              </a:extLst>
            </p:cNvPr>
            <p:cNvSpPr/>
            <p:nvPr/>
          </p:nvSpPr>
          <p:spPr>
            <a:xfrm>
              <a:off x="8282347" y="4142139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4.0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0007C6A-F939-3B84-30C9-25F0D6ED4AE4}"/>
                </a:ext>
              </a:extLst>
            </p:cNvPr>
            <p:cNvSpPr/>
            <p:nvPr/>
          </p:nvSpPr>
          <p:spPr>
            <a:xfrm>
              <a:off x="9544675" y="4142139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1.0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058DC34-2375-88D7-F343-B0F45D7C653E}"/>
                </a:ext>
              </a:extLst>
            </p:cNvPr>
            <p:cNvSpPr/>
            <p:nvPr/>
          </p:nvSpPr>
          <p:spPr>
            <a:xfrm>
              <a:off x="10175867" y="4142139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0.0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FA99402-1D51-59FF-489A-62F0A4488F1C}"/>
                </a:ext>
              </a:extLst>
            </p:cNvPr>
            <p:cNvSpPr/>
            <p:nvPr/>
          </p:nvSpPr>
          <p:spPr>
            <a:xfrm>
              <a:off x="8911930" y="4142139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3.0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AD2CF2A-2EDC-A6A2-86A0-12BC1375123E}"/>
                </a:ext>
              </a:extLst>
            </p:cNvPr>
            <p:cNvSpPr/>
            <p:nvPr/>
          </p:nvSpPr>
          <p:spPr>
            <a:xfrm>
              <a:off x="7016857" y="4862492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2.0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D6C783E-C362-F66B-7EA2-428648E0D4AF}"/>
                </a:ext>
              </a:extLst>
            </p:cNvPr>
            <p:cNvSpPr/>
            <p:nvPr/>
          </p:nvSpPr>
          <p:spPr>
            <a:xfrm>
              <a:off x="7649602" y="4862492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4.0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31A26C2-AC59-BCE4-BC4D-2778B15569B0}"/>
                </a:ext>
              </a:extLst>
            </p:cNvPr>
            <p:cNvSpPr/>
            <p:nvPr/>
          </p:nvSpPr>
          <p:spPr>
            <a:xfrm>
              <a:off x="8282347" y="4862492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3.0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FABC492-5682-FB4E-BA15-C5211B0093B9}"/>
                </a:ext>
              </a:extLst>
            </p:cNvPr>
            <p:cNvSpPr/>
            <p:nvPr/>
          </p:nvSpPr>
          <p:spPr>
            <a:xfrm>
              <a:off x="9544675" y="4862492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0.0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05D8AE5-8A93-6E10-C122-51BDCF710A3C}"/>
                </a:ext>
              </a:extLst>
            </p:cNvPr>
            <p:cNvSpPr/>
            <p:nvPr/>
          </p:nvSpPr>
          <p:spPr>
            <a:xfrm>
              <a:off x="8911930" y="4862492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1.0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215EE042-7126-1216-3C21-0626D24FF11B}"/>
                </a:ext>
              </a:extLst>
            </p:cNvPr>
            <p:cNvCxnSpPr>
              <a:cxnSpLocks/>
              <a:stCxn id="37" idx="2"/>
              <a:endCxn id="43" idx="0"/>
            </p:cNvCxnSpPr>
            <p:nvPr/>
          </p:nvCxnSpPr>
          <p:spPr>
            <a:xfrm>
              <a:off x="7265940" y="4577059"/>
              <a:ext cx="0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2EE7476-3B0D-B540-69B9-6CC47234B47A}"/>
                </a:ext>
              </a:extLst>
            </p:cNvPr>
            <p:cNvCxnSpPr>
              <a:cxnSpLocks/>
              <a:stCxn id="39" idx="2"/>
              <a:endCxn id="44" idx="0"/>
            </p:cNvCxnSpPr>
            <p:nvPr/>
          </p:nvCxnSpPr>
          <p:spPr>
            <a:xfrm flipH="1">
              <a:off x="7898685" y="4577059"/>
              <a:ext cx="632745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86DE54D-5456-E07D-75D6-77B0D946F8D7}"/>
                </a:ext>
              </a:extLst>
            </p:cNvPr>
            <p:cNvCxnSpPr>
              <a:cxnSpLocks/>
              <a:stCxn id="42" idx="2"/>
              <a:endCxn id="45" idx="0"/>
            </p:cNvCxnSpPr>
            <p:nvPr/>
          </p:nvCxnSpPr>
          <p:spPr>
            <a:xfrm flipH="1">
              <a:off x="8531430" y="4577059"/>
              <a:ext cx="629583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6BDDD11-475C-2ADD-8E20-1AD34D618431}"/>
                </a:ext>
              </a:extLst>
            </p:cNvPr>
            <p:cNvCxnSpPr>
              <a:cxnSpLocks/>
              <a:stCxn id="40" idx="2"/>
              <a:endCxn id="47" idx="0"/>
            </p:cNvCxnSpPr>
            <p:nvPr/>
          </p:nvCxnSpPr>
          <p:spPr>
            <a:xfrm flipH="1">
              <a:off x="9161013" y="4577059"/>
              <a:ext cx="632745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1627799-C4CC-B7AC-E8D0-7C217BB514C0}"/>
                </a:ext>
              </a:extLst>
            </p:cNvPr>
            <p:cNvCxnSpPr>
              <a:cxnSpLocks/>
              <a:stCxn id="41" idx="2"/>
              <a:endCxn id="46" idx="0"/>
            </p:cNvCxnSpPr>
            <p:nvPr/>
          </p:nvCxnSpPr>
          <p:spPr>
            <a:xfrm flipH="1">
              <a:off x="9793758" y="4577059"/>
              <a:ext cx="631192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C95362F-E3C1-5895-B670-9C8908C09301}"/>
              </a:ext>
            </a:extLst>
          </p:cNvPr>
          <p:cNvSpPr txBox="1"/>
          <p:nvPr/>
        </p:nvSpPr>
        <p:spPr>
          <a:xfrm>
            <a:off x="6818887" y="4399197"/>
            <a:ext cx="4409764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value)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(array,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b="1" dirty="0">
                <a:solidFill>
                  <a:srgbClr val="C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--;</a:t>
            </a:r>
            <a:endParaRPr lang="en-US" sz="1400" b="1" dirty="0">
              <a:solidFill>
                <a:srgbClr val="C00000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A5E112-DEA6-9C5A-29B8-4EA77E4CC0AE}"/>
              </a:ext>
            </a:extLst>
          </p:cNvPr>
          <p:cNvSpPr txBox="1"/>
          <p:nvPr/>
        </p:nvSpPr>
        <p:spPr>
          <a:xfrm>
            <a:off x="1896943" y="1090429"/>
            <a:ext cx="2333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"While" loop version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5F6A09-1579-A85D-840F-94247A124C83}"/>
              </a:ext>
            </a:extLst>
          </p:cNvPr>
          <p:cNvSpPr txBox="1"/>
          <p:nvPr/>
        </p:nvSpPr>
        <p:spPr>
          <a:xfrm>
            <a:off x="1494302" y="3970239"/>
            <a:ext cx="3139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"For" loop version (correct?)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19B805-A22E-2F11-F80E-EAF76D7DEE87}"/>
              </a:ext>
            </a:extLst>
          </p:cNvPr>
          <p:cNvSpPr txBox="1"/>
          <p:nvPr/>
        </p:nvSpPr>
        <p:spPr>
          <a:xfrm>
            <a:off x="7285932" y="3969704"/>
            <a:ext cx="302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"For" loop version (</a:t>
            </a:r>
            <a:r>
              <a:rPr lang="en-US" sz="2000" b="1" dirty="0"/>
              <a:t>correct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672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63" grpId="0" animBg="1"/>
      <p:bldP spid="66" grpId="0"/>
      <p:bldP spid="6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5D637-629B-F119-1932-465B4799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Iterating an array while it changes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10101-B67B-AFFD-6B62-C4AC44D96049}"/>
              </a:ext>
            </a:extLst>
          </p:cNvPr>
          <p:cNvSpPr txBox="1"/>
          <p:nvPr/>
        </p:nvSpPr>
        <p:spPr>
          <a:xfrm>
            <a:off x="838199" y="1480216"/>
            <a:ext cx="4907689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  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value)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(array,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70C0"/>
                </a:solidFill>
                <a:latin typeface="Menlo" panose="020B0609030804020204" pitchFamily="49" charset="0"/>
              </a:rPr>
              <a:t>      /* recall this remove the element at </a:t>
            </a:r>
          </a:p>
          <a:p>
            <a:r>
              <a:rPr lang="en-US" sz="1400" dirty="0">
                <a:solidFill>
                  <a:srgbClr val="0070C0"/>
                </a:solidFill>
                <a:latin typeface="Menlo" panose="020B0609030804020204" pitchFamily="49" charset="0"/>
              </a:rPr>
              <a:t>         index </a:t>
            </a:r>
            <a:r>
              <a:rPr lang="en-US" sz="1400" dirty="0" err="1">
                <a:solidFill>
                  <a:srgbClr val="0070C0"/>
                </a:solidFill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70C0"/>
                </a:solidFill>
                <a:latin typeface="Menlo" panose="020B0609030804020204" pitchFamily="49" charset="0"/>
              </a:rPr>
              <a:t> and update the array length </a:t>
            </a:r>
          </a:p>
          <a:p>
            <a:r>
              <a:rPr lang="en-US" sz="1400" dirty="0">
                <a:solidFill>
                  <a:srgbClr val="0070C0"/>
                </a:solidFill>
                <a:latin typeface="Menlo" panose="020B0609030804020204" pitchFamily="49" charset="0"/>
              </a:rPr>
              <a:t>         (via </a:t>
            </a:r>
            <a:r>
              <a:rPr lang="en-US" sz="1400" dirty="0" err="1">
                <a:solidFill>
                  <a:srgbClr val="0070C0"/>
                </a:solidFill>
                <a:latin typeface="Menlo" panose="020B0609030804020204" pitchFamily="49" charset="0"/>
              </a:rPr>
              <a:t>ptr_n</a:t>
            </a:r>
            <a:r>
              <a:rPr lang="en-US" sz="1400" dirty="0">
                <a:solidFill>
                  <a:srgbClr val="0070C0"/>
                </a:solidFill>
                <a:latin typeface="Menlo" panose="020B0609030804020204" pitchFamily="49" charset="0"/>
              </a:rPr>
              <a:t>) */</a:t>
            </a:r>
            <a:endParaRPr lang="en-US" sz="140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DB1BB-38C8-FAC1-DEC8-B64B26157445}"/>
              </a:ext>
            </a:extLst>
          </p:cNvPr>
          <p:cNvSpPr/>
          <p:nvPr/>
        </p:nvSpPr>
        <p:spPr>
          <a:xfrm>
            <a:off x="7016857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AB192B-03A4-103E-6153-73DA0F4404A5}"/>
              </a:ext>
            </a:extLst>
          </p:cNvPr>
          <p:cNvSpPr/>
          <p:nvPr/>
        </p:nvSpPr>
        <p:spPr>
          <a:xfrm>
            <a:off x="7649602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1AD662-993F-C555-3A80-DDD547102D2F}"/>
              </a:ext>
            </a:extLst>
          </p:cNvPr>
          <p:cNvSpPr/>
          <p:nvPr/>
        </p:nvSpPr>
        <p:spPr>
          <a:xfrm>
            <a:off x="8282347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4.0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49E21-39C9-4AAF-B32F-7C152F0E3012}"/>
              </a:ext>
            </a:extLst>
          </p:cNvPr>
          <p:cNvSpPr/>
          <p:nvPr/>
        </p:nvSpPr>
        <p:spPr>
          <a:xfrm>
            <a:off x="9544675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76D258-43B4-D33A-1893-812C85BB2D0A}"/>
              </a:ext>
            </a:extLst>
          </p:cNvPr>
          <p:cNvSpPr/>
          <p:nvPr/>
        </p:nvSpPr>
        <p:spPr>
          <a:xfrm>
            <a:off x="10175867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2ED7A8-FC51-7A52-4FAE-4A7FA7654316}"/>
              </a:ext>
            </a:extLst>
          </p:cNvPr>
          <p:cNvSpPr/>
          <p:nvPr/>
        </p:nvSpPr>
        <p:spPr>
          <a:xfrm>
            <a:off x="8911930" y="1624118"/>
            <a:ext cx="498166" cy="43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3.0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3DE40B-321C-2F8B-F979-E6BC04434CA2}"/>
              </a:ext>
            </a:extLst>
          </p:cNvPr>
          <p:cNvGrpSpPr/>
          <p:nvPr/>
        </p:nvGrpSpPr>
        <p:grpSpPr>
          <a:xfrm>
            <a:off x="7016857" y="2059038"/>
            <a:ext cx="3408093" cy="720353"/>
            <a:chOff x="7016857" y="2059038"/>
            <a:chExt cx="3408093" cy="72035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A2F651-799F-547C-11D4-09DBA8527AE0}"/>
                </a:ext>
              </a:extLst>
            </p:cNvPr>
            <p:cNvSpPr/>
            <p:nvPr/>
          </p:nvSpPr>
          <p:spPr>
            <a:xfrm>
              <a:off x="7016857" y="2344471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2.0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8E10E8-37B3-401D-6D99-749FA2153D93}"/>
                </a:ext>
              </a:extLst>
            </p:cNvPr>
            <p:cNvSpPr/>
            <p:nvPr/>
          </p:nvSpPr>
          <p:spPr>
            <a:xfrm>
              <a:off x="7649602" y="2344471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4.0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CEFD93-D845-35E7-2396-D8A67D929C9D}"/>
                </a:ext>
              </a:extLst>
            </p:cNvPr>
            <p:cNvSpPr/>
            <p:nvPr/>
          </p:nvSpPr>
          <p:spPr>
            <a:xfrm>
              <a:off x="8282347" y="2344471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3.0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B785FE-3A2B-E60E-33B6-A9E3765003F9}"/>
                </a:ext>
              </a:extLst>
            </p:cNvPr>
            <p:cNvSpPr/>
            <p:nvPr/>
          </p:nvSpPr>
          <p:spPr>
            <a:xfrm>
              <a:off x="9544675" y="2344471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0.0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192D42C-8640-67D1-69D1-88AC72255168}"/>
                </a:ext>
              </a:extLst>
            </p:cNvPr>
            <p:cNvSpPr/>
            <p:nvPr/>
          </p:nvSpPr>
          <p:spPr>
            <a:xfrm>
              <a:off x="8911930" y="2344471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1.0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116A44A-BC48-4A01-79AD-06561C893B98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>
              <a:off x="7265940" y="2059038"/>
              <a:ext cx="0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F8F49BA-EEA6-C90D-1ED1-4E338DFE1B36}"/>
                </a:ext>
              </a:extLst>
            </p:cNvPr>
            <p:cNvCxnSpPr>
              <a:cxnSpLocks/>
              <a:stCxn id="7" idx="2"/>
              <a:endCxn id="12" idx="0"/>
            </p:cNvCxnSpPr>
            <p:nvPr/>
          </p:nvCxnSpPr>
          <p:spPr>
            <a:xfrm flipH="1">
              <a:off x="7898685" y="2059038"/>
              <a:ext cx="632745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CE3F750-DCBF-0F0D-5B2E-811B8E607239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531430" y="2059038"/>
              <a:ext cx="629583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90F8AAF-9097-02A2-2A17-D0581EED9FB4}"/>
                </a:ext>
              </a:extLst>
            </p:cNvPr>
            <p:cNvCxnSpPr>
              <a:cxnSpLocks/>
              <a:stCxn id="8" idx="2"/>
              <a:endCxn id="15" idx="0"/>
            </p:cNvCxnSpPr>
            <p:nvPr/>
          </p:nvCxnSpPr>
          <p:spPr>
            <a:xfrm flipH="1">
              <a:off x="9161013" y="2059038"/>
              <a:ext cx="632745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AE0FAD6-B471-FEFE-F14C-EC42431CAEC2}"/>
                </a:ext>
              </a:extLst>
            </p:cNvPr>
            <p:cNvCxnSpPr>
              <a:cxnSpLocks/>
              <a:stCxn id="9" idx="2"/>
              <a:endCxn id="14" idx="0"/>
            </p:cNvCxnSpPr>
            <p:nvPr/>
          </p:nvCxnSpPr>
          <p:spPr>
            <a:xfrm flipH="1">
              <a:off x="9793758" y="2059038"/>
              <a:ext cx="631192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BEC1F27-4AB3-F2C9-7BA0-108653F3B21E}"/>
              </a:ext>
            </a:extLst>
          </p:cNvPr>
          <p:cNvGrpSpPr/>
          <p:nvPr/>
        </p:nvGrpSpPr>
        <p:grpSpPr>
          <a:xfrm>
            <a:off x="7016857" y="2779391"/>
            <a:ext cx="2776901" cy="705023"/>
            <a:chOff x="7016857" y="2779391"/>
            <a:chExt cx="2776901" cy="70502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B73AA50-5352-BC01-185A-86FEA206AE40}"/>
                </a:ext>
              </a:extLst>
            </p:cNvPr>
            <p:cNvSpPr/>
            <p:nvPr/>
          </p:nvSpPr>
          <p:spPr>
            <a:xfrm>
              <a:off x="7016857" y="3049494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2.0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9439B2C-0679-87C8-D0AF-B11D0739A289}"/>
                </a:ext>
              </a:extLst>
            </p:cNvPr>
            <p:cNvSpPr/>
            <p:nvPr/>
          </p:nvSpPr>
          <p:spPr>
            <a:xfrm>
              <a:off x="7649602" y="3049494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3.0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0D5B9A0-927D-2707-E53C-076FA546B628}"/>
                </a:ext>
              </a:extLst>
            </p:cNvPr>
            <p:cNvSpPr/>
            <p:nvPr/>
          </p:nvSpPr>
          <p:spPr>
            <a:xfrm>
              <a:off x="8282347" y="3049494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1.0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C5D999E-EE7B-4D57-D54B-BA0EEF3CBD9F}"/>
                </a:ext>
              </a:extLst>
            </p:cNvPr>
            <p:cNvSpPr/>
            <p:nvPr/>
          </p:nvSpPr>
          <p:spPr>
            <a:xfrm>
              <a:off x="8911930" y="3049494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0.0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2905121-D578-4046-8E25-E56572BBCE1C}"/>
                </a:ext>
              </a:extLst>
            </p:cNvPr>
            <p:cNvCxnSpPr>
              <a:cxnSpLocks/>
              <a:stCxn id="14" idx="2"/>
              <a:endCxn id="24" idx="0"/>
            </p:cNvCxnSpPr>
            <p:nvPr/>
          </p:nvCxnSpPr>
          <p:spPr>
            <a:xfrm flipH="1">
              <a:off x="9161013" y="2779391"/>
              <a:ext cx="632745" cy="27010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38B268D-6EE4-EB1A-49AE-302EB026B7EC}"/>
                </a:ext>
              </a:extLst>
            </p:cNvPr>
            <p:cNvCxnSpPr>
              <a:cxnSpLocks/>
              <a:stCxn id="15" idx="2"/>
              <a:endCxn id="23" idx="0"/>
            </p:cNvCxnSpPr>
            <p:nvPr/>
          </p:nvCxnSpPr>
          <p:spPr>
            <a:xfrm flipH="1">
              <a:off x="8531430" y="2779391"/>
              <a:ext cx="629583" cy="27010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BDAAF7F-313E-9EA4-6CF0-34FC694D2410}"/>
                </a:ext>
              </a:extLst>
            </p:cNvPr>
            <p:cNvCxnSpPr>
              <a:cxnSpLocks/>
              <a:stCxn id="13" idx="2"/>
              <a:endCxn id="22" idx="0"/>
            </p:cNvCxnSpPr>
            <p:nvPr/>
          </p:nvCxnSpPr>
          <p:spPr>
            <a:xfrm flipH="1">
              <a:off x="7898685" y="2779391"/>
              <a:ext cx="632745" cy="27010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F899107-6853-06A6-4414-5247A59D4205}"/>
              </a:ext>
            </a:extLst>
          </p:cNvPr>
          <p:cNvSpPr txBox="1"/>
          <p:nvPr/>
        </p:nvSpPr>
        <p:spPr>
          <a:xfrm>
            <a:off x="838200" y="4522767"/>
            <a:ext cx="4907696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value)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(array,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4" name="Rectangular Callout 33">
            <a:extLst>
              <a:ext uri="{FF2B5EF4-FFF2-40B4-BE49-F238E27FC236}">
                <a16:creationId xmlns:a16="http://schemas.microsoft.com/office/drawing/2014/main" id="{5BB97154-C052-FC64-E798-6B7A1351CE15}"/>
              </a:ext>
            </a:extLst>
          </p:cNvPr>
          <p:cNvSpPr/>
          <p:nvPr/>
        </p:nvSpPr>
        <p:spPr>
          <a:xfrm>
            <a:off x="6783803" y="5744984"/>
            <a:ext cx="4754419" cy="669332"/>
          </a:xfrm>
          <a:prstGeom prst="wedgeRectCallout">
            <a:avLst>
              <a:gd name="adj1" fmla="val -22109"/>
              <a:gd name="adj2" fmla="val -239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two matches are next to each other, the second match will be skipped, WHY?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528407A-96F3-F66A-663F-878104D4C281}"/>
              </a:ext>
            </a:extLst>
          </p:cNvPr>
          <p:cNvGrpSpPr/>
          <p:nvPr/>
        </p:nvGrpSpPr>
        <p:grpSpPr>
          <a:xfrm>
            <a:off x="7016857" y="4314820"/>
            <a:ext cx="3657176" cy="1155273"/>
            <a:chOff x="7016857" y="4314820"/>
            <a:chExt cx="3657176" cy="115527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60E0822-1DB5-4D7A-E821-A4EF1C78F035}"/>
                </a:ext>
              </a:extLst>
            </p:cNvPr>
            <p:cNvSpPr/>
            <p:nvPr/>
          </p:nvSpPr>
          <p:spPr>
            <a:xfrm>
              <a:off x="7016857" y="4314820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2.0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BFE7B34-122D-1FAA-F148-E9EE996AADED}"/>
                </a:ext>
              </a:extLst>
            </p:cNvPr>
            <p:cNvSpPr/>
            <p:nvPr/>
          </p:nvSpPr>
          <p:spPr>
            <a:xfrm>
              <a:off x="7649602" y="4314820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4.0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0289922-F9FE-BFFA-68C9-1B706C18E74E}"/>
                </a:ext>
              </a:extLst>
            </p:cNvPr>
            <p:cNvSpPr/>
            <p:nvPr/>
          </p:nvSpPr>
          <p:spPr>
            <a:xfrm>
              <a:off x="8282347" y="4314820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4.0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0007C6A-F939-3B84-30C9-25F0D6ED4AE4}"/>
                </a:ext>
              </a:extLst>
            </p:cNvPr>
            <p:cNvSpPr/>
            <p:nvPr/>
          </p:nvSpPr>
          <p:spPr>
            <a:xfrm>
              <a:off x="9544675" y="4314820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1.0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058DC34-2375-88D7-F343-B0F45D7C653E}"/>
                </a:ext>
              </a:extLst>
            </p:cNvPr>
            <p:cNvSpPr/>
            <p:nvPr/>
          </p:nvSpPr>
          <p:spPr>
            <a:xfrm>
              <a:off x="10175867" y="4314820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0.0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FA99402-1D51-59FF-489A-62F0A4488F1C}"/>
                </a:ext>
              </a:extLst>
            </p:cNvPr>
            <p:cNvSpPr/>
            <p:nvPr/>
          </p:nvSpPr>
          <p:spPr>
            <a:xfrm>
              <a:off x="8911930" y="4314820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3.0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AD2CF2A-2EDC-A6A2-86A0-12BC1375123E}"/>
                </a:ext>
              </a:extLst>
            </p:cNvPr>
            <p:cNvSpPr/>
            <p:nvPr/>
          </p:nvSpPr>
          <p:spPr>
            <a:xfrm>
              <a:off x="7016857" y="5035173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2.0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D6C783E-C362-F66B-7EA2-428648E0D4AF}"/>
                </a:ext>
              </a:extLst>
            </p:cNvPr>
            <p:cNvSpPr/>
            <p:nvPr/>
          </p:nvSpPr>
          <p:spPr>
            <a:xfrm>
              <a:off x="7649602" y="5035173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4.0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31A26C2-AC59-BCE4-BC4D-2778B15569B0}"/>
                </a:ext>
              </a:extLst>
            </p:cNvPr>
            <p:cNvSpPr/>
            <p:nvPr/>
          </p:nvSpPr>
          <p:spPr>
            <a:xfrm>
              <a:off x="8282347" y="5035173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3.0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FABC492-5682-FB4E-BA15-C5211B0093B9}"/>
                </a:ext>
              </a:extLst>
            </p:cNvPr>
            <p:cNvSpPr/>
            <p:nvPr/>
          </p:nvSpPr>
          <p:spPr>
            <a:xfrm>
              <a:off x="9544675" y="5035173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0.0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05D8AE5-8A93-6E10-C122-51BDCF710A3C}"/>
                </a:ext>
              </a:extLst>
            </p:cNvPr>
            <p:cNvSpPr/>
            <p:nvPr/>
          </p:nvSpPr>
          <p:spPr>
            <a:xfrm>
              <a:off x="8911930" y="5035173"/>
              <a:ext cx="498166" cy="4349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/>
                <a:t>1.0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215EE042-7126-1216-3C21-0626D24FF11B}"/>
                </a:ext>
              </a:extLst>
            </p:cNvPr>
            <p:cNvCxnSpPr>
              <a:cxnSpLocks/>
              <a:stCxn id="37" idx="2"/>
              <a:endCxn id="43" idx="0"/>
            </p:cNvCxnSpPr>
            <p:nvPr/>
          </p:nvCxnSpPr>
          <p:spPr>
            <a:xfrm>
              <a:off x="7265940" y="4749740"/>
              <a:ext cx="0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2EE7476-3B0D-B540-69B9-6CC47234B47A}"/>
                </a:ext>
              </a:extLst>
            </p:cNvPr>
            <p:cNvCxnSpPr>
              <a:cxnSpLocks/>
              <a:stCxn id="39" idx="2"/>
              <a:endCxn id="44" idx="0"/>
            </p:cNvCxnSpPr>
            <p:nvPr/>
          </p:nvCxnSpPr>
          <p:spPr>
            <a:xfrm flipH="1">
              <a:off x="7898685" y="4749740"/>
              <a:ext cx="632745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86DE54D-5456-E07D-75D6-77B0D946F8D7}"/>
                </a:ext>
              </a:extLst>
            </p:cNvPr>
            <p:cNvCxnSpPr>
              <a:cxnSpLocks/>
              <a:stCxn id="42" idx="2"/>
              <a:endCxn id="45" idx="0"/>
            </p:cNvCxnSpPr>
            <p:nvPr/>
          </p:nvCxnSpPr>
          <p:spPr>
            <a:xfrm flipH="1">
              <a:off x="8531430" y="4749740"/>
              <a:ext cx="629583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6BDDD11-475C-2ADD-8E20-1AD34D618431}"/>
                </a:ext>
              </a:extLst>
            </p:cNvPr>
            <p:cNvCxnSpPr>
              <a:cxnSpLocks/>
              <a:stCxn id="40" idx="2"/>
              <a:endCxn id="47" idx="0"/>
            </p:cNvCxnSpPr>
            <p:nvPr/>
          </p:nvCxnSpPr>
          <p:spPr>
            <a:xfrm flipH="1">
              <a:off x="9161013" y="4749740"/>
              <a:ext cx="632745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1627799-C4CC-B7AC-E8D0-7C217BB514C0}"/>
                </a:ext>
              </a:extLst>
            </p:cNvPr>
            <p:cNvCxnSpPr>
              <a:cxnSpLocks/>
              <a:stCxn id="41" idx="2"/>
              <a:endCxn id="46" idx="0"/>
            </p:cNvCxnSpPr>
            <p:nvPr/>
          </p:nvCxnSpPr>
          <p:spPr>
            <a:xfrm flipH="1">
              <a:off x="9793758" y="4749740"/>
              <a:ext cx="631192" cy="28543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1A5E112-DEA6-9C5A-29B8-4EA77E4CC0AE}"/>
              </a:ext>
            </a:extLst>
          </p:cNvPr>
          <p:cNvSpPr txBox="1"/>
          <p:nvPr/>
        </p:nvSpPr>
        <p:spPr>
          <a:xfrm>
            <a:off x="1896943" y="1090429"/>
            <a:ext cx="2333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"While" loop version</a:t>
            </a:r>
          </a:p>
        </p:txBody>
      </p:sp>
      <p:sp>
        <p:nvSpPr>
          <p:cNvPr id="33" name="Rectangular Callout 32">
            <a:extLst>
              <a:ext uri="{FF2B5EF4-FFF2-40B4-BE49-F238E27FC236}">
                <a16:creationId xmlns:a16="http://schemas.microsoft.com/office/drawing/2014/main" id="{0C43AF30-FE39-53A0-B015-C23B61C2F124}"/>
              </a:ext>
            </a:extLst>
          </p:cNvPr>
          <p:cNvSpPr/>
          <p:nvPr/>
        </p:nvSpPr>
        <p:spPr>
          <a:xfrm>
            <a:off x="1235675" y="5887881"/>
            <a:ext cx="4460729" cy="604994"/>
          </a:xfrm>
          <a:prstGeom prst="wedgeRectCallout">
            <a:avLst>
              <a:gd name="adj1" fmla="val -22109"/>
              <a:gd name="adj2" fmla="val -239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 Is the following "for" loop equivalent to the "while" loop?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676FC9-3840-8716-B749-4643E3BE6DBC}"/>
              </a:ext>
            </a:extLst>
          </p:cNvPr>
          <p:cNvSpPr txBox="1"/>
          <p:nvPr/>
        </p:nvSpPr>
        <p:spPr>
          <a:xfrm>
            <a:off x="838192" y="4522767"/>
            <a:ext cx="490769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remove_value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*array,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(array[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value)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remove_at_index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(array,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prt_n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</a:t>
            </a:r>
            <a:r>
              <a:rPr lang="en-US" sz="1400" b="1" dirty="0">
                <a:solidFill>
                  <a:srgbClr val="C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--;</a:t>
            </a:r>
            <a:r>
              <a:rPr lang="en-US" sz="1400" dirty="0">
                <a:solidFill>
                  <a:srgbClr val="400BD9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// ensure each element is visited</a:t>
            </a:r>
            <a:endParaRPr lang="en-US" sz="1400" b="1" dirty="0">
              <a:solidFill>
                <a:srgbClr val="C00000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161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3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E73B-31B2-D1D3-DA4A-185E6F9F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99BC0-FB49-C49A-573C-3929482F6A0E}"/>
              </a:ext>
            </a:extLst>
          </p:cNvPr>
          <p:cNvSpPr txBox="1"/>
          <p:nvPr/>
        </p:nvSpPr>
        <p:spPr>
          <a:xfrm>
            <a:off x="1027134" y="1490597"/>
            <a:ext cx="9807493" cy="10618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y++;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\t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==&gt; &amp;y: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y: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&amp;y, y);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g(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*y)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\t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==&gt; &amp;y: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y: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*y: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&amp;y, y, *y);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(*y)++;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*y)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\t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==&gt; &amp;y: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y(as pointer):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y(as sing):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*y: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&amp;y, y, y, *y);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(*y)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*y);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y++;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"&amp;x: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x: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&amp;x, x);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f(x);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"&amp;x: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x: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&amp;x, x);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g(&amp;x);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"&amp;x: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x: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&amp;x, x);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s[]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\t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==&gt; &amp;s: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s(as pointer):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s(as sing):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*s: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&amp;s, s, s, *s);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h(s);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\t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==&gt; &amp;s: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s(as pointer):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s(as sing):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*s: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&amp;s, s, s, *s);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6463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C6DE-A328-6FE6-3B02-8F1AC8D15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vs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FFD58-B8AE-4268-A195-114F407974D2}"/>
              </a:ext>
            </a:extLst>
          </p:cNvPr>
          <p:cNvSpPr txBox="1"/>
          <p:nvPr/>
        </p:nvSpPr>
        <p:spPr>
          <a:xfrm>
            <a:off x="851770" y="1816274"/>
            <a:ext cx="7436651" cy="8402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iteration(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max){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srand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(v);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v =  rand() %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99999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iter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&amp;v: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v: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++, &amp;v, v);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recursion(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v,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max)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srand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(v);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v =  rand() %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99999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"recur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&amp;v: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v: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++, &amp;v, v);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recursion(v,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initial_value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recursion(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initial_value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stops at 130753 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recursion2(&amp;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initial_value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stops at 104602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iteration(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initial_value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82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42763-FAA4-2901-0D23-CAD53D9D7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Overread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9062C-F489-261D-359E-3C6C8C6CB2AA}"/>
              </a:ext>
            </a:extLst>
          </p:cNvPr>
          <p:cNvSpPr txBox="1"/>
          <p:nvPr/>
        </p:nvSpPr>
        <p:spPr>
          <a:xfrm>
            <a:off x="999460" y="1967023"/>
            <a:ext cx="4507965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s1[N];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s2[]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"content"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s1[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s2[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*s3 = malloc(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s1[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s2[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4881B8-49C0-6005-05B8-91037BA7ABDD}"/>
              </a:ext>
            </a:extLst>
          </p:cNvPr>
          <p:cNvGrpSpPr/>
          <p:nvPr/>
        </p:nvGrpSpPr>
        <p:grpSpPr>
          <a:xfrm>
            <a:off x="7859472" y="1029025"/>
            <a:ext cx="896130" cy="5538278"/>
            <a:chOff x="7211641" y="2940522"/>
            <a:chExt cx="896130" cy="18986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6E2A870-4901-B020-ACA4-BBA083E10B08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260F8F-6F32-E4FF-06E7-E920BD084E2E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941F05C-CADD-6348-8178-C03CC7C7D7E1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B154FE6-FAB8-E994-2BDE-DF414F2D9663}"/>
              </a:ext>
            </a:extLst>
          </p:cNvPr>
          <p:cNvGraphicFramePr>
            <a:graphicFrameLocks noGrp="1"/>
          </p:cNvGraphicFramePr>
          <p:nvPr/>
        </p:nvGraphicFramePr>
        <p:xfrm>
          <a:off x="9441469" y="1722005"/>
          <a:ext cx="1088272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8272">
                  <a:extLst>
                    <a:ext uri="{9D8B030D-6E8A-4147-A177-3AD203B41FA5}">
                      <a16:colId xmlns:a16="http://schemas.microsoft.com/office/drawing/2014/main" val="681552778"/>
                    </a:ext>
                  </a:extLst>
                </a:gridCol>
              </a:tblGrid>
              <a:tr h="264261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7905457"/>
                  </a:ext>
                </a:extLst>
              </a:tr>
              <a:tr h="264261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44871636"/>
                  </a:ext>
                </a:extLst>
              </a:tr>
              <a:tr h="264261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9740805"/>
                  </a:ext>
                </a:extLst>
              </a:tr>
              <a:tr h="264261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62632279"/>
                  </a:ext>
                </a:extLst>
              </a:tr>
              <a:tr h="264261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0417645"/>
                  </a:ext>
                </a:extLst>
              </a:tr>
              <a:tr h="264261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9086821"/>
                  </a:ext>
                </a:extLst>
              </a:tr>
              <a:tr h="264261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66045"/>
                  </a:ext>
                </a:extLst>
              </a:tr>
              <a:tr h="264261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3062455"/>
                  </a:ext>
                </a:extLst>
              </a:tr>
              <a:tr h="264261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9629203"/>
                  </a:ext>
                </a:extLst>
              </a:tr>
              <a:tr h="264261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843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904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8F44-6C35-E639-90B6-8731566E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Overwrite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41415-2CE0-D0AC-78F6-26B18585C314}"/>
              </a:ext>
            </a:extLst>
          </p:cNvPr>
          <p:cNvSpPr txBox="1"/>
          <p:nvPr/>
        </p:nvSpPr>
        <p:spPr>
          <a:xfrm>
            <a:off x="999460" y="1967023"/>
            <a:ext cx="450796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 world"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532B-BA9F-F1E9-FDFD-C7B971E37FA7}"/>
              </a:ext>
            </a:extLst>
          </p:cNvPr>
          <p:cNvGrpSpPr/>
          <p:nvPr/>
        </p:nvGrpSpPr>
        <p:grpSpPr>
          <a:xfrm>
            <a:off x="7859472" y="1029025"/>
            <a:ext cx="896130" cy="5164385"/>
            <a:chOff x="7211641" y="2940522"/>
            <a:chExt cx="896130" cy="18986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B8934A-FA06-4898-2AA3-0C59EE3A09DF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CDA565-2D8C-AC58-58A5-6588C1376EAC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AC1002-F503-7A69-2492-84FF25C8A8A4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AB810F6-2B24-655F-FF30-FC18FA5B4568}"/>
              </a:ext>
            </a:extLst>
          </p:cNvPr>
          <p:cNvGraphicFramePr>
            <a:graphicFrameLocks noGrp="1"/>
          </p:cNvGraphicFramePr>
          <p:nvPr/>
        </p:nvGraphicFramePr>
        <p:xfrm>
          <a:off x="7859472" y="1872005"/>
          <a:ext cx="89613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130">
                  <a:extLst>
                    <a:ext uri="{9D8B030D-6E8A-4147-A177-3AD203B41FA5}">
                      <a16:colId xmlns:a16="http://schemas.microsoft.com/office/drawing/2014/main" val="681552778"/>
                    </a:ext>
                  </a:extLst>
                </a:gridCol>
              </a:tblGrid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\0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3153908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45188993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7905457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44871636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974080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62632279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04176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9086821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6604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3062455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9629203"/>
                  </a:ext>
                </a:extLst>
              </a:tr>
              <a:tr h="1700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843145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AF410B6-48A4-606A-0119-09EC3D3AE143}"/>
              </a:ext>
            </a:extLst>
          </p:cNvPr>
          <p:cNvSpPr txBox="1"/>
          <p:nvPr/>
        </p:nvSpPr>
        <p:spPr>
          <a:xfrm>
            <a:off x="6152641" y="4231301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0x16dd2f588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9B3EB9F-F579-4988-D799-E06D6EAACD61}"/>
              </a:ext>
            </a:extLst>
          </p:cNvPr>
          <p:cNvCxnSpPr>
            <a:cxnSpLocks/>
          </p:cNvCxnSpPr>
          <p:nvPr/>
        </p:nvCxnSpPr>
        <p:spPr>
          <a:xfrm>
            <a:off x="7499867" y="4385190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B888470-1597-5C10-5714-56691E60D8BE}"/>
              </a:ext>
            </a:extLst>
          </p:cNvPr>
          <p:cNvSpPr txBox="1"/>
          <p:nvPr/>
        </p:nvSpPr>
        <p:spPr>
          <a:xfrm>
            <a:off x="6152641" y="1863450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0x16f5d7593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3C7BB4-F774-D8DE-B0F1-7475EA14EE98}"/>
              </a:ext>
            </a:extLst>
          </p:cNvPr>
          <p:cNvCxnSpPr>
            <a:cxnSpLocks/>
          </p:cNvCxnSpPr>
          <p:nvPr/>
        </p:nvCxnSpPr>
        <p:spPr>
          <a:xfrm>
            <a:off x="7499867" y="2017339"/>
            <a:ext cx="359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0E2C866-917B-074B-1105-3437F2D71F35}"/>
              </a:ext>
            </a:extLst>
          </p:cNvPr>
          <p:cNvSpPr txBox="1"/>
          <p:nvPr/>
        </p:nvSpPr>
        <p:spPr>
          <a:xfrm>
            <a:off x="7332154" y="6259785"/>
            <a:ext cx="218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 (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000…00</a:t>
            </a:r>
            <a:r>
              <a:rPr lang="en-US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7DC8D-B2E8-AC22-ED15-501DDA257262}"/>
              </a:ext>
            </a:extLst>
          </p:cNvPr>
          <p:cNvSpPr txBox="1"/>
          <p:nvPr/>
        </p:nvSpPr>
        <p:spPr>
          <a:xfrm>
            <a:off x="7332154" y="763969"/>
            <a:ext cx="2230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 (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fff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…ff</a:t>
            </a:r>
            <a:r>
              <a:rPr lang="en-US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A1C92C-9372-E057-FCCD-1AFB42E6E031}"/>
              </a:ext>
            </a:extLst>
          </p:cNvPr>
          <p:cNvSpPr txBox="1"/>
          <p:nvPr/>
        </p:nvSpPr>
        <p:spPr>
          <a:xfrm rot="5400000">
            <a:off x="6614921" y="2958334"/>
            <a:ext cx="669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0112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18326</TotalTime>
  <Words>5944</Words>
  <Application>Microsoft Macintosh PowerPoint</Application>
  <PresentationFormat>Widescreen</PresentationFormat>
  <Paragraphs>1064</Paragraphs>
  <Slides>38</Slides>
  <Notes>3</Notes>
  <HiddenSlides>12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Menlo</vt:lpstr>
      <vt:lpstr>Wingdings</vt:lpstr>
      <vt:lpstr>Office Theme</vt:lpstr>
      <vt:lpstr>Pointer, Stack, Memory Leak  CMSC 14300: System Programming I 10th Lecture</vt:lpstr>
      <vt:lpstr>Recap: String</vt:lpstr>
      <vt:lpstr>Compare two strings</vt:lpstr>
      <vt:lpstr>Concatenate two strings</vt:lpstr>
      <vt:lpstr>C library</vt:lpstr>
      <vt:lpstr>Overview</vt:lpstr>
      <vt:lpstr>Pointer equality vs. value equality</vt:lpstr>
      <vt:lpstr>Exercise of Pointers and Functions</vt:lpstr>
      <vt:lpstr>Exercise of Arrays and Functions</vt:lpstr>
      <vt:lpstr>Overview</vt:lpstr>
      <vt:lpstr>Iteration vs. Recursion</vt:lpstr>
      <vt:lpstr>Iteration and Recursion Use Memory Differently</vt:lpstr>
      <vt:lpstr>Iteration and Recursion Use Memory Differently</vt:lpstr>
      <vt:lpstr>Iteration vs. Recursion</vt:lpstr>
      <vt:lpstr>Overview</vt:lpstr>
      <vt:lpstr>Memory Overread Example</vt:lpstr>
      <vt:lpstr>Memory Overwrite Example</vt:lpstr>
      <vt:lpstr>Memory Overwrite Example</vt:lpstr>
      <vt:lpstr>Memory Leak Example</vt:lpstr>
      <vt:lpstr>Memory Leak Example</vt:lpstr>
      <vt:lpstr>Recap</vt:lpstr>
      <vt:lpstr>PowerPoint Presentation</vt:lpstr>
      <vt:lpstr>PowerPoint Presentation</vt:lpstr>
      <vt:lpstr>PowerPoint Presentation</vt:lpstr>
      <vt:lpstr>Removing an element from an array</vt:lpstr>
      <vt:lpstr>Insert an element to an array</vt:lpstr>
      <vt:lpstr>Reverse elements in an array</vt:lpstr>
      <vt:lpstr>Analyzing performance</vt:lpstr>
      <vt:lpstr>Analyzing performance</vt:lpstr>
      <vt:lpstr>Analyzing performance</vt:lpstr>
      <vt:lpstr>PowerPoint Presentation</vt:lpstr>
      <vt:lpstr>Removing all occurrences of a value from an array</vt:lpstr>
      <vt:lpstr>Iterating an array while it changes</vt:lpstr>
      <vt:lpstr>Iterating an array while it changes</vt:lpstr>
      <vt:lpstr>PowerPoint Presentation</vt:lpstr>
      <vt:lpstr>Iteration vs Recursion</vt:lpstr>
      <vt:lpstr>Memory Overread Example</vt:lpstr>
      <vt:lpstr>Memory Overwrite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959</cp:revision>
  <dcterms:created xsi:type="dcterms:W3CDTF">2023-03-12T16:00:37Z</dcterms:created>
  <dcterms:modified xsi:type="dcterms:W3CDTF">2023-04-10T20:20:53Z</dcterms:modified>
</cp:coreProperties>
</file>