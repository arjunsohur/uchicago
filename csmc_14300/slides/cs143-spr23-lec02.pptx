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307" r:id="rId3"/>
    <p:sldId id="308" r:id="rId4"/>
    <p:sldId id="323" r:id="rId5"/>
    <p:sldId id="309" r:id="rId6"/>
    <p:sldId id="310" r:id="rId7"/>
    <p:sldId id="357" r:id="rId8"/>
    <p:sldId id="356" r:id="rId9"/>
    <p:sldId id="358" r:id="rId10"/>
    <p:sldId id="311" r:id="rId11"/>
    <p:sldId id="324" r:id="rId12"/>
    <p:sldId id="331" r:id="rId13"/>
    <p:sldId id="347" r:id="rId14"/>
    <p:sldId id="351" r:id="rId15"/>
    <p:sldId id="348" r:id="rId16"/>
    <p:sldId id="360" r:id="rId17"/>
    <p:sldId id="366" r:id="rId18"/>
    <p:sldId id="350" r:id="rId19"/>
    <p:sldId id="327" r:id="rId20"/>
    <p:sldId id="339" r:id="rId21"/>
    <p:sldId id="340" r:id="rId22"/>
    <p:sldId id="354" r:id="rId23"/>
    <p:sldId id="346" r:id="rId24"/>
    <p:sldId id="361" r:id="rId25"/>
    <p:sldId id="362" r:id="rId26"/>
    <p:sldId id="332" r:id="rId27"/>
    <p:sldId id="352" r:id="rId28"/>
    <p:sldId id="349" r:id="rId29"/>
    <p:sldId id="342" r:id="rId30"/>
    <p:sldId id="337" r:id="rId31"/>
    <p:sldId id="344" r:id="rId32"/>
    <p:sldId id="333" r:id="rId33"/>
    <p:sldId id="355" r:id="rId34"/>
    <p:sldId id="359" r:id="rId35"/>
    <p:sldId id="36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92CE"/>
    <a:srgbClr val="F5D1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571"/>
    <p:restoredTop sz="96774"/>
  </p:normalViewPr>
  <p:slideViewPr>
    <p:cSldViewPr snapToGrid="0">
      <p:cViewPr>
        <p:scale>
          <a:sx n="110" d="100"/>
          <a:sy n="110" d="100"/>
        </p:scale>
        <p:origin x="792" y="1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42" d="100"/>
          <a:sy n="142" d="100"/>
        </p:scale>
        <p:origin x="39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3F169-2198-DE43-9383-BED4C1AFCE25}" type="datetimeFigureOut">
              <a:rPr lang="en-US" smtClean="0"/>
              <a:t>3/20/23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C28D5-7AAA-A440-BCD5-500991AF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8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6493-2476-93E9-B539-6FEFD693F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B6265-6663-685B-0D67-32A300D1E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973AC-C4D7-2CD8-59B9-8F036962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EC3C-9C7C-6C2F-A149-61BF90BA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C2BA-FDA7-D836-7F7E-11EC7EA3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B075-03A3-FA86-B7F8-D311B3620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E385-2161-0088-C06C-4B4A6B7F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462E8-303B-5403-3582-618C446E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D7485-BD1F-CD51-FE23-21B47F35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C25C6-1258-538E-FF42-9D9DF410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7316-4858-30BC-055B-124573C2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A639A-B191-327A-6978-62EECF4B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25BB-C316-ECCB-BF4D-C3D1D131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2548-ED1B-4668-17CD-F31AE604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702F-018C-965A-1676-349EA4F5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BB08-3A02-1789-20AC-966C0B74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3AE7-6E47-C852-258C-0093063D0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DB2F4-5118-F931-1661-8C225D35D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C3D44-75A5-E98B-BAC7-9AE0294A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94225-9A87-1DA2-9198-24E2AD0C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B31FB-4778-D85E-90C0-DA68EEAB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6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6E9-2839-97CB-4D1A-A5C83201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3EECC-A052-DB25-D3E9-6ECA81590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15DF-3550-F497-50FA-3A7C892EA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575B5-D73E-0E68-4DA6-0248BFFE6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03FB7-11FD-90ED-77F9-A302DEDB4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F8A68-B0D0-6E96-0A84-980AA8A9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3/20/23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FB583-8D53-40A4-90E8-01067627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0730B-A18E-3D24-DCA4-DEE6491A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C52F-88D0-DECE-0B74-4AA230B7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AD8EC-E6CA-09B1-E885-D887552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3/20/23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3AF39-5DF7-362E-8D4C-A245D6AD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6545-2C3D-D645-9C01-AEF8545B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903B2-65E4-BF8E-0848-6C39503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3/20/23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0B6EE-E685-7C69-4126-140308D5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B4CAE-3EE7-E34B-95F3-125BA85C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03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4D97-9411-4DB6-6EBD-01C93CDE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1A7B-3AEB-9D4C-FF90-9FC82BBE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F3502-B1D2-7567-4197-0F851DBC1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2E46-B510-8C10-AEC4-919A1A60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DA79E-A724-4A2C-A553-8B305ED5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BDD05-00C1-74CA-A04D-24B20A7A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D8E1-4084-A7A6-AC62-A6D3B1AE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BF6B4-B75E-1C3F-8C26-684764EF5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E4C6C-AE41-8CD7-452E-AC2AF898E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18251-593F-A35D-DF75-B54E453A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E3CFE-4382-B365-4D25-29E6BF68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65313-4F5A-B1B7-BB09-70D9562D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5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6E39-4054-8A15-83C3-9FC82AE9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AD267-2FB2-FF75-996B-E53FD34FC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DA04-68C0-7F32-D3E9-20620D4A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0689-1A91-87E6-3351-6E09CC99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E03F9-C455-32B8-120B-607D292F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6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3B5D7-80EE-B154-4817-85CC29627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97980-2812-EA0A-3248-5ECDDAD48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C7A2-85CE-898E-77D7-B23E670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A95D8-5872-BC66-DD62-CB752D4C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8490-7E14-AF79-1A2C-2D923801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62C29-C3B1-5C75-6B98-5E829940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7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13F3-1ECF-6977-0C5F-4D3C0FCB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3371"/>
            <a:ext cx="10515600" cy="478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30F0-2085-C3AB-C299-84A59592F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99191-DA8B-834D-8515-0165619110D1}" type="datetimeFigureOut">
              <a:rPr lang="en-US" smtClean="0"/>
              <a:t>3/20/23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F843C-135A-9E50-77B7-0146DD4B7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69D5-0268-159A-99CD-0955D179F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9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en.wikipedia.org/wiki/Collatz_conjectur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llatz_conjecture" TargetMode="External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645-EB28-9C39-979C-0D1D57197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Basics II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CMSC 14300: System Programming I</a:t>
            </a:r>
            <a:b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2</a:t>
            </a:r>
            <a:r>
              <a:rPr kumimoji="0" lang="en-US" sz="2800" b="0" i="0" u="none" strike="noStrike" kern="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nd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Lecture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E83B3-0C44-0224-7BE7-EDCAE9DD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algn="l"/>
            <a:r>
              <a:rPr lang="en-US" dirty="0"/>
              <a:t>Instructor: </a:t>
            </a:r>
          </a:p>
          <a:p>
            <a:pPr algn="l"/>
            <a:r>
              <a:rPr lang="en-US" dirty="0"/>
              <a:t>Prof. Adam Shaw</a:t>
            </a:r>
          </a:p>
          <a:p>
            <a:pPr algn="l"/>
            <a:r>
              <a:rPr lang="en-US" dirty="0"/>
              <a:t>Prof. Junchen Jiang</a:t>
            </a:r>
          </a:p>
        </p:txBody>
      </p:sp>
    </p:spTree>
    <p:extLst>
      <p:ext uri="{BB962C8B-B14F-4D97-AF65-F5344CB8AC3E}">
        <p14:creationId xmlns:p14="http://schemas.microsoft.com/office/powerpoint/2010/main" val="137481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1EEEE-784A-F5F7-FE3E-F1CF7F06A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09ED9-613D-814C-EE52-A6D58B74A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C constructs</a:t>
            </a:r>
          </a:p>
          <a:p>
            <a:pPr lvl="1"/>
            <a:r>
              <a:rPr lang="en-US" dirty="0"/>
              <a:t>Variable Declaration</a:t>
            </a:r>
          </a:p>
          <a:p>
            <a:pPr lvl="1"/>
            <a:r>
              <a:rPr lang="en-US" dirty="0"/>
              <a:t>Function Definition</a:t>
            </a:r>
          </a:p>
          <a:p>
            <a:pPr lvl="1"/>
            <a:r>
              <a:rPr lang="en-US" dirty="0"/>
              <a:t>Function Declaration</a:t>
            </a:r>
          </a:p>
        </p:txBody>
      </p:sp>
    </p:spTree>
    <p:extLst>
      <p:ext uri="{BB962C8B-B14F-4D97-AF65-F5344CB8AC3E}">
        <p14:creationId xmlns:p14="http://schemas.microsoft.com/office/powerpoint/2010/main" val="1155811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C0386-E24A-F10C-2234-6BA312083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0875"/>
          </a:xfrm>
        </p:spPr>
        <p:txBody>
          <a:bodyPr>
            <a:normAutofit fontScale="90000"/>
          </a:bodyPr>
          <a:lstStyle/>
          <a:p>
            <a:r>
              <a:rPr lang="en-US" dirty="0"/>
              <a:t>Variable Declaration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BC3898-CF32-81EC-072B-4EB25F6CBB38}"/>
              </a:ext>
            </a:extLst>
          </p:cNvPr>
          <p:cNvSpPr txBox="1"/>
          <p:nvPr/>
        </p:nvSpPr>
        <p:spPr>
          <a:xfrm>
            <a:off x="838199" y="3625099"/>
            <a:ext cx="8691803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Examples: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a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pi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3.1416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// a float approximation of pi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x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'q'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  </a:t>
            </a:r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/* single quotes around character literals */</a:t>
            </a:r>
            <a:endParaRPr lang="en-US" sz="2000" dirty="0">
              <a:solidFill>
                <a:srgbClr val="400BD9"/>
              </a:solidFill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0F5A0D-0497-1458-F621-F5761C577201}"/>
              </a:ext>
            </a:extLst>
          </p:cNvPr>
          <p:cNvSpPr txBox="1"/>
          <p:nvPr/>
        </p:nvSpPr>
        <p:spPr>
          <a:xfrm>
            <a:off x="838199" y="5139383"/>
            <a:ext cx="4926349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Comments: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// this is a single line comment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/* this can be a single or</a:t>
            </a:r>
          </a:p>
          <a:p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     multi-line comment */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90CF06-A783-6063-D391-841A86535145}"/>
              </a:ext>
            </a:extLst>
          </p:cNvPr>
          <p:cNvSpPr txBox="1"/>
          <p:nvPr/>
        </p:nvSpPr>
        <p:spPr>
          <a:xfrm>
            <a:off x="838200" y="1196976"/>
            <a:ext cx="6462603" cy="19389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Syntax:</a:t>
            </a: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type </a:t>
            </a:r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varname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[= value];</a:t>
            </a:r>
          </a:p>
          <a:p>
            <a:endParaRPr lang="en-US" sz="2000" dirty="0"/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type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2000" dirty="0"/>
              <a:t>is the variable type (e.g., </a:t>
            </a:r>
            <a:r>
              <a:rPr lang="en-US" sz="2000" dirty="0">
                <a:solidFill>
                  <a:srgbClr val="2FB41D"/>
                </a:solidFill>
                <a:latin typeface="Menlo" panose="020B0609030804020204" pitchFamily="49" charset="0"/>
              </a:rPr>
              <a:t>char</a:t>
            </a:r>
            <a:r>
              <a:rPr lang="en-US" sz="2000" dirty="0"/>
              <a:t>,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sz="2000" dirty="0"/>
              <a:t>,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2FB41D"/>
                </a:solidFill>
                <a:latin typeface="Menlo" panose="020B0609030804020204" pitchFamily="49" charset="0"/>
              </a:rPr>
              <a:t>float</a:t>
            </a:r>
            <a:r>
              <a:rPr lang="en-US" sz="2000" dirty="0"/>
              <a:t>) </a:t>
            </a:r>
          </a:p>
          <a:p>
            <a:r>
              <a:rPr lang="en-US" sz="20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varname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/>
              <a:t>is the variable name</a:t>
            </a:r>
            <a:br>
              <a:rPr lang="en-US" sz="2000" dirty="0"/>
            </a:b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 value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/>
              <a:t>(optionally) initializes the variable with a value </a:t>
            </a:r>
          </a:p>
        </p:txBody>
      </p:sp>
    </p:spTree>
    <p:extLst>
      <p:ext uri="{BB962C8B-B14F-4D97-AF65-F5344CB8AC3E}">
        <p14:creationId xmlns:p14="http://schemas.microsoft.com/office/powerpoint/2010/main" val="356891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C0386-E24A-F10C-2234-6BA312083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0875"/>
          </a:xfrm>
        </p:spPr>
        <p:txBody>
          <a:bodyPr>
            <a:normAutofit fontScale="90000"/>
          </a:bodyPr>
          <a:lstStyle/>
          <a:p>
            <a:r>
              <a:rPr lang="en-US" dirty="0"/>
              <a:t>Variable Declaration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16DE5A-CE07-9B38-99FE-790035C98D58}"/>
              </a:ext>
            </a:extLst>
          </p:cNvPr>
          <p:cNvSpPr txBox="1"/>
          <p:nvPr/>
        </p:nvSpPr>
        <p:spPr>
          <a:xfrm>
            <a:off x="838200" y="1196976"/>
            <a:ext cx="7715574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Can declare and initialize multiple variables: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x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y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pi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3.1416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e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2.7183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b = x +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- y; </a:t>
            </a:r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// initialization from expression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long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z = f(x);  </a:t>
            </a:r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// ok, assuming function f is defined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r, s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5.0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  </a:t>
            </a:r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// only initializes 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4A619-FA8A-BE5A-0369-E1ECB52900B8}"/>
              </a:ext>
            </a:extLst>
          </p:cNvPr>
          <p:cNvSpPr txBox="1"/>
          <p:nvPr/>
        </p:nvSpPr>
        <p:spPr>
          <a:xfrm>
            <a:off x="838200" y="4730535"/>
            <a:ext cx="81323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x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y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x = f(x); </a:t>
            </a:r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// BAD: redefining 'x'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F4E213-A316-9647-66C4-E756A3677320}"/>
              </a:ext>
            </a:extLst>
          </p:cNvPr>
          <p:cNvSpPr txBox="1"/>
          <p:nvPr/>
        </p:nvSpPr>
        <p:spPr>
          <a:xfrm>
            <a:off x="838200" y="3316944"/>
            <a:ext cx="50001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Important: </a:t>
            </a:r>
          </a:p>
          <a:p>
            <a:pPr marL="342900" indent="-342900">
              <a:buFontTx/>
              <a:buChar char="-"/>
            </a:pPr>
            <a:r>
              <a:rPr lang="en-US" sz="2000" b="1" dirty="0"/>
              <a:t>Do not declare a variable more than once.</a:t>
            </a:r>
          </a:p>
        </p:txBody>
      </p:sp>
    </p:spTree>
    <p:extLst>
      <p:ext uri="{BB962C8B-B14F-4D97-AF65-F5344CB8AC3E}">
        <p14:creationId xmlns:p14="http://schemas.microsoft.com/office/powerpoint/2010/main" val="780798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C0386-E24A-F10C-2234-6BA312083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0875"/>
          </a:xfrm>
        </p:spPr>
        <p:txBody>
          <a:bodyPr>
            <a:normAutofit fontScale="90000"/>
          </a:bodyPr>
          <a:lstStyle/>
          <a:p>
            <a:r>
              <a:rPr lang="en-US" dirty="0"/>
              <a:t>Variable Declaration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BC3898-CF32-81EC-072B-4EB25F6CBB38}"/>
              </a:ext>
            </a:extLst>
          </p:cNvPr>
          <p:cNvSpPr txBox="1"/>
          <p:nvPr/>
        </p:nvSpPr>
        <p:spPr>
          <a:xfrm>
            <a:off x="838200" y="3316944"/>
            <a:ext cx="65769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Important: 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Do not declare a variable more than once.</a:t>
            </a:r>
          </a:p>
          <a:p>
            <a:pPr marL="342900" indent="-342900">
              <a:buFontTx/>
              <a:buChar char="-"/>
            </a:pPr>
            <a:r>
              <a:rPr lang="en-US" sz="2000" b="1" dirty="0"/>
              <a:t>Do not use a variable before initializing or assigning to it!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3546CD-1EA4-7E0D-A628-173BE2F8A326}"/>
              </a:ext>
            </a:extLst>
          </p:cNvPr>
          <p:cNvSpPr txBox="1"/>
          <p:nvPr/>
        </p:nvSpPr>
        <p:spPr>
          <a:xfrm>
            <a:off x="838200" y="4620945"/>
            <a:ext cx="54758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What value does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sz="2000" dirty="0"/>
              <a:t> have?</a:t>
            </a:r>
          </a:p>
          <a:p>
            <a:r>
              <a:rPr lang="en-US" sz="2000" b="1" dirty="0"/>
              <a:t>Could be anything because we did not initialize it!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73AA9-5D18-74B4-2D11-14B2B9E8C1FC}"/>
              </a:ext>
            </a:extLst>
          </p:cNvPr>
          <p:cNvSpPr txBox="1"/>
          <p:nvPr/>
        </p:nvSpPr>
        <p:spPr>
          <a:xfrm>
            <a:off x="838200" y="5487697"/>
            <a:ext cx="81323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r, s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5.0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  </a:t>
            </a:r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// only initializes s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f(r); </a:t>
            </a:r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// BAD: using r before assigning it a value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A7910E-0DEF-B829-9F6D-43A3C36D3C47}"/>
              </a:ext>
            </a:extLst>
          </p:cNvPr>
          <p:cNvSpPr txBox="1"/>
          <p:nvPr/>
        </p:nvSpPr>
        <p:spPr>
          <a:xfrm>
            <a:off x="838200" y="1196976"/>
            <a:ext cx="7715574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Can declare and initialize multiple variables: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x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y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pi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3.1416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e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2.7183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b = x +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- y; </a:t>
            </a:r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// initialization from expression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long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z = f(x);  </a:t>
            </a:r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// ok, assuming function f is defined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r, s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5.0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  </a:t>
            </a:r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// only initializes s</a:t>
            </a:r>
          </a:p>
        </p:txBody>
      </p:sp>
    </p:spTree>
    <p:extLst>
      <p:ext uri="{BB962C8B-B14F-4D97-AF65-F5344CB8AC3E}">
        <p14:creationId xmlns:p14="http://schemas.microsoft.com/office/powerpoint/2010/main" val="3863021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C0386-E24A-F10C-2234-6BA312083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0875"/>
          </a:xfrm>
        </p:spPr>
        <p:txBody>
          <a:bodyPr>
            <a:normAutofit fontScale="90000"/>
          </a:bodyPr>
          <a:lstStyle/>
          <a:p>
            <a:r>
              <a:rPr lang="en-US" dirty="0"/>
              <a:t>Variable Declaration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9AA0E7-62C8-8769-B133-8AB558DA1DFE}"/>
              </a:ext>
            </a:extLst>
          </p:cNvPr>
          <p:cNvSpPr txBox="1"/>
          <p:nvPr/>
        </p:nvSpPr>
        <p:spPr>
          <a:xfrm>
            <a:off x="838200" y="3316944"/>
            <a:ext cx="65769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Important: 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Do not declare a variable more than once.</a:t>
            </a:r>
          </a:p>
          <a:p>
            <a:pPr marL="342900" indent="-342900">
              <a:buFontTx/>
              <a:buChar char="-"/>
            </a:pPr>
            <a:r>
              <a:rPr lang="en-US" sz="2000" b="1" dirty="0"/>
              <a:t>Do not use a variable before initializing or assigning to it!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6307B-E1CF-E0CE-F8F4-55A69A3A6307}"/>
              </a:ext>
            </a:extLst>
          </p:cNvPr>
          <p:cNvSpPr txBox="1"/>
          <p:nvPr/>
        </p:nvSpPr>
        <p:spPr>
          <a:xfrm>
            <a:off x="838200" y="4620945"/>
            <a:ext cx="54758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What value does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lang="en-US" sz="2000" dirty="0"/>
              <a:t> have?</a:t>
            </a:r>
          </a:p>
          <a:p>
            <a:r>
              <a:rPr lang="en-US" sz="2000" b="1" dirty="0"/>
              <a:t>Could be anything because we did not initialize it!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813DA9-BB48-49ED-4EAA-B91D55FFF9B1}"/>
              </a:ext>
            </a:extLst>
          </p:cNvPr>
          <p:cNvSpPr txBox="1"/>
          <p:nvPr/>
        </p:nvSpPr>
        <p:spPr>
          <a:xfrm>
            <a:off x="838200" y="5488036"/>
            <a:ext cx="81323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r, s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5.0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// only initializes s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r = -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3.4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// assigns r a value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f(r); </a:t>
            </a:r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// OK: assigned r a value before use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39551F-D89C-0406-C565-D7664EF175C6}"/>
              </a:ext>
            </a:extLst>
          </p:cNvPr>
          <p:cNvSpPr txBox="1"/>
          <p:nvPr/>
        </p:nvSpPr>
        <p:spPr>
          <a:xfrm>
            <a:off x="838200" y="1196976"/>
            <a:ext cx="7715574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Can declare and initialize multiple variables: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x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y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pi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3.1416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e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2.7183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b = x +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- y; </a:t>
            </a:r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// initialization from expression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long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z = f(x);  </a:t>
            </a:r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// ok, assuming function f is defined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r, s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5.0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  </a:t>
            </a:r>
            <a:r>
              <a:rPr lang="en-US" dirty="0">
                <a:solidFill>
                  <a:srgbClr val="400BD9"/>
                </a:solidFill>
                <a:latin typeface="Menlo" panose="020B0609030804020204" pitchFamily="49" charset="0"/>
              </a:rPr>
              <a:t>// only initializes s</a:t>
            </a:r>
          </a:p>
        </p:txBody>
      </p:sp>
    </p:spTree>
    <p:extLst>
      <p:ext uri="{BB962C8B-B14F-4D97-AF65-F5344CB8AC3E}">
        <p14:creationId xmlns:p14="http://schemas.microsoft.com/office/powerpoint/2010/main" val="291790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084D8-0BD5-538B-DBEA-BD9DF78CA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Pointers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B0E910-5B90-3F01-69C3-40F8504BD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8831" y="3519790"/>
            <a:ext cx="4115909" cy="8391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6F4C59-B4FC-0635-29C6-8B7F90A1A027}"/>
              </a:ext>
            </a:extLst>
          </p:cNvPr>
          <p:cNvSpPr txBox="1"/>
          <p:nvPr/>
        </p:nvSpPr>
        <p:spPr>
          <a:xfrm>
            <a:off x="7427104" y="2950399"/>
            <a:ext cx="1079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Output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04F9FC-B4D6-49FB-EB53-7759761ACB8E}"/>
              </a:ext>
            </a:extLst>
          </p:cNvPr>
          <p:cNvSpPr txBox="1"/>
          <p:nvPr/>
        </p:nvSpPr>
        <p:spPr>
          <a:xfrm>
            <a:off x="838200" y="1261642"/>
            <a:ext cx="105975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Pointers are powerful features of C and C++ programming.</a:t>
            </a:r>
          </a:p>
          <a:p>
            <a:r>
              <a:rPr lang="en-US" sz="2400" b="1" dirty="0"/>
              <a:t>Addresses</a:t>
            </a:r>
            <a:r>
              <a:rPr lang="en-US" sz="2400" dirty="0"/>
              <a:t> in C programming</a:t>
            </a:r>
          </a:p>
          <a:p>
            <a:r>
              <a:rPr lang="en-US" sz="2400" dirty="0"/>
              <a:t>	e.g., 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&amp;x</a:t>
            </a:r>
            <a:r>
              <a:rPr lang="en-US" sz="2400" dirty="0"/>
              <a:t> is the address of variable 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BF81F1-3AAD-246E-F90F-8025FF2DBC2B}"/>
              </a:ext>
            </a:extLst>
          </p:cNvPr>
          <p:cNvSpPr txBox="1"/>
          <p:nvPr/>
        </p:nvSpPr>
        <p:spPr>
          <a:xfrm>
            <a:off x="132146" y="2703258"/>
            <a:ext cx="6708492" cy="2893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1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4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4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2 </a:t>
            </a: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3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4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initialize int variable x</a:t>
            </a: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5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"x is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x);</a:t>
            </a: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6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"address of x is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&amp;x); </a:t>
            </a:r>
            <a:endParaRPr lang="en-US" sz="14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7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&amp;x is the memory address of x</a:t>
            </a: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8 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 </a:t>
            </a:r>
            <a:endParaRPr lang="en-US" sz="14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9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*q;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declare pointer q</a:t>
            </a: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10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q = &amp;x;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assign address of x to pointer q</a:t>
            </a: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11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"address assigned to pointer q is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q);</a:t>
            </a:r>
            <a:endParaRPr lang="en-US" sz="14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12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"the value of thing pointed by q is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*q);</a:t>
            </a:r>
            <a:endParaRPr lang="en-US" sz="14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13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4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F69926-A429-39DD-BE25-D5C94FEE83FD}"/>
              </a:ext>
            </a:extLst>
          </p:cNvPr>
          <p:cNvSpPr/>
          <p:nvPr/>
        </p:nvSpPr>
        <p:spPr>
          <a:xfrm>
            <a:off x="9835107" y="4028990"/>
            <a:ext cx="1623831" cy="31839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123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084D8-0BD5-538B-DBEA-BD9DF78CA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Pointers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539669-8AED-7458-281C-AEE5AA5F27BD}"/>
              </a:ext>
            </a:extLst>
          </p:cNvPr>
          <p:cNvSpPr txBox="1"/>
          <p:nvPr/>
        </p:nvSpPr>
        <p:spPr>
          <a:xfrm>
            <a:off x="97422" y="3445887"/>
            <a:ext cx="6708492" cy="2893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1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4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4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2 </a:t>
            </a: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3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4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initialize int variable x</a:t>
            </a: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5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"x is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x);</a:t>
            </a: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6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"address of x is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&amp;x); </a:t>
            </a:r>
            <a:endParaRPr lang="en-US" sz="14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7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&amp;x is the memory address of x</a:t>
            </a: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8 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 </a:t>
            </a:r>
            <a:endParaRPr lang="en-US" sz="14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9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*q;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declare pointer q</a:t>
            </a: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10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q = &amp;x; </a:t>
            </a:r>
            <a:r>
              <a:rPr lang="en-US" sz="14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assign address of x to pointer q</a:t>
            </a: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11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"address assigned to pointer q is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q);</a:t>
            </a:r>
            <a:endParaRPr lang="en-US" sz="14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12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"the value of thing pointed by q is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*q);</a:t>
            </a:r>
            <a:endParaRPr lang="en-US" sz="14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13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4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409C60-1AA6-BFE5-36A5-5F0929EFA02A}"/>
              </a:ext>
            </a:extLst>
          </p:cNvPr>
          <p:cNvSpPr txBox="1"/>
          <p:nvPr/>
        </p:nvSpPr>
        <p:spPr>
          <a:xfrm>
            <a:off x="838200" y="1261642"/>
            <a:ext cx="105975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Pointers are powerful features of C and C++ programming.</a:t>
            </a:r>
          </a:p>
          <a:p>
            <a:r>
              <a:rPr lang="en-US" sz="2400" b="1" dirty="0"/>
              <a:t>Addresses</a:t>
            </a:r>
            <a:r>
              <a:rPr lang="en-US" sz="2400" dirty="0"/>
              <a:t> in C programming</a:t>
            </a:r>
          </a:p>
          <a:p>
            <a:r>
              <a:rPr lang="en-US" sz="2400" dirty="0"/>
              <a:t>	e.g., 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&amp;x</a:t>
            </a:r>
            <a:r>
              <a:rPr lang="en-US" sz="2400" dirty="0"/>
              <a:t> is the address of variable 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</a:t>
            </a:r>
          </a:p>
          <a:p>
            <a:r>
              <a:rPr lang="en-US" sz="2400" b="1" i="0" dirty="0">
                <a:effectLst/>
                <a:latin typeface="euclid_circular_a"/>
              </a:rPr>
              <a:t>Pointers</a:t>
            </a:r>
            <a:r>
              <a:rPr lang="en-US" sz="2400" b="0" i="0" dirty="0">
                <a:effectLst/>
                <a:latin typeface="euclid_circular_a"/>
              </a:rPr>
              <a:t> are special variables that are used to store addresses rather than values</a:t>
            </a:r>
          </a:p>
          <a:p>
            <a:r>
              <a:rPr lang="en-US" sz="2400" dirty="0">
                <a:latin typeface="euclid_circular_a"/>
              </a:rPr>
              <a:t>	e.g.,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*q</a:t>
            </a:r>
            <a:r>
              <a:rPr lang="en-US" sz="2000" dirty="0"/>
              <a:t> </a:t>
            </a:r>
            <a:r>
              <a:rPr lang="en-US" sz="2400" dirty="0"/>
              <a:t> is a pointer of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2400" dirty="0"/>
              <a:t> type (q can point to an </a:t>
            </a:r>
            <a:r>
              <a:rPr lang="en-US" sz="20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2400" dirty="0"/>
              <a:t> variable)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AAA05B-D22A-A0CC-6774-A40257D88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6422" y="4114099"/>
            <a:ext cx="5018156" cy="105564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E61634-A183-6A63-CE4D-88A552FF39D7}"/>
              </a:ext>
            </a:extLst>
          </p:cNvPr>
          <p:cNvSpPr txBox="1"/>
          <p:nvPr/>
        </p:nvSpPr>
        <p:spPr>
          <a:xfrm>
            <a:off x="7083706" y="3426534"/>
            <a:ext cx="1079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Output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9C32B5-A211-D5DB-2364-FF25D4510BA8}"/>
              </a:ext>
            </a:extLst>
          </p:cNvPr>
          <p:cNvSpPr/>
          <p:nvPr/>
        </p:nvSpPr>
        <p:spPr>
          <a:xfrm>
            <a:off x="8781810" y="4509530"/>
            <a:ext cx="1414967" cy="2184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11B556-5768-23B2-4245-5A941A8AA0C6}"/>
              </a:ext>
            </a:extLst>
          </p:cNvPr>
          <p:cNvSpPr/>
          <p:nvPr/>
        </p:nvSpPr>
        <p:spPr>
          <a:xfrm>
            <a:off x="10646316" y="4681873"/>
            <a:ext cx="1414967" cy="2184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00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821D-BF4F-021C-09D9-709EF51F6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format in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printf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639C151-E871-0CB0-16D2-EF2B089E6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615523"/>
              </p:ext>
            </p:extLst>
          </p:nvPr>
        </p:nvGraphicFramePr>
        <p:xfrm>
          <a:off x="504463" y="1405987"/>
          <a:ext cx="6731643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5103">
                  <a:extLst>
                    <a:ext uri="{9D8B030D-6E8A-4147-A177-3AD203B41FA5}">
                      <a16:colId xmlns:a16="http://schemas.microsoft.com/office/drawing/2014/main" val="3569503944"/>
                    </a:ext>
                  </a:extLst>
                </a:gridCol>
                <a:gridCol w="2521437">
                  <a:extLst>
                    <a:ext uri="{9D8B030D-6E8A-4147-A177-3AD203B41FA5}">
                      <a16:colId xmlns:a16="http://schemas.microsoft.com/office/drawing/2014/main" val="359912811"/>
                    </a:ext>
                  </a:extLst>
                </a:gridCol>
                <a:gridCol w="2105103">
                  <a:extLst>
                    <a:ext uri="{9D8B030D-6E8A-4147-A177-3AD203B41FA5}">
                      <a16:colId xmlns:a16="http://schemas.microsoft.com/office/drawing/2014/main" val="1295913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printf</a:t>
                      </a:r>
                      <a:r>
                        <a:rPr lang="en-US" sz="1800" b="1" dirty="0"/>
                        <a:t> specifier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527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[-128, 127]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525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[-2^31, 2^31-1]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089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unsigned 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[0, 2^32-1]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969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[-3.4x10^38, 3.4x10^38]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43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598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pointer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Menlo" panose="020B0609030804020204" pitchFamily="49" charset="0"/>
                          <a:ea typeface="Menlo" panose="020B0609030804020204" pitchFamily="49" charset="0"/>
                          <a:cs typeface="Menlo" panose="020B0609030804020204" pitchFamily="49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15814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07E5604-398D-59EA-D4EB-3BB579634413}"/>
              </a:ext>
            </a:extLst>
          </p:cNvPr>
          <p:cNvSpPr txBox="1"/>
          <p:nvPr/>
        </p:nvSpPr>
        <p:spPr>
          <a:xfrm>
            <a:off x="504463" y="4652010"/>
            <a:ext cx="7772882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1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4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4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2 </a:t>
            </a: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3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4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5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6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*z = &amp;x;</a:t>
            </a: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7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w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'w'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8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"x is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y is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%.4f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z is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and w is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%c\n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x, y, z, w);</a:t>
            </a:r>
            <a:endParaRPr lang="en-US" sz="14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9 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4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E55DC3-07EB-6271-CDC1-803FE1CB2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928688"/>
            <a:ext cx="5473701" cy="4199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F87D59-BCD4-7C1D-52B7-46C50AB04053}"/>
              </a:ext>
            </a:extLst>
          </p:cNvPr>
          <p:cNvSpPr txBox="1"/>
          <p:nvPr/>
        </p:nvSpPr>
        <p:spPr>
          <a:xfrm>
            <a:off x="504463" y="4164540"/>
            <a:ext cx="1392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Example: </a:t>
            </a:r>
          </a:p>
        </p:txBody>
      </p:sp>
    </p:spTree>
    <p:extLst>
      <p:ext uri="{BB962C8B-B14F-4D97-AF65-F5344CB8AC3E}">
        <p14:creationId xmlns:p14="http://schemas.microsoft.com/office/powerpoint/2010/main" val="1601728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0965-64EE-5B9B-D395-1067DFCA0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FC478-90A9-C447-1C5A-C9C4B5FFF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C constructs</a:t>
            </a:r>
          </a:p>
          <a:p>
            <a:pPr lvl="1"/>
            <a:r>
              <a:rPr lang="en-US" strike="sngStrike" dirty="0"/>
              <a:t>Variable Declaration</a:t>
            </a:r>
          </a:p>
          <a:p>
            <a:pPr lvl="1"/>
            <a:r>
              <a:rPr lang="en-US" dirty="0"/>
              <a:t>Function Definition</a:t>
            </a:r>
          </a:p>
          <a:p>
            <a:pPr lvl="1"/>
            <a:r>
              <a:rPr lang="en-US" dirty="0"/>
              <a:t>Function Declaration</a:t>
            </a:r>
          </a:p>
        </p:txBody>
      </p:sp>
    </p:spTree>
    <p:extLst>
      <p:ext uri="{BB962C8B-B14F-4D97-AF65-F5344CB8AC3E}">
        <p14:creationId xmlns:p14="http://schemas.microsoft.com/office/powerpoint/2010/main" val="3832609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BF50F-E137-9CFC-F2AF-AAC500CE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/>
              <a:t>Function Definition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E59B6C-7286-9C0D-1E1A-91A24D5E8490}"/>
              </a:ext>
            </a:extLst>
          </p:cNvPr>
          <p:cNvSpPr txBox="1"/>
          <p:nvPr/>
        </p:nvSpPr>
        <p:spPr>
          <a:xfrm>
            <a:off x="838200" y="1179297"/>
            <a:ext cx="9625327" cy="25545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Syntax: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return_type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function_name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([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parameter_list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])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body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}</a:t>
            </a:r>
          </a:p>
          <a:p>
            <a:endParaRPr lang="en-US" sz="2000" dirty="0"/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return_type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2000" dirty="0"/>
              <a:t>type of value function returns (e.g., 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</a:t>
            </a:r>
            <a:r>
              <a:rPr lang="en-US" sz="2000" dirty="0"/>
              <a:t>,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int</a:t>
            </a:r>
            <a:r>
              <a:rPr lang="en-US" sz="2000" dirty="0"/>
              <a:t>,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float</a:t>
            </a:r>
            <a:r>
              <a:rPr lang="en-US" sz="2000" dirty="0"/>
              <a:t>)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2000" dirty="0"/>
              <a:t>OR 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000" dirty="0"/>
              <a:t> to denote the function does not return a value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parameter_list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/>
              <a:t>comma-separated list with type and variable name of each argument</a:t>
            </a:r>
            <a:br>
              <a:rPr lang="en-US" sz="2000" dirty="0"/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body            </a:t>
            </a:r>
            <a:r>
              <a:rPr lang="en-US" sz="2000" dirty="0"/>
              <a:t>sequence of statements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043E71-16AB-A135-769E-F09004760E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3401"/>
          <a:stretch/>
        </p:blipFill>
        <p:spPr>
          <a:xfrm>
            <a:off x="4611696" y="4702139"/>
            <a:ext cx="3449320" cy="8937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14F9FA-9FD5-CBA6-7DBC-BDCAD52CFB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029" b="29956"/>
          <a:stretch/>
        </p:blipFill>
        <p:spPr>
          <a:xfrm>
            <a:off x="838200" y="4702139"/>
            <a:ext cx="3449320" cy="137804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19EC8E-5662-8D32-04D9-E9158C03C0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4066" b="-665"/>
          <a:stretch/>
        </p:blipFill>
        <p:spPr>
          <a:xfrm>
            <a:off x="8385192" y="4702138"/>
            <a:ext cx="3449320" cy="89370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EF1AEF-90EA-3FCF-0C9C-E79EB4EFCF8F}"/>
              </a:ext>
            </a:extLst>
          </p:cNvPr>
          <p:cNvSpPr txBox="1"/>
          <p:nvPr/>
        </p:nvSpPr>
        <p:spPr>
          <a:xfrm>
            <a:off x="838200" y="4165600"/>
            <a:ext cx="13621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47AE9E-EAA1-A85A-F186-5905FBE0227B}"/>
              </a:ext>
            </a:extLst>
          </p:cNvPr>
          <p:cNvSpPr txBox="1"/>
          <p:nvPr/>
        </p:nvSpPr>
        <p:spPr>
          <a:xfrm>
            <a:off x="8385192" y="5784989"/>
            <a:ext cx="3449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When a function returns </a:t>
            </a:r>
            <a:r>
              <a:rPr lang="en-US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void</a:t>
            </a:r>
            <a:r>
              <a:rPr lang="en-US" sz="2000" dirty="0"/>
              <a:t>, a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2000" dirty="0"/>
              <a:t> statement is optional</a:t>
            </a:r>
          </a:p>
        </p:txBody>
      </p:sp>
    </p:spTree>
    <p:extLst>
      <p:ext uri="{BB962C8B-B14F-4D97-AF65-F5344CB8AC3E}">
        <p14:creationId xmlns:p14="http://schemas.microsoft.com/office/powerpoint/2010/main" val="64475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9A607-3BCA-E2B6-35E9-C28B529C2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Collatz</a:t>
            </a:r>
            <a:r>
              <a:rPr lang="en-US" dirty="0"/>
              <a:t> Program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8D09432-5317-29DC-A0A9-2B7F0515E7CF}"/>
              </a:ext>
            </a:extLst>
          </p:cNvPr>
          <p:cNvGrpSpPr/>
          <p:nvPr/>
        </p:nvGrpSpPr>
        <p:grpSpPr>
          <a:xfrm>
            <a:off x="631179" y="1424198"/>
            <a:ext cx="6739434" cy="1969155"/>
            <a:chOff x="631179" y="1424198"/>
            <a:chExt cx="6739434" cy="196915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1E7AC4DB-2ED6-E967-A5B4-D7AFF16A3243}"/>
                    </a:ext>
                  </a:extLst>
                </p:cNvPr>
                <p:cNvSpPr txBox="1"/>
                <p:nvPr/>
              </p:nvSpPr>
              <p:spPr>
                <a:xfrm>
                  <a:off x="631179" y="1424198"/>
                  <a:ext cx="6739434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i="1" dirty="0">
                      <a:hlinkClick r:id="rId2"/>
                    </a:rPr>
                    <a:t>Collatz Conjecture:</a:t>
                  </a:r>
                  <a:endParaRPr lang="en-US" sz="2000" i="1" dirty="0"/>
                </a:p>
                <a:p>
                  <a:r>
                    <a:rPr lang="en-US" sz="2000" dirty="0"/>
                    <a:t>Repeating the following simple rules will eventually transform any positive integer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2000" dirty="0"/>
                    <a:t> to 1.</a:t>
                  </a:r>
                </a:p>
              </p:txBody>
            </p:sp>
          </mc:Choice>
          <mc:Fallback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1E7AC4DB-2ED6-E967-A5B4-D7AFF16A32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179" y="1424198"/>
                  <a:ext cx="6739434" cy="1015663"/>
                </a:xfrm>
                <a:prstGeom prst="rect">
                  <a:avLst/>
                </a:prstGeom>
                <a:blipFill>
                  <a:blip r:embed="rId3"/>
                  <a:stretch>
                    <a:fillRect l="-940" t="-3750" b="-11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3AED245-9C30-5301-BB04-4BF6A365533E}"/>
                    </a:ext>
                  </a:extLst>
                </p:cNvPr>
                <p:cNvSpPr txBox="1"/>
                <p:nvPr/>
              </p:nvSpPr>
              <p:spPr>
                <a:xfrm>
                  <a:off x="870699" y="2788156"/>
                  <a:ext cx="76059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⟵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3AED245-9C30-5301-BB04-4BF6A36553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0699" y="2788156"/>
                  <a:ext cx="760593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Left Brace 5">
              <a:extLst>
                <a:ext uri="{FF2B5EF4-FFF2-40B4-BE49-F238E27FC236}">
                  <a16:creationId xmlns:a16="http://schemas.microsoft.com/office/drawing/2014/main" id="{99C00444-D722-E061-4148-F2D3892723D0}"/>
                </a:ext>
              </a:extLst>
            </p:cNvPr>
            <p:cNvSpPr/>
            <p:nvPr/>
          </p:nvSpPr>
          <p:spPr>
            <a:xfrm>
              <a:off x="1513731" y="2722554"/>
              <a:ext cx="226577" cy="500536"/>
            </a:xfrm>
            <a:prstGeom prst="leftBrace">
              <a:avLst>
                <a:gd name="adj1" fmla="val 18816"/>
                <a:gd name="adj2" fmla="val 5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89B32DA-3794-BA72-928C-9F87ED7FFDB4}"/>
                    </a:ext>
                  </a:extLst>
                </p:cNvPr>
                <p:cNvSpPr txBox="1"/>
                <p:nvPr/>
              </p:nvSpPr>
              <p:spPr>
                <a:xfrm>
                  <a:off x="1832592" y="2993243"/>
                  <a:ext cx="235564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/2</m:t>
                      </m:r>
                    </m:oMath>
                  </a14:m>
                  <a:r>
                    <a:rPr lang="en-US" sz="2000" dirty="0"/>
                    <a:t>,          if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2000" dirty="0"/>
                    <a:t> is even</a:t>
                  </a: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89B32DA-3794-BA72-928C-9F87ED7FFD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2592" y="2993243"/>
                  <a:ext cx="2355645" cy="400110"/>
                </a:xfrm>
                <a:prstGeom prst="rect">
                  <a:avLst/>
                </a:prstGeom>
                <a:blipFill>
                  <a:blip r:embed="rId5"/>
                  <a:stretch>
                    <a:fillRect t="-6061" r="-2151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7CE32F5-CC5A-8944-2FC1-BC8A2F65061A}"/>
                    </a:ext>
                  </a:extLst>
                </p:cNvPr>
                <p:cNvSpPr txBox="1"/>
                <p:nvPr/>
              </p:nvSpPr>
              <p:spPr>
                <a:xfrm>
                  <a:off x="1817616" y="2522927"/>
                  <a:ext cx="22890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+ 1</m:t>
                      </m:r>
                    </m:oMath>
                  </a14:m>
                  <a:r>
                    <a:rPr lang="en-US" sz="2000" dirty="0"/>
                    <a:t>,   if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2000" dirty="0"/>
                    <a:t> is odd</a:t>
                  </a: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7CE32F5-CC5A-8944-2FC1-BC8A2F6506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7616" y="2522927"/>
                  <a:ext cx="2289088" cy="400110"/>
                </a:xfrm>
                <a:prstGeom prst="rect">
                  <a:avLst/>
                </a:prstGeom>
                <a:blipFill>
                  <a:blip r:embed="rId6"/>
                  <a:stretch>
                    <a:fillRect t="-9091" r="-1657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54A531-66AB-C5CE-3DE4-E3FB37955095}"/>
                </a:ext>
              </a:extLst>
            </p:cNvPr>
            <p:cNvSpPr txBox="1"/>
            <p:nvPr/>
          </p:nvSpPr>
          <p:spPr>
            <a:xfrm>
              <a:off x="4198344" y="2743425"/>
              <a:ext cx="15975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, then repeat.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430EF82-D38D-927F-E05F-09FE88538ED9}"/>
              </a:ext>
            </a:extLst>
          </p:cNvPr>
          <p:cNvSpPr txBox="1"/>
          <p:nvPr/>
        </p:nvSpPr>
        <p:spPr>
          <a:xfrm>
            <a:off x="5875555" y="4018030"/>
            <a:ext cx="54893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The conjecture is still unsolved, but we can test it!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945E50-D597-55FE-86F8-3CCF2F15EFF3}"/>
              </a:ext>
            </a:extLst>
          </p:cNvPr>
          <p:cNvSpPr txBox="1"/>
          <p:nvPr/>
        </p:nvSpPr>
        <p:spPr>
          <a:xfrm>
            <a:off x="1513731" y="3634911"/>
            <a:ext cx="109260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  <a:p>
            <a:r>
              <a:rPr lang="en-US" dirty="0"/>
              <a:t>12 </a:t>
            </a:r>
          </a:p>
          <a:p>
            <a:r>
              <a:rPr lang="en-US" dirty="0"/>
              <a:t> -&gt; 6</a:t>
            </a:r>
          </a:p>
          <a:p>
            <a:r>
              <a:rPr lang="en-US" dirty="0"/>
              <a:t> -&gt; 3</a:t>
            </a:r>
          </a:p>
          <a:p>
            <a:r>
              <a:rPr lang="en-US" dirty="0"/>
              <a:t> -&gt; 10</a:t>
            </a:r>
          </a:p>
          <a:p>
            <a:r>
              <a:rPr lang="en-US" dirty="0"/>
              <a:t> -&gt; 5</a:t>
            </a:r>
          </a:p>
          <a:p>
            <a:r>
              <a:rPr lang="en-US" dirty="0"/>
              <a:t> -&gt; 16</a:t>
            </a:r>
          </a:p>
          <a:p>
            <a:r>
              <a:rPr lang="en-US" dirty="0"/>
              <a:t> -&gt; 8</a:t>
            </a:r>
          </a:p>
          <a:p>
            <a:r>
              <a:rPr lang="en-US" dirty="0"/>
              <a:t> -&gt; 4</a:t>
            </a:r>
          </a:p>
          <a:p>
            <a:r>
              <a:rPr lang="en-US" dirty="0"/>
              <a:t> -&gt; 2</a:t>
            </a:r>
          </a:p>
          <a:p>
            <a:r>
              <a:rPr lang="en-US" dirty="0"/>
              <a:t> -&gt; 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8F6BBD-8E3D-F4BB-C921-663EC21B14F0}"/>
              </a:ext>
            </a:extLst>
          </p:cNvPr>
          <p:cNvSpPr txBox="1"/>
          <p:nvPr/>
        </p:nvSpPr>
        <p:spPr>
          <a:xfrm>
            <a:off x="2560434" y="3911910"/>
            <a:ext cx="71045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42 </a:t>
            </a:r>
          </a:p>
          <a:p>
            <a:r>
              <a:rPr lang="en-US" dirty="0"/>
              <a:t> -&gt; 21</a:t>
            </a:r>
          </a:p>
          <a:p>
            <a:r>
              <a:rPr lang="en-US" dirty="0"/>
              <a:t> -&gt; 64</a:t>
            </a:r>
          </a:p>
          <a:p>
            <a:r>
              <a:rPr lang="en-US" dirty="0"/>
              <a:t> -&gt; 32</a:t>
            </a:r>
          </a:p>
          <a:p>
            <a:r>
              <a:rPr lang="en-US" dirty="0"/>
              <a:t> -&gt; 16</a:t>
            </a:r>
          </a:p>
          <a:p>
            <a:r>
              <a:rPr lang="en-US" dirty="0"/>
              <a:t> -&gt; 8</a:t>
            </a:r>
          </a:p>
          <a:p>
            <a:r>
              <a:rPr lang="en-US" dirty="0"/>
              <a:t> -&gt; 4</a:t>
            </a:r>
          </a:p>
          <a:p>
            <a:r>
              <a:rPr lang="en-US" dirty="0"/>
              <a:t> -&gt; 2</a:t>
            </a:r>
          </a:p>
          <a:p>
            <a:r>
              <a:rPr lang="en-US" dirty="0"/>
              <a:t> -&gt; 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B1F474-3F3D-8C1A-8970-79DE9EE49449}"/>
              </a:ext>
            </a:extLst>
          </p:cNvPr>
          <p:cNvSpPr txBox="1"/>
          <p:nvPr/>
        </p:nvSpPr>
        <p:spPr>
          <a:xfrm>
            <a:off x="3648769" y="3911910"/>
            <a:ext cx="266624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27 </a:t>
            </a:r>
          </a:p>
          <a:p>
            <a:r>
              <a:rPr lang="en-US" dirty="0"/>
              <a:t> -&gt; 82</a:t>
            </a:r>
          </a:p>
          <a:p>
            <a:r>
              <a:rPr lang="en-US" dirty="0"/>
              <a:t> -&gt; 41</a:t>
            </a:r>
          </a:p>
          <a:p>
            <a:r>
              <a:rPr lang="en-US" dirty="0"/>
              <a:t> -&gt; 124</a:t>
            </a:r>
          </a:p>
          <a:p>
            <a:r>
              <a:rPr lang="en-US" dirty="0"/>
              <a:t> … (</a:t>
            </a:r>
            <a:r>
              <a:rPr lang="en-US" b="1" dirty="0"/>
              <a:t>103 </a:t>
            </a:r>
            <a:r>
              <a:rPr lang="en-US" dirty="0"/>
              <a:t>steps in between!)</a:t>
            </a:r>
          </a:p>
          <a:p>
            <a:r>
              <a:rPr lang="en-US" dirty="0"/>
              <a:t> -&gt; 8</a:t>
            </a:r>
          </a:p>
          <a:p>
            <a:r>
              <a:rPr lang="en-US" dirty="0"/>
              <a:t> -&gt; 4</a:t>
            </a:r>
          </a:p>
          <a:p>
            <a:r>
              <a:rPr lang="en-US" dirty="0"/>
              <a:t> -&gt; 2</a:t>
            </a:r>
          </a:p>
          <a:p>
            <a:r>
              <a:rPr lang="en-US" dirty="0"/>
              <a:t> -&gt; 1</a:t>
            </a:r>
          </a:p>
        </p:txBody>
      </p:sp>
    </p:spTree>
    <p:extLst>
      <p:ext uri="{BB962C8B-B14F-4D97-AF65-F5344CB8AC3E}">
        <p14:creationId xmlns:p14="http://schemas.microsoft.com/office/powerpoint/2010/main" val="296529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7F5CA-47BB-23DC-6B78-6208EBFF3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Collatz</a:t>
            </a:r>
            <a:r>
              <a:rPr lang="en-US" dirty="0"/>
              <a:t> Program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5FA28E-5AB0-30ED-8EB0-E4D4DF6D362D}"/>
              </a:ext>
            </a:extLst>
          </p:cNvPr>
          <p:cNvSpPr txBox="1"/>
          <p:nvPr/>
        </p:nvSpPr>
        <p:spPr>
          <a:xfrm>
            <a:off x="8013301" y="3369022"/>
            <a:ext cx="10005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Output: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D7B8C-F78A-502E-4535-44383CC9DCBD}"/>
              </a:ext>
            </a:extLst>
          </p:cNvPr>
          <p:cNvSpPr txBox="1"/>
          <p:nvPr/>
        </p:nvSpPr>
        <p:spPr>
          <a:xfrm>
            <a:off x="548558" y="1212548"/>
            <a:ext cx="3413114" cy="53399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 1 </a:t>
            </a:r>
            <a:r>
              <a:rPr lang="en-US" sz="1100" dirty="0">
                <a:solidFill>
                  <a:srgbClr val="C814C9"/>
                </a:solidFill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latin typeface="Menlo" panose="020B0609030804020204" pitchFamily="49" charset="0"/>
              </a:rPr>
              <a:t>stdio.h</a:t>
            </a:r>
            <a:r>
              <a:rPr lang="en-US" sz="1100" dirty="0">
                <a:solidFill>
                  <a:srgbClr val="B42419"/>
                </a:solidFill>
                <a:latin typeface="Menlo" panose="020B0609030804020204" pitchFamily="49" charset="0"/>
              </a:rPr>
              <a:t>&gt;</a:t>
            </a:r>
            <a:endParaRPr lang="en-US" sz="1100" dirty="0">
              <a:solidFill>
                <a:srgbClr val="C814C9"/>
              </a:solidFill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 2 </a:t>
            </a:r>
            <a:r>
              <a:rPr lang="en-US" sz="1100" dirty="0">
                <a:solidFill>
                  <a:srgbClr val="C814C9"/>
                </a:solidFill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latin typeface="Menlo" panose="020B0609030804020204" pitchFamily="49" charset="0"/>
              </a:rPr>
              <a:t>stdlib.h</a:t>
            </a:r>
            <a:r>
              <a:rPr lang="en-US" sz="1100" dirty="0">
                <a:solidFill>
                  <a:srgbClr val="B42419"/>
                </a:solidFill>
                <a:latin typeface="Menlo" panose="020B0609030804020204" pitchFamily="49" charset="0"/>
              </a:rPr>
              <a:t>&gt;</a:t>
            </a: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 3 </a:t>
            </a: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 4 </a:t>
            </a:r>
            <a:r>
              <a:rPr lang="en-US" sz="1100" dirty="0">
                <a:solidFill>
                  <a:srgbClr val="2FB41D"/>
                </a:solidFill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 5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latin typeface="Menlo" panose="020B0609030804020204" pitchFamily="49" charset="0"/>
              </a:rPr>
              <a:t>" -&gt; </a:t>
            </a:r>
            <a:r>
              <a:rPr lang="en-US" sz="1100" dirty="0">
                <a:solidFill>
                  <a:srgbClr val="C814C9"/>
                </a:solidFill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, x);</a:t>
            </a: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 6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 7 </a:t>
            </a: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 8 </a:t>
            </a:r>
            <a:r>
              <a:rPr lang="en-US" sz="1100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 rule(</a:t>
            </a:r>
            <a:r>
              <a:rPr lang="en-US" sz="1100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 9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 (x % </a:t>
            </a:r>
            <a:r>
              <a:rPr lang="en-US" sz="1100" dirty="0">
                <a:solidFill>
                  <a:srgbClr val="B42419"/>
                </a:solidFill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US" sz="1100" dirty="0">
                <a:solidFill>
                  <a:srgbClr val="B42419"/>
                </a:solidFill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10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    x = x / </a:t>
            </a:r>
            <a:r>
              <a:rPr lang="en-US" sz="1100" dirty="0">
                <a:solidFill>
                  <a:srgbClr val="B42419"/>
                </a:solidFill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11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  } </a:t>
            </a:r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else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 {</a:t>
            </a:r>
            <a:endParaRPr lang="en-US" sz="1100" dirty="0">
              <a:solidFill>
                <a:srgbClr val="C1651C"/>
              </a:solidFill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12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    x = </a:t>
            </a:r>
            <a:r>
              <a:rPr lang="en-US" sz="1100" dirty="0">
                <a:solidFill>
                  <a:srgbClr val="B42419"/>
                </a:solidFill>
                <a:latin typeface="Menlo" panose="020B0609030804020204" pitchFamily="49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 * x + </a:t>
            </a:r>
            <a:r>
              <a:rPr lang="en-US" sz="1100" dirty="0">
                <a:solidFill>
                  <a:srgbClr val="B42419"/>
                </a:solidFill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13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  }</a:t>
            </a:r>
            <a:endParaRPr lang="en-US" sz="1100" dirty="0">
              <a:solidFill>
                <a:srgbClr val="C1651C"/>
              </a:solidFill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14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 x;</a:t>
            </a:r>
            <a:endParaRPr lang="en-US" sz="1100" dirty="0">
              <a:solidFill>
                <a:srgbClr val="C1651C"/>
              </a:solidFill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15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16 </a:t>
            </a: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17 </a:t>
            </a:r>
            <a:r>
              <a:rPr lang="en-US" sz="1100" dirty="0">
                <a:solidFill>
                  <a:srgbClr val="2FB41D"/>
                </a:solidFill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 test(</a:t>
            </a:r>
            <a:r>
              <a:rPr lang="en-US" sz="1100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18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  x = rule(x);</a:t>
            </a: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19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(x);</a:t>
            </a: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20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 (x != </a:t>
            </a:r>
            <a:r>
              <a:rPr lang="en-US" sz="1100" dirty="0">
                <a:solidFill>
                  <a:srgbClr val="B42419"/>
                </a:solidFill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21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    test(x);</a:t>
            </a: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22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  }</a:t>
            </a:r>
            <a:endParaRPr lang="en-US" sz="1100" dirty="0">
              <a:solidFill>
                <a:srgbClr val="C1651C"/>
              </a:solidFill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23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} </a:t>
            </a:r>
            <a:endParaRPr lang="en-US" sz="1100" dirty="0">
              <a:solidFill>
                <a:srgbClr val="C1651C"/>
              </a:solidFill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24 </a:t>
            </a: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25 </a:t>
            </a:r>
            <a:r>
              <a:rPr lang="en-US" sz="1100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 main(</a:t>
            </a:r>
            <a:r>
              <a:rPr lang="en-US" sz="1100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Menlo" panose="020B0609030804020204" pitchFamily="49" charset="0"/>
              </a:rPr>
              <a:t>argc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2FB41D"/>
                </a:solidFill>
                <a:latin typeface="Menlo" panose="020B0609030804020204" pitchFamily="49" charset="0"/>
              </a:rPr>
              <a:t>char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 *</a:t>
            </a:r>
            <a:r>
              <a:rPr lang="en-US" sz="1100" dirty="0" err="1">
                <a:solidFill>
                  <a:srgbClr val="000000"/>
                </a:solidFill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[]) {</a:t>
            </a: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26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 N = </a:t>
            </a:r>
            <a:r>
              <a:rPr lang="en-US" sz="1100" dirty="0" err="1">
                <a:solidFill>
                  <a:srgbClr val="000000"/>
                </a:solidFill>
                <a:latin typeface="Menlo" panose="020B0609030804020204" pitchFamily="49" charset="0"/>
              </a:rPr>
              <a:t>atoi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-US" sz="1100" dirty="0">
                <a:solidFill>
                  <a:srgbClr val="B42419"/>
                </a:solidFill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]);</a:t>
            </a: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27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C814C9"/>
                </a:solidFill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, N);</a:t>
            </a: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28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  test(N);</a:t>
            </a: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29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B42419"/>
                </a:solidFill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-US" sz="1100" dirty="0">
              <a:solidFill>
                <a:srgbClr val="C1651C"/>
              </a:solidFill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latin typeface="Menlo" panose="020B0609030804020204" pitchFamily="49" charset="0"/>
              </a:rPr>
              <a:t> 30 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latin typeface="Menlo" panose="020B06090308040202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917444-0A23-BC37-A3C7-232516DB0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196" y="3730704"/>
            <a:ext cx="3319396" cy="266792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8CEA68E-7B95-7818-6730-F17035D42BB0}"/>
              </a:ext>
            </a:extLst>
          </p:cNvPr>
          <p:cNvGrpSpPr/>
          <p:nvPr/>
        </p:nvGrpSpPr>
        <p:grpSpPr>
          <a:xfrm>
            <a:off x="5828767" y="1282443"/>
            <a:ext cx="5641826" cy="1907221"/>
            <a:chOff x="870699" y="1486132"/>
            <a:chExt cx="5786775" cy="190722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DBB3DC6-BEF8-7B25-FEEC-98953EA604A7}"/>
                    </a:ext>
                  </a:extLst>
                </p:cNvPr>
                <p:cNvSpPr txBox="1"/>
                <p:nvPr/>
              </p:nvSpPr>
              <p:spPr>
                <a:xfrm>
                  <a:off x="870699" y="1486132"/>
                  <a:ext cx="5786775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i="1" dirty="0">
                      <a:hlinkClick r:id="rId3"/>
                    </a:rPr>
                    <a:t>Collatz Conjecture:</a:t>
                  </a:r>
                  <a:endParaRPr lang="en-US" sz="2000" i="1" dirty="0"/>
                </a:p>
                <a:p>
                  <a:r>
                    <a:rPr lang="en-US" sz="2000" dirty="0"/>
                    <a:t>Repeating the following simple rules will eventually transform any positive integer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2000" dirty="0"/>
                    <a:t> to 1.</a:t>
                  </a:r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DBB3DC6-BEF8-7B25-FEEC-98953EA604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0699" y="1486132"/>
                  <a:ext cx="5786775" cy="1015663"/>
                </a:xfrm>
                <a:prstGeom prst="rect">
                  <a:avLst/>
                </a:prstGeom>
                <a:blipFill>
                  <a:blip r:embed="rId4"/>
                  <a:stretch>
                    <a:fillRect l="-897" t="-2469" b="-98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20F0C78-E1A7-59F5-CF5A-BF8EB80823D1}"/>
                    </a:ext>
                  </a:extLst>
                </p:cNvPr>
                <p:cNvSpPr txBox="1"/>
                <p:nvPr/>
              </p:nvSpPr>
              <p:spPr>
                <a:xfrm>
                  <a:off x="870699" y="2788156"/>
                  <a:ext cx="76059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⟵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620F0C78-E1A7-59F5-CF5A-BF8EB80823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0699" y="2788156"/>
                  <a:ext cx="760593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Left Brace 16">
              <a:extLst>
                <a:ext uri="{FF2B5EF4-FFF2-40B4-BE49-F238E27FC236}">
                  <a16:creationId xmlns:a16="http://schemas.microsoft.com/office/drawing/2014/main" id="{41B4D3A5-E346-775B-A95B-8C4E4038E286}"/>
                </a:ext>
              </a:extLst>
            </p:cNvPr>
            <p:cNvSpPr/>
            <p:nvPr/>
          </p:nvSpPr>
          <p:spPr>
            <a:xfrm>
              <a:off x="1513731" y="2722554"/>
              <a:ext cx="226577" cy="500536"/>
            </a:xfrm>
            <a:prstGeom prst="leftBrace">
              <a:avLst>
                <a:gd name="adj1" fmla="val 18816"/>
                <a:gd name="adj2" fmla="val 5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6A2AA01-D2E8-246D-EAD0-CFAC44B54AD0}"/>
                    </a:ext>
                  </a:extLst>
                </p:cNvPr>
                <p:cNvSpPr txBox="1"/>
                <p:nvPr/>
              </p:nvSpPr>
              <p:spPr>
                <a:xfrm>
                  <a:off x="1832592" y="2993243"/>
                  <a:ext cx="235564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/2</m:t>
                      </m:r>
                    </m:oMath>
                  </a14:m>
                  <a:r>
                    <a:rPr lang="en-US" sz="2000" dirty="0"/>
                    <a:t>,          if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2000" dirty="0"/>
                    <a:t> is even</a:t>
                  </a:r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6A2AA01-D2E8-246D-EAD0-CFAC44B54A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2592" y="2993243"/>
                  <a:ext cx="2355645" cy="400110"/>
                </a:xfrm>
                <a:prstGeom prst="rect">
                  <a:avLst/>
                </a:prstGeom>
                <a:blipFill>
                  <a:blip r:embed="rId6"/>
                  <a:stretch>
                    <a:fillRect t="-9091" r="-4396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9A606CB-1185-9432-84E5-E07211DA623C}"/>
                    </a:ext>
                  </a:extLst>
                </p:cNvPr>
                <p:cNvSpPr txBox="1"/>
                <p:nvPr/>
              </p:nvSpPr>
              <p:spPr>
                <a:xfrm>
                  <a:off x="1817616" y="2522927"/>
                  <a:ext cx="22890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+ 1</m:t>
                      </m:r>
                    </m:oMath>
                  </a14:m>
                  <a:r>
                    <a:rPr lang="en-US" sz="2000" dirty="0"/>
                    <a:t>,   if </a:t>
                  </a:r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2000" dirty="0"/>
                    <a:t> is odd</a:t>
                  </a:r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9A606CB-1185-9432-84E5-E07211DA62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7616" y="2522927"/>
                  <a:ext cx="2289088" cy="400110"/>
                </a:xfrm>
                <a:prstGeom prst="rect">
                  <a:avLst/>
                </a:prstGeom>
                <a:blipFill>
                  <a:blip r:embed="rId7"/>
                  <a:stretch>
                    <a:fillRect t="-6061" r="-4520" b="-242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C78B875-F956-94A8-CFC7-36B5DC3455DC}"/>
                </a:ext>
              </a:extLst>
            </p:cNvPr>
            <p:cNvSpPr txBox="1"/>
            <p:nvPr/>
          </p:nvSpPr>
          <p:spPr>
            <a:xfrm>
              <a:off x="4198344" y="2743425"/>
              <a:ext cx="15975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, then repeat.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3485BB7-1E91-8999-7E63-DCC59DAB723D}"/>
              </a:ext>
            </a:extLst>
          </p:cNvPr>
          <p:cNvGrpSpPr/>
          <p:nvPr/>
        </p:nvGrpSpPr>
        <p:grpSpPr>
          <a:xfrm>
            <a:off x="943900" y="5272319"/>
            <a:ext cx="6825800" cy="1290232"/>
            <a:chOff x="7464984" y="5428860"/>
            <a:chExt cx="6825800" cy="1290232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EE9858E-179E-9572-A416-258FC0013711}"/>
                </a:ext>
              </a:extLst>
            </p:cNvPr>
            <p:cNvSpPr/>
            <p:nvPr/>
          </p:nvSpPr>
          <p:spPr>
            <a:xfrm>
              <a:off x="7464984" y="5428860"/>
              <a:ext cx="2974101" cy="1201486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48214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ular Callout 22">
              <a:extLst>
                <a:ext uri="{FF2B5EF4-FFF2-40B4-BE49-F238E27FC236}">
                  <a16:creationId xmlns:a16="http://schemas.microsoft.com/office/drawing/2014/main" id="{573728F7-0DAA-12FF-900C-A88143662110}"/>
                </a:ext>
              </a:extLst>
            </p:cNvPr>
            <p:cNvSpPr/>
            <p:nvPr/>
          </p:nvSpPr>
          <p:spPr>
            <a:xfrm>
              <a:off x="9962668" y="5736170"/>
              <a:ext cx="4328116" cy="982922"/>
            </a:xfrm>
            <a:prstGeom prst="wedgeRectCallout">
              <a:avLst>
                <a:gd name="adj1" fmla="val -60724"/>
                <a:gd name="adj2" fmla="val -30155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main </a:t>
              </a:r>
              <a:r>
                <a:rPr lang="en-US" sz="2000" dirty="0">
                  <a:ea typeface="Menlo" panose="020B0609030804020204" pitchFamily="49" charset="0"/>
                  <a:cs typeface="Menlo" panose="020B0609030804020204" pitchFamily="49" charset="0"/>
                </a:rPr>
                <a:t>function: take an argument input</a:t>
              </a:r>
            </a:p>
            <a:p>
              <a:r>
                <a:rPr lang="en-US" sz="2000" dirty="0">
                  <a:cs typeface="Calibri" panose="020F0502020204030204" pitchFamily="34" charset="0"/>
                </a:rPr>
                <a:t>e.g., </a:t>
              </a:r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./</a:t>
              </a:r>
              <a:r>
                <a:rPr lang="en-US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collatz</a:t>
              </a:r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 12</a:t>
              </a:r>
            </a:p>
            <a:p>
              <a:r>
                <a:rPr lang="en-US" sz="2000" dirty="0">
                  <a:cs typeface="Calibri" panose="020F0502020204030204" pitchFamily="34" charset="0"/>
                </a:rPr>
                <a:t>where string </a:t>
              </a:r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"12" </a:t>
              </a:r>
              <a:r>
                <a:rPr lang="en-US" sz="2000" dirty="0">
                  <a:cs typeface="Calibri" panose="020F0502020204030204" pitchFamily="34" charset="0"/>
                </a:rPr>
                <a:t>is</a:t>
              </a:r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argv</a:t>
              </a:r>
              <a:r>
                <a:rPr lang="en-US" b="1" dirty="0">
                  <a:latin typeface="Consolas" panose="020B0609020204030204" pitchFamily="49" charset="0"/>
                  <a:cs typeface="Consolas" panose="020B0609020204030204" pitchFamily="49" charset="0"/>
                </a:rPr>
                <a:t>[1]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0E2A939-085B-3A59-4122-CBA18A6533E5}"/>
              </a:ext>
            </a:extLst>
          </p:cNvPr>
          <p:cNvGrpSpPr/>
          <p:nvPr/>
        </p:nvGrpSpPr>
        <p:grpSpPr>
          <a:xfrm>
            <a:off x="943900" y="3922039"/>
            <a:ext cx="3866212" cy="1241084"/>
            <a:chOff x="2075468" y="3368877"/>
            <a:chExt cx="3866212" cy="1241084"/>
          </a:xfrm>
          <a:solidFill>
            <a:srgbClr val="92D050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62505FF-8B9C-E2A8-430F-7162F1A6B8B0}"/>
                </a:ext>
              </a:extLst>
            </p:cNvPr>
            <p:cNvSpPr/>
            <p:nvPr/>
          </p:nvSpPr>
          <p:spPr>
            <a:xfrm>
              <a:off x="2075468" y="3368877"/>
              <a:ext cx="1895172" cy="1241084"/>
            </a:xfrm>
            <a:prstGeom prst="rect">
              <a:avLst/>
            </a:prstGeom>
            <a:solidFill>
              <a:srgbClr val="92D050">
                <a:alpha val="32000"/>
              </a:srgb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ular Callout 25">
              <a:extLst>
                <a:ext uri="{FF2B5EF4-FFF2-40B4-BE49-F238E27FC236}">
                  <a16:creationId xmlns:a16="http://schemas.microsoft.com/office/drawing/2014/main" id="{BD3ADE41-B53F-8510-0B55-A2AE6B6C2E17}"/>
                </a:ext>
              </a:extLst>
            </p:cNvPr>
            <p:cNvSpPr/>
            <p:nvPr/>
          </p:nvSpPr>
          <p:spPr>
            <a:xfrm>
              <a:off x="4174203" y="3695679"/>
              <a:ext cx="1767477" cy="854979"/>
            </a:xfrm>
            <a:prstGeom prst="wedgeRectCallout">
              <a:avLst>
                <a:gd name="adj1" fmla="val -72780"/>
                <a:gd name="adj2" fmla="val -11729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dirty="0"/>
                <a:t>Applying rule on </a:t>
              </a:r>
              <a:r>
                <a:rPr lang="en-US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x</a:t>
              </a:r>
              <a:r>
                <a:rPr lang="en-US" dirty="0">
                  <a:latin typeface="Calibri" panose="020F0502020204030204" pitchFamily="34" charset="0"/>
                  <a:ea typeface="Menlo" panose="020B0609030804020204" pitchFamily="49" charset="0"/>
                  <a:cs typeface="Calibri" panose="020F0502020204030204" pitchFamily="34" charset="0"/>
                </a:rPr>
                <a:t> </a:t>
              </a:r>
              <a:r>
                <a:rPr lang="en-US" dirty="0"/>
                <a:t>repeatedly</a:t>
              </a:r>
              <a:endPara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57EBEE-DB36-9EBC-9FE8-509B6DDF3730}"/>
              </a:ext>
            </a:extLst>
          </p:cNvPr>
          <p:cNvGrpSpPr/>
          <p:nvPr/>
        </p:nvGrpSpPr>
        <p:grpSpPr>
          <a:xfrm>
            <a:off x="944325" y="2403346"/>
            <a:ext cx="3671018" cy="1409497"/>
            <a:chOff x="-2286885" y="3183990"/>
            <a:chExt cx="3671018" cy="1409497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28" name="Rectangular Callout 27">
              <a:extLst>
                <a:ext uri="{FF2B5EF4-FFF2-40B4-BE49-F238E27FC236}">
                  <a16:creationId xmlns:a16="http://schemas.microsoft.com/office/drawing/2014/main" id="{AB004A67-CBD2-6A66-891A-F5769F32831D}"/>
                </a:ext>
              </a:extLst>
            </p:cNvPr>
            <p:cNvSpPr/>
            <p:nvPr/>
          </p:nvSpPr>
          <p:spPr>
            <a:xfrm>
              <a:off x="-171949" y="3246669"/>
              <a:ext cx="1556082" cy="614845"/>
            </a:xfrm>
            <a:prstGeom prst="wedgeRectCallout">
              <a:avLst>
                <a:gd name="adj1" fmla="val -78775"/>
                <a:gd name="adj2" fmla="val 35597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Operations of the rule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B58AC09-2A1E-D8A3-5EDC-0F141672DC1F}"/>
                </a:ext>
              </a:extLst>
            </p:cNvPr>
            <p:cNvSpPr/>
            <p:nvPr/>
          </p:nvSpPr>
          <p:spPr>
            <a:xfrm>
              <a:off x="-2286885" y="3183990"/>
              <a:ext cx="1903178" cy="1409497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44037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7E858D9-F4E0-7C78-9EE4-D24359B2850B}"/>
              </a:ext>
            </a:extLst>
          </p:cNvPr>
          <p:cNvGrpSpPr/>
          <p:nvPr/>
        </p:nvGrpSpPr>
        <p:grpSpPr>
          <a:xfrm>
            <a:off x="953591" y="1410667"/>
            <a:ext cx="4487156" cy="883483"/>
            <a:chOff x="3637221" y="5742796"/>
            <a:chExt cx="4487156" cy="883483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16CA6D9-E82A-4740-101E-1D0E0DB7E2CF}"/>
                </a:ext>
              </a:extLst>
            </p:cNvPr>
            <p:cNvSpPr/>
            <p:nvPr/>
          </p:nvSpPr>
          <p:spPr>
            <a:xfrm>
              <a:off x="3637221" y="6043576"/>
              <a:ext cx="2461978" cy="582703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43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ular Callout 31">
              <a:extLst>
                <a:ext uri="{FF2B5EF4-FFF2-40B4-BE49-F238E27FC236}">
                  <a16:creationId xmlns:a16="http://schemas.microsoft.com/office/drawing/2014/main" id="{1C3BA709-94A0-9BAA-0644-DDF1C89CBA32}"/>
                </a:ext>
              </a:extLst>
            </p:cNvPr>
            <p:cNvSpPr/>
            <p:nvPr/>
          </p:nvSpPr>
          <p:spPr>
            <a:xfrm>
              <a:off x="6156047" y="5742796"/>
              <a:ext cx="1968330" cy="671193"/>
            </a:xfrm>
            <a:prstGeom prst="wedgeRectCallout">
              <a:avLst>
                <a:gd name="adj1" fmla="val -60512"/>
                <a:gd name="adj2" fmla="val 63943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b="1" dirty="0" err="1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printf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prints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b="1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x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value on screen</a:t>
              </a:r>
            </a:p>
          </p:txBody>
        </p:sp>
      </p:grpSp>
      <p:sp>
        <p:nvSpPr>
          <p:cNvPr id="42" name="Arc 41">
            <a:extLst>
              <a:ext uri="{FF2B5EF4-FFF2-40B4-BE49-F238E27FC236}">
                <a16:creationId xmlns:a16="http://schemas.microsoft.com/office/drawing/2014/main" id="{4E96D201-A20F-1A8B-A91A-24DFE8621137}"/>
              </a:ext>
            </a:extLst>
          </p:cNvPr>
          <p:cNvSpPr/>
          <p:nvPr/>
        </p:nvSpPr>
        <p:spPr>
          <a:xfrm rot="12391396">
            <a:off x="714090" y="3388698"/>
            <a:ext cx="2028257" cy="2682804"/>
          </a:xfrm>
          <a:prstGeom prst="arc">
            <a:avLst>
              <a:gd name="adj1" fmla="val 16200000"/>
              <a:gd name="adj2" fmla="val 1022406"/>
            </a:avLst>
          </a:prstGeom>
          <a:ln w="28575">
            <a:solidFill>
              <a:schemeClr val="accent6"/>
            </a:solidFill>
            <a:headEnd type="none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7E78409F-3FA8-637F-10B1-E08E37CA217F}"/>
              </a:ext>
            </a:extLst>
          </p:cNvPr>
          <p:cNvSpPr/>
          <p:nvPr/>
        </p:nvSpPr>
        <p:spPr>
          <a:xfrm rot="11191059">
            <a:off x="548258" y="2412232"/>
            <a:ext cx="1389442" cy="1821621"/>
          </a:xfrm>
          <a:prstGeom prst="arc">
            <a:avLst>
              <a:gd name="adj1" fmla="val 16200000"/>
              <a:gd name="adj2" fmla="val 3833146"/>
            </a:avLst>
          </a:prstGeom>
          <a:ln w="28575">
            <a:solidFill>
              <a:schemeClr val="accent4"/>
            </a:solidFill>
            <a:headEnd type="none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0717E0DB-5DED-6012-FBEB-5A756B56C8B6}"/>
              </a:ext>
            </a:extLst>
          </p:cNvPr>
          <p:cNvSpPr/>
          <p:nvPr/>
        </p:nvSpPr>
        <p:spPr>
          <a:xfrm rot="11191059">
            <a:off x="167650" y="1672461"/>
            <a:ext cx="2197486" cy="2591171"/>
          </a:xfrm>
          <a:prstGeom prst="arc">
            <a:avLst>
              <a:gd name="adj1" fmla="val 16200000"/>
              <a:gd name="adj2" fmla="val 4241582"/>
            </a:avLst>
          </a:prstGeom>
          <a:ln w="28575">
            <a:solidFill>
              <a:schemeClr val="bg1">
                <a:lumMod val="50000"/>
              </a:schemeClr>
            </a:solidFill>
            <a:headEnd type="none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2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2" grpId="0" animBg="1"/>
      <p:bldP spid="43" grpId="0" animBg="1"/>
      <p:bldP spid="4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8A6C3-BA3F-447A-F16A-25A34A09A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Collatz</a:t>
            </a:r>
            <a:r>
              <a:rPr lang="en-US" dirty="0"/>
              <a:t> Program with Syntax Error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06404F-21C7-6322-F6FE-A1658427C05A}"/>
              </a:ext>
            </a:extLst>
          </p:cNvPr>
          <p:cNvSpPr txBox="1"/>
          <p:nvPr/>
        </p:nvSpPr>
        <p:spPr>
          <a:xfrm>
            <a:off x="548558" y="1212548"/>
            <a:ext cx="3413114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1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1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2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3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4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5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 -&gt;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6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7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8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rule(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%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x /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11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12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x +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13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14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x;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15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16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17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18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x = rule(x);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!=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21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test(x);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22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23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x;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24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25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26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argc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27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atoi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28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test(N);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30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31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146051-F77B-2A04-21BE-3915373162BD}"/>
              </a:ext>
            </a:extLst>
          </p:cNvPr>
          <p:cNvSpPr/>
          <p:nvPr/>
        </p:nvSpPr>
        <p:spPr>
          <a:xfrm>
            <a:off x="1015197" y="4925260"/>
            <a:ext cx="1414967" cy="2184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BC53D5-8BEA-9829-2F1D-E635915B8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683" y="1845287"/>
            <a:ext cx="6475855" cy="120033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CFE55B7-D3AF-FAE6-B353-0FEB7F49C19D}"/>
              </a:ext>
            </a:extLst>
          </p:cNvPr>
          <p:cNvSpPr txBox="1"/>
          <p:nvPr/>
        </p:nvSpPr>
        <p:spPr>
          <a:xfrm>
            <a:off x="4807691" y="3304552"/>
            <a:ext cx="60485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Example of syntax error:</a:t>
            </a:r>
          </a:p>
          <a:p>
            <a:r>
              <a:rPr lang="en-US" sz="2000" dirty="0"/>
              <a:t>    The function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test</a:t>
            </a:r>
            <a:r>
              <a:rPr lang="en-US" sz="2000" dirty="0"/>
              <a:t> is defined to return nothing (</a:t>
            </a:r>
            <a:r>
              <a:rPr lang="en-US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void</a:t>
            </a:r>
            <a:r>
              <a:rPr lang="en-US" sz="2000" dirty="0"/>
              <a:t>)</a:t>
            </a:r>
          </a:p>
          <a:p>
            <a:r>
              <a:rPr lang="en-US" sz="2000" dirty="0"/>
              <a:t>    Contradicts the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</a:t>
            </a:r>
            <a:r>
              <a:rPr lang="en-US" sz="2000" dirty="0"/>
              <a:t> statement.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AE2A6-09C0-B3D6-9158-A3549530634A}"/>
              </a:ext>
            </a:extLst>
          </p:cNvPr>
          <p:cNvSpPr txBox="1"/>
          <p:nvPr/>
        </p:nvSpPr>
        <p:spPr>
          <a:xfrm>
            <a:off x="4807691" y="1304768"/>
            <a:ext cx="3711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Output during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clang</a:t>
            </a:r>
            <a:r>
              <a:rPr lang="en-US" sz="2000" dirty="0"/>
              <a:t> compilation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8E0CB2-C652-3205-38BB-E90FFBF883AB}"/>
              </a:ext>
            </a:extLst>
          </p:cNvPr>
          <p:cNvSpPr txBox="1"/>
          <p:nvPr/>
        </p:nvSpPr>
        <p:spPr>
          <a:xfrm>
            <a:off x="4807691" y="4639685"/>
            <a:ext cx="726557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Errors vs. warnings (e.g., use %f to print int in </a:t>
            </a:r>
            <a:r>
              <a:rPr lang="en-US" sz="2000" dirty="0" err="1"/>
              <a:t>printf</a:t>
            </a:r>
            <a:r>
              <a:rPr lang="en-US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When does the executable change? (when compilation succeeds)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Should you fix all the errors at once? (start from the first 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If clang prints nothing, does it mean it's correct? NO</a:t>
            </a:r>
          </a:p>
        </p:txBody>
      </p:sp>
    </p:spTree>
    <p:extLst>
      <p:ext uri="{BB962C8B-B14F-4D97-AF65-F5344CB8AC3E}">
        <p14:creationId xmlns:p14="http://schemas.microsoft.com/office/powerpoint/2010/main" val="299190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uiExpand="1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F3EF1-FCFA-6C24-08F8-FA32E6421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27619" cy="737961"/>
          </a:xfrm>
        </p:spPr>
        <p:txBody>
          <a:bodyPr>
            <a:normAutofit/>
          </a:bodyPr>
          <a:lstStyle/>
          <a:p>
            <a:r>
              <a:rPr lang="en-US" dirty="0"/>
              <a:t>Example: </a:t>
            </a:r>
            <a:r>
              <a:rPr lang="en-US" dirty="0" err="1"/>
              <a:t>Collatz</a:t>
            </a:r>
            <a:r>
              <a:rPr lang="en-US" dirty="0"/>
              <a:t> Program w/ Logical Mistakes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476ED-CE4A-C126-9236-7723655904D9}"/>
              </a:ext>
            </a:extLst>
          </p:cNvPr>
          <p:cNvSpPr txBox="1"/>
          <p:nvPr/>
        </p:nvSpPr>
        <p:spPr>
          <a:xfrm>
            <a:off x="548558" y="1212548"/>
            <a:ext cx="3413114" cy="51706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1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1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2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3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4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5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 -&gt;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6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7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8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rule(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%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x /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11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12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x +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13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14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x;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15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16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17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18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x = rule(x);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==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21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test(x);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22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23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24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25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argc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26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atoi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27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28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test(N);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30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CB4C33-52B7-FFCE-03C6-0551C6DAC3DA}"/>
              </a:ext>
            </a:extLst>
          </p:cNvPr>
          <p:cNvSpPr/>
          <p:nvPr/>
        </p:nvSpPr>
        <p:spPr>
          <a:xfrm>
            <a:off x="1025644" y="4414247"/>
            <a:ext cx="1414967" cy="2184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74ABD3-F7FF-37CB-1DD2-A504FE9EA228}"/>
              </a:ext>
            </a:extLst>
          </p:cNvPr>
          <p:cNvSpPr txBox="1"/>
          <p:nvPr/>
        </p:nvSpPr>
        <p:spPr>
          <a:xfrm>
            <a:off x="4978816" y="3124274"/>
            <a:ext cx="486370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Example of logical mistake:</a:t>
            </a:r>
          </a:p>
          <a:p>
            <a:r>
              <a:rPr lang="en-US" sz="2000" dirty="0"/>
              <a:t>    No compilation errors when running clang.</a:t>
            </a:r>
          </a:p>
          <a:p>
            <a:r>
              <a:rPr lang="en-US" sz="2000" dirty="0"/>
              <a:t>    But wrong output.</a:t>
            </a:r>
          </a:p>
          <a:p>
            <a:r>
              <a:rPr lang="en-US" sz="2000" dirty="0"/>
              <a:t>    </a:t>
            </a:r>
          </a:p>
          <a:p>
            <a:r>
              <a:rPr lang="en-US" sz="2000" dirty="0"/>
              <a:t>   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test(x)</a:t>
            </a:r>
            <a:r>
              <a:rPr lang="en-US" sz="2000" dirty="0"/>
              <a:t> is run only when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 == 1</a:t>
            </a:r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F7D432-7A6A-F680-E847-1AC1CCEF6A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67"/>
          <a:stretch/>
        </p:blipFill>
        <p:spPr>
          <a:xfrm>
            <a:off x="4978816" y="1906560"/>
            <a:ext cx="3369341" cy="88485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5DB8DF-7F65-DC88-42A8-F754D4B20827}"/>
              </a:ext>
            </a:extLst>
          </p:cNvPr>
          <p:cNvSpPr txBox="1"/>
          <p:nvPr/>
        </p:nvSpPr>
        <p:spPr>
          <a:xfrm>
            <a:off x="4807691" y="1304768"/>
            <a:ext cx="931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50853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87821-CFBB-CB34-B219-E990462EE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Logical Mistake: “Useless”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B7AE57-7FBB-CFBC-E893-FFCEA1C447FA}"/>
              </a:ext>
            </a:extLst>
          </p:cNvPr>
          <p:cNvSpPr txBox="1"/>
          <p:nvPr/>
        </p:nvSpPr>
        <p:spPr>
          <a:xfrm>
            <a:off x="7098088" y="1669792"/>
            <a:ext cx="49531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Example of logical mistake: </a:t>
            </a:r>
          </a:p>
          <a:p>
            <a:r>
              <a:rPr lang="en-US" sz="2000" dirty="0"/>
              <a:t>    Function arguments are pass-by-value</a:t>
            </a:r>
          </a:p>
          <a:p>
            <a:r>
              <a:rPr lang="en-US" sz="2000" dirty="0"/>
              <a:t>    It doesn't change x seen by function test </a:t>
            </a:r>
          </a:p>
          <a:p>
            <a:r>
              <a:rPr lang="en-US" sz="2000" dirty="0">
                <a:sym typeface="Wingdings" pitchFamily="2" charset="2"/>
              </a:rPr>
              <a:t>     Infinite recursion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9C527D-3300-A6EA-B690-346038201BEE}"/>
              </a:ext>
            </a:extLst>
          </p:cNvPr>
          <p:cNvSpPr txBox="1"/>
          <p:nvPr/>
        </p:nvSpPr>
        <p:spPr>
          <a:xfrm>
            <a:off x="548558" y="1212548"/>
            <a:ext cx="3413114" cy="50013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1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1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2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3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4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5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 -&gt;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6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7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8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useless_rule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%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x /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11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12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x +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13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14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 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15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16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17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useless_rule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18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!=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test(x);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21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22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 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23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24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argc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25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atoi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26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27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test(N);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28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4BE4ED-F956-519E-B2C1-072DB48BA2D8}"/>
              </a:ext>
            </a:extLst>
          </p:cNvPr>
          <p:cNvSpPr/>
          <p:nvPr/>
        </p:nvSpPr>
        <p:spPr>
          <a:xfrm>
            <a:off x="679130" y="2399851"/>
            <a:ext cx="2793274" cy="122999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F4224C-2D8F-955D-DFB7-ABC503E425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544" r="28444"/>
          <a:stretch/>
        </p:blipFill>
        <p:spPr>
          <a:xfrm>
            <a:off x="4240774" y="1792671"/>
            <a:ext cx="2562735" cy="106197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F131F1-42EC-C62D-1F69-163FBF418B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6523" b="47213"/>
          <a:stretch/>
        </p:blipFill>
        <p:spPr>
          <a:xfrm>
            <a:off x="4240774" y="3353566"/>
            <a:ext cx="2273368" cy="120671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A771442-6909-9AB5-BD3B-CC36566BD3F0}"/>
              </a:ext>
            </a:extLst>
          </p:cNvPr>
          <p:cNvSpPr txBox="1"/>
          <p:nvPr/>
        </p:nvSpPr>
        <p:spPr>
          <a:xfrm rot="5400000">
            <a:off x="4384863" y="2872184"/>
            <a:ext cx="439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1F09F9-DB3D-3A63-9836-417D613FE311}"/>
              </a:ext>
            </a:extLst>
          </p:cNvPr>
          <p:cNvSpPr txBox="1"/>
          <p:nvPr/>
        </p:nvSpPr>
        <p:spPr>
          <a:xfrm>
            <a:off x="7091174" y="3191551"/>
            <a:ext cx="4786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Why does program exit with error message?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51A166-8601-999B-CCBC-E37D7DB81B70}"/>
              </a:ext>
            </a:extLst>
          </p:cNvPr>
          <p:cNvSpPr txBox="1"/>
          <p:nvPr/>
        </p:nvSpPr>
        <p:spPr>
          <a:xfrm>
            <a:off x="1370128" y="3240612"/>
            <a:ext cx="21022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Why not useful?</a:t>
            </a:r>
          </a:p>
        </p:txBody>
      </p:sp>
    </p:spTree>
    <p:extLst>
      <p:ext uri="{BB962C8B-B14F-4D97-AF65-F5344CB8AC3E}">
        <p14:creationId xmlns:p14="http://schemas.microsoft.com/office/powerpoint/2010/main" val="3365202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6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87821-CFBB-CB34-B219-E990462EE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Logical Mistake: “Useless”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B7AE57-7FBB-CFBC-E893-FFCEA1C447FA}"/>
              </a:ext>
            </a:extLst>
          </p:cNvPr>
          <p:cNvSpPr txBox="1"/>
          <p:nvPr/>
        </p:nvSpPr>
        <p:spPr>
          <a:xfrm>
            <a:off x="7180266" y="1678725"/>
            <a:ext cx="49531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Example of logical mistake: </a:t>
            </a:r>
          </a:p>
          <a:p>
            <a:r>
              <a:rPr lang="en-US" sz="2000" dirty="0"/>
              <a:t>    Function arguments are pass-by-value</a:t>
            </a:r>
          </a:p>
          <a:p>
            <a:r>
              <a:rPr lang="en-US" sz="2000" dirty="0"/>
              <a:t>    It doesn't change x seen by function test </a:t>
            </a:r>
          </a:p>
          <a:p>
            <a:r>
              <a:rPr lang="en-US" sz="2000" dirty="0">
                <a:sym typeface="Wingdings" pitchFamily="2" charset="2"/>
              </a:rPr>
              <a:t>     Infinite recursion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9C527D-3300-A6EA-B690-346038201BEE}"/>
              </a:ext>
            </a:extLst>
          </p:cNvPr>
          <p:cNvSpPr txBox="1"/>
          <p:nvPr/>
        </p:nvSpPr>
        <p:spPr>
          <a:xfrm>
            <a:off x="548558" y="1212548"/>
            <a:ext cx="3667992" cy="50013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1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1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2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3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4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5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 -&gt;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addr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%p\n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x, &amp;x);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6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7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8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useless_rule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%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x /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11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12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x +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13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14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15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16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17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useless_rule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18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!=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test(x);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21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22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23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24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argc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25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atoi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26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27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test(N);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28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4BE4ED-F956-519E-B2C1-072DB48BA2D8}"/>
              </a:ext>
            </a:extLst>
          </p:cNvPr>
          <p:cNvSpPr/>
          <p:nvPr/>
        </p:nvSpPr>
        <p:spPr>
          <a:xfrm>
            <a:off x="679130" y="2399851"/>
            <a:ext cx="2793274" cy="122999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1F09F9-DB3D-3A63-9836-417D613FE311}"/>
              </a:ext>
            </a:extLst>
          </p:cNvPr>
          <p:cNvSpPr txBox="1"/>
          <p:nvPr/>
        </p:nvSpPr>
        <p:spPr>
          <a:xfrm>
            <a:off x="7173352" y="3200484"/>
            <a:ext cx="4786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Why does program exit with error message?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0BF436-FAE3-FF77-00F2-E8B9AF1D6E56}"/>
              </a:ext>
            </a:extLst>
          </p:cNvPr>
          <p:cNvSpPr txBox="1"/>
          <p:nvPr/>
        </p:nvSpPr>
        <p:spPr>
          <a:xfrm>
            <a:off x="7181916" y="3561232"/>
            <a:ext cx="43776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A: </a:t>
            </a:r>
            <a:r>
              <a:rPr lang="en-US" sz="2000" b="1" dirty="0"/>
              <a:t>function calls consume resources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each function call allocation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finite available memory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2633A3-F42A-5C3E-87B7-345265707A8D}"/>
              </a:ext>
            </a:extLst>
          </p:cNvPr>
          <p:cNvSpPr txBox="1"/>
          <p:nvPr/>
        </p:nvSpPr>
        <p:spPr>
          <a:xfrm>
            <a:off x="7212574" y="4583700"/>
            <a:ext cx="50616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Segmentation fault  </a:t>
            </a:r>
            <a:r>
              <a:rPr lang="en-US" sz="2000" dirty="0">
                <a:sym typeface="Wingdings" pitchFamily="2" charset="2"/>
              </a:rPr>
              <a:t>  program tried to access unavailable resources (e.g., out-of-memory)</a:t>
            </a:r>
            <a:endParaRPr lang="en-U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51A166-8601-999B-CCBC-E37D7DB81B70}"/>
              </a:ext>
            </a:extLst>
          </p:cNvPr>
          <p:cNvSpPr txBox="1"/>
          <p:nvPr/>
        </p:nvSpPr>
        <p:spPr>
          <a:xfrm>
            <a:off x="1370128" y="3240612"/>
            <a:ext cx="21022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Why not useful?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BB785F-0256-A25B-FDE2-8C2D54CDB60D}"/>
              </a:ext>
            </a:extLst>
          </p:cNvPr>
          <p:cNvSpPr/>
          <p:nvPr/>
        </p:nvSpPr>
        <p:spPr>
          <a:xfrm>
            <a:off x="1116591" y="1877455"/>
            <a:ext cx="3015572" cy="27543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12D4F3-D778-4681-EE67-E2E577FB3858}"/>
              </a:ext>
            </a:extLst>
          </p:cNvPr>
          <p:cNvSpPr txBox="1"/>
          <p:nvPr/>
        </p:nvSpPr>
        <p:spPr>
          <a:xfrm rot="5400000">
            <a:off x="5333985" y="3807453"/>
            <a:ext cx="439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…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6F6425-26F7-ABFD-0BCE-10D358CF53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5610"/>
          <a:stretch/>
        </p:blipFill>
        <p:spPr>
          <a:xfrm>
            <a:off x="4530576" y="1877455"/>
            <a:ext cx="2273300" cy="19272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757C206-83E5-0572-7BE5-037FD0A4D9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4390"/>
          <a:stretch/>
        </p:blipFill>
        <p:spPr>
          <a:xfrm>
            <a:off x="4537275" y="4288835"/>
            <a:ext cx="2273300" cy="16161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068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6" grpId="0"/>
      <p:bldP spid="17" grpId="0"/>
      <p:bldP spid="18" grpId="0"/>
      <p:bldP spid="19" grpId="0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1EEEE-784A-F5F7-FE3E-F1CF7F06A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09ED9-613D-814C-EE52-A6D58B74A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C constructs</a:t>
            </a:r>
          </a:p>
          <a:p>
            <a:pPr lvl="1"/>
            <a:r>
              <a:rPr lang="en-US" strike="sngStrike" dirty="0"/>
              <a:t>Variable Declaration</a:t>
            </a:r>
          </a:p>
          <a:p>
            <a:pPr lvl="1"/>
            <a:r>
              <a:rPr lang="en-US" strike="sngStrike" dirty="0"/>
              <a:t>Function Definition</a:t>
            </a:r>
          </a:p>
          <a:p>
            <a:pPr lvl="1"/>
            <a:r>
              <a:rPr lang="en-US" dirty="0"/>
              <a:t>Function Declaration</a:t>
            </a:r>
          </a:p>
        </p:txBody>
      </p:sp>
    </p:spTree>
    <p:extLst>
      <p:ext uri="{BB962C8B-B14F-4D97-AF65-F5344CB8AC3E}">
        <p14:creationId xmlns:p14="http://schemas.microsoft.com/office/powerpoint/2010/main" val="1767265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840CE-C90B-1C6A-32AE-1D337EF24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2040"/>
          </a:xfrm>
        </p:spPr>
        <p:txBody>
          <a:bodyPr>
            <a:normAutofit fontScale="90000"/>
          </a:bodyPr>
          <a:lstStyle/>
          <a:p>
            <a:r>
              <a:rPr lang="en-US" dirty="0"/>
              <a:t>Function </a:t>
            </a:r>
            <a:r>
              <a:rPr lang="en-US" b="1" dirty="0"/>
              <a:t>Declaration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028771-4C35-754C-5A80-D0AAEE05B435}"/>
              </a:ext>
            </a:extLst>
          </p:cNvPr>
          <p:cNvSpPr txBox="1"/>
          <p:nvPr/>
        </p:nvSpPr>
        <p:spPr>
          <a:xfrm>
            <a:off x="838200" y="1122653"/>
            <a:ext cx="8570616" cy="19389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Syntax: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return_type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function_name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([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parameter_list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]);</a:t>
            </a:r>
          </a:p>
          <a:p>
            <a:endParaRPr lang="en-US" sz="2000" dirty="0"/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return_type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2000" dirty="0"/>
              <a:t>type of value function returns (e.g., 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char, int, float</a:t>
            </a:r>
            <a:r>
              <a:rPr lang="en-US" sz="2000" dirty="0"/>
              <a:t>)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sz="2000" dirty="0"/>
              <a:t>OR </a:t>
            </a:r>
            <a:r>
              <a:rPr lang="en-US" sz="20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000" dirty="0"/>
              <a:t> to denote the function does not return a value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parameter_list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/>
              <a:t>comma-separated list with </a:t>
            </a:r>
            <a:r>
              <a:rPr lang="en-US" sz="2000" b="1" dirty="0"/>
              <a:t>type </a:t>
            </a:r>
            <a:r>
              <a:rPr lang="en-US" sz="2000" dirty="0"/>
              <a:t>of each argument</a:t>
            </a:r>
            <a:br>
              <a:rPr lang="en-US" sz="2000" dirty="0"/>
            </a:br>
            <a:r>
              <a:rPr lang="en-US" sz="2000" strike="sngStrike" dirty="0">
                <a:latin typeface="Consolas" panose="020B0609020204030204" pitchFamily="49" charset="0"/>
                <a:cs typeface="Consolas" panose="020B0609020204030204" pitchFamily="49" charset="0"/>
              </a:rPr>
              <a:t>body            </a:t>
            </a:r>
            <a:r>
              <a:rPr lang="en-US" sz="2000" strike="sngStrike" dirty="0"/>
              <a:t>sequence of statements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95878C-6F75-986E-2350-978A51B38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112" y="3333821"/>
            <a:ext cx="3438064" cy="33291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9943AD-04EF-D427-22A9-ED8E5717A04B}"/>
              </a:ext>
            </a:extLst>
          </p:cNvPr>
          <p:cNvSpPr txBox="1"/>
          <p:nvPr/>
        </p:nvSpPr>
        <p:spPr>
          <a:xfrm>
            <a:off x="5135828" y="4473367"/>
            <a:ext cx="397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Declare and use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sz="2000" i="1" dirty="0"/>
              <a:t> </a:t>
            </a:r>
            <a:r>
              <a:rPr lang="en-US" sz="2000" b="1" i="1" dirty="0"/>
              <a:t>before</a:t>
            </a:r>
            <a:r>
              <a:rPr lang="en-US" sz="2000" i="1" dirty="0"/>
              <a:t> definition </a:t>
            </a:r>
          </a:p>
        </p:txBody>
      </p:sp>
    </p:spTree>
    <p:extLst>
      <p:ext uri="{BB962C8B-B14F-4D97-AF65-F5344CB8AC3E}">
        <p14:creationId xmlns:p14="http://schemas.microsoft.com/office/powerpoint/2010/main" val="143000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7937E-47CD-75C3-4180-52337271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Collatz</a:t>
            </a:r>
            <a:r>
              <a:rPr lang="en-US" dirty="0"/>
              <a:t> Program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28A0C2-5C0E-D46D-62C1-A0F7DA246FF2}"/>
              </a:ext>
            </a:extLst>
          </p:cNvPr>
          <p:cNvSpPr txBox="1"/>
          <p:nvPr/>
        </p:nvSpPr>
        <p:spPr>
          <a:xfrm>
            <a:off x="838200" y="1131607"/>
            <a:ext cx="3413114" cy="51706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1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1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2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3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4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5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x = rule(x);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6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7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!=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8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test(x);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11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12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13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 -&gt;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14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15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16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rule(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17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%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18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x /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x +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21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22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x;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23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24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25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argc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26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atoi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27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28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test(N);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30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375B20-FC5B-69D2-CBB9-5BA7F1A36625}"/>
              </a:ext>
            </a:extLst>
          </p:cNvPr>
          <p:cNvSpPr txBox="1"/>
          <p:nvPr/>
        </p:nvSpPr>
        <p:spPr>
          <a:xfrm>
            <a:off x="4599037" y="1430660"/>
            <a:ext cx="36538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What if we define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test(x)</a:t>
            </a:r>
            <a:r>
              <a:rPr lang="en-US" sz="2000" dirty="0"/>
              <a:t> first?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0032FC-D6E8-FA25-A1B5-44F730FE8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626" y="2537358"/>
            <a:ext cx="5876608" cy="235914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1281F5-DA15-0737-DFBB-7DCF6A0D2CAD}"/>
              </a:ext>
            </a:extLst>
          </p:cNvPr>
          <p:cNvSpPr txBox="1"/>
          <p:nvPr/>
        </p:nvSpPr>
        <p:spPr>
          <a:xfrm>
            <a:off x="4737626" y="2030309"/>
            <a:ext cx="17697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Fail to compile: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E0398F-431D-48B2-C910-C36DA89F9B7C}"/>
              </a:ext>
            </a:extLst>
          </p:cNvPr>
          <p:cNvSpPr txBox="1"/>
          <p:nvPr/>
        </p:nvSpPr>
        <p:spPr>
          <a:xfrm>
            <a:off x="4605760" y="5427340"/>
            <a:ext cx="6748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printvalue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(x)</a:t>
            </a:r>
            <a:r>
              <a:rPr lang="en-US" sz="2000" dirty="0"/>
              <a:t> and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rule(x)</a:t>
            </a:r>
            <a:r>
              <a:rPr lang="en-US" sz="2000" dirty="0"/>
              <a:t> are used before they are declared or defined.</a:t>
            </a:r>
          </a:p>
        </p:txBody>
      </p:sp>
    </p:spTree>
    <p:extLst>
      <p:ext uri="{BB962C8B-B14F-4D97-AF65-F5344CB8AC3E}">
        <p14:creationId xmlns:p14="http://schemas.microsoft.com/office/powerpoint/2010/main" val="1580172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7937E-47CD-75C3-4180-52337271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Example: </a:t>
            </a:r>
            <a:r>
              <a:rPr lang="en-US" sz="4000" dirty="0" err="1"/>
              <a:t>Collatz</a:t>
            </a:r>
            <a:r>
              <a:rPr lang="en-US" sz="4000" dirty="0"/>
              <a:t> Program w/ Function Declaration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28A0C2-5C0E-D46D-62C1-A0F7DA246FF2}"/>
              </a:ext>
            </a:extLst>
          </p:cNvPr>
          <p:cNvSpPr txBox="1"/>
          <p:nvPr/>
        </p:nvSpPr>
        <p:spPr>
          <a:xfrm>
            <a:off x="838200" y="1103086"/>
            <a:ext cx="3413114" cy="56784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1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1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2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3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4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rule(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5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6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7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8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x = rule(x);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!=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11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test(x);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12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13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14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15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16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 -&gt;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17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18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19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rule(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%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21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x /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22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23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x +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24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25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x;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26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27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28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argc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atoi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30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31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test(N);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32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33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DCA3EB-78FD-AFA5-4A81-01ED0063B878}"/>
              </a:ext>
            </a:extLst>
          </p:cNvPr>
          <p:cNvSpPr/>
          <p:nvPr/>
        </p:nvSpPr>
        <p:spPr>
          <a:xfrm>
            <a:off x="1011555" y="1605280"/>
            <a:ext cx="2418379" cy="46269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B2DDF7-C2A1-76BF-98B5-802FD83CD950}"/>
              </a:ext>
            </a:extLst>
          </p:cNvPr>
          <p:cNvSpPr txBox="1"/>
          <p:nvPr/>
        </p:nvSpPr>
        <p:spPr>
          <a:xfrm>
            <a:off x="4872943" y="1618685"/>
            <a:ext cx="66322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Solution: </a:t>
            </a:r>
          </a:p>
          <a:p>
            <a:r>
              <a:rPr lang="en-US" sz="2000" dirty="0"/>
              <a:t>Adding function declaration of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printvalue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(x)</a:t>
            </a:r>
            <a:r>
              <a:rPr lang="en-US" sz="2400" dirty="0"/>
              <a:t> and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rule(x)</a:t>
            </a:r>
            <a:r>
              <a:rPr lang="en-US" sz="2000" dirty="0"/>
              <a:t> before using them in test</a:t>
            </a:r>
          </a:p>
        </p:txBody>
      </p:sp>
    </p:spTree>
    <p:extLst>
      <p:ext uri="{BB962C8B-B14F-4D97-AF65-F5344CB8AC3E}">
        <p14:creationId xmlns:p14="http://schemas.microsoft.com/office/powerpoint/2010/main" val="69521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7937E-47CD-75C3-4180-52337271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Example: Header files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A81909-F49E-8532-CED3-B775D19CBC73}"/>
              </a:ext>
            </a:extLst>
          </p:cNvPr>
          <p:cNvSpPr txBox="1"/>
          <p:nvPr/>
        </p:nvSpPr>
        <p:spPr>
          <a:xfrm>
            <a:off x="419327" y="1458701"/>
            <a:ext cx="3413114" cy="17851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1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1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2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3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test.c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endParaRPr lang="en-US" sz="11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4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5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argc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6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atoi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7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8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test(N);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BA42C1-CA07-0C7F-F1E0-48BE437C4736}"/>
              </a:ext>
            </a:extLst>
          </p:cNvPr>
          <p:cNvSpPr txBox="1"/>
          <p:nvPr/>
        </p:nvSpPr>
        <p:spPr>
          <a:xfrm>
            <a:off x="7225239" y="3181929"/>
            <a:ext cx="462469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Header files (.h) separates </a:t>
            </a:r>
            <a:r>
              <a:rPr lang="en-US" sz="2000" b="1" dirty="0"/>
              <a:t>interface</a:t>
            </a:r>
            <a:r>
              <a:rPr lang="en-US" sz="2000" dirty="0"/>
              <a:t> from </a:t>
            </a:r>
            <a:r>
              <a:rPr lang="en-US" sz="2000" b="1" dirty="0"/>
              <a:t>implementation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header file contains C function declarations and macro definitions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can be shared between several source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Not that useful in small projects, but can be very useful in large projects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9CA9286-3A03-3DF4-90C1-EDBEBD37A27F}"/>
              </a:ext>
            </a:extLst>
          </p:cNvPr>
          <p:cNvGrpSpPr/>
          <p:nvPr/>
        </p:nvGrpSpPr>
        <p:grpSpPr>
          <a:xfrm>
            <a:off x="7528622" y="1102557"/>
            <a:ext cx="2688698" cy="1296242"/>
            <a:chOff x="8040320" y="1103086"/>
            <a:chExt cx="2688698" cy="129624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E54A933-713C-3EED-5FD7-6CD5ED8AEB9B}"/>
                </a:ext>
              </a:extLst>
            </p:cNvPr>
            <p:cNvSpPr txBox="1"/>
            <p:nvPr/>
          </p:nvSpPr>
          <p:spPr>
            <a:xfrm>
              <a:off x="8040320" y="1460609"/>
              <a:ext cx="2688698" cy="938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 1 </a:t>
              </a:r>
              <a:r>
                <a:rPr lang="en-US" sz="1100" dirty="0">
                  <a:solidFill>
                    <a:srgbClr val="2FB41D"/>
                  </a:solidFill>
                  <a:effectLst/>
                  <a:latin typeface="Menlo" panose="020B0609030804020204" pitchFamily="49" charset="0"/>
                </a:rPr>
                <a:t>void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 test(</a:t>
              </a:r>
              <a:r>
                <a:rPr lang="en-US" sz="1100" dirty="0">
                  <a:solidFill>
                    <a:srgbClr val="2FB41D"/>
                  </a:solidFill>
                  <a:effectLst/>
                  <a:latin typeface="Menlo" panose="020B060903080402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 2 </a:t>
              </a: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 3 </a:t>
              </a:r>
              <a:r>
                <a:rPr lang="en-US" sz="1100" dirty="0">
                  <a:solidFill>
                    <a:srgbClr val="2FB41D"/>
                  </a:solidFill>
                  <a:effectLst/>
                  <a:latin typeface="Menlo" panose="020B0609030804020204" pitchFamily="49" charset="0"/>
                </a:rPr>
                <a:t>void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print_value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(</a:t>
              </a:r>
              <a:r>
                <a:rPr lang="en-US" sz="1100" dirty="0">
                  <a:solidFill>
                    <a:srgbClr val="2FB41D"/>
                  </a:solidFill>
                  <a:effectLst/>
                  <a:latin typeface="Menlo" panose="020B060903080402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);</a:t>
              </a: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 4 </a:t>
              </a: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 5 </a:t>
              </a:r>
              <a:r>
                <a:rPr lang="en-US" sz="1100" dirty="0">
                  <a:solidFill>
                    <a:srgbClr val="2FB41D"/>
                  </a:solidFill>
                  <a:effectLst/>
                  <a:latin typeface="Menlo" panose="020B060903080402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 rule(</a:t>
              </a:r>
              <a:r>
                <a:rPr lang="en-US" sz="1100" dirty="0">
                  <a:solidFill>
                    <a:srgbClr val="2FB41D"/>
                  </a:solidFill>
                  <a:effectLst/>
                  <a:latin typeface="Menlo" panose="020B060903080402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);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F6B12E3-1CBE-9AA3-321D-6A8D3343DBBE}"/>
                </a:ext>
              </a:extLst>
            </p:cNvPr>
            <p:cNvSpPr txBox="1"/>
            <p:nvPr/>
          </p:nvSpPr>
          <p:spPr>
            <a:xfrm>
              <a:off x="8047776" y="1103086"/>
              <a:ext cx="1021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test.h</a:t>
              </a:r>
              <a:endPara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649A050-AEBE-F2BE-27B4-FE7451441708}"/>
              </a:ext>
            </a:extLst>
          </p:cNvPr>
          <p:cNvGrpSpPr/>
          <p:nvPr/>
        </p:nvGrpSpPr>
        <p:grpSpPr>
          <a:xfrm>
            <a:off x="4184491" y="1102557"/>
            <a:ext cx="2688698" cy="4169699"/>
            <a:chOff x="8040320" y="2575312"/>
            <a:chExt cx="2688698" cy="416969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301976C-10FE-ABE0-0610-115BE83159F8}"/>
                </a:ext>
              </a:extLst>
            </p:cNvPr>
            <p:cNvSpPr txBox="1"/>
            <p:nvPr/>
          </p:nvSpPr>
          <p:spPr>
            <a:xfrm>
              <a:off x="8040320" y="2928582"/>
              <a:ext cx="2688698" cy="38164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 1 </a:t>
              </a:r>
              <a:r>
                <a:rPr lang="en-US" sz="1100" dirty="0">
                  <a:solidFill>
                    <a:srgbClr val="C814C9"/>
                  </a:solidFill>
                  <a:effectLst/>
                  <a:latin typeface="Menlo" panose="020B0609030804020204" pitchFamily="49" charset="0"/>
                </a:rPr>
                <a:t>#include </a:t>
              </a:r>
              <a:r>
                <a:rPr lang="en-US" sz="1100" dirty="0">
                  <a:solidFill>
                    <a:srgbClr val="B42419"/>
                  </a:solidFill>
                  <a:effectLst/>
                  <a:latin typeface="Menlo" panose="020B0609030804020204" pitchFamily="49" charset="0"/>
                </a:rPr>
                <a:t>"</a:t>
              </a:r>
              <a:r>
                <a:rPr lang="en-US" sz="1100" dirty="0" err="1">
                  <a:solidFill>
                    <a:srgbClr val="B42419"/>
                  </a:solidFill>
                  <a:effectLst/>
                  <a:latin typeface="Menlo" panose="020B0609030804020204" pitchFamily="49" charset="0"/>
                </a:rPr>
                <a:t>test.h</a:t>
              </a:r>
              <a:r>
                <a:rPr lang="en-US" sz="1100" dirty="0">
                  <a:solidFill>
                    <a:srgbClr val="B42419"/>
                  </a:solidFill>
                  <a:effectLst/>
                  <a:latin typeface="Menlo" panose="020B0609030804020204" pitchFamily="49" charset="0"/>
                </a:rPr>
                <a:t>"</a:t>
              </a:r>
              <a:endPara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endParaRP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 2 </a:t>
              </a: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 3 </a:t>
              </a:r>
              <a:r>
                <a:rPr lang="en-US" sz="1100" dirty="0">
                  <a:solidFill>
                    <a:srgbClr val="2FB41D"/>
                  </a:solidFill>
                  <a:effectLst/>
                  <a:latin typeface="Menlo" panose="020B0609030804020204" pitchFamily="49" charset="0"/>
                </a:rPr>
                <a:t>void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 test(</a:t>
              </a:r>
              <a:r>
                <a:rPr lang="en-US" sz="1100" dirty="0">
                  <a:solidFill>
                    <a:srgbClr val="2FB41D"/>
                  </a:solidFill>
                  <a:effectLst/>
                  <a:latin typeface="Menlo" panose="020B060903080402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 x) {</a:t>
              </a: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 4 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  x = rule(x);</a:t>
              </a: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 5 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  </a:t>
              </a:r>
              <a:r>
                <a:rPr lang="en-US" sz="1100" dirty="0" err="1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print_value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(x);</a:t>
              </a: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 6 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  </a:t>
              </a:r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if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 (x != </a:t>
              </a:r>
              <a:r>
                <a:rPr lang="en-US" sz="1100" dirty="0">
                  <a:solidFill>
                    <a:srgbClr val="B42419"/>
                  </a:solidFill>
                  <a:effectLst/>
                  <a:latin typeface="Menlo" panose="020B0609030804020204" pitchFamily="49" charset="0"/>
                </a:rPr>
                <a:t>1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) {</a:t>
              </a: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 7 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    test(x);</a:t>
              </a: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 8 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  }</a:t>
              </a:r>
              <a:endPara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endParaRP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 9 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}</a:t>
              </a:r>
              <a:endPara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endParaRP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10 </a:t>
              </a: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11 </a:t>
              </a:r>
              <a:r>
                <a:rPr lang="en-US" sz="1100" dirty="0">
                  <a:solidFill>
                    <a:srgbClr val="2FB41D"/>
                  </a:solidFill>
                  <a:effectLst/>
                  <a:latin typeface="Menlo" panose="020B0609030804020204" pitchFamily="49" charset="0"/>
                </a:rPr>
                <a:t>void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print_value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(</a:t>
              </a:r>
              <a:r>
                <a:rPr lang="en-US" sz="1100" dirty="0">
                  <a:solidFill>
                    <a:srgbClr val="2FB41D"/>
                  </a:solidFill>
                  <a:effectLst/>
                  <a:latin typeface="Menlo" panose="020B060903080402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 x) {</a:t>
              </a: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12 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  </a:t>
              </a:r>
              <a:r>
                <a:rPr lang="en-US" sz="1100" dirty="0" err="1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printf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(</a:t>
              </a:r>
              <a:r>
                <a:rPr lang="en-US" sz="1100" dirty="0">
                  <a:solidFill>
                    <a:srgbClr val="B42419"/>
                  </a:solidFill>
                  <a:effectLst/>
                  <a:latin typeface="Menlo" panose="020B0609030804020204" pitchFamily="49" charset="0"/>
                </a:rPr>
                <a:t>" -&gt; </a:t>
              </a:r>
              <a:r>
                <a:rPr lang="en-US" sz="1100" dirty="0">
                  <a:solidFill>
                    <a:srgbClr val="C814C9"/>
                  </a:solidFill>
                  <a:effectLst/>
                  <a:latin typeface="Menlo" panose="020B0609030804020204" pitchFamily="49" charset="0"/>
                </a:rPr>
                <a:t>%d\n</a:t>
              </a:r>
              <a:r>
                <a:rPr lang="en-US" sz="1100" dirty="0">
                  <a:solidFill>
                    <a:srgbClr val="B42419"/>
                  </a:solidFill>
                  <a:effectLst/>
                  <a:latin typeface="Menlo" panose="020B0609030804020204" pitchFamily="49" charset="0"/>
                </a:rPr>
                <a:t>"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, x);</a:t>
              </a: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13 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}</a:t>
              </a:r>
              <a:endPara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endParaRP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14 </a:t>
              </a: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15 </a:t>
              </a:r>
              <a:r>
                <a:rPr lang="en-US" sz="1100" dirty="0">
                  <a:solidFill>
                    <a:srgbClr val="2FB41D"/>
                  </a:solidFill>
                  <a:effectLst/>
                  <a:latin typeface="Menlo" panose="020B060903080402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 rule(</a:t>
              </a:r>
              <a:r>
                <a:rPr lang="en-US" sz="1100" dirty="0">
                  <a:solidFill>
                    <a:srgbClr val="2FB41D"/>
                  </a:solidFill>
                  <a:effectLst/>
                  <a:latin typeface="Menlo" panose="020B0609030804020204" pitchFamily="49" charset="0"/>
                </a:rPr>
                <a:t>int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 x) {</a:t>
              </a: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16 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  </a:t>
              </a:r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if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 (x % </a:t>
              </a:r>
              <a:r>
                <a:rPr lang="en-US" sz="1100" dirty="0">
                  <a:solidFill>
                    <a:srgbClr val="B42419"/>
                  </a:solidFill>
                  <a:effectLst/>
                  <a:latin typeface="Menlo" panose="020B0609030804020204" pitchFamily="49" charset="0"/>
                </a:rPr>
                <a:t>2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 == </a:t>
              </a:r>
              <a:r>
                <a:rPr lang="en-US" sz="1100" dirty="0">
                  <a:solidFill>
                    <a:srgbClr val="B42419"/>
                  </a:solidFill>
                  <a:effectLst/>
                  <a:latin typeface="Menlo" panose="020B0609030804020204" pitchFamily="49" charset="0"/>
                </a:rPr>
                <a:t>0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) {</a:t>
              </a: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17 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    x = x / </a:t>
              </a:r>
              <a:r>
                <a:rPr lang="en-US" sz="1100" dirty="0">
                  <a:solidFill>
                    <a:srgbClr val="B42419"/>
                  </a:solidFill>
                  <a:effectLst/>
                  <a:latin typeface="Menlo" panose="020B0609030804020204" pitchFamily="49" charset="0"/>
                </a:rPr>
                <a:t>2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18 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  } </a:t>
              </a:r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else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 {</a:t>
              </a:r>
              <a:endPara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endParaRP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19 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    x = </a:t>
              </a:r>
              <a:r>
                <a:rPr lang="en-US" sz="1100" dirty="0">
                  <a:solidFill>
                    <a:srgbClr val="B42419"/>
                  </a:solidFill>
                  <a:effectLst/>
                  <a:latin typeface="Menlo" panose="020B0609030804020204" pitchFamily="49" charset="0"/>
                </a:rPr>
                <a:t>3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 * x + </a:t>
              </a:r>
              <a:r>
                <a:rPr lang="en-US" sz="1100" dirty="0">
                  <a:solidFill>
                    <a:srgbClr val="B42419"/>
                  </a:solidFill>
                  <a:effectLst/>
                  <a:latin typeface="Menlo" panose="020B0609030804020204" pitchFamily="49" charset="0"/>
                </a:rPr>
                <a:t>1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;</a:t>
              </a: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20 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  }</a:t>
              </a:r>
              <a:endPara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endParaRP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21 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  </a:t>
              </a:r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return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 x;</a:t>
              </a:r>
              <a:endPara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endParaRPr>
            </a:p>
            <a:p>
              <a:r>
                <a:rPr lang="en-US" sz="1100" dirty="0">
                  <a:solidFill>
                    <a:srgbClr val="C1651C"/>
                  </a:solidFill>
                  <a:effectLst/>
                  <a:latin typeface="Menlo" panose="020B0609030804020204" pitchFamily="49" charset="0"/>
                </a:rPr>
                <a:t> 22 </a:t>
              </a:r>
              <a:r>
                <a:rPr lang="en-US" sz="1100" dirty="0">
                  <a:solidFill>
                    <a:srgbClr val="000000"/>
                  </a:solidFill>
                  <a:effectLst/>
                  <a:latin typeface="Menlo" panose="020B0609030804020204" pitchFamily="49" charset="0"/>
                </a:rPr>
                <a:t>}</a:t>
              </a:r>
              <a:endPara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4AD4572-C28F-56C1-A0FF-B4E7B1A8346D}"/>
                </a:ext>
              </a:extLst>
            </p:cNvPr>
            <p:cNvSpPr txBox="1"/>
            <p:nvPr/>
          </p:nvSpPr>
          <p:spPr>
            <a:xfrm>
              <a:off x="8050610" y="2575312"/>
              <a:ext cx="1021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test.c</a:t>
              </a:r>
              <a:endPara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59FE1C-68CC-AAE5-29EE-3441C349AB1A}"/>
              </a:ext>
            </a:extLst>
          </p:cNvPr>
          <p:cNvCxnSpPr>
            <a:cxnSpLocks/>
          </p:cNvCxnSpPr>
          <p:nvPr/>
        </p:nvCxnSpPr>
        <p:spPr>
          <a:xfrm flipH="1">
            <a:off x="6105146" y="1310112"/>
            <a:ext cx="1370891" cy="298219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B88BF41-290F-DBB9-1346-01B8CB4E9FA9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2395959" y="1287223"/>
            <a:ext cx="1798822" cy="64221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953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60210-3958-BD5F-9762-8D95AB6C4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FB5E8-5BD0-8235-BA27-87713EF3E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declare and initialize variables?</a:t>
            </a:r>
          </a:p>
          <a:p>
            <a:endParaRPr lang="en-US" dirty="0"/>
          </a:p>
          <a:p>
            <a:r>
              <a:rPr lang="en-US" dirty="0"/>
              <a:t>How to define a function?</a:t>
            </a:r>
          </a:p>
          <a:p>
            <a:endParaRPr lang="en-US" dirty="0"/>
          </a:p>
          <a:p>
            <a:r>
              <a:rPr lang="en-US" dirty="0"/>
              <a:t>How to declare a function?</a:t>
            </a:r>
          </a:p>
          <a:p>
            <a:endParaRPr lang="en-US" dirty="0"/>
          </a:p>
          <a:p>
            <a:r>
              <a:rPr lang="en-US" dirty="0"/>
              <a:t>More on pointers in about a week</a:t>
            </a:r>
          </a:p>
        </p:txBody>
      </p:sp>
    </p:spTree>
    <p:extLst>
      <p:ext uri="{BB962C8B-B14F-4D97-AF65-F5344CB8AC3E}">
        <p14:creationId xmlns:p14="http://schemas.microsoft.com/office/powerpoint/2010/main" val="3368546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4CD0-7291-9594-ADAC-4545EC71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8963B-F229-F74B-2FCC-F01D02BD6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57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1B17A-30C5-6122-64E1-BA7958D87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33188-3479-7999-A356-D1A19D55D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05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87821-CFBB-CB34-B219-E990462EE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of Logical Mistake: “Useless”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A885EC-9F3F-BDBD-C194-C722419A5ED2}"/>
              </a:ext>
            </a:extLst>
          </p:cNvPr>
          <p:cNvSpPr txBox="1"/>
          <p:nvPr/>
        </p:nvSpPr>
        <p:spPr>
          <a:xfrm>
            <a:off x="1142117" y="1203443"/>
            <a:ext cx="3073277" cy="51706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1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b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 -&gt;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useless_rule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%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x /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x +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useless_rule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!=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test(x);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argc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atoi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test(N);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D7E3B1-5D0C-F3F2-B910-A499861FFF77}"/>
              </a:ext>
            </a:extLst>
          </p:cNvPr>
          <p:cNvSpPr txBox="1"/>
          <p:nvPr/>
        </p:nvSpPr>
        <p:spPr>
          <a:xfrm>
            <a:off x="5274001" y="1556613"/>
            <a:ext cx="3108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Why not useful?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B7AE57-7FBB-CFBC-E893-FFCEA1C447FA}"/>
              </a:ext>
            </a:extLst>
          </p:cNvPr>
          <p:cNvSpPr txBox="1"/>
          <p:nvPr/>
        </p:nvSpPr>
        <p:spPr>
          <a:xfrm>
            <a:off x="5274001" y="2228671"/>
            <a:ext cx="35301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Function arguments are pass-by-value, and return no value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5FAB60-BAEB-E4B6-7D2F-C39652A4B1F9}"/>
              </a:ext>
            </a:extLst>
          </p:cNvPr>
          <p:cNvSpPr/>
          <p:nvPr/>
        </p:nvSpPr>
        <p:spPr>
          <a:xfrm>
            <a:off x="1142117" y="2411426"/>
            <a:ext cx="2418379" cy="122999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F3428A-67A9-F09E-84DC-99C68EDFD3F1}"/>
              </a:ext>
            </a:extLst>
          </p:cNvPr>
          <p:cNvSpPr txBox="1"/>
          <p:nvPr/>
        </p:nvSpPr>
        <p:spPr>
          <a:xfrm>
            <a:off x="5810081" y="3778981"/>
            <a:ext cx="2205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would happen?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23CD82-D620-6FD7-0EC9-D9EFF754A956}"/>
              </a:ext>
            </a:extLst>
          </p:cNvPr>
          <p:cNvSpPr txBox="1"/>
          <p:nvPr/>
        </p:nvSpPr>
        <p:spPr>
          <a:xfrm>
            <a:off x="4910636" y="4335548"/>
            <a:ext cx="2343604" cy="14465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rule(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%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x /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x +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x;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8966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7F5CA-47BB-23DC-6B78-6208EBFF3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all void functions are useless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5FA28E-5AB0-30ED-8EB0-E4D4DF6D362D}"/>
              </a:ext>
            </a:extLst>
          </p:cNvPr>
          <p:cNvSpPr txBox="1"/>
          <p:nvPr/>
        </p:nvSpPr>
        <p:spPr>
          <a:xfrm>
            <a:off x="6242900" y="1325266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84BE60-850F-60D4-C1E6-B35D7CF72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396" y="1786512"/>
            <a:ext cx="1614690" cy="24455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8D7B8C-F78A-502E-4535-44383CC9DCBD}"/>
              </a:ext>
            </a:extLst>
          </p:cNvPr>
          <p:cNvSpPr txBox="1"/>
          <p:nvPr/>
        </p:nvSpPr>
        <p:spPr>
          <a:xfrm>
            <a:off x="1149639" y="1203443"/>
            <a:ext cx="3073277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1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b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 -&gt;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rule(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%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x /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x +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x;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x = rule(x);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!=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test(x);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argc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atoi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test(N);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49232C-E91D-DBDD-D2A2-FE6AA730B93D}"/>
              </a:ext>
            </a:extLst>
          </p:cNvPr>
          <p:cNvSpPr txBox="1"/>
          <p:nvPr/>
        </p:nvSpPr>
        <p:spPr>
          <a:xfrm>
            <a:off x="5344160" y="4546156"/>
            <a:ext cx="3265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all void functions are useless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85B737-B1E7-266A-9569-0298154698F9}"/>
              </a:ext>
            </a:extLst>
          </p:cNvPr>
          <p:cNvSpPr/>
          <p:nvPr/>
        </p:nvSpPr>
        <p:spPr>
          <a:xfrm>
            <a:off x="1142117" y="4023914"/>
            <a:ext cx="2418379" cy="122999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9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F3EF1-FCFA-6C24-08F8-FA32E6421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50601" cy="737961"/>
          </a:xfrm>
        </p:spPr>
        <p:txBody>
          <a:bodyPr>
            <a:normAutofit/>
          </a:bodyPr>
          <a:lstStyle/>
          <a:p>
            <a:r>
              <a:rPr lang="en-US" dirty="0"/>
              <a:t>Example of Logical Mistake: Infinite recursion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476ED-CE4A-C126-9236-7723655904D9}"/>
              </a:ext>
            </a:extLst>
          </p:cNvPr>
          <p:cNvSpPr txBox="1"/>
          <p:nvPr/>
        </p:nvSpPr>
        <p:spPr>
          <a:xfrm>
            <a:off x="939246" y="1235811"/>
            <a:ext cx="3073277" cy="51706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1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1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rule(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rule(x);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test(x);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}</a:t>
            </a:r>
            <a:b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 -&gt;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rule(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%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x /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x +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argc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atoi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test(N);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-US" sz="11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CB4C33-52B7-FFCE-03C6-0551C6DAC3DA}"/>
              </a:ext>
            </a:extLst>
          </p:cNvPr>
          <p:cNvSpPr/>
          <p:nvPr/>
        </p:nvSpPr>
        <p:spPr>
          <a:xfrm>
            <a:off x="1060917" y="2767476"/>
            <a:ext cx="1414967" cy="21848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74ABD3-F7FF-37CB-1DD2-A504FE9EA228}"/>
              </a:ext>
            </a:extLst>
          </p:cNvPr>
          <p:cNvSpPr txBox="1"/>
          <p:nvPr/>
        </p:nvSpPr>
        <p:spPr>
          <a:xfrm>
            <a:off x="4134194" y="2305811"/>
            <a:ext cx="22327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compilation errors</a:t>
            </a:r>
          </a:p>
          <a:p>
            <a:endParaRPr lang="en-US" dirty="0"/>
          </a:p>
          <a:p>
            <a:r>
              <a:rPr lang="en-US" dirty="0"/>
              <a:t>Seg fault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53A014-A00F-1A12-628E-0EBF3E9095F7}"/>
              </a:ext>
            </a:extLst>
          </p:cNvPr>
          <p:cNvSpPr txBox="1"/>
          <p:nvPr/>
        </p:nvSpPr>
        <p:spPr>
          <a:xfrm>
            <a:off x="6445250" y="2362445"/>
            <a:ext cx="28995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Mistake: infinite recursion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556455-3C85-D477-B5CE-3AF8810BDDC0}"/>
              </a:ext>
            </a:extLst>
          </p:cNvPr>
          <p:cNvSpPr txBox="1"/>
          <p:nvPr/>
        </p:nvSpPr>
        <p:spPr>
          <a:xfrm>
            <a:off x="6445250" y="3526566"/>
            <a:ext cx="4786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Why does program exit with error message?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19861B-6448-5ABF-DE53-228ABA0B88A7}"/>
              </a:ext>
            </a:extLst>
          </p:cNvPr>
          <p:cNvSpPr txBox="1"/>
          <p:nvPr/>
        </p:nvSpPr>
        <p:spPr>
          <a:xfrm>
            <a:off x="6439968" y="3926676"/>
            <a:ext cx="437760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A: </a:t>
            </a:r>
            <a:r>
              <a:rPr lang="en-US" sz="2000" b="1" dirty="0"/>
              <a:t>function calls consume resources</a:t>
            </a:r>
            <a:endParaRPr lang="en-US" sz="2000" dirty="0"/>
          </a:p>
          <a:p>
            <a:r>
              <a:rPr lang="en-US" sz="2000" dirty="0"/>
              <a:t>Function call stack: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region of memory for local 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each function call allocation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finite available 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4A2E46-DA37-4F37-E527-AD6C4F9E4C5D}"/>
              </a:ext>
            </a:extLst>
          </p:cNvPr>
          <p:cNvSpPr txBox="1"/>
          <p:nvPr/>
        </p:nvSpPr>
        <p:spPr>
          <a:xfrm>
            <a:off x="6445250" y="5844811"/>
            <a:ext cx="47866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Seg fault  </a:t>
            </a:r>
            <a:r>
              <a:rPr lang="en-US" sz="2000" dirty="0">
                <a:sym typeface="Wingdings" pitchFamily="2" charset="2"/>
              </a:rPr>
              <a:t>  program tried to access unavailable resources (e.g., out-of-memory)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4909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8" grpId="0"/>
      <p:bldP spid="9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0965-64EE-5B9B-D395-1067DFCA0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FC478-90A9-C447-1C5A-C9C4B5FFF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trike="sngStrike" dirty="0"/>
              <a:t>Variable Declaration</a:t>
            </a:r>
          </a:p>
          <a:p>
            <a:r>
              <a:rPr lang="en-US" strike="sngStrike" dirty="0"/>
              <a:t>Function Definition</a:t>
            </a:r>
          </a:p>
          <a:p>
            <a:r>
              <a:rPr lang="en-US" strike="sngStrike" dirty="0"/>
              <a:t>Function Declaration</a:t>
            </a:r>
          </a:p>
          <a:p>
            <a:r>
              <a:rPr lang="en-US" dirty="0"/>
              <a:t>Glimpse into Pointers (we will learn it in a week)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419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463EA-9054-BBAC-C2A4-0D9E22570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Print out variable address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77A02E-9D05-2344-BD8A-798AE361BA31}"/>
              </a:ext>
            </a:extLst>
          </p:cNvPr>
          <p:cNvSpPr txBox="1"/>
          <p:nvPr/>
        </p:nvSpPr>
        <p:spPr>
          <a:xfrm>
            <a:off x="939246" y="1235811"/>
            <a:ext cx="3158237" cy="53399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1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rule(x);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!=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test(x);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  int *</a:t>
            </a:r>
            <a:r>
              <a:rPr lang="en-US" sz="1100" dirty="0" err="1">
                <a:solidFill>
                  <a:srgbClr val="000000"/>
                </a:solidFill>
                <a:latin typeface="Menlo" panose="020B0609030804020204" pitchFamily="49" charset="0"/>
              </a:rPr>
              <a:t>addr</a:t>
            </a:r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 = &amp;x;</a:t>
            </a:r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 -&gt;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 (%p)\n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x,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addr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rule(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%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x /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x +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argc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atoi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test(N);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endParaRPr 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977443-319E-8C72-411E-1049167176A7}"/>
              </a:ext>
            </a:extLst>
          </p:cNvPr>
          <p:cNvSpPr txBox="1"/>
          <p:nvPr/>
        </p:nvSpPr>
        <p:spPr>
          <a:xfrm>
            <a:off x="7606513" y="1634591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F20DCD-EB43-BDEE-CEAB-BD3B76617514}"/>
              </a:ext>
            </a:extLst>
          </p:cNvPr>
          <p:cNvSpPr/>
          <p:nvPr/>
        </p:nvSpPr>
        <p:spPr>
          <a:xfrm>
            <a:off x="1150208" y="3301550"/>
            <a:ext cx="2855349" cy="3803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794541-6A9A-93B9-056E-76D0B9A2F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463" y="2151940"/>
            <a:ext cx="2032000" cy="1905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BB02D0-F811-BE7B-E129-2C8063BF3543}"/>
              </a:ext>
            </a:extLst>
          </p:cNvPr>
          <p:cNvSpPr txBox="1"/>
          <p:nvPr/>
        </p:nvSpPr>
        <p:spPr>
          <a:xfrm>
            <a:off x="7606513" y="4491080"/>
            <a:ext cx="3801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 of x changes in each recursion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5BD80-EE4D-0523-43FF-A8785D4F76A5}"/>
              </a:ext>
            </a:extLst>
          </p:cNvPr>
          <p:cNvSpPr txBox="1"/>
          <p:nvPr/>
        </p:nvSpPr>
        <p:spPr>
          <a:xfrm>
            <a:off x="4175491" y="2735108"/>
            <a:ext cx="3177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is a pointer =&gt; address of x</a:t>
            </a:r>
          </a:p>
        </p:txBody>
      </p:sp>
    </p:spTree>
    <p:extLst>
      <p:ext uri="{BB962C8B-B14F-4D97-AF65-F5344CB8AC3E}">
        <p14:creationId xmlns:p14="http://schemas.microsoft.com/office/powerpoint/2010/main" val="30320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463EA-9054-BBAC-C2A4-0D9E22570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Collatz</a:t>
            </a:r>
            <a:r>
              <a:rPr lang="en-US" dirty="0"/>
              <a:t> Program with Pointers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77A02E-9D05-2344-BD8A-798AE361BA31}"/>
              </a:ext>
            </a:extLst>
          </p:cNvPr>
          <p:cNvSpPr txBox="1"/>
          <p:nvPr/>
        </p:nvSpPr>
        <p:spPr>
          <a:xfrm>
            <a:off x="939246" y="1235811"/>
            <a:ext cx="3158237" cy="51706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1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*x)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rule(x);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!=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test(x);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*x)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 -&gt;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 (%p)\n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*x, 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rule(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*x)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(*x %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*x = *x /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*x 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(*x) +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argc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*N =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atoi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test(N);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1E1D40-3481-C00E-3874-93DB1729403E}"/>
              </a:ext>
            </a:extLst>
          </p:cNvPr>
          <p:cNvSpPr txBox="1"/>
          <p:nvPr/>
        </p:nvSpPr>
        <p:spPr>
          <a:xfrm>
            <a:off x="7606513" y="1634591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837EA2-521B-C3EA-214D-9823ED4E4680}"/>
              </a:ext>
            </a:extLst>
          </p:cNvPr>
          <p:cNvSpPr txBox="1"/>
          <p:nvPr/>
        </p:nvSpPr>
        <p:spPr>
          <a:xfrm>
            <a:off x="7606513" y="4491080"/>
            <a:ext cx="387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 of x changes remains the same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F835CE-61D7-E13B-59F1-3C9A53A80A83}"/>
              </a:ext>
            </a:extLst>
          </p:cNvPr>
          <p:cNvSpPr txBox="1"/>
          <p:nvPr/>
        </p:nvSpPr>
        <p:spPr>
          <a:xfrm>
            <a:off x="4175491" y="2735108"/>
            <a:ext cx="31199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is a pointer, *x is the value</a:t>
            </a:r>
          </a:p>
          <a:p>
            <a:endParaRPr lang="en-US" dirty="0"/>
          </a:p>
          <a:p>
            <a:r>
              <a:rPr lang="en-US" dirty="0"/>
              <a:t>directly manipulate on value *x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F6702DF-9E72-4941-BD23-782CE4783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95" y="2193401"/>
            <a:ext cx="1981200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81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87821-CFBB-CB34-B219-E990462EE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“Useful”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B3C2B5-69C8-2EF3-59E2-665DF3A3D593}"/>
              </a:ext>
            </a:extLst>
          </p:cNvPr>
          <p:cNvSpPr txBox="1"/>
          <p:nvPr/>
        </p:nvSpPr>
        <p:spPr>
          <a:xfrm>
            <a:off x="1142117" y="1203443"/>
            <a:ext cx="3073277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1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b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 -&gt;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rule(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%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x /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x +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x;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x = rule(x);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!=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test(x);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argc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atoi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test(N);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endParaRPr lang="en-US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C8616A-9236-6B43-4ACA-C4420C70A35D}"/>
              </a:ext>
            </a:extLst>
          </p:cNvPr>
          <p:cNvSpPr/>
          <p:nvPr/>
        </p:nvSpPr>
        <p:spPr>
          <a:xfrm>
            <a:off x="1142117" y="2565174"/>
            <a:ext cx="2418379" cy="136674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0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EE710-F471-3AF0-15AF-41C647519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Collatz</a:t>
            </a:r>
            <a:r>
              <a:rPr lang="en-US" dirty="0"/>
              <a:t> Program with Syntax Warning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4DFC4A-2792-3C8B-4D8C-06F35E2FC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224" y="1538005"/>
            <a:ext cx="5537200" cy="30734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27CB16-4949-6FB7-FF8C-BAC452C9B973}"/>
              </a:ext>
            </a:extLst>
          </p:cNvPr>
          <p:cNvSpPr txBox="1"/>
          <p:nvPr/>
        </p:nvSpPr>
        <p:spPr>
          <a:xfrm>
            <a:off x="548558" y="1249458"/>
            <a:ext cx="3413114" cy="53399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1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1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2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3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4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5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 -&gt;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6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7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8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rule(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%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x /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11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12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x +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13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14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x;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15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16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17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18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x = rule(x);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!=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21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test(x);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22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23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24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25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argc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26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atoi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27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28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test(N);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30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7A4466-6D99-39E6-409B-3A9A30350B65}"/>
              </a:ext>
            </a:extLst>
          </p:cNvPr>
          <p:cNvSpPr/>
          <p:nvPr/>
        </p:nvSpPr>
        <p:spPr>
          <a:xfrm>
            <a:off x="932901" y="4961835"/>
            <a:ext cx="1289091" cy="22281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283EC8-1B97-B96C-14DD-4B1E0F495026}"/>
              </a:ext>
            </a:extLst>
          </p:cNvPr>
          <p:cNvSpPr txBox="1"/>
          <p:nvPr/>
        </p:nvSpPr>
        <p:spPr>
          <a:xfrm>
            <a:off x="5221224" y="4817725"/>
            <a:ext cx="464652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Errors vs. warnings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When does the executable change?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Should you fix all the errors at once?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What if it prints nothing?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D49670-5301-0F88-6EF1-FA38F9B060E1}"/>
              </a:ext>
            </a:extLst>
          </p:cNvPr>
          <p:cNvSpPr/>
          <p:nvPr/>
        </p:nvSpPr>
        <p:spPr>
          <a:xfrm>
            <a:off x="960332" y="3941989"/>
            <a:ext cx="1289091" cy="22281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1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allAtOnce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8A6C3-BA3F-447A-F16A-25A34A09A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Collatz</a:t>
            </a:r>
            <a:r>
              <a:rPr lang="en-US" dirty="0"/>
              <a:t> Program with Syntax Error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06404F-21C7-6322-F6FE-A1658427C05A}"/>
              </a:ext>
            </a:extLst>
          </p:cNvPr>
          <p:cNvSpPr txBox="1"/>
          <p:nvPr/>
        </p:nvSpPr>
        <p:spPr>
          <a:xfrm>
            <a:off x="548558" y="1212548"/>
            <a:ext cx="3413114" cy="51706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1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1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2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3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4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5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 -&gt;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6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7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8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rule(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%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x /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11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12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x +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13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14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x;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15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16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17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18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x = rule(x);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!=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21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test(x);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22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23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24 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25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argc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[]) {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26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atoi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27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%f\n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28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test(N);</a:t>
            </a: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29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30 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146051-F77B-2A04-21BE-3915373162BD}"/>
              </a:ext>
            </a:extLst>
          </p:cNvPr>
          <p:cNvSpPr/>
          <p:nvPr/>
        </p:nvSpPr>
        <p:spPr>
          <a:xfrm>
            <a:off x="1107795" y="5610727"/>
            <a:ext cx="1623830" cy="22291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FE55B7-D3AF-FAE6-B353-0FEB7F49C19D}"/>
              </a:ext>
            </a:extLst>
          </p:cNvPr>
          <p:cNvSpPr txBox="1"/>
          <p:nvPr/>
        </p:nvSpPr>
        <p:spPr>
          <a:xfrm>
            <a:off x="4807691" y="3304552"/>
            <a:ext cx="60485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Syntax error:</a:t>
            </a:r>
          </a:p>
          <a:p>
            <a:r>
              <a:rPr lang="en-US" sz="2000" dirty="0"/>
              <a:t>    The function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test</a:t>
            </a:r>
            <a:r>
              <a:rPr lang="en-US" sz="2000" dirty="0"/>
              <a:t> is defined to return nothing (</a:t>
            </a:r>
            <a:r>
              <a:rPr lang="en-US" dirty="0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void</a:t>
            </a:r>
            <a:r>
              <a:rPr lang="en-US" sz="2000" dirty="0"/>
              <a:t>)</a:t>
            </a:r>
          </a:p>
          <a:p>
            <a:r>
              <a:rPr lang="en-US" sz="2000" dirty="0"/>
              <a:t>    Contradicts the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</a:t>
            </a:r>
            <a:r>
              <a:rPr lang="en-US" sz="2000" dirty="0"/>
              <a:t> statement.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AE2A6-09C0-B3D6-9158-A3549530634A}"/>
              </a:ext>
            </a:extLst>
          </p:cNvPr>
          <p:cNvSpPr txBox="1"/>
          <p:nvPr/>
        </p:nvSpPr>
        <p:spPr>
          <a:xfrm>
            <a:off x="4807691" y="1304768"/>
            <a:ext cx="3711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Output during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clang</a:t>
            </a:r>
            <a:r>
              <a:rPr lang="en-US" sz="2000" dirty="0"/>
              <a:t> compilation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8E0CB2-C652-3205-38BB-E90FFBF883AB}"/>
              </a:ext>
            </a:extLst>
          </p:cNvPr>
          <p:cNvSpPr txBox="1"/>
          <p:nvPr/>
        </p:nvSpPr>
        <p:spPr>
          <a:xfrm>
            <a:off x="4807691" y="4639685"/>
            <a:ext cx="726557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Errors vs. warnings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When does the executable change? (when compilation succeeds)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Should you fix all the errors at once? (start from the first 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If clang prints nothing, does it mean it's correct? NO</a:t>
            </a:r>
          </a:p>
        </p:txBody>
      </p:sp>
    </p:spTree>
    <p:extLst>
      <p:ext uri="{BB962C8B-B14F-4D97-AF65-F5344CB8AC3E}">
        <p14:creationId xmlns:p14="http://schemas.microsoft.com/office/powerpoint/2010/main" val="4054186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uiExpand="1" build="allAtOnce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7F5CA-47BB-23DC-6B78-6208EBFF3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all functions that return void are useless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5FA28E-5AB0-30ED-8EB0-E4D4DF6D362D}"/>
              </a:ext>
            </a:extLst>
          </p:cNvPr>
          <p:cNvSpPr txBox="1"/>
          <p:nvPr/>
        </p:nvSpPr>
        <p:spPr>
          <a:xfrm>
            <a:off x="6242900" y="1325266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84BE60-850F-60D4-C1E6-B35D7CF72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396" y="1786512"/>
            <a:ext cx="1614690" cy="24455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8D7B8C-F78A-502E-4535-44383CC9DCBD}"/>
              </a:ext>
            </a:extLst>
          </p:cNvPr>
          <p:cNvSpPr txBox="1"/>
          <p:nvPr/>
        </p:nvSpPr>
        <p:spPr>
          <a:xfrm>
            <a:off x="1149639" y="1203443"/>
            <a:ext cx="3073277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1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1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b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 -&gt; 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rule(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%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x /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 x +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x;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test(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x = rule(x);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print_value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!=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test(x);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argc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[]) {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 =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atoi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test(N);</a:t>
            </a:r>
          </a:p>
          <a:p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1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1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1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-US" sz="11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49232C-E91D-DBDD-D2A2-FE6AA730B93D}"/>
              </a:ext>
            </a:extLst>
          </p:cNvPr>
          <p:cNvSpPr txBox="1"/>
          <p:nvPr/>
        </p:nvSpPr>
        <p:spPr>
          <a:xfrm>
            <a:off x="5344160" y="4546156"/>
            <a:ext cx="3265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all void functions are useless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85B737-B1E7-266A-9569-0298154698F9}"/>
              </a:ext>
            </a:extLst>
          </p:cNvPr>
          <p:cNvSpPr/>
          <p:nvPr/>
        </p:nvSpPr>
        <p:spPr>
          <a:xfrm>
            <a:off x="1142117" y="4023914"/>
            <a:ext cx="2418379" cy="122999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1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4736</TotalTime>
  <Words>5343</Words>
  <Application>Microsoft Macintosh PowerPoint</Application>
  <PresentationFormat>Widescreen</PresentationFormat>
  <Paragraphs>833</Paragraphs>
  <Slides>35</Slides>
  <Notes>0</Notes>
  <HiddenSlides>10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euclid_circular_a</vt:lpstr>
      <vt:lpstr>Arial</vt:lpstr>
      <vt:lpstr>Calibri</vt:lpstr>
      <vt:lpstr>Calibri Light</vt:lpstr>
      <vt:lpstr>Cambria Math</vt:lpstr>
      <vt:lpstr>Consolas</vt:lpstr>
      <vt:lpstr>Menlo</vt:lpstr>
      <vt:lpstr>Wingdings</vt:lpstr>
      <vt:lpstr>Office Theme</vt:lpstr>
      <vt:lpstr>Basics II  CMSC 14300: System Programming I 2nd Lecture</vt:lpstr>
      <vt:lpstr>Overview</vt:lpstr>
      <vt:lpstr>Variable Declaration</vt:lpstr>
      <vt:lpstr>Variable Declaration</vt:lpstr>
      <vt:lpstr>Variable Declaration</vt:lpstr>
      <vt:lpstr>Variable Declaration</vt:lpstr>
      <vt:lpstr>C Pointers</vt:lpstr>
      <vt:lpstr>C Pointers</vt:lpstr>
      <vt:lpstr>Output format in printf</vt:lpstr>
      <vt:lpstr>Overview</vt:lpstr>
      <vt:lpstr>Function Definition</vt:lpstr>
      <vt:lpstr>Example: Collatz Program</vt:lpstr>
      <vt:lpstr>Example: Collatz Program</vt:lpstr>
      <vt:lpstr>Collatz Program with Syntax Error</vt:lpstr>
      <vt:lpstr>Example: Collatz Program w/ Logical Mistakes</vt:lpstr>
      <vt:lpstr>Example of Logical Mistake: “Useless” Function</vt:lpstr>
      <vt:lpstr>Example of Logical Mistake: “Useless” Function</vt:lpstr>
      <vt:lpstr>Overview</vt:lpstr>
      <vt:lpstr>Function Declaration</vt:lpstr>
      <vt:lpstr>Example: Collatz Program</vt:lpstr>
      <vt:lpstr>Example: Collatz Program w/ Function Declaration</vt:lpstr>
      <vt:lpstr>Example: Header files</vt:lpstr>
      <vt:lpstr>Recap</vt:lpstr>
      <vt:lpstr>PowerPoint Presentation</vt:lpstr>
      <vt:lpstr>PowerPoint Presentation</vt:lpstr>
      <vt:lpstr>Example of Logical Mistake: “Useless” Function</vt:lpstr>
      <vt:lpstr>Not all void functions are useless</vt:lpstr>
      <vt:lpstr>Example of Logical Mistake: Infinite recursion</vt:lpstr>
      <vt:lpstr>Overview</vt:lpstr>
      <vt:lpstr>Example: Print out variable address</vt:lpstr>
      <vt:lpstr>Example: Collatz Program with Pointers</vt:lpstr>
      <vt:lpstr>A “Useful” Function</vt:lpstr>
      <vt:lpstr>Collatz Program with Syntax Warning</vt:lpstr>
      <vt:lpstr>Collatz Program with Syntax Error</vt:lpstr>
      <vt:lpstr>Not all functions that return void are useless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 CMSC 14300: System programming I 1st Lecture</dc:title>
  <dc:creator>Junchen Jiang</dc:creator>
  <cp:lastModifiedBy>Junchen Jiang</cp:lastModifiedBy>
  <cp:revision>144</cp:revision>
  <dcterms:created xsi:type="dcterms:W3CDTF">2023-03-12T16:00:37Z</dcterms:created>
  <dcterms:modified xsi:type="dcterms:W3CDTF">2023-03-22T08:07:41Z</dcterms:modified>
</cp:coreProperties>
</file>