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40" r:id="rId3"/>
    <p:sldId id="310" r:id="rId4"/>
    <p:sldId id="370" r:id="rId5"/>
    <p:sldId id="371" r:id="rId6"/>
    <p:sldId id="373" r:id="rId7"/>
    <p:sldId id="372" r:id="rId8"/>
    <p:sldId id="374" r:id="rId9"/>
    <p:sldId id="383" r:id="rId10"/>
    <p:sldId id="387" r:id="rId11"/>
    <p:sldId id="375" r:id="rId12"/>
    <p:sldId id="369" r:id="rId13"/>
    <p:sldId id="377" r:id="rId14"/>
    <p:sldId id="378" r:id="rId15"/>
    <p:sldId id="379" r:id="rId16"/>
    <p:sldId id="380" r:id="rId17"/>
    <p:sldId id="381" r:id="rId18"/>
    <p:sldId id="382" r:id="rId19"/>
    <p:sldId id="376" r:id="rId20"/>
    <p:sldId id="384" r:id="rId21"/>
    <p:sldId id="386" r:id="rId22"/>
    <p:sldId id="34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5D1C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98"/>
    <p:restoredTop sz="81025"/>
  </p:normalViewPr>
  <p:slideViewPr>
    <p:cSldViewPr snapToGrid="0">
      <p:cViewPr varScale="1">
        <p:scale>
          <a:sx n="74" d="100"/>
          <a:sy n="74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96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51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String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9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4499-5655-F2BD-B8EA-0FCA6F8F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Array Operations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4EF64-3F52-025F-C947-9B596BEC8305}"/>
              </a:ext>
            </a:extLst>
          </p:cNvPr>
          <p:cNvSpPr txBox="1"/>
          <p:nvPr/>
        </p:nvSpPr>
        <p:spPr>
          <a:xfrm>
            <a:off x="600075" y="1343025"/>
            <a:ext cx="10221644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 array is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homogeneous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(all elements are of the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type) and of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length.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Arrays are allocated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sequentially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memory.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/>
          </a:p>
          <a:p>
            <a:r>
              <a:rPr lang="en-US" sz="2400" dirty="0"/>
              <a:t>Memory layout makes accessing each element easy (constant-time operation)</a:t>
            </a:r>
          </a:p>
          <a:p>
            <a:endParaRPr lang="en-US" sz="2400" dirty="0"/>
          </a:p>
          <a:p>
            <a:r>
              <a:rPr lang="en-US" sz="2400" dirty="0"/>
              <a:t>Different array operations have different runtimes.</a:t>
            </a:r>
          </a:p>
          <a:p>
            <a:r>
              <a:rPr lang="en-US" sz="2400" dirty="0"/>
              <a:t>Examples: (</a:t>
            </a:r>
            <a:r>
              <a:rPr lang="en-US" sz="2400" i="1" dirty="0"/>
              <a:t>n</a:t>
            </a:r>
            <a:r>
              <a:rPr lang="en-US" sz="2400" dirty="0"/>
              <a:t> is the size of array)</a:t>
            </a:r>
          </a:p>
          <a:p>
            <a:pPr lvl="1"/>
            <a:r>
              <a:rPr lang="en-US" sz="2400" b="1" dirty="0"/>
              <a:t>Accessing any index:</a:t>
            </a:r>
            <a:r>
              <a:rPr lang="en-US" sz="2400" dirty="0"/>
              <a:t> constant time, </a:t>
            </a:r>
            <a:r>
              <a:rPr lang="en-US" sz="2400" i="1" dirty="0"/>
              <a:t>O</a:t>
            </a:r>
            <a:r>
              <a:rPr lang="en-US" sz="2400" dirty="0"/>
              <a:t>(1)</a:t>
            </a:r>
          </a:p>
          <a:p>
            <a:pPr lvl="1"/>
            <a:r>
              <a:rPr lang="en-US" sz="2400" b="1" dirty="0"/>
              <a:t>Linear search:</a:t>
            </a:r>
            <a:r>
              <a:rPr lang="en-US" sz="2400" dirty="0"/>
              <a:t> linear time, </a:t>
            </a:r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  <a:p>
            <a:pPr lvl="1"/>
            <a:r>
              <a:rPr lang="en-US" sz="2400" b="1" dirty="0"/>
              <a:t>Binary search:</a:t>
            </a:r>
            <a:r>
              <a:rPr lang="en-US" sz="2400" dirty="0"/>
              <a:t> logarithmic time, </a:t>
            </a:r>
            <a:r>
              <a:rPr lang="en-US" sz="2400" i="1" dirty="0"/>
              <a:t>O</a:t>
            </a:r>
            <a:r>
              <a:rPr lang="en-US" sz="2400" dirty="0"/>
              <a:t>(log 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  <a:p>
            <a:pPr lvl="1"/>
            <a:r>
              <a:rPr lang="en-US" sz="2400" b="1" dirty="0"/>
              <a:t>Swap any two elements:</a:t>
            </a:r>
            <a:r>
              <a:rPr lang="en-US" sz="2400" dirty="0"/>
              <a:t> constant time, </a:t>
            </a:r>
            <a:r>
              <a:rPr lang="en-US" sz="2400" i="1" dirty="0"/>
              <a:t>O</a:t>
            </a:r>
            <a:r>
              <a:rPr lang="en-US" sz="2400" dirty="0"/>
              <a:t>(1)</a:t>
            </a:r>
          </a:p>
          <a:p>
            <a:pPr lvl="1"/>
            <a:r>
              <a:rPr lang="en-US" sz="2400" b="1" dirty="0"/>
              <a:t>Inserting an element:</a:t>
            </a:r>
            <a:r>
              <a:rPr lang="en-US" sz="2400" dirty="0"/>
              <a:t> linear time, </a:t>
            </a:r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667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02A-BF3A-8F04-6603-A838884A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99F7-7128-50F7-1473-358F6505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  <a:p>
            <a:r>
              <a:rPr lang="en-US" dirty="0"/>
              <a:t>String operations</a:t>
            </a:r>
          </a:p>
        </p:txBody>
      </p:sp>
    </p:spTree>
    <p:extLst>
      <p:ext uri="{BB962C8B-B14F-4D97-AF65-F5344CB8AC3E}">
        <p14:creationId xmlns:p14="http://schemas.microsoft.com/office/powerpoint/2010/main" val="304274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7983-59BE-0AF2-734C-08A5B43B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FAEB7-CEA0-E223-5590-EBA078398312}"/>
              </a:ext>
            </a:extLst>
          </p:cNvPr>
          <p:cNvSpPr txBox="1"/>
          <p:nvPr/>
        </p:nvSpPr>
        <p:spPr>
          <a:xfrm>
            <a:off x="826718" y="1498583"/>
            <a:ext cx="6254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Computers store all data as binary, essentially as numbers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31CD4-4584-E678-3690-A0EEF3C1D95E}"/>
              </a:ext>
            </a:extLst>
          </p:cNvPr>
          <p:cNvSpPr txBox="1"/>
          <p:nvPr/>
        </p:nvSpPr>
        <p:spPr>
          <a:xfrm>
            <a:off x="826718" y="2179531"/>
            <a:ext cx="103464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Characters are stored as numbers according to a code </a:t>
            </a:r>
          </a:p>
          <a:p>
            <a:pPr lvl="1"/>
            <a:r>
              <a:rPr lang="en-US" sz="2000" dirty="0">
                <a:effectLst/>
                <a:latin typeface="CMSS10"/>
              </a:rPr>
              <a:t>ASCII is a common, simple code for English characters </a:t>
            </a:r>
          </a:p>
          <a:p>
            <a:pPr lvl="1"/>
            <a:r>
              <a:rPr lang="en-US" sz="2000" dirty="0">
                <a:effectLst/>
                <a:latin typeface="CMSS10"/>
              </a:rPr>
              <a:t>'A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 = 65, 'B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 = 66, 'C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 = 67, etc.</a:t>
            </a:r>
            <a:br>
              <a:rPr lang="en-US" sz="2000" dirty="0">
                <a:effectLst/>
                <a:latin typeface="CMSS10"/>
              </a:rPr>
            </a:b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a' = 97, 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b' = 98, 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c' = 99, etc.</a:t>
            </a:r>
            <a:br>
              <a:rPr lang="en-US" sz="2000" dirty="0">
                <a:effectLst/>
                <a:latin typeface="CMSS10"/>
              </a:rPr>
            </a:br>
            <a:r>
              <a:rPr lang="en-US" sz="2000" dirty="0">
                <a:effectLst/>
                <a:latin typeface="CMSS10"/>
              </a:rPr>
              <a:t>'0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 = 48, '1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 = 49, '2</a:t>
            </a:r>
            <a:r>
              <a:rPr lang="en-US" sz="2000" dirty="0">
                <a:latin typeface="CMSS10"/>
              </a:rPr>
              <a:t>'</a:t>
            </a:r>
            <a:r>
              <a:rPr lang="en-US" sz="2000" dirty="0">
                <a:effectLst/>
                <a:latin typeface="CMSS10"/>
              </a:rPr>
              <a:t> = 50, etc.</a:t>
            </a:r>
            <a:br>
              <a:rPr lang="en-US" sz="2000" dirty="0">
                <a:effectLst/>
                <a:latin typeface="CMSS10"/>
              </a:rPr>
            </a:br>
            <a:r>
              <a:rPr lang="en-US" sz="2000" dirty="0">
                <a:effectLst/>
                <a:latin typeface="CMSS10"/>
              </a:rPr>
              <a:t>Other numbers represent symbols, newlines, etc. </a:t>
            </a:r>
            <a:endParaRPr lang="en-US" sz="2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A38F5-FC23-C168-FF01-376FD7E9AB00}"/>
              </a:ext>
            </a:extLst>
          </p:cNvPr>
          <p:cNvSpPr txBox="1"/>
          <p:nvPr/>
        </p:nvSpPr>
        <p:spPr>
          <a:xfrm>
            <a:off x="826718" y="4280090"/>
            <a:ext cx="10872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2B91A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C can hold a small number used for math, or a small number used to code for a character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store a character code, write the character in single quotes: </a:t>
            </a:r>
            <a:r>
              <a:rPr lang="en-US" sz="2000" dirty="0">
                <a:solidFill>
                  <a:srgbClr val="A3141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'H'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print a character, use the format code </a:t>
            </a:r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%c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Otherwise, a </a:t>
            </a:r>
            <a:r>
              <a:rPr lang="en-US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2B91A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 interpreted as a number </a:t>
            </a:r>
          </a:p>
        </p:txBody>
      </p:sp>
    </p:spTree>
    <p:extLst>
      <p:ext uri="{BB962C8B-B14F-4D97-AF65-F5344CB8AC3E}">
        <p14:creationId xmlns:p14="http://schemas.microsoft.com/office/powerpoint/2010/main" val="352257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9EE6-CED3-52F1-6F4B-E62EBF2C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7986E-4660-6C57-D4A5-CF9BEAF3B300}"/>
              </a:ext>
            </a:extLst>
          </p:cNvPr>
          <p:cNvSpPr txBox="1"/>
          <p:nvPr/>
        </p:nvSpPr>
        <p:spPr>
          <a:xfrm>
            <a:off x="839244" y="1803748"/>
            <a:ext cx="4700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Strings in C are "just" </a:t>
            </a:r>
            <a:r>
              <a:rPr lang="en-US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2B91AF"/>
                </a:solidFill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arrays: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Type is </a:t>
            </a:r>
            <a:r>
              <a:rPr lang="en-US" dirty="0">
                <a:solidFill>
                  <a:srgbClr val="00B05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b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Indexed like any array: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s[7] =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'w'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 </a:t>
            </a:r>
            <a:endParaRPr lang="en-US" sz="20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05318-ED12-36AA-5199-6513F5D53B37}"/>
              </a:ext>
            </a:extLst>
          </p:cNvPr>
          <p:cNvSpPr txBox="1"/>
          <p:nvPr/>
        </p:nvSpPr>
        <p:spPr>
          <a:xfrm>
            <a:off x="838200" y="3557392"/>
            <a:ext cx="648292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Strings in C are different than other arrays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We track their lengths differently</a:t>
            </a:r>
            <a:b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C provides convenient syntax to make strings</a:t>
            </a:r>
            <a:b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C provides various library functions to work with strings </a:t>
            </a:r>
          </a:p>
          <a:p>
            <a:pPr lvl="1"/>
            <a:r>
              <a:rPr lang="en-US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2000" dirty="0">
                <a:effectLst/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has a special format code for printing strings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A4CD5-FACC-81AD-5DE9-5EE6AFB35588}"/>
              </a:ext>
            </a:extLst>
          </p:cNvPr>
          <p:cNvSpPr txBox="1"/>
          <p:nvPr/>
        </p:nvSpPr>
        <p:spPr>
          <a:xfrm>
            <a:off x="10273935" y="1603693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72141A-E6C5-650B-6CBA-52E28AEE2182}"/>
              </a:ext>
            </a:extLst>
          </p:cNvPr>
          <p:cNvGrpSpPr/>
          <p:nvPr/>
        </p:nvGrpSpPr>
        <p:grpSpPr>
          <a:xfrm>
            <a:off x="10365985" y="2124503"/>
            <a:ext cx="894722" cy="3515162"/>
            <a:chOff x="9176035" y="1959362"/>
            <a:chExt cx="1488006" cy="351516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C30CE5-F669-B031-626C-2FF9E658C4A8}"/>
                </a:ext>
              </a:extLst>
            </p:cNvPr>
            <p:cNvSpPr/>
            <p:nvPr/>
          </p:nvSpPr>
          <p:spPr>
            <a:xfrm>
              <a:off x="9176035" y="1959362"/>
              <a:ext cx="1488006" cy="351516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6FCB1F-B679-E3A7-7F0D-1E0CE74B4802}"/>
                </a:ext>
              </a:extLst>
            </p:cNvPr>
            <p:cNvSpPr txBox="1"/>
            <p:nvPr/>
          </p:nvSpPr>
          <p:spPr>
            <a:xfrm rot="5400000">
              <a:off x="9721106" y="4679130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ADCC71-00EB-CCFF-0480-049C2303C6F6}"/>
                </a:ext>
              </a:extLst>
            </p:cNvPr>
            <p:cNvSpPr txBox="1"/>
            <p:nvPr/>
          </p:nvSpPr>
          <p:spPr>
            <a:xfrm rot="5400000">
              <a:off x="9726471" y="2172392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203CD7-6B11-13E1-7D0B-7305086DAEAC}"/>
                </a:ext>
              </a:extLst>
            </p:cNvPr>
            <p:cNvSpPr/>
            <p:nvPr/>
          </p:nvSpPr>
          <p:spPr>
            <a:xfrm>
              <a:off x="9176037" y="325816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'c'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158D4F-1A37-D7E2-F610-78B6E0356705}"/>
                </a:ext>
              </a:extLst>
            </p:cNvPr>
            <p:cNvSpPr/>
            <p:nvPr/>
          </p:nvSpPr>
          <p:spPr>
            <a:xfrm>
              <a:off x="9176037" y="3687786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'b'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FD391D4-B703-1DE5-6C37-7237429EDE76}"/>
                </a:ext>
              </a:extLst>
            </p:cNvPr>
            <p:cNvSpPr/>
            <p:nvPr/>
          </p:nvSpPr>
          <p:spPr>
            <a:xfrm>
              <a:off x="9176037" y="411649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'a'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57ED1EE-BE77-95C2-86C5-12F4A37C8FF8}"/>
              </a:ext>
            </a:extLst>
          </p:cNvPr>
          <p:cNvSpPr txBox="1"/>
          <p:nvPr/>
        </p:nvSpPr>
        <p:spPr>
          <a:xfrm>
            <a:off x="8522907" y="4278539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0x16f9af604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620C45-A57A-3511-1020-65C72ECB9658}"/>
              </a:ext>
            </a:extLst>
          </p:cNvPr>
          <p:cNvCxnSpPr/>
          <p:nvPr/>
        </p:nvCxnSpPr>
        <p:spPr>
          <a:xfrm>
            <a:off x="10004177" y="4463205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6DAEACE-1100-87C1-D602-16B96039F887}"/>
              </a:ext>
            </a:extLst>
          </p:cNvPr>
          <p:cNvSpPr txBox="1"/>
          <p:nvPr/>
        </p:nvSpPr>
        <p:spPr>
          <a:xfrm>
            <a:off x="8522907" y="3849830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0x16f9af605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45B87A-3DC5-09D4-9D01-2B8174EFF649}"/>
              </a:ext>
            </a:extLst>
          </p:cNvPr>
          <p:cNvCxnSpPr/>
          <p:nvPr/>
        </p:nvCxnSpPr>
        <p:spPr>
          <a:xfrm>
            <a:off x="10004177" y="4034496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FEC2DF-85AD-128A-B233-4F46DCF4388B}"/>
              </a:ext>
            </a:extLst>
          </p:cNvPr>
          <p:cNvSpPr txBox="1"/>
          <p:nvPr/>
        </p:nvSpPr>
        <p:spPr>
          <a:xfrm>
            <a:off x="8522907" y="341354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0x16f9af606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D6F3B4-2721-6D1E-5FC7-7AAC700A6828}"/>
              </a:ext>
            </a:extLst>
          </p:cNvPr>
          <p:cNvCxnSpPr/>
          <p:nvPr/>
        </p:nvCxnSpPr>
        <p:spPr>
          <a:xfrm>
            <a:off x="10004177" y="3598214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24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44C6-ECDE-3A20-2374-F9C628C3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Lengths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9E592-8BD9-FAA6-DF00-3012A004478F}"/>
              </a:ext>
            </a:extLst>
          </p:cNvPr>
          <p:cNvSpPr txBox="1"/>
          <p:nvPr/>
        </p:nvSpPr>
        <p:spPr>
          <a:xfrm>
            <a:off x="864296" y="1565753"/>
            <a:ext cx="9279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C, we must keep track of array lengths ourselves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 does not provide a way to determine the length of an array</a:t>
            </a:r>
            <a:b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store and pass around lengths in </a:t>
            </a:r>
            <a:r>
              <a:rPr lang="en-US" sz="2200" dirty="0">
                <a:solidFill>
                  <a:srgbClr val="2B91A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unsigned int </a:t>
            </a:r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variables and parameters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3CCB2-ED11-2769-5D37-93FE9667D4E8}"/>
              </a:ext>
            </a:extLst>
          </p:cNvPr>
          <p:cNvSpPr txBox="1"/>
          <p:nvPr/>
        </p:nvSpPr>
        <p:spPr>
          <a:xfrm>
            <a:off x="864296" y="3214687"/>
            <a:ext cx="86201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Alternative: </a:t>
            </a:r>
            <a:r>
              <a:rPr lang="en-US" sz="22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sentinel</a:t>
            </a:r>
          </a:p>
          <a:p>
            <a:pPr lvl="1"/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determine the length by looping until you encounter the sentinel </a:t>
            </a:r>
          </a:p>
          <a:p>
            <a:pPr lvl="1"/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need for array length parameter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7557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987A1-F64E-D1F1-6E38-2F248546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 Sentinel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75531-A527-DF50-6C4D-AC6CC17A24E4}"/>
              </a:ext>
            </a:extLst>
          </p:cNvPr>
          <p:cNvSpPr txBox="1"/>
          <p:nvPr/>
        </p:nvSpPr>
        <p:spPr>
          <a:xfrm>
            <a:off x="842963" y="1385888"/>
            <a:ext cx="97344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 are 256 possible values for a </a:t>
            </a:r>
            <a:r>
              <a:rPr lang="en-US" sz="2200" dirty="0">
                <a:solidFill>
                  <a:srgbClr val="2B91A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char</a:t>
            </a:r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one of them was reserved as a sentinel 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character </a:t>
            </a:r>
            <a:r>
              <a:rPr lang="en-US" sz="2200" dirty="0">
                <a:solidFill>
                  <a:srgbClr val="A3141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'\0'</a:t>
            </a:r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coded as numeric value 0, indicates the end of a string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00492-F202-0A08-DB92-6CDA1EC41FD9}"/>
              </a:ext>
            </a:extLst>
          </p:cNvPr>
          <p:cNvSpPr txBox="1"/>
          <p:nvPr/>
        </p:nvSpPr>
        <p:spPr>
          <a:xfrm>
            <a:off x="828675" y="2986471"/>
            <a:ext cx="75319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Benefits:</a:t>
            </a:r>
          </a:p>
          <a:p>
            <a:pPr lvl="1"/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String functions don’t need extra parameters for length</a:t>
            </a:r>
            <a:b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Sentinel uses one byte; length for many strings would require more than one byte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CB775-46E9-2433-3AC3-A1972F8D6F9D}"/>
              </a:ext>
            </a:extLst>
          </p:cNvPr>
          <p:cNvSpPr txBox="1"/>
          <p:nvPr/>
        </p:nvSpPr>
        <p:spPr>
          <a:xfrm>
            <a:off x="828675" y="4757738"/>
            <a:ext cx="7882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Drawbacks:</a:t>
            </a:r>
          </a:p>
          <a:p>
            <a:pPr lvl="1"/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Determining length requires loop takes time</a:t>
            </a:r>
            <a:b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Must remember to allocate one extra byte for terminator</a:t>
            </a:r>
          </a:p>
          <a:p>
            <a:pPr lvl="1"/>
            <a:r>
              <a:rPr lang="en-US" sz="2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When generating strings, must remember to write terminator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75575-9D18-5123-FEFB-447F33A28F42}"/>
              </a:ext>
            </a:extLst>
          </p:cNvPr>
          <p:cNvSpPr txBox="1"/>
          <p:nvPr/>
        </p:nvSpPr>
        <p:spPr>
          <a:xfrm>
            <a:off x="9106260" y="2357981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BD8E2B-2A4E-2ECC-491D-B9F4269099F4}"/>
              </a:ext>
            </a:extLst>
          </p:cNvPr>
          <p:cNvGrpSpPr/>
          <p:nvPr/>
        </p:nvGrpSpPr>
        <p:grpSpPr>
          <a:xfrm>
            <a:off x="10365985" y="2124503"/>
            <a:ext cx="894722" cy="3515162"/>
            <a:chOff x="9176035" y="1959362"/>
            <a:chExt cx="1488006" cy="351516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EBEFFB-5010-0559-614A-EB523D378F8D}"/>
                </a:ext>
              </a:extLst>
            </p:cNvPr>
            <p:cNvSpPr/>
            <p:nvPr/>
          </p:nvSpPr>
          <p:spPr>
            <a:xfrm>
              <a:off x="9176035" y="1959362"/>
              <a:ext cx="1488006" cy="351516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6A3EDE-E897-EBE4-8E6A-FF881AE1665C}"/>
                </a:ext>
              </a:extLst>
            </p:cNvPr>
            <p:cNvSpPr txBox="1"/>
            <p:nvPr/>
          </p:nvSpPr>
          <p:spPr>
            <a:xfrm rot="5400000">
              <a:off x="9721106" y="4679130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E23A2F-4FDD-8786-E670-E9AA41101413}"/>
                </a:ext>
              </a:extLst>
            </p:cNvPr>
            <p:cNvSpPr txBox="1"/>
            <p:nvPr/>
          </p:nvSpPr>
          <p:spPr>
            <a:xfrm rot="5400000">
              <a:off x="9726471" y="2172392"/>
              <a:ext cx="39786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dirty="0"/>
                <a:t>…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3A7C83-CFDB-7999-27A9-A6F418A15D67}"/>
                </a:ext>
              </a:extLst>
            </p:cNvPr>
            <p:cNvSpPr/>
            <p:nvPr/>
          </p:nvSpPr>
          <p:spPr>
            <a:xfrm>
              <a:off x="9176037" y="325816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'c'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0A1D3-4040-9F8E-1610-43620D2F31B9}"/>
                </a:ext>
              </a:extLst>
            </p:cNvPr>
            <p:cNvSpPr/>
            <p:nvPr/>
          </p:nvSpPr>
          <p:spPr>
            <a:xfrm>
              <a:off x="9176037" y="3687786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'b'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B0EC21-7376-7181-11E6-43F219F5779E}"/>
                </a:ext>
              </a:extLst>
            </p:cNvPr>
            <p:cNvSpPr/>
            <p:nvPr/>
          </p:nvSpPr>
          <p:spPr>
            <a:xfrm>
              <a:off x="9176037" y="4116495"/>
              <a:ext cx="1488004" cy="4287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'a'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41BC701-E24C-EFA9-D9DC-F3D030C722AA}"/>
              </a:ext>
            </a:extLst>
          </p:cNvPr>
          <p:cNvSpPr txBox="1"/>
          <p:nvPr/>
        </p:nvSpPr>
        <p:spPr>
          <a:xfrm>
            <a:off x="8522907" y="4266182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3B5A44-C141-A237-B535-FC3A94055334}"/>
              </a:ext>
            </a:extLst>
          </p:cNvPr>
          <p:cNvCxnSpPr/>
          <p:nvPr/>
        </p:nvCxnSpPr>
        <p:spPr>
          <a:xfrm>
            <a:off x="10004177" y="4450848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90BD9C-6116-3503-0EC7-EB61A84530F8}"/>
              </a:ext>
            </a:extLst>
          </p:cNvPr>
          <p:cNvSpPr txBox="1"/>
          <p:nvPr/>
        </p:nvSpPr>
        <p:spPr>
          <a:xfrm>
            <a:off x="8522907" y="3837473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3A660D-44A1-E705-5467-BB138B0C174B}"/>
              </a:ext>
            </a:extLst>
          </p:cNvPr>
          <p:cNvCxnSpPr/>
          <p:nvPr/>
        </p:nvCxnSpPr>
        <p:spPr>
          <a:xfrm>
            <a:off x="10004177" y="4022139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29345C-ABEA-F465-4426-E8ADD08AC401}"/>
              </a:ext>
            </a:extLst>
          </p:cNvPr>
          <p:cNvSpPr txBox="1"/>
          <p:nvPr/>
        </p:nvSpPr>
        <p:spPr>
          <a:xfrm>
            <a:off x="8522907" y="3401191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0x16f9af606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1B2A77-E87A-304C-BA71-BC159A64C4EB}"/>
              </a:ext>
            </a:extLst>
          </p:cNvPr>
          <p:cNvCxnSpPr/>
          <p:nvPr/>
        </p:nvCxnSpPr>
        <p:spPr>
          <a:xfrm>
            <a:off x="10004177" y="3585857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303A6E-3D19-ED52-CE8B-97508A85C3D0}"/>
              </a:ext>
            </a:extLst>
          </p:cNvPr>
          <p:cNvSpPr txBox="1"/>
          <p:nvPr/>
        </p:nvSpPr>
        <p:spPr>
          <a:xfrm>
            <a:off x="8514865" y="2979143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0x16f9af607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BB9ED9-8587-01BA-DC91-25AADD554714}"/>
              </a:ext>
            </a:extLst>
          </p:cNvPr>
          <p:cNvCxnSpPr/>
          <p:nvPr/>
        </p:nvCxnSpPr>
        <p:spPr>
          <a:xfrm>
            <a:off x="9996135" y="3163809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B05B574-176A-6727-616E-83F0ACEE885A}"/>
              </a:ext>
            </a:extLst>
          </p:cNvPr>
          <p:cNvSpPr/>
          <p:nvPr/>
        </p:nvSpPr>
        <p:spPr>
          <a:xfrm>
            <a:off x="10361644" y="2994009"/>
            <a:ext cx="894721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'\0'</a:t>
            </a:r>
          </a:p>
        </p:txBody>
      </p:sp>
    </p:spTree>
    <p:extLst>
      <p:ext uri="{BB962C8B-B14F-4D97-AF65-F5344CB8AC3E}">
        <p14:creationId xmlns:p14="http://schemas.microsoft.com/office/powerpoint/2010/main" val="289308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6EAD-0B4D-926B-3431-BF6C0D2A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Strings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54DE7-FA9B-191C-DDA9-6D0CA41CCA09}"/>
              </a:ext>
            </a:extLst>
          </p:cNvPr>
          <p:cNvSpPr txBox="1"/>
          <p:nvPr/>
        </p:nvSpPr>
        <p:spPr>
          <a:xfrm>
            <a:off x="700088" y="1162303"/>
            <a:ext cx="11491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write a string literal, use double quotes: </a:t>
            </a:r>
            <a:endParaRPr 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s1 =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"Hello, world!"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s2 =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"Hello, \"Bob,\" if that's your real name..."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 </a:t>
            </a:r>
            <a:endParaRPr lang="en-US" sz="19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 puts the '\0' terminator in for us; do not include it in the string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67D5D-5643-823C-E607-8979E53827CA}"/>
              </a:ext>
            </a:extLst>
          </p:cNvPr>
          <p:cNvSpPr txBox="1"/>
          <p:nvPr/>
        </p:nvSpPr>
        <p:spPr>
          <a:xfrm>
            <a:off x="700088" y="2520778"/>
            <a:ext cx="11047576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make an empty string as a local variable: </a:t>
            </a:r>
          </a:p>
          <a:p>
            <a:pPr lvl="1"/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s3[20];</a:t>
            </a:r>
            <a:b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Warning: this has room for 19 characters, plus the '\0' terminator</a:t>
            </a:r>
            <a:b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is “empty” in the sense that it is ready for you to write characters in it. </a:t>
            </a:r>
          </a:p>
          <a:p>
            <a:pPr lvl="1"/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But, its contents are undefined until you write into it. </a:t>
            </a:r>
          </a:p>
          <a:p>
            <a:pPr lvl="1"/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s4[] = {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'H'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'e'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'l'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'l'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'o'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'\0'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};</a:t>
            </a:r>
            <a:b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If you do it this way, you need to put the '\0' terminator there yourself, which can be tedious. </a:t>
            </a:r>
          </a:p>
          <a:p>
            <a:pPr lvl="1"/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Like arrays made as local variables, these are deallocated upon function return and must not be returned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A1BEB-C7E4-0604-56B6-D222C132583A}"/>
              </a:ext>
            </a:extLst>
          </p:cNvPr>
          <p:cNvSpPr txBox="1"/>
          <p:nvPr/>
        </p:nvSpPr>
        <p:spPr>
          <a:xfrm>
            <a:off x="700088" y="4952213"/>
            <a:ext cx="1108534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make an empty string on the heap: </a:t>
            </a:r>
          </a:p>
          <a:p>
            <a:pPr lvl="1"/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s5 = (</a:t>
            </a:r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*)malloc(</a:t>
            </a:r>
            <a:r>
              <a:rPr lang="en-US" dirty="0" err="1">
                <a:solidFill>
                  <a:srgbClr val="0000F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* 20);</a:t>
            </a:r>
            <a:b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 above, this has room for 19 characters plus the '\0' terminator, and starts off with undefined contents </a:t>
            </a:r>
          </a:p>
          <a:p>
            <a:pPr lvl="1"/>
            <a:r>
              <a:rPr lang="en-US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Unlike the above, this can be returned; it will be freed only when you explicitly do so </a:t>
            </a:r>
          </a:p>
        </p:txBody>
      </p:sp>
    </p:spTree>
    <p:extLst>
      <p:ext uri="{BB962C8B-B14F-4D97-AF65-F5344CB8AC3E}">
        <p14:creationId xmlns:p14="http://schemas.microsoft.com/office/powerpoint/2010/main" val="120670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8A6C-9114-88B0-EF0A-F123A1D6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between string literal and char array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EB293-5081-6951-7205-1C03A45025CC}"/>
              </a:ext>
            </a:extLst>
          </p:cNvPr>
          <p:cNvSpPr txBox="1"/>
          <p:nvPr/>
        </p:nvSpPr>
        <p:spPr>
          <a:xfrm>
            <a:off x="838200" y="3011093"/>
            <a:ext cx="108712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Both can be used to declare and initialize a string in C.</a:t>
            </a:r>
          </a:p>
          <a:p>
            <a:pPr algn="l"/>
            <a:endParaRPr lang="en-US" sz="20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But there are some important differences between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a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414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"Hello, world!"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declares a pointer to a string literal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Usually stored in read-only memory.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Cannot be changed using the pointer 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Its 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size is automatically determined by the compiler based on the size of the string literal.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a[] =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"Hello, world!"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r>
              <a:rPr lang="en-US" sz="2000" dirty="0">
                <a:ea typeface="Menlo" panose="020B0609030804020204" pitchFamily="49" charset="0"/>
              </a:rPr>
              <a:t> 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declares an array of characters.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memory for the array is allocated on the stack.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contents of the string can be changed.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896EE-0FDA-7408-AD20-34FFD52A7774}"/>
              </a:ext>
            </a:extLst>
          </p:cNvPr>
          <p:cNvSpPr txBox="1"/>
          <p:nvPr/>
        </p:nvSpPr>
        <p:spPr>
          <a:xfrm>
            <a:off x="838200" y="1380016"/>
            <a:ext cx="39501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a =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"Hello, world!"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r>
              <a:rPr lang="en-US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vs. </a:t>
            </a:r>
          </a:p>
          <a:p>
            <a:r>
              <a:rPr lang="en-US" dirty="0">
                <a:solidFill>
                  <a:srgbClr val="2B91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a[] = </a:t>
            </a:r>
            <a:r>
              <a:rPr lang="en-US" dirty="0">
                <a:solidFill>
                  <a:srgbClr val="A3141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"Hello, world!"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87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89B-6C90-7450-AE05-141090E7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Printf</a:t>
            </a:r>
            <a:r>
              <a:rPr lang="en-US" dirty="0"/>
              <a:t> and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2DDE3-6847-9290-B8BC-731BBB077235}"/>
              </a:ext>
            </a:extLst>
          </p:cNvPr>
          <p:cNvSpPr txBox="1"/>
          <p:nvPr/>
        </p:nvSpPr>
        <p:spPr>
          <a:xfrm>
            <a:off x="838200" y="2916195"/>
            <a:ext cx="5634681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a[]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a);</a:t>
            </a:r>
            <a:r>
              <a:rPr lang="en-US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abcde</a:t>
            </a:r>
            <a:endParaRPr lang="en-US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a);</a:t>
            </a:r>
            <a:r>
              <a:rPr lang="en-US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0x16ba47578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*a);</a:t>
            </a:r>
            <a:r>
              <a:rPr lang="en-US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a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EB525-824B-7BEE-57F8-A1C6EA68B5D6}"/>
              </a:ext>
            </a:extLst>
          </p:cNvPr>
          <p:cNvSpPr txBox="1"/>
          <p:nvPr/>
        </p:nvSpPr>
        <p:spPr>
          <a:xfrm>
            <a:off x="1037968" y="1655805"/>
            <a:ext cx="6226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Print a string differently with different specifiers 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%s, %p, %c</a:t>
            </a:r>
          </a:p>
        </p:txBody>
      </p:sp>
    </p:spTree>
    <p:extLst>
      <p:ext uri="{BB962C8B-B14F-4D97-AF65-F5344CB8AC3E}">
        <p14:creationId xmlns:p14="http://schemas.microsoft.com/office/powerpoint/2010/main" val="2144435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C02A-BF3A-8F04-6603-A838884A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99F7-7128-50F7-1473-358F65051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String</a:t>
            </a:r>
          </a:p>
          <a:p>
            <a:r>
              <a:rPr lang="en-US" dirty="0"/>
              <a:t>String operations</a:t>
            </a:r>
          </a:p>
        </p:txBody>
      </p:sp>
    </p:spTree>
    <p:extLst>
      <p:ext uri="{BB962C8B-B14F-4D97-AF65-F5344CB8AC3E}">
        <p14:creationId xmlns:p14="http://schemas.microsoft.com/office/powerpoint/2010/main" val="288967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A724-C74F-816F-D223-0E059E21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length of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A06AF-2093-7C6A-B28B-2082DD0DCEEB}"/>
              </a:ext>
            </a:extLst>
          </p:cNvPr>
          <p:cNvSpPr txBox="1"/>
          <p:nvPr/>
        </p:nvSpPr>
        <p:spPr>
          <a:xfrm>
            <a:off x="885825" y="1771650"/>
            <a:ext cx="5210175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strlen1(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20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(s[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!= </a:t>
            </a:r>
            <a:r>
              <a:rPr lang="en-US" sz="20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 =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 World!"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20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%u\n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strlen1(s));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4002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A724-C74F-816F-D223-0E059E21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length of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A06AF-2093-7C6A-B28B-2082DD0DCEEB}"/>
              </a:ext>
            </a:extLst>
          </p:cNvPr>
          <p:cNvSpPr txBox="1"/>
          <p:nvPr/>
        </p:nvSpPr>
        <p:spPr>
          <a:xfrm>
            <a:off x="885825" y="1771650"/>
            <a:ext cx="5210175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strlen2(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 = s;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(*t != </a:t>
            </a:r>
            <a:r>
              <a:rPr lang="en-US" sz="20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t++;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t-s;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 =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 World!"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20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%u\n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strlen2(s));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0105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A724-C74F-816F-D223-0E059E21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length of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A06AF-2093-7C6A-B28B-2082DD0DCEEB}"/>
              </a:ext>
            </a:extLst>
          </p:cNvPr>
          <p:cNvSpPr txBox="1"/>
          <p:nvPr/>
        </p:nvSpPr>
        <p:spPr>
          <a:xfrm>
            <a:off x="885825" y="1771650"/>
            <a:ext cx="5210175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strlen3(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 = s;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(*t)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t++;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t-s;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 =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 World!"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20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%u\n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strlen3(s));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8543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A724-C74F-816F-D223-0E059E21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length of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A06AF-2093-7C6A-B28B-2082DD0DCEEB}"/>
              </a:ext>
            </a:extLst>
          </p:cNvPr>
          <p:cNvSpPr txBox="1"/>
          <p:nvPr/>
        </p:nvSpPr>
        <p:spPr>
          <a:xfrm>
            <a:off x="885825" y="1771650"/>
            <a:ext cx="6815138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strlen4(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 = s;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(*t++)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20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this space left blank intentionally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t-s-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 = 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 World!"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20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%u\n</a:t>
            </a:r>
            <a:r>
              <a:rPr lang="en-US" sz="20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strlen4(s));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1999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835B-42BE-DCE3-207E-8CC0142B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9D13B-D80D-8D8E-EBA9-CA45E94903DB}"/>
              </a:ext>
            </a:extLst>
          </p:cNvPr>
          <p:cNvSpPr txBox="1"/>
          <p:nvPr/>
        </p:nvSpPr>
        <p:spPr>
          <a:xfrm>
            <a:off x="838200" y="1414562"/>
            <a:ext cx="6100762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strcpy1(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"New String"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malloc(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strcpy1(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is now "New String"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41347357-ABAF-0A41-96C2-30F0ED3BCB0C}"/>
              </a:ext>
            </a:extLst>
          </p:cNvPr>
          <p:cNvSpPr/>
          <p:nvPr/>
        </p:nvSpPr>
        <p:spPr>
          <a:xfrm>
            <a:off x="5509530" y="2647370"/>
            <a:ext cx="6550665" cy="1875203"/>
          </a:xfrm>
          <a:prstGeom prst="wedgeRectCallout">
            <a:avLst>
              <a:gd name="adj1" fmla="val -77939"/>
              <a:gd name="adj2" fmla="val -541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loop will call </a:t>
            </a:r>
            <a:r>
              <a:rPr lang="en-US" sz="20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strlen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again at each iteration to check for termination </a:t>
            </a:r>
            <a:r>
              <a:rPr lang="en-US" sz="20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strlen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costly</a:t>
            </a:r>
            <a:b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value doesn’t change, but C doesn’t know this. 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(Never write a string loop like this)</a:t>
            </a:r>
          </a:p>
        </p:txBody>
      </p:sp>
    </p:spTree>
    <p:extLst>
      <p:ext uri="{BB962C8B-B14F-4D97-AF65-F5344CB8AC3E}">
        <p14:creationId xmlns:p14="http://schemas.microsoft.com/office/powerpoint/2010/main" val="206610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835B-42BE-DCE3-207E-8CC0142B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9D13B-D80D-8D8E-EBA9-CA45E94903DB}"/>
              </a:ext>
            </a:extLst>
          </p:cNvPr>
          <p:cNvSpPr txBox="1"/>
          <p:nvPr/>
        </p:nvSpPr>
        <p:spPr>
          <a:xfrm>
            <a:off x="838200" y="1414562"/>
            <a:ext cx="6100762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strcpy2(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0;</a:t>
            </a:r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!=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"New String"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malloc(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strcpy2(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is now "New String"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5754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835B-42BE-DCE3-207E-8CC0142B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a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9D13B-D80D-8D8E-EBA9-CA45E94903DB}"/>
              </a:ext>
            </a:extLst>
          </p:cNvPr>
          <p:cNvSpPr txBox="1"/>
          <p:nvPr/>
        </p:nvSpPr>
        <p:spPr>
          <a:xfrm>
            <a:off x="838200" y="1414562"/>
            <a:ext cx="610076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strcpy3(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*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"New String"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malloc(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strcpy3(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is now "New String"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Rectangular Callout 3">
            <a:extLst>
              <a:ext uri="{FF2B5EF4-FFF2-40B4-BE49-F238E27FC236}">
                <a16:creationId xmlns:a16="http://schemas.microsoft.com/office/drawing/2014/main" id="{F2ED9CB8-9230-EED6-6D38-846930440099}"/>
              </a:ext>
            </a:extLst>
          </p:cNvPr>
          <p:cNvSpPr/>
          <p:nvPr/>
        </p:nvSpPr>
        <p:spPr>
          <a:xfrm>
            <a:off x="3705443" y="2437305"/>
            <a:ext cx="4561227" cy="991695"/>
          </a:xfrm>
          <a:prstGeom prst="wedgeRectCallout">
            <a:avLst>
              <a:gd name="adj1" fmla="val -81732"/>
              <a:gd name="adj2" fmla="val -4294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Will this change string </a:t>
            </a:r>
            <a:r>
              <a:rPr lang="en-US" sz="2000" dirty="0" err="1">
                <a:solidFill>
                  <a:schemeClr val="tx1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src</a:t>
            </a: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dirty="0" err="1">
                <a:solidFill>
                  <a:schemeClr val="tx1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dst</a:t>
            </a: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000" dirty="0">
                <a:solidFill>
                  <a:schemeClr val="tx1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8689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22DC-1FD8-53E3-F38D-CA242E36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two strings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65177-8879-3C5F-0C45-7A8DE04649B0}"/>
              </a:ext>
            </a:extLst>
          </p:cNvPr>
          <p:cNvSpPr txBox="1"/>
          <p:nvPr/>
        </p:nvSpPr>
        <p:spPr>
          <a:xfrm>
            <a:off x="838200" y="1414562"/>
            <a:ext cx="5862502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str1,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str2)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(*str1)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(*str1 != *str2)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str1++;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str2++;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*str1-*str2;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str1[]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str2[]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(str1, str2));</a:t>
            </a:r>
            <a:r>
              <a:rPr lang="en-US" sz="160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// 0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str3[]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"ax"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my_strcmp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(str1, str3));</a:t>
            </a:r>
            <a:r>
              <a:rPr lang="en-US" sz="160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 //-22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769C9928-D966-A05B-DF4A-DB390064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158573"/>
              </p:ext>
            </p:extLst>
          </p:nvPr>
        </p:nvGraphicFramePr>
        <p:xfrm>
          <a:off x="7068059" y="2530050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BAFD0A-59BF-3042-5E68-BB5A34B86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061741"/>
              </p:ext>
            </p:extLst>
          </p:nvPr>
        </p:nvGraphicFramePr>
        <p:xfrm>
          <a:off x="7068059" y="365846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24CD7F-539F-B103-7C8F-CB283B7A4250}"/>
              </a:ext>
            </a:extLst>
          </p:cNvPr>
          <p:cNvCxnSpPr/>
          <p:nvPr/>
        </p:nvCxnSpPr>
        <p:spPr>
          <a:xfrm>
            <a:off x="7537617" y="3111400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327F99-194B-F96C-F8E1-A49CF31F5DF8}"/>
              </a:ext>
            </a:extLst>
          </p:cNvPr>
          <p:cNvCxnSpPr/>
          <p:nvPr/>
        </p:nvCxnSpPr>
        <p:spPr>
          <a:xfrm>
            <a:off x="8419065" y="311064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704874-878C-9960-A9C5-3FAC92B76009}"/>
              </a:ext>
            </a:extLst>
          </p:cNvPr>
          <p:cNvCxnSpPr/>
          <p:nvPr/>
        </p:nvCxnSpPr>
        <p:spPr>
          <a:xfrm>
            <a:off x="9300513" y="311064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27DD44-F0A8-FA41-EED4-AEDF31FD59EB}"/>
              </a:ext>
            </a:extLst>
          </p:cNvPr>
          <p:cNvCxnSpPr/>
          <p:nvPr/>
        </p:nvCxnSpPr>
        <p:spPr>
          <a:xfrm>
            <a:off x="10227269" y="311064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5D3C84-D58A-4FA8-CB5C-98E8854F3A2E}"/>
              </a:ext>
            </a:extLst>
          </p:cNvPr>
          <p:cNvCxnSpPr>
            <a:cxnSpLocks/>
          </p:cNvCxnSpPr>
          <p:nvPr/>
        </p:nvCxnSpPr>
        <p:spPr>
          <a:xfrm flipV="1">
            <a:off x="10305531" y="3341480"/>
            <a:ext cx="612481" cy="720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D3E5C8-635B-061E-CBFE-511DB478FDDB}"/>
              </a:ext>
            </a:extLst>
          </p:cNvPr>
          <p:cNvSpPr txBox="1"/>
          <p:nvPr/>
        </p:nvSpPr>
        <p:spPr>
          <a:xfrm>
            <a:off x="10918012" y="3098290"/>
            <a:ext cx="1198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return 0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02411AB0-879C-4863-7EAF-8EB5738A7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72819"/>
              </p:ext>
            </p:extLst>
          </p:nvPr>
        </p:nvGraphicFramePr>
        <p:xfrm>
          <a:off x="7068059" y="4950208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0442AD4-C061-B7D2-9C70-7D64B209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472791"/>
              </p:ext>
            </p:extLst>
          </p:nvPr>
        </p:nvGraphicFramePr>
        <p:xfrm>
          <a:off x="7068059" y="6053913"/>
          <a:ext cx="2650527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'x'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32D44E-CAAE-93AA-53F1-3D58BF544CF5}"/>
              </a:ext>
            </a:extLst>
          </p:cNvPr>
          <p:cNvCxnSpPr/>
          <p:nvPr/>
        </p:nvCxnSpPr>
        <p:spPr>
          <a:xfrm>
            <a:off x="7537617" y="5482130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14D422-AD38-410B-80A8-9556C35EA98B}"/>
              </a:ext>
            </a:extLst>
          </p:cNvPr>
          <p:cNvCxnSpPr/>
          <p:nvPr/>
        </p:nvCxnSpPr>
        <p:spPr>
          <a:xfrm>
            <a:off x="8419065" y="5481377"/>
            <a:ext cx="0" cy="506627"/>
          </a:xfrm>
          <a:prstGeom prst="straightConnector1">
            <a:avLst/>
          </a:prstGeom>
          <a:ln w="28575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8DCE75-7939-A25C-52EC-B5FAE03B52AE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8526155" y="5712210"/>
            <a:ext cx="612481" cy="720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18FA228-D786-CF11-D81B-5C75238A0CA2}"/>
              </a:ext>
            </a:extLst>
          </p:cNvPr>
          <p:cNvSpPr txBox="1"/>
          <p:nvPr/>
        </p:nvSpPr>
        <p:spPr>
          <a:xfrm>
            <a:off x="9138636" y="5481377"/>
            <a:ext cx="1448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return -22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538E9A-12F1-02BB-5C05-C144025EE58E}"/>
              </a:ext>
            </a:extLst>
          </p:cNvPr>
          <p:cNvSpPr txBox="1"/>
          <p:nvPr/>
        </p:nvSpPr>
        <p:spPr>
          <a:xfrm>
            <a:off x="6864860" y="946178"/>
            <a:ext cx="48740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Compare two strings with </a:t>
            </a:r>
            <a:r>
              <a:rPr lang="en-US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strcmp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(a, b)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 is 0 if they are equal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 is 0 if a comes before b alphabetically 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Else 0 </a:t>
            </a:r>
          </a:p>
        </p:txBody>
      </p:sp>
    </p:spTree>
    <p:extLst>
      <p:ext uri="{BB962C8B-B14F-4D97-AF65-F5344CB8AC3E}">
        <p14:creationId xmlns:p14="http://schemas.microsoft.com/office/powerpoint/2010/main" val="3944939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22DC-1FD8-53E3-F38D-CA242E36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Concatenate two strings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65177-8879-3C5F-0C45-7A8DE04649B0}"/>
              </a:ext>
            </a:extLst>
          </p:cNvPr>
          <p:cNvSpPr txBox="1"/>
          <p:nvPr/>
        </p:nvSpPr>
        <p:spPr>
          <a:xfrm>
            <a:off x="197965" y="1997839"/>
            <a:ext cx="5436716" cy="33855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my_strcat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dst+strlen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a[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], b[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strcpy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(a,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latin typeface="Menlo" panose="020B0609030804020204" pitchFamily="49" charset="0"/>
              </a:rPr>
              <a:t>abc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strcpy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(b,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latin typeface="Menlo" panose="020B0609030804020204" pitchFamily="49" charset="0"/>
              </a:rPr>
              <a:t>xyz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my_strcat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(a, b);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Menlo" panose="020B0609030804020204" pitchFamily="49" charset="0"/>
              </a:rPr>
              <a:t>// </a:t>
            </a:r>
            <a:r>
              <a:rPr lang="en-US" sz="1600" dirty="0" err="1">
                <a:solidFill>
                  <a:srgbClr val="0070C0"/>
                </a:solidFill>
                <a:latin typeface="Menlo" panose="020B0609030804020204" pitchFamily="49" charset="0"/>
              </a:rPr>
              <a:t>abcxyz</a:t>
            </a:r>
            <a:endParaRPr lang="en-US" sz="160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BBA6B0A3-02F9-FCD5-E3B3-D84A906E8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651043"/>
              </p:ext>
            </p:extLst>
          </p:nvPr>
        </p:nvGraphicFramePr>
        <p:xfrm>
          <a:off x="5832380" y="199783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'a'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'b'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'c'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3061D0-6906-0323-4624-C99167DC3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545003"/>
              </p:ext>
            </p:extLst>
          </p:nvPr>
        </p:nvGraphicFramePr>
        <p:xfrm>
          <a:off x="5832380" y="317127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'x'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'y'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'z'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AC9298-16E1-0B55-50AF-145263E04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318268"/>
              </p:ext>
            </p:extLst>
          </p:nvPr>
        </p:nvGraphicFramePr>
        <p:xfrm>
          <a:off x="5832380" y="3171279"/>
          <a:ext cx="3534036" cy="51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509">
                  <a:extLst>
                    <a:ext uri="{9D8B030D-6E8A-4147-A177-3AD203B41FA5}">
                      <a16:colId xmlns:a16="http://schemas.microsoft.com/office/drawing/2014/main" val="1407452751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3588519599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4155347265"/>
                    </a:ext>
                  </a:extLst>
                </a:gridCol>
                <a:gridCol w="883509">
                  <a:extLst>
                    <a:ext uri="{9D8B030D-6E8A-4147-A177-3AD203B41FA5}">
                      <a16:colId xmlns:a16="http://schemas.microsoft.com/office/drawing/2014/main" val="1662624484"/>
                    </a:ext>
                  </a:extLst>
                </a:gridCol>
              </a:tblGrid>
              <a:tr h="5154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'x'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'y'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'z'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'\0'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77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47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L 0.21797 -0.17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98" y="-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1476-1FD1-FF76-A2D8-F99EC94F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AF606-41EB-1D9F-3F7E-0A890250F998}"/>
              </a:ext>
            </a:extLst>
          </p:cNvPr>
          <p:cNvSpPr txBox="1"/>
          <p:nvPr/>
        </p:nvSpPr>
        <p:spPr>
          <a:xfrm>
            <a:off x="838200" y="1507524"/>
            <a:ext cx="7169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strlen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strcpy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strcat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strcmp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are built in, include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string.h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1C2C6-7520-B102-B945-971D476C9C86}"/>
              </a:ext>
            </a:extLst>
          </p:cNvPr>
          <p:cNvSpPr txBox="1"/>
          <p:nvPr/>
        </p:nvSpPr>
        <p:spPr>
          <a:xfrm>
            <a:off x="838200" y="2522557"/>
            <a:ext cx="5763116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string.h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s1[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s2[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s3[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abc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(s2,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xyz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(s3,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ijk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(s1, s2);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s1 becomes "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xyz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"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strcat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(s1, s3);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s2 becomes "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xyzijk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lu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(s1));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6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s1);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xyzijk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8785F2-3296-9BFE-791D-304E3A441347}"/>
              </a:ext>
            </a:extLst>
          </p:cNvPr>
          <p:cNvSpPr/>
          <p:nvPr/>
        </p:nvSpPr>
        <p:spPr>
          <a:xfrm>
            <a:off x="838200" y="2860907"/>
            <a:ext cx="2831757" cy="3518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3333D8-A20E-A642-18FF-DB21F42B2979}"/>
              </a:ext>
            </a:extLst>
          </p:cNvPr>
          <p:cNvSpPr/>
          <p:nvPr/>
        </p:nvSpPr>
        <p:spPr>
          <a:xfrm>
            <a:off x="1126525" y="3915350"/>
            <a:ext cx="1035908" cy="143512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3FE4BC-3A21-3C64-7E95-BBAA599E3DBB}"/>
              </a:ext>
            </a:extLst>
          </p:cNvPr>
          <p:cNvSpPr/>
          <p:nvPr/>
        </p:nvSpPr>
        <p:spPr>
          <a:xfrm>
            <a:off x="3325664" y="5276334"/>
            <a:ext cx="1468758" cy="35184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9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F0F8-8BDC-7899-E6CD-BFEE705B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DC34-FD38-026F-997D-C5FFCF46A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string is a char array</a:t>
            </a:r>
          </a:p>
          <a:p>
            <a:pPr lvl="1"/>
            <a:r>
              <a:rPr lang="en-US" dirty="0"/>
              <a:t>With char '\0' to indicate bound of a string</a:t>
            </a:r>
          </a:p>
          <a:p>
            <a:endParaRPr lang="en-US" dirty="0"/>
          </a:p>
          <a:p>
            <a:r>
              <a:rPr lang="en-US" dirty="0"/>
              <a:t>Different ways of creating a string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String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46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20791</TotalTime>
  <Words>2022</Words>
  <Application>Microsoft Macintosh PowerPoint</Application>
  <PresentationFormat>Widescreen</PresentationFormat>
  <Paragraphs>315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CMSS10</vt:lpstr>
      <vt:lpstr>Arial</vt:lpstr>
      <vt:lpstr>Calibri</vt:lpstr>
      <vt:lpstr>Calibri Light</vt:lpstr>
      <vt:lpstr>Menlo</vt:lpstr>
      <vt:lpstr>Wingdings</vt:lpstr>
      <vt:lpstr>Office Theme</vt:lpstr>
      <vt:lpstr>String  CMSC 14300: System Programming I 9th Lecture</vt:lpstr>
      <vt:lpstr>Recap: Array Operations</vt:lpstr>
      <vt:lpstr>Overview</vt:lpstr>
      <vt:lpstr>Characters</vt:lpstr>
      <vt:lpstr>Strings in C</vt:lpstr>
      <vt:lpstr>Array Lengths </vt:lpstr>
      <vt:lpstr>String Sentinel </vt:lpstr>
      <vt:lpstr>Making Strings</vt:lpstr>
      <vt:lpstr>Difference between string literal and char array</vt:lpstr>
      <vt:lpstr>Printf and String</vt:lpstr>
      <vt:lpstr>Overview</vt:lpstr>
      <vt:lpstr>Calculating the length of a string</vt:lpstr>
      <vt:lpstr>Calculating the length of a string</vt:lpstr>
      <vt:lpstr>Calculating the length of a string</vt:lpstr>
      <vt:lpstr>Calculating the length of a string</vt:lpstr>
      <vt:lpstr>Copying a string</vt:lpstr>
      <vt:lpstr>Copying a string</vt:lpstr>
      <vt:lpstr>Copying a string</vt:lpstr>
      <vt:lpstr>Compare two strings</vt:lpstr>
      <vt:lpstr>Concatenate two strings</vt:lpstr>
      <vt:lpstr>C library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852</cp:revision>
  <dcterms:created xsi:type="dcterms:W3CDTF">2023-03-12T16:00:37Z</dcterms:created>
  <dcterms:modified xsi:type="dcterms:W3CDTF">2023-04-10T04:10:22Z</dcterms:modified>
</cp:coreProperties>
</file>