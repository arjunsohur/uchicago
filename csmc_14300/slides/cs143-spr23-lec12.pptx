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414" r:id="rId3"/>
    <p:sldId id="435" r:id="rId4"/>
    <p:sldId id="436" r:id="rId5"/>
    <p:sldId id="437" r:id="rId6"/>
    <p:sldId id="438" r:id="rId7"/>
    <p:sldId id="440" r:id="rId8"/>
    <p:sldId id="442" r:id="rId9"/>
    <p:sldId id="443" r:id="rId10"/>
    <p:sldId id="445" r:id="rId11"/>
    <p:sldId id="446" r:id="rId12"/>
    <p:sldId id="447" r:id="rId13"/>
    <p:sldId id="441" r:id="rId14"/>
    <p:sldId id="44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7"/>
    <p:restoredTop sz="80955"/>
  </p:normalViewPr>
  <p:slideViewPr>
    <p:cSldViewPr snapToGrid="0">
      <p:cViewPr>
        <p:scale>
          <a:sx n="110" d="100"/>
          <a:sy n="110" d="100"/>
        </p:scale>
        <p:origin x="48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02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2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5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unions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12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C2FE-8957-FDA7-8B9C-5AA53BD1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797178"/>
          </a:xfrm>
        </p:spPr>
        <p:txBody>
          <a:bodyPr>
            <a:normAutofit/>
          </a:bodyPr>
          <a:lstStyle/>
          <a:p>
            <a:r>
              <a:rPr lang="en-US" dirty="0"/>
              <a:t>Recap: struct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9F20D-C459-7E60-8F9D-1062581FF4F4}"/>
              </a:ext>
            </a:extLst>
          </p:cNvPr>
          <p:cNvSpPr txBox="1"/>
          <p:nvPr/>
        </p:nvSpPr>
        <p:spPr>
          <a:xfrm>
            <a:off x="449893" y="1289953"/>
            <a:ext cx="5127322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y2,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*x3,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*y3)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*x3 = x1+x2;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*y3 = y1+y2;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x3, y3;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(x1, y1, x2, y2, &amp;x3, &amp;y3);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x3, 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A326F-25BD-4C02-E814-04766E10132B}"/>
              </a:ext>
            </a:extLst>
          </p:cNvPr>
          <p:cNvSpPr txBox="1"/>
          <p:nvPr/>
        </p:nvSpPr>
        <p:spPr>
          <a:xfrm>
            <a:off x="838200" y="5421827"/>
            <a:ext cx="4395672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x1 and y1 are parts of a logical entity: </a:t>
            </a:r>
          </a:p>
          <a:p>
            <a:r>
              <a:rPr lang="en-US" sz="2000" dirty="0"/>
              <a:t>They are the coordinates of a point.</a:t>
            </a:r>
          </a:p>
          <a:p>
            <a:endParaRPr lang="en-US" sz="2000" dirty="0"/>
          </a:p>
          <a:p>
            <a:r>
              <a:rPr lang="en-US" sz="2000" dirty="0"/>
              <a:t>so are x2 and y2, and x3 and y3.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4E6CD-D938-DE22-D104-FDE71C1FF9CF}"/>
              </a:ext>
            </a:extLst>
          </p:cNvPr>
          <p:cNvSpPr txBox="1"/>
          <p:nvPr/>
        </p:nvSpPr>
        <p:spPr>
          <a:xfrm>
            <a:off x="6309986" y="797510"/>
            <a:ext cx="5577214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 = {p1.x+p2.x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p1.y+p2.y};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5E9E5-C640-8201-A9AB-B0910559D63E}"/>
              </a:ext>
            </a:extLst>
          </p:cNvPr>
          <p:cNvSpPr txBox="1"/>
          <p:nvPr/>
        </p:nvSpPr>
        <p:spPr>
          <a:xfrm>
            <a:off x="6545070" y="5694176"/>
            <a:ext cx="480873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x and y are the fields of struct point.</a:t>
            </a:r>
          </a:p>
          <a:p>
            <a:r>
              <a:rPr lang="en-US" sz="2000" dirty="0"/>
              <a:t>Can be used as arguments and return type.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CDA4E7-66EE-3F47-1D4A-6F7A1E1B278C}"/>
              </a:ext>
            </a:extLst>
          </p:cNvPr>
          <p:cNvSpPr/>
          <p:nvPr/>
        </p:nvSpPr>
        <p:spPr>
          <a:xfrm>
            <a:off x="6309985" y="1288431"/>
            <a:ext cx="1999825" cy="79717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745C6D-7FBD-BF0C-39CF-3F2D7DE17F73}"/>
              </a:ext>
            </a:extLst>
          </p:cNvPr>
          <p:cNvSpPr/>
          <p:nvPr/>
        </p:nvSpPr>
        <p:spPr>
          <a:xfrm>
            <a:off x="9353975" y="2245895"/>
            <a:ext cx="1999825" cy="56147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9C63D26-7A95-CCC7-5D7F-3975CA5C1EC2}"/>
              </a:ext>
            </a:extLst>
          </p:cNvPr>
          <p:cNvSpPr/>
          <p:nvPr/>
        </p:nvSpPr>
        <p:spPr>
          <a:xfrm>
            <a:off x="6346080" y="2237256"/>
            <a:ext cx="1658931" cy="3936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9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C2FE-8957-FDA7-8B9C-5AA53BD1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797178"/>
          </a:xfrm>
        </p:spPr>
        <p:txBody>
          <a:bodyPr>
            <a:normAutofit/>
          </a:bodyPr>
          <a:lstStyle/>
          <a:p>
            <a:r>
              <a:rPr lang="en-US" dirty="0"/>
              <a:t>typedef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9F20D-C459-7E60-8F9D-1062581FF4F4}"/>
              </a:ext>
            </a:extLst>
          </p:cNvPr>
          <p:cNvSpPr txBox="1"/>
          <p:nvPr/>
        </p:nvSpPr>
        <p:spPr>
          <a:xfrm>
            <a:off x="449893" y="1289953"/>
            <a:ext cx="5127322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y2,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*x3,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*y3)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*x3 = x1+x2;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*y3 = y1+y2;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x3, y3;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(x1, y1, x2, y2, &amp;x3, &amp;y3);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x3, 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A326F-25BD-4C02-E814-04766E10132B}"/>
              </a:ext>
            </a:extLst>
          </p:cNvPr>
          <p:cNvSpPr txBox="1"/>
          <p:nvPr/>
        </p:nvSpPr>
        <p:spPr>
          <a:xfrm>
            <a:off x="838200" y="5421827"/>
            <a:ext cx="4395672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x1 and y1 are parts of a logical entity: </a:t>
            </a:r>
          </a:p>
          <a:p>
            <a:r>
              <a:rPr lang="en-US" sz="2000" dirty="0"/>
              <a:t>They are the coordinates of a point.</a:t>
            </a:r>
          </a:p>
          <a:p>
            <a:endParaRPr lang="en-US" sz="2000" dirty="0"/>
          </a:p>
          <a:p>
            <a:r>
              <a:rPr lang="en-US" sz="2000" dirty="0"/>
              <a:t>so are x2 and y2, and x3 and y3.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4E6CD-D938-DE22-D104-FDE71C1FF9CF}"/>
              </a:ext>
            </a:extLst>
          </p:cNvPr>
          <p:cNvSpPr txBox="1"/>
          <p:nvPr/>
        </p:nvSpPr>
        <p:spPr>
          <a:xfrm>
            <a:off x="6362700" y="763714"/>
            <a:ext cx="4760412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point;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res = {p1.x+p2.x, p1.y+p2.y};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p3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vector_add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E736B-0696-83C4-14D5-F49318AE502C}"/>
              </a:ext>
            </a:extLst>
          </p:cNvPr>
          <p:cNvSpPr txBox="1"/>
          <p:nvPr/>
        </p:nvSpPr>
        <p:spPr>
          <a:xfrm>
            <a:off x="6545070" y="5694176"/>
            <a:ext cx="4395672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/>
              <a:t>typedef &lt;</a:t>
            </a:r>
            <a:r>
              <a:rPr lang="en-US" sz="2000" b="1" dirty="0" err="1"/>
              <a:t>typename</a:t>
            </a:r>
            <a:r>
              <a:rPr lang="en-US" sz="2000" b="1" dirty="0"/>
              <a:t>&gt; &lt;alias&gt;;</a:t>
            </a:r>
          </a:p>
          <a:p>
            <a:r>
              <a:rPr lang="en-US" sz="2000" dirty="0"/>
              <a:t>Any future use of datatype alias will be replaced by </a:t>
            </a:r>
            <a:r>
              <a:rPr lang="en-US" sz="2000" dirty="0" err="1"/>
              <a:t>typename</a:t>
            </a:r>
            <a:r>
              <a:rPr lang="en-US" sz="2000" dirty="0"/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0A89D0-7EC4-7F76-D539-9BB32E0161E5}"/>
              </a:ext>
            </a:extLst>
          </p:cNvPr>
          <p:cNvSpPr/>
          <p:nvPr/>
        </p:nvSpPr>
        <p:spPr>
          <a:xfrm>
            <a:off x="6362700" y="1948498"/>
            <a:ext cx="3567363" cy="3936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10FD40-ED9F-FD64-FF15-D62EB024F3FE}"/>
              </a:ext>
            </a:extLst>
          </p:cNvPr>
          <p:cNvSpPr/>
          <p:nvPr/>
        </p:nvSpPr>
        <p:spPr>
          <a:xfrm>
            <a:off x="6959224" y="-711088"/>
            <a:ext cx="3567363" cy="3936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7215A8-38C1-4D92-9C8E-86A6F2B99A90}"/>
              </a:ext>
            </a:extLst>
          </p:cNvPr>
          <p:cNvSpPr/>
          <p:nvPr/>
        </p:nvSpPr>
        <p:spPr>
          <a:xfrm>
            <a:off x="8422640" y="2487816"/>
            <a:ext cx="786641" cy="5467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A27F45-EB1E-9416-59E2-B4470A97DB02}"/>
              </a:ext>
            </a:extLst>
          </p:cNvPr>
          <p:cNvSpPr/>
          <p:nvPr/>
        </p:nvSpPr>
        <p:spPr>
          <a:xfrm>
            <a:off x="6367021" y="2487816"/>
            <a:ext cx="786641" cy="3936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0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9AAE-3CAE-3E10-8B6F-D19C1142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3647F-E1F0-17FA-60CF-28C0DBF01288}"/>
              </a:ext>
            </a:extLst>
          </p:cNvPr>
          <p:cNvSpPr txBox="1"/>
          <p:nvPr/>
        </p:nvSpPr>
        <p:spPr>
          <a:xfrm>
            <a:off x="613772" y="1198149"/>
            <a:ext cx="4504759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point;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center;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circle;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topleft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side;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 square;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topleft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width, height;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 rectangle;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BBE77-F0A4-E8A6-CBD4-8E2156FE599A}"/>
              </a:ext>
            </a:extLst>
          </p:cNvPr>
          <p:cNvSpPr txBox="1"/>
          <p:nvPr/>
        </p:nvSpPr>
        <p:spPr>
          <a:xfrm>
            <a:off x="5526030" y="508342"/>
            <a:ext cx="512191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circle_perimeter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(circle c){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pi *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square_perimeter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(square s){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rectangle_perimeter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(rectangle r){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r.width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r.height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5978B-788B-C93F-19A0-067C49BB09EE}"/>
              </a:ext>
            </a:extLst>
          </p:cNvPr>
          <p:cNvSpPr txBox="1"/>
          <p:nvPr/>
        </p:nvSpPr>
        <p:spPr>
          <a:xfrm>
            <a:off x="5557159" y="3974049"/>
            <a:ext cx="512191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circle_area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(circle c){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pi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square_area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(square s){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rectangle_area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(rectangle r){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r.width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r.height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2AAD0-0E7A-E62C-96FE-A24B20D2A5B9}"/>
              </a:ext>
            </a:extLst>
          </p:cNvPr>
          <p:cNvSpPr txBox="1"/>
          <p:nvPr/>
        </p:nvSpPr>
        <p:spPr>
          <a:xfrm>
            <a:off x="5527931" y="46677"/>
            <a:ext cx="545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Common operation 1: Calculate perimeter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86F37-9FC9-F74F-32AA-882FDE71C7F8}"/>
              </a:ext>
            </a:extLst>
          </p:cNvPr>
          <p:cNvSpPr txBox="1"/>
          <p:nvPr/>
        </p:nvSpPr>
        <p:spPr>
          <a:xfrm>
            <a:off x="5531735" y="3526530"/>
            <a:ext cx="475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Common operation 2: Calculate area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F5C8A-B4B7-A259-73AB-B9DDD9660B6A}"/>
              </a:ext>
            </a:extLst>
          </p:cNvPr>
          <p:cNvSpPr txBox="1"/>
          <p:nvPr/>
        </p:nvSpPr>
        <p:spPr>
          <a:xfrm>
            <a:off x="7401747" y="2596303"/>
            <a:ext cx="402937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won't it be better if we can just write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shape_perimeter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(shape);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65A4A-BE4A-5DD3-CD05-B82B7BFC1A04}"/>
              </a:ext>
            </a:extLst>
          </p:cNvPr>
          <p:cNvSpPr txBox="1"/>
          <p:nvPr/>
        </p:nvSpPr>
        <p:spPr>
          <a:xfrm>
            <a:off x="7403685" y="6084611"/>
            <a:ext cx="402937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won't it be better if we can just write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shape_area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(shape);</a:t>
            </a:r>
          </a:p>
        </p:txBody>
      </p:sp>
    </p:spTree>
    <p:extLst>
      <p:ext uri="{BB962C8B-B14F-4D97-AF65-F5344CB8AC3E}">
        <p14:creationId xmlns:p14="http://schemas.microsoft.com/office/powerpoint/2010/main" val="235346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131F-CA6A-5DC6-4906-8F682B62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Commonality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C4F46-627D-6318-9983-F0CE65AF8949}"/>
              </a:ext>
            </a:extLst>
          </p:cNvPr>
          <p:cNvSpPr txBox="1"/>
          <p:nvPr/>
        </p:nvSpPr>
        <p:spPr>
          <a:xfrm>
            <a:off x="838201" y="1478071"/>
            <a:ext cx="1008449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Finding the perimeter, or the area, of a shape, is something we can do to all kinds of shapes </a:t>
            </a:r>
            <a:endParaRPr lang="en-US" sz="2000" dirty="0">
              <a:effectLst/>
            </a:endParaRPr>
          </a:p>
          <a:p>
            <a:endParaRPr lang="en-US" sz="2000" dirty="0">
              <a:effectLst/>
              <a:latin typeface="CMSS10"/>
            </a:endParaRPr>
          </a:p>
          <a:p>
            <a:r>
              <a:rPr lang="en-US" sz="2000" dirty="0">
                <a:effectLst/>
                <a:latin typeface="CMSS10"/>
              </a:rPr>
              <a:t>Can we generalize these shapes into a type in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Functions can take in </a:t>
            </a:r>
            <a:r>
              <a:rPr lang="en-US" sz="2000" dirty="0">
                <a:effectLst/>
                <a:latin typeface="CMSSI10"/>
              </a:rPr>
              <a:t>shape </a:t>
            </a:r>
            <a:r>
              <a:rPr lang="en-US" sz="2000" dirty="0">
                <a:effectLst/>
                <a:latin typeface="CMSS10"/>
              </a:rPr>
              <a:t>parameters, which could be any one of these shapes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Variables should be able to hold </a:t>
            </a:r>
            <a:r>
              <a:rPr lang="en-US" sz="2000" dirty="0">
                <a:effectLst/>
                <a:latin typeface="CMSSI10"/>
              </a:rPr>
              <a:t>shapes</a:t>
            </a:r>
            <a:r>
              <a:rPr lang="en-US" sz="2000" dirty="0">
                <a:effectLst/>
                <a:latin typeface="CMSS10"/>
              </a:rPr>
              <a:t>, regardless of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Functions should be able to return a </a:t>
            </a:r>
            <a:r>
              <a:rPr lang="en-US" sz="2000" dirty="0">
                <a:effectLst/>
                <a:latin typeface="CMSSI10"/>
              </a:rPr>
              <a:t>shape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Should be able to have shapes as fields in 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struct</a:t>
            </a:r>
            <a:r>
              <a:rPr lang="en-US" sz="2000" dirty="0">
                <a:effectLst/>
                <a:latin typeface="CMSS10"/>
              </a:rPr>
              <a:t>s, and elements in arrays</a:t>
            </a:r>
          </a:p>
          <a:p>
            <a:endParaRPr lang="en-US" sz="2000" dirty="0">
              <a:latin typeface="CMSS10"/>
            </a:endParaRPr>
          </a:p>
          <a:p>
            <a:r>
              <a:rPr lang="en-US" sz="2000" dirty="0">
                <a:effectLst/>
                <a:latin typeface="CMSS10"/>
              </a:rPr>
              <a:t>When holding on to a generic </a:t>
            </a:r>
            <a:r>
              <a:rPr lang="en-US" sz="2000" dirty="0">
                <a:effectLst/>
                <a:latin typeface="CMSSI10"/>
              </a:rPr>
              <a:t>shape</a:t>
            </a:r>
            <a:r>
              <a:rPr lang="en-US" sz="2000" dirty="0">
                <a:effectLst/>
                <a:latin typeface="CMSS10"/>
              </a:rPr>
              <a:t>:</a:t>
            </a:r>
          </a:p>
          <a:p>
            <a:pPr lvl="1"/>
            <a:r>
              <a:rPr lang="en-US" sz="2000" dirty="0">
                <a:effectLst/>
                <a:latin typeface="CMSS10"/>
              </a:rPr>
              <a:t>Should be able to do the kinds of things that you can do for all shapes: calculate perimeter, area, bounding box, center, draw to screen…</a:t>
            </a:r>
          </a:p>
          <a:p>
            <a:endParaRPr lang="en-US" sz="2000" dirty="0">
              <a:effectLst/>
              <a:latin typeface="CMSS10"/>
            </a:endParaRPr>
          </a:p>
          <a:p>
            <a:r>
              <a:rPr lang="en-US" sz="2000" dirty="0">
                <a:effectLst/>
                <a:latin typeface="CMSS10"/>
              </a:rPr>
              <a:t>Should still be able to limit a variable, parameter, return type, 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struct </a:t>
            </a:r>
            <a:r>
              <a:rPr lang="en-US" sz="2000" dirty="0">
                <a:effectLst/>
                <a:latin typeface="CMSS10"/>
              </a:rPr>
              <a:t>field, or array element to a specific type of shape, e.g. circle, when appropriate </a:t>
            </a:r>
            <a:endParaRPr lang="en-US" sz="2000" dirty="0"/>
          </a:p>
          <a:p>
            <a:pPr lvl="1"/>
            <a:r>
              <a:rPr lang="en-US" sz="2000" dirty="0">
                <a:effectLst/>
                <a:latin typeface="CMSS10"/>
              </a:rPr>
              <a:t>C should help us restrict to a desired shape when needed and give us the flexibility to work with any shape when appropriate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8351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FDA6-7D8A-251F-E3BD-A13D3664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79E58-DA8E-1699-6037-1C131E889CD8}"/>
              </a:ext>
            </a:extLst>
          </p:cNvPr>
          <p:cNvSpPr txBox="1"/>
          <p:nvPr/>
        </p:nvSpPr>
        <p:spPr>
          <a:xfrm>
            <a:off x="1311965" y="2445026"/>
            <a:ext cx="413446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shape shape;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4730C-F02E-21AA-6823-8BB6EA4534B0}"/>
              </a:ext>
            </a:extLst>
          </p:cNvPr>
          <p:cNvSpPr txBox="1"/>
          <p:nvPr/>
        </p:nvSpPr>
        <p:spPr>
          <a:xfrm>
            <a:off x="1311965" y="4412974"/>
            <a:ext cx="78145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Problems?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Stores three shapes at the same time; which shape is actually filled 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Need some way to tell which shape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Wasting space on the other two shapes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34038-138E-E72D-9FCE-E2EC063F1596}"/>
              </a:ext>
            </a:extLst>
          </p:cNvPr>
          <p:cNvSpPr txBox="1"/>
          <p:nvPr/>
        </p:nvSpPr>
        <p:spPr>
          <a:xfrm>
            <a:off x="1311965" y="1862464"/>
            <a:ext cx="5273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about we create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with three fields?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DE43C-C12E-D69E-9CCD-DA75BE7ED336}"/>
              </a:ext>
            </a:extLst>
          </p:cNvPr>
          <p:cNvSpPr txBox="1"/>
          <p:nvPr/>
        </p:nvSpPr>
        <p:spPr>
          <a:xfrm>
            <a:off x="6363005" y="2445026"/>
            <a:ext cx="413446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shape_perimeter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(shape s){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shape_area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(shape s){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423482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FDA6-7D8A-251F-E3BD-A13D3664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79E58-DA8E-1699-6037-1C131E889CD8}"/>
              </a:ext>
            </a:extLst>
          </p:cNvPr>
          <p:cNvSpPr txBox="1"/>
          <p:nvPr/>
        </p:nvSpPr>
        <p:spPr>
          <a:xfrm>
            <a:off x="1311965" y="1508303"/>
            <a:ext cx="375036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4730C-F02E-21AA-6823-8BB6EA4534B0}"/>
              </a:ext>
            </a:extLst>
          </p:cNvPr>
          <p:cNvSpPr txBox="1"/>
          <p:nvPr/>
        </p:nvSpPr>
        <p:spPr>
          <a:xfrm>
            <a:off x="1483600" y="3918536"/>
            <a:ext cx="987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enum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be one of the specified constants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They are stored using a numbering scheme behind the scenes (CIRCLE = 0, SQUARE = 1, RECTANGLE = 2)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But, you can write out the names, for more readable code and fewer mistakes 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Problems?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Stores three shapes at the same time; which shape is actually filled in?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FIXED: Need some way to tell which shape is valid: Check the tag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Wasting space on the other two shapes 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93BEC4-A986-7AAF-22EF-8A4F14CCE547}"/>
              </a:ext>
            </a:extLst>
          </p:cNvPr>
          <p:cNvSpPr/>
          <p:nvPr/>
        </p:nvSpPr>
        <p:spPr>
          <a:xfrm>
            <a:off x="1483600" y="3293359"/>
            <a:ext cx="2767558" cy="27128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89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FDA6-7D8A-251F-E3BD-A13D3664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solution based on union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79E58-DA8E-1699-6037-1C131E889CD8}"/>
              </a:ext>
            </a:extLst>
          </p:cNvPr>
          <p:cNvSpPr txBox="1"/>
          <p:nvPr/>
        </p:nvSpPr>
        <p:spPr>
          <a:xfrm>
            <a:off x="675863" y="1394507"/>
            <a:ext cx="5243676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shape;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4730C-F02E-21AA-6823-8BB6EA4534B0}"/>
              </a:ext>
            </a:extLst>
          </p:cNvPr>
          <p:cNvSpPr txBox="1"/>
          <p:nvPr/>
        </p:nvSpPr>
        <p:spPr>
          <a:xfrm>
            <a:off x="6272463" y="1394507"/>
            <a:ext cx="56468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8"/>
              </a:rPr>
              <a:t>A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union</a:t>
            </a:r>
            <a:r>
              <a:rPr lang="en-US" sz="2000" dirty="0">
                <a:solidFill>
                  <a:srgbClr val="0000FF"/>
                </a:solidFill>
                <a:effectLst/>
                <a:latin typeface="CMTT8"/>
              </a:rPr>
              <a:t> </a:t>
            </a:r>
            <a:r>
              <a:rPr lang="en-US" sz="2000" dirty="0">
                <a:effectLst/>
                <a:latin typeface="CMSS8"/>
              </a:rPr>
              <a:t>can be </a:t>
            </a:r>
            <a:r>
              <a:rPr lang="en-US" sz="2000" dirty="0">
                <a:effectLst/>
                <a:latin typeface="CMSSBX10"/>
              </a:rPr>
              <a:t>only </a:t>
            </a:r>
            <a:r>
              <a:rPr lang="en-US" sz="2000" dirty="0">
                <a:effectLst/>
                <a:latin typeface="CMSS8"/>
              </a:rPr>
              <a:t>one of the specified types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8"/>
              </a:rPr>
              <a:t>The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union</a:t>
            </a:r>
            <a:r>
              <a:rPr lang="en-US" sz="2000" dirty="0">
                <a:solidFill>
                  <a:srgbClr val="0000FF"/>
                </a:solidFill>
                <a:effectLst/>
                <a:latin typeface="CMTT8"/>
              </a:rPr>
              <a:t> </a:t>
            </a:r>
            <a:r>
              <a:rPr lang="en-US" sz="2000" dirty="0">
                <a:effectLst/>
                <a:latin typeface="CMSS8"/>
              </a:rPr>
              <a:t>takes </a:t>
            </a:r>
            <a:r>
              <a:rPr lang="en-US" sz="2000" b="1" dirty="0">
                <a:effectLst/>
                <a:latin typeface="CMSS8"/>
              </a:rPr>
              <a:t>only</a:t>
            </a:r>
            <a:r>
              <a:rPr lang="en-US" sz="2000" dirty="0">
                <a:effectLst/>
                <a:latin typeface="CMSS8"/>
              </a:rPr>
              <a:t> the amount of memory needed for the single largest type in the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union.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CMTT8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8"/>
              </a:rPr>
              <a:t>Not wasting the space of storing all three shapes, but may waste a little space if using one of the smaller shapes, since space for the </a:t>
            </a:r>
            <a:r>
              <a:rPr lang="en-US" sz="2000" b="1" dirty="0">
                <a:effectLst/>
                <a:latin typeface="CMSS8"/>
              </a:rPr>
              <a:t>largest</a:t>
            </a:r>
            <a:r>
              <a:rPr lang="en-US" sz="2000" dirty="0">
                <a:effectLst/>
                <a:latin typeface="CMSS8"/>
              </a:rPr>
              <a:t> shape is reserved.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8"/>
              </a:rPr>
              <a:t>Can access any of the three constituent types, but only the one you stored is valid to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8"/>
              </a:rPr>
              <a:t>Cannot ask C which one was actually filled in.</a:t>
            </a:r>
            <a:endParaRPr lang="en-US" sz="2000" dirty="0">
              <a:effectLst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402A60-6ACE-05BC-1BE5-D7E6362F6526}"/>
              </a:ext>
            </a:extLst>
          </p:cNvPr>
          <p:cNvSpPr/>
          <p:nvPr/>
        </p:nvSpPr>
        <p:spPr>
          <a:xfrm>
            <a:off x="675863" y="2186455"/>
            <a:ext cx="1874834" cy="2519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6913700-14D8-28CB-C255-45722B2CB649}"/>
              </a:ext>
            </a:extLst>
          </p:cNvPr>
          <p:cNvSpPr/>
          <p:nvPr/>
        </p:nvSpPr>
        <p:spPr>
          <a:xfrm>
            <a:off x="908474" y="3878897"/>
            <a:ext cx="2460370" cy="2519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74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7EC2-6ECD-4E02-1EE4-941D43D6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Analogy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28209E-F2D8-D96F-3795-74B6D500ABD0}"/>
              </a:ext>
            </a:extLst>
          </p:cNvPr>
          <p:cNvSpPr txBox="1"/>
          <p:nvPr/>
        </p:nvSpPr>
        <p:spPr>
          <a:xfrm>
            <a:off x="1033671" y="1457739"/>
            <a:ext cx="93295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string can store a course number, zip code, or a phone number: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00000000001111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01234567890123</a:t>
            </a:r>
          </a:p>
          <a:p>
            <a:endParaRPr lang="en-US" sz="20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CMSC 14300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60637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(773) 702-6614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 the department code at indices 0–3 and the course number at indices 5–9 Store the zip code at indices 0–4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 the area code at indices 1–3, the exchange at indices 6–8, and the station number at indices 10–13 </a:t>
            </a:r>
          </a:p>
        </p:txBody>
      </p:sp>
    </p:spTree>
    <p:extLst>
      <p:ext uri="{BB962C8B-B14F-4D97-AF65-F5344CB8AC3E}">
        <p14:creationId xmlns:p14="http://schemas.microsoft.com/office/powerpoint/2010/main" val="345402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C238-C73E-415A-0095-39D2B271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Shape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C38FA-6FF5-3471-B867-8BBDAF95AFA3}"/>
              </a:ext>
            </a:extLst>
          </p:cNvPr>
          <p:cNvSpPr txBox="1"/>
          <p:nvPr/>
        </p:nvSpPr>
        <p:spPr>
          <a:xfrm>
            <a:off x="6692348" y="1218045"/>
            <a:ext cx="364074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s1;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s1.shape.c.center.x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s1.shape.c.center.y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s1.shape.c.radius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s1.tag = CIRCLE;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s2.shape.s.topleft.x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s2.shape.s.topleft.x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s2.shape.s.side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s2.tag = SQUARE;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28905-6D5F-446C-6A16-7FDF5D1E3A57}"/>
              </a:ext>
            </a:extLst>
          </p:cNvPr>
          <p:cNvSpPr txBox="1"/>
          <p:nvPr/>
        </p:nvSpPr>
        <p:spPr>
          <a:xfrm>
            <a:off x="980661" y="1218045"/>
            <a:ext cx="375036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shape;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0029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A167-A867-2334-1E29-181DD701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F8CCB-8442-DAAD-813C-8C0A1FFF46B5}"/>
              </a:ext>
            </a:extLst>
          </p:cNvPr>
          <p:cNvSpPr txBox="1"/>
          <p:nvPr/>
        </p:nvSpPr>
        <p:spPr>
          <a:xfrm>
            <a:off x="659818" y="1162303"/>
            <a:ext cx="375036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shape;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3E236-C1B4-985E-537A-50CD3F59900B}"/>
              </a:ext>
            </a:extLst>
          </p:cNvPr>
          <p:cNvSpPr txBox="1"/>
          <p:nvPr/>
        </p:nvSpPr>
        <p:spPr>
          <a:xfrm>
            <a:off x="4772929" y="1162303"/>
            <a:ext cx="709681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shape_perimeter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switch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M_PI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s.shape.r.width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s.shape.r.height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shape_perimeter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invalid tag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660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A167-A867-2334-1E29-181DD701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F8CCB-8442-DAAD-813C-8C0A1FFF46B5}"/>
              </a:ext>
            </a:extLst>
          </p:cNvPr>
          <p:cNvSpPr txBox="1"/>
          <p:nvPr/>
        </p:nvSpPr>
        <p:spPr>
          <a:xfrm>
            <a:off x="980661" y="1218045"/>
            <a:ext cx="375036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shape;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3E236-C1B4-985E-537A-50CD3F59900B}"/>
              </a:ext>
            </a:extLst>
          </p:cNvPr>
          <p:cNvSpPr txBox="1"/>
          <p:nvPr/>
        </p:nvSpPr>
        <p:spPr>
          <a:xfrm>
            <a:off x="4898495" y="1218045"/>
            <a:ext cx="7096815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shape_area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switch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M_PI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s.shape.c.radius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s.shape.s.side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s.shape.r.width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s.shape.r.height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shape_area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invalid tag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5396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ECC9-1191-2620-E95E-E1A4EE83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CD9F0-6A47-EF0A-AA1C-8111859A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is a </a:t>
            </a:r>
            <a:r>
              <a:rPr lang="en-US" sz="2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dirty="0"/>
              <a:t> preferred over a </a:t>
            </a:r>
            <a:r>
              <a:rPr lang="en-US" sz="2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How does a union represent different datatypes?</a:t>
            </a:r>
          </a:p>
          <a:p>
            <a:endParaRPr lang="en-US" dirty="0"/>
          </a:p>
          <a:p>
            <a:r>
              <a:rPr lang="en-US" dirty="0"/>
              <a:t>How to access each field in a union?</a:t>
            </a:r>
          </a:p>
          <a:p>
            <a:endParaRPr lang="en-US" dirty="0"/>
          </a:p>
          <a:p>
            <a:r>
              <a:rPr lang="en-US" dirty="0"/>
              <a:t>How many bytes does a union occupy in memory?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25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6825-B27E-A51A-106C-BEAAFA94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 list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225F-4C95-4333-31D9-3DC7CB9E1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basic C syntax</a:t>
            </a:r>
          </a:p>
          <a:p>
            <a:r>
              <a:rPr lang="en-US" dirty="0"/>
              <a:t>conditionals</a:t>
            </a:r>
          </a:p>
          <a:p>
            <a:r>
              <a:rPr lang="en-US" dirty="0"/>
              <a:t>C types</a:t>
            </a:r>
          </a:p>
          <a:p>
            <a:r>
              <a:rPr lang="en-US" dirty="0"/>
              <a:t>C functions</a:t>
            </a:r>
          </a:p>
          <a:p>
            <a:r>
              <a:rPr lang="en-US" dirty="0"/>
              <a:t>binary numbers, signed and unsigned</a:t>
            </a:r>
          </a:p>
          <a:p>
            <a:r>
              <a:rPr lang="en-US" dirty="0"/>
              <a:t>related number systems (octal and hexadecimal)</a:t>
            </a:r>
          </a:p>
          <a:p>
            <a:r>
              <a:rPr lang="en-US" dirty="0"/>
              <a:t>bit operations</a:t>
            </a:r>
          </a:p>
          <a:p>
            <a:r>
              <a:rPr lang="en-US" dirty="0"/>
              <a:t>packed representations (as in storing three color components in one int)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pointers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clarity on the stack/heap distinction</a:t>
            </a:r>
          </a:p>
          <a:p>
            <a:r>
              <a:rPr lang="en-US" dirty="0"/>
              <a:t>strings</a:t>
            </a:r>
          </a:p>
          <a:p>
            <a:r>
              <a:rPr lang="en-US" dirty="0"/>
              <a:t>malloc/free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5CE10-8C22-A6AC-73ED-9E62E287A907}"/>
              </a:ext>
            </a:extLst>
          </p:cNvPr>
          <p:cNvSpPr/>
          <p:nvPr/>
        </p:nvSpPr>
        <p:spPr>
          <a:xfrm>
            <a:off x="838200" y="6176963"/>
            <a:ext cx="9268326" cy="5286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Ask any questions about these topics</a:t>
            </a:r>
          </a:p>
        </p:txBody>
      </p:sp>
    </p:spTree>
    <p:extLst>
      <p:ext uri="{BB962C8B-B14F-4D97-AF65-F5344CB8AC3E}">
        <p14:creationId xmlns:p14="http://schemas.microsoft.com/office/powerpoint/2010/main" val="15996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20144</TotalTime>
  <Words>2034</Words>
  <Application>Microsoft Macintosh PowerPoint</Application>
  <PresentationFormat>Widescreen</PresentationFormat>
  <Paragraphs>323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CMSS10</vt:lpstr>
      <vt:lpstr>CMSS8</vt:lpstr>
      <vt:lpstr>CMSSBX10</vt:lpstr>
      <vt:lpstr>CMSSI10</vt:lpstr>
      <vt:lpstr>CMTT10</vt:lpstr>
      <vt:lpstr>CMTT8</vt:lpstr>
      <vt:lpstr>Arial</vt:lpstr>
      <vt:lpstr>Calibri</vt:lpstr>
      <vt:lpstr>Calibri Light</vt:lpstr>
      <vt:lpstr>Menlo</vt:lpstr>
      <vt:lpstr>Wingdings</vt:lpstr>
      <vt:lpstr>Office Theme</vt:lpstr>
      <vt:lpstr>unions  CMSC 14300: System Programming I 12th Lecture</vt:lpstr>
      <vt:lpstr>Recap: struct</vt:lpstr>
      <vt:lpstr>typedef</vt:lpstr>
      <vt:lpstr>Shapes</vt:lpstr>
      <vt:lpstr>Commonality </vt:lpstr>
      <vt:lpstr>A Solution?</vt:lpstr>
      <vt:lpstr>Better?</vt:lpstr>
      <vt:lpstr>Full solution based on union</vt:lpstr>
      <vt:lpstr>union Analogy</vt:lpstr>
      <vt:lpstr>Making a Shape</vt:lpstr>
      <vt:lpstr>Perimeter</vt:lpstr>
      <vt:lpstr>Area</vt:lpstr>
      <vt:lpstr>Recap</vt:lpstr>
      <vt:lpstr>Quiz list of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1066</cp:revision>
  <dcterms:created xsi:type="dcterms:W3CDTF">2023-03-12T16:00:37Z</dcterms:created>
  <dcterms:modified xsi:type="dcterms:W3CDTF">2023-04-14T18:29:31Z</dcterms:modified>
</cp:coreProperties>
</file>